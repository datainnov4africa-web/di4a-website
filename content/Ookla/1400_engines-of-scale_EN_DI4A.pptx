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1" r:id="rId35"/>
    <p:sldId id="292" r:id="rId3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13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231F20"/>
                </a:solidFill>
                <a:latin typeface="Calibri"/>
              </a:defRPr>
            </a:pPr>
            <a:r>
              <a:rPr lang="en-US" sz="1100" b="0" i="0" u="none" strike="noStrike">
                <a:solidFill>
                  <a:srgbClr val="231F20"/>
                </a:solidFill>
                <a:latin typeface="Calibri"/>
              </a:rPr>
              <a:t>Relative bytes read for one analytical query (CSV = 100)</a:t>
            </a:r>
          </a:p>
        </c:rich>
      </c:tx>
      <c:overlay val="0"/>
    </c:title>
    <c:autoTitleDeleted val="0"/>
    <c:plotArea>
      <c:layout/>
      <c:barChart>
        <c:barDir val="col"/>
        <c:grouping val="clustered"/>
        <c:varyColors val="0"/>
        <c:ser>
          <c:idx val="0"/>
          <c:order val="0"/>
          <c:tx>
            <c:strRef>
              <c:f>Sheet1!$B$1</c:f>
              <c:strCache>
                <c:ptCount val="1"/>
                <c:pt idx="0">
                  <c:v>Relative bytes read</c:v>
                </c:pt>
              </c:strCache>
            </c:strRef>
          </c:tx>
          <c:spPr>
            <a:solidFill>
              <a:srgbClr val="A9B5B0"/>
            </a:solidFill>
            <a:effectLst/>
          </c:spPr>
          <c:invertIfNegative val="0"/>
          <c:dPt>
            <c:idx val="0"/>
            <c:invertIfNegative val="0"/>
            <c:bubble3D val="0"/>
            <c:extLst>
              <c:ext xmlns:c16="http://schemas.microsoft.com/office/drawing/2014/chart" uri="{C3380CC4-5D6E-409C-BE32-E72D297353CC}">
                <c16:uniqueId val="{00000001-F979-432A-9907-E188BABB76ED}"/>
              </c:ext>
            </c:extLst>
          </c:dPt>
          <c:dPt>
            <c:idx val="1"/>
            <c:invertIfNegative val="0"/>
            <c:bubble3D val="0"/>
            <c:spPr>
              <a:solidFill>
                <a:srgbClr val="7BCBA9"/>
              </a:solidFill>
              <a:effectLst/>
            </c:spPr>
            <c:extLst>
              <c:ext xmlns:c16="http://schemas.microsoft.com/office/drawing/2014/chart" uri="{C3380CC4-5D6E-409C-BE32-E72D297353CC}">
                <c16:uniqueId val="{00000003-F979-432A-9907-E188BABB76ED}"/>
              </c:ext>
            </c:extLst>
          </c:dPt>
          <c:dPt>
            <c:idx val="2"/>
            <c:invertIfNegative val="0"/>
            <c:bubble3D val="0"/>
            <c:spPr>
              <a:solidFill>
                <a:srgbClr val="10A06A"/>
              </a:solidFill>
              <a:effectLst/>
            </c:spPr>
            <c:extLst>
              <c:ext xmlns:c16="http://schemas.microsoft.com/office/drawing/2014/chart" uri="{C3380CC4-5D6E-409C-BE32-E72D297353CC}">
                <c16:uniqueId val="{00000005-F979-432A-9907-E188BABB76ED}"/>
              </c:ext>
            </c:extLst>
          </c:dPt>
          <c:dPt>
            <c:idx val="3"/>
            <c:invertIfNegative val="0"/>
            <c:bubble3D val="0"/>
            <c:spPr>
              <a:solidFill>
                <a:srgbClr val="00664A"/>
              </a:solidFill>
              <a:effectLst/>
            </c:spPr>
            <c:extLst>
              <c:ext xmlns:c16="http://schemas.microsoft.com/office/drawing/2014/chart" uri="{C3380CC4-5D6E-409C-BE32-E72D297353CC}">
                <c16:uniqueId val="{00000007-F979-432A-9907-E188BABB76ED}"/>
              </c:ext>
            </c:extLst>
          </c:dPt>
          <c:dLbls>
            <c:numFmt formatCode="#,##0" sourceLinked="0"/>
            <c:spPr>
              <a:noFill/>
              <a:ln>
                <a:noFill/>
              </a:ln>
              <a:effectLst/>
            </c:spPr>
            <c:txPr>
              <a:bodyPr/>
              <a:lstStyle/>
              <a:p>
                <a:pPr>
                  <a:defRPr sz="1100" b="1" i="0" u="none" strike="noStrike">
                    <a:solidFill>
                      <a:srgbClr val="231F2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CSV</c:v>
                </c:pt>
                <c:pt idx="1">
                  <c:v>CSV + gzip</c:v>
                </c:pt>
                <c:pt idx="2">
                  <c:v>Parquet</c:v>
                </c:pt>
                <c:pt idx="3">
                  <c:v>Parquet + pruning</c:v>
                </c:pt>
              </c:strCache>
            </c:strRef>
          </c:cat>
          <c:val>
            <c:numRef>
              <c:f>Sheet1!$B$2:$B$5</c:f>
              <c:numCache>
                <c:formatCode>General</c:formatCode>
                <c:ptCount val="4"/>
                <c:pt idx="0">
                  <c:v>100</c:v>
                </c:pt>
                <c:pt idx="1">
                  <c:v>25</c:v>
                </c:pt>
                <c:pt idx="2">
                  <c:v>12</c:v>
                </c:pt>
                <c:pt idx="3">
                  <c:v>3</c:v>
                </c:pt>
              </c:numCache>
            </c:numRef>
          </c:val>
          <c:extLst>
            <c:ext xmlns:c16="http://schemas.microsoft.com/office/drawing/2014/chart" uri="{C3380CC4-5D6E-409C-BE32-E72D297353CC}">
              <c16:uniqueId val="{00000008-F979-432A-9907-E188BABB76E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E6964"/>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1868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first hands-on notebook you work with Ookla Speedtest tiles and WorldPop in pandas, on a laptop. In the next one you load the same tiles into Elasticsearch. This 30-minute talk is the bridge: it explains the six building blocks that every big data platform is made of — ingestion, storage, distributed processing, indexing and search, orchestration, and metadata and versioning — and why each one matters to a statistical office. Throughout, we use the lab datasets (Ookla, WorldPop, Night-Time Lights) as the running example, so every concept connects to something you will touch with your own hands. Timing guide: about 30 seconds per divider, about one minute per content slide; slides 13, 22 and 33 can be skipped if time is short.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sources used in the labs, three scale problems. Ookla tiles are about 611 metres wide, delivered quarterly for fixed and mobile networks since 2019, so the history grows every quarter. WorldPop's 100-metre grid means roughly three billion cells to cover Africa's 30 million square kilometres — that is a simple multiplication, not a published figure. Black Marble gives daily radiance at roughly 500 metres. A widely quoted rule of thumb from pandas' creator is that pandas needs five to ten times as much memory as the dataset size. On a 16 GB laptop that becomes a hard wall at a few gigabytes. The engines in this talk exist to move that wall — but, as we will see, the right move is often a smarter single machine rather than a cluster.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for the next 25 minutes, and it matches the six sections of the talk and their colours. Four blocks form the flow of data from left to right: data comes in, is stored, is processed, and is indexed so people can find and query it. Two blocks run underneath everything: orchestration, which decides what runs when and what happens on failure, and metadata and versioning, which make every number explainable. Whatever vendor or open-source stack a country chooses, it maps onto these six blocks — use them as a checklist when you read a proposal.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Ingestion looks like plumbing, but it is where statistical trust begins. If you cannot prove what you received, from whom, when, and under which licence, nothing downstream can be defended.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patterns from left to right; they go roughly from simplest and slowest to most demanding. Batch file transfer is what the Ookla lab uses: a public bucket, one set of Parquet files per quarter. API pull is how you reach NASA Earthdata or Google Earth Engine. Change data capture matters for administrative registers: instead of copying a whole civil or tax register every night, you capture only the rows that changed. Streaming is for genuinely continuous feeds. And the secure drop zone is how confidential partner data, such as call detail records from a mobile operator, should arrive: encrypted, logged, and isolated. Ask participants which pattern their office uses today — most will answer batch files by e-mail or USB, which is a useful starting point for discussion.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rules are cheap to follow on day one and extremely expensive to retrofit. Rule two deserves emphasis here: the Ookla open data licence is CC BY-NC-SA 4.0 — non-commercial and share-alike — and that has real consequences for how an NSO can republish derived products, so the licence must travel with the data from the moment it arrives. Rule four is concrete too: Ookla added latency-direction columns from Q4 2022 and tile centroid columns from Q3 2023. A pipeline written for the 2020 files must detect this change rather than crash, or worse, silently ignore it. The record on the right is illustrative; the point is that every file in the raw zone should have one.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Storage decisions are made once and paid for every day afterwards. Three ideas: distribute and replicate, choose columnar formats, and organise the lake into zones.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foundation laid by the Google File System and Hadoop HDFS. Files are cut into blocks — 128 megabytes by default in HDFS — and each block is copied to three machines by default. In the diagram, four blocks are each replicated on three of four nodes: any single machine can fail and nothing is lost. The third idea is the one that made the field possible: moving a terabyte across a network is slow, but moving a few kilobytes of code to the machine that already holds the data is instant. Today most organisations use object storage — Amazon S3, Azure Blob, or MinIO on their own servers — which delivers the same guarantees as a service. MinIO is worth mentioning for offices with data sovereignty constraints because it runs on-premise with an S3-compatible interface.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is illustrative — actual ratios depend on the data and the query — but the order of magnitude is typical. Statistical queries read few columns from many rows. A CSV must be read entirely; a columnar Parquet file lets the engine read only the columns you ask for, compresses them well because similar values sit together, and stores minimum and maximum values per block so whole blocks can be skipped. Ookla distributes both Shapefile and Parquet precisely for this reason. A tests-weighted mean download speed needs only two of the eleven columns in recent files. Practical advice: converting working data from CSV to Parquet is usually the cheapest performance gain available to an NSO, requiring no new hardware.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generations of analytical storage. The warehouse is clean and fast but rigid and often expensive. The lake is cheap and accepts anything, but without discipline it becomes a data swamp in which nobody knows which file is authoritative. The lakehouse puts table formats such as Apache Iceberg or Delta Lake on top of lake files, bringing back transactions, schema control and history. For a statistical office, the lakehouse maps naturally onto the production chain you already know: data as collected, data as processed, and data as published. That mapping is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transferable idea in the talk. Bronze holds data exactly as received. Silver holds data that has been validated, standardised and linked to your own reference frames — here, the administrative boundaries and the WorldPop population grid. Gold holds statistical outputs. Every arrow is a quality gate: nothing moves forward until its checks pass, and every zone has a named owner. Notice that this is exactly the separation a statistical office already believes in between collected, processed and published data — the technology simply enforces it. The content in each zone is what your team will actually produce in the labs.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capabilities turn a folder of Parquet files into a governed table. Transactions mean two jobs writing at once cannot leave the table half-updated. Time travel means you can query the table as it stood at any past moment — for a statistician, that is how a revision is explained: you re-run the exact inputs of the published figure. Schema evolution means a new Ookla column can be added without rewriting history. Partitioning means a query for one quarter never touches the others. The SQL on the right works in Spark with Apache Iceberg; Delta Lake offers the same idea with VERSION AS OF. This slide can be skipped if time is short.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engine you will hear about — Hadoop, Spark, Flink, BigQuery — is a different packaging of one idea. Once you see it, the tool names stop being intimidating.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the question answered in the first hands-on notebook: what is the average mobile download speed in each region? Split the tiles into chunks, one per worker. Each worker maps every tile to a key, the region, and a pair of values. The shuffle moves all pairs with the same region to the same machine — this network step is where engines spend most of their time. Reduce sums each group. Only at the very end do we divide. The callout is the key methodological lesson: each Ookla tile already contains an average, and tiles differ enormously in the number of tests. Averaging the averages would give a rural tile with three tests the same weight as a city tile with thousands. Carrying sums and counts is both statistically correct and perfectly parallel. Medians and quantiles cannot be split this way, which is why engines approximate them.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Spark is the general-purpose engine that replaced Hadoop MapReduce, mainly by keeping intermediate results in memory. Your notebook is the driver: it does not touch the data, it builds a plan. The cluster manager — YARN, Kubernetes or Spark's own — gives it executors on the worker machines, and each executor processes partitions of the data in parallel tasks. Two ideas matter for everyday use. Lazy evaluation: filters and joins are only recorded until an action such as write or count asks for a result, which lets the Catalyst optimiser rearrange the whole plan. And the shuffle: any group-by or join moves data across the network, so it is the first place to look when a job is slow. Spark also runs in local mode on a single laptop, which is the best way to learn it.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numbered comments. First, the read points to the silver zone, where tiles have already been joined to administrative units. Second, the aggregation implements exactly the weighted mean from the MapReduce slide: sum of speed times tests, divided by the sum of tests. We also keep the number of tests and of distinct tiles, because a regional figure based on very few tests should be flagged, not published silently. Third, the result goes to the gold zone, partitioned by year and quarter. The important message is on the right: this identical code runs in local mode on a laptop sample and on a full continental history on a cluster. Only the cluster configuration changes. Paths and table names are illustrative.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Batch processes a bounded dataset on a schedule; streaming processes an unbounded flow continuously. Streaming introduces new concepts — windows, which group events by time, and watermarks, which decide how long to wait for late data. The diagram shows five-minute tumbling windows: each event belongs to exactly one window. For a statistical office, the decisive question is at the bottom: does a decision change if the number arrives an hour later? For quarterly Ookla indicators or monthly NTL composites, the answer is clearly no, and batch is cheaper, simpler and easier to audit. Reserve streaming for genuinely continuous collection such as web price scraping, network monitoring or early-warning systems.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corrects a common reflex. Hardware moved: an ordinary server today has dozens of cores and hundreds of gigabytes of memory, and engines such as DuckDB and Polars use all of it without any cluster to operate. DuckDB can even query the Ookla Parquet files directly in the public S3 bucket, reading only the columns it needs — the snippet on the right is a complete program. The thresholds on the left are rules of thumb, not hard limits; they depend on the query and the hardware. The warning at the bottom is the most important sentence: in many offices the costliest mistake is deploying and maintaining a cluster for data that would fit on one machine. Start small, measure, and scale out only when measurements say you must.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prepares the two labs that follow. We move from scanning to indexing, look at the quadkey as a spatial index, then open up Elasticsearch.</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book analogy. To find every mention of Rwanda in a book without an index, you read every page; the time grows with the length of the book. With an index at the back, you look up the word and jump straight to the pages. Search engines build exactly this, called an inverted index: for every value of a field, the list of documents that contain it. On the right, each Ookla tile-quarter is a document, and the index for the region field points directly to the matching tiles. The price is paid at write time — building the index takes time and disk — in exchange for very fast reads and aggregations. Databases use a related structure, the B-tree, which is excellent for ranges.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Ookla row has a quadkey, and it is a spatial index in itself. The world is split into four squares numbered zero to three; each square is split again, adding one digit per zoom level. A level-16 quadkey therefore has sixteen digits and describes a tile about 611 metres wide at the equator. Two consequences you can use in the lab. First, tiles that share a prefix are neighbours, so truncating the key to twelve digits aggregates to cells about 9.8 kilometres wide without any geospatial function. Second, the quadkey is a stable identifier for joining the same tile across quarters. For true shapes — a tile polygon against an irregular district boundary — Elasticsearch uses its geo_shape field, indexed internally in a BKD tree. Tile widths are computed as the equator circumference divided by two to the power of the zoom level.</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vocabulary you will need in the lab. A cluster is a group of nodes, which are just servers. Data lives in an index, roughly the equivalent of a table, and each record is a JSON document — for us, one Ookla tile for one quarter. The mapping is the schema: it tells Elasticsearch that quadkey is an exact keyword, that tests is an integer, and that tile is a geo_shape. Each index is split into shards so work can be spread across nodes, and every primary shard has a replica on a different node — exactly the replication idea from the storage section. Note in the diagram that P0 and R0 never sit on the same node. The translation table on the right is the fastest way to map your SQL intuition onto Elasticsearch.</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the mapping. Quadkey and admin1 are keywords — exact values, ideal for filters and grouping. Speeds and tests are integers. The tile is a geo_shape, which lets Elasticsearch reason about the real polygon. On the right, a search that returns no individual documents — size zero — only aggregations. The query keeps tiles intersecting a bounding box around Rwanda; envelope coordinates are given as top-left then bottom-right, longitude first. The aggregation groups by region and computes a weighted average of download speed with tests as weights — the same statistic as the Spark slide, now computed inside the search engine. Warn participants that the exact mapping in the pre-provisioned cluster may differ slightly; the lab instructions are authoritative.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question the second lab asks you to answer with measurements, so here is the qualitative frame. pandas, the tool of the first notebook, is unbeatable for a single analyst on data that fits in memory. DuckDB on Parquet stretches the same single machine much further with almost no operational cost. Elasticsearch earns its place when many users need to filter and aggregate interactively, by place and time, with sub-second answers — typically behind a dashboard or an API. But it has a real operating cost, and it is not a system of record: the lakehouse remains the source of truth, and the index must always be rebuildable from it. In the lab, record query time and memory for each approach and write down your own conclusion.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notebook run by hand is a prototype. A statistical product runs on a schedule, in the right order, with automatic checks and alerts. That is orchestration.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pipeline is a directed acyclic graph: tasks connected by dependencies, with no loops. Here is the quarterly connectivity pipeline your teams build in the labs, drawn as an orchestrator sees it. Two branches — Ookla tiles and WorldPop population — meet at the join, then the indicators feed two outputs in parallel: the Elasticsearch index and the GitHub publication. The orchestrator's job is the five capabilities along the bottom. Backfill is especially valuable for statistics: when a method changes, you can recompute every quarter since 2019 with one command. On tools: start simple. A scheduled GitHub Action or even cron is a legitimate first step; Airflow, Dagster or Prefect become worthwhile when pipelines multiply.</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the same pipeline written for Apache Airflow using its TaskFlow style; the task functions are defined elsewhere. Three settings do a lot of work: the quarterly schedule; catchup, which tells Airflow to run every quarter since the start date — that is the backfill; and retries, so a temporary network error on the download does not wake anyone up. On the right, the quality gates between zones, written as automated assertions. These are statistical checks, not only technical ones: plausible ranges, unique keys, every tile in exactly one district, stable coverage from quarter to quarter. When a check fails, the pipeline stops and alerts a person — it never publishes quietly. Tools such as Great Expectations, dbt tests, Soda or pandera express these checks as versioned code.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Statistical offices trade on trust. Metadata and versioning are how that trust becomes verifiable rather than assumed.</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Metadata comes in three layers. Technical metadata describes the data as files and tables. Statistical metadata describes meaning — concepts, classifications, methods and, importantly here, limitations — and this is where standards such as SDMX, DDI and GSIM keep definitions stable across systems. Operational metadata records what actually happened: which run, which inputs, which checks passed. Lineage links all three. Read the bottom chain from right to left: a published figure traces back to a gold table, a silver table, the exact raw file identified by its checksum, and the exact code commit. The honest test of governance: pick a published number at random and time how long it takes to name every input and transformation behind it.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Reproducibility requires versioning three things together. Code is the familiar one: Git, with reviewed pull requests and tagged releases. Data is less familiar: the lakehouse table formats already keep snapshots, and tools such as DVC or lakeFS do the same for files; the raw zone is never overwritten. The environment is the one most often forgotten: the exact library versions, captured in a lock file or a container image, because the same code with a different pandas version can give different results. The band at the bottom connects directly to publishing your results: a tagged GitHub release, with a README stating method, sources, licence and limitations, can receive a citable DOI through the Zenodo integration. That is what turns a training notebook into a durable public product.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Pulling the six blocks together, here are two stages rather than one ideal architecture. The starting stack on the left costs almost nothing, runs on a laptop or a single server, and already delivers most of the principles in this talk: raw files kept intact, Parquet, DuckDB, Git, scheduled jobs and a documented README. The shared platform on the right is what a national or regional service looks like once several domains and many users depend on it. The arrow is the key message: move right only when measurements — data volume, number of users, query times — say you must. For confidential microdata, keep processing on-premise or in a sovereign environment with an explicit legal basis. And pooling matters: regional big data hubs and shared platforms are natural places to share platforms, code and skills rather than every country building alone.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participants to place one current project from their own office in the first column. In practice most statistical workloads in our offices sit in the first two rows, and that is good news: they can be solved today, on existing hardware, with free tools. The last row matters most for this audience: confidential microdata such as call detail records or tax files must stay in an environment with an explicit legal basis — which usually means on-premise or a sovereign cloud — with access controls and output checking. This slide can be skipped if time is short.</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takeaway per building block, in the same colours. If participants remember only two, make it the first and the last: keep raw data untouched and documented from the first byte, and make every published number traceable to its exact inputs. Everything between is engineering that can be learned and improved step by step.</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discussion question and collect two or three answers before the break. Note recurring obstacles on a shared board; they can feed the key takeaways and follow-up topics.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figures in this deck come from these sources or are labelled as illustrative or derived. Participants can find the official documentation links in the DI4A GitHub organisation.</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30.png"/><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36.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11.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41.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2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51.png"/><Relationship Id="rId4" Type="http://schemas.openxmlformats.org/officeDocument/2006/relationships/image" Target="../media/image50.png"/></Relationships>
</file>

<file path=ppt/slides/_rels/slide3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3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57.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77724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AFRICAN DEVELOPMENT BANK · DATA INNOVATION FOR AFRICA (DI4A)</a:t>
            </a:r>
            <a:endParaRPr lang="en-US" sz="1050" dirty="0"/>
          </a:p>
        </p:txBody>
      </p:sp>
      <p:sp>
        <p:nvSpPr>
          <p:cNvPr id="3" name="Text 1"/>
          <p:cNvSpPr txBox="1"/>
          <p:nvPr/>
        </p:nvSpPr>
        <p:spPr>
          <a:xfrm>
            <a:off x="548640" y="1051560"/>
            <a:ext cx="5486400" cy="822960"/>
          </a:xfrm>
          <a:prstGeom prst="rect">
            <a:avLst/>
          </a:prstGeom>
          <a:noFill/>
          <a:ln/>
        </p:spPr>
        <p:txBody>
          <a:bodyPr wrap="square" lIns="0" tIns="0" rIns="0" bIns="0"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Engines of Scale</a:t>
            </a:r>
            <a:endParaRPr lang="en-US" sz="4800" dirty="0"/>
          </a:p>
        </p:txBody>
      </p:sp>
      <p:sp>
        <p:nvSpPr>
          <p:cNvPr id="4" name="Text 2"/>
          <p:cNvSpPr txBox="1"/>
          <p:nvPr/>
        </p:nvSpPr>
        <p:spPr>
          <a:xfrm>
            <a:off x="548640" y="1874520"/>
            <a:ext cx="5486400" cy="411480"/>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Big Data Technologies for Statistical Systems</a:t>
            </a:r>
            <a:endParaRPr lang="en-US" sz="2000" dirty="0"/>
          </a:p>
        </p:txBody>
      </p:sp>
      <p:sp>
        <p:nvSpPr>
          <p:cNvPr id="5" name="Text 3"/>
          <p:cNvSpPr txBox="1"/>
          <p:nvPr/>
        </p:nvSpPr>
        <p:spPr>
          <a:xfrm>
            <a:off x="548640" y="2331720"/>
            <a:ext cx="4937760" cy="59436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From raw files to trusted indicators: the six building blocks behind every data platform</a:t>
            </a:r>
            <a:endParaRPr lang="en-US" sz="1800" dirty="0"/>
          </a:p>
        </p:txBody>
      </p:sp>
      <p:sp>
        <p:nvSpPr>
          <p:cNvPr id="7" name="Text 5"/>
          <p:cNvSpPr txBox="1"/>
          <p:nvPr/>
        </p:nvSpPr>
        <p:spPr>
          <a:xfrm>
            <a:off x="548640" y="3840480"/>
            <a:ext cx="5303520" cy="228600"/>
          </a:xfrm>
          <a:prstGeom prst="rect">
            <a:avLst/>
          </a:prstGeom>
          <a:noFill/>
          <a:ln/>
        </p:spPr>
        <p:txBody>
          <a:bodyPr wrap="square" lIns="0" tIns="0" rIns="0" bIns="0" rtlCol="0" anchor="t"/>
          <a:lstStyle/>
          <a:p>
            <a:pPr marL="0" indent="0">
              <a:buNone/>
            </a:pPr>
            <a:r>
              <a:rPr lang="en-US" sz="1050" dirty="0">
                <a:solidFill>
                  <a:srgbClr val="E6F6EE"/>
                </a:solidFill>
                <a:latin typeface="Calibri" pitchFamily="34" charset="0"/>
                <a:ea typeface="Calibri" pitchFamily="34" charset="-122"/>
                <a:cs typeface="Calibri" pitchFamily="34" charset="-120"/>
              </a:rPr>
              <a:t>African Development Bank – Data Innovation for Africa (DI4A)</a:t>
            </a:r>
            <a:endParaRPr lang="en-US" sz="1050" dirty="0"/>
          </a:p>
        </p:txBody>
      </p:sp>
      <p:sp>
        <p:nvSpPr>
          <p:cNvPr id="8" name="Shape 6"/>
          <p:cNvSpPr/>
          <p:nvPr/>
        </p:nvSpPr>
        <p:spPr>
          <a:xfrm>
            <a:off x="5440680" y="777240"/>
            <a:ext cx="3474720" cy="3474720"/>
          </a:xfrm>
          <a:prstGeom prst="ellipse">
            <a:avLst/>
          </a:prstGeom>
          <a:solidFill>
            <a:srgbClr val="FFFFFF">
              <a:alpha val="8000"/>
            </a:srgbClr>
          </a:solidFill>
          <a:ln/>
        </p:spPr>
      </p:sp>
      <p:sp>
        <p:nvSpPr>
          <p:cNvPr id="9" name="Shape 7"/>
          <p:cNvSpPr/>
          <p:nvPr/>
        </p:nvSpPr>
        <p:spPr>
          <a:xfrm>
            <a:off x="6675120" y="2011680"/>
            <a:ext cx="1005840" cy="1005840"/>
          </a:xfrm>
          <a:prstGeom prst="ellipse">
            <a:avLst/>
          </a:prstGeom>
          <a:solidFill>
            <a:srgbClr val="FFFFFF"/>
          </a:solidFill>
          <a:ln/>
        </p:spPr>
      </p:sp>
      <p:pic>
        <p:nvPicPr>
          <p:cNvPr id="10" name="Image 0" descr="preencoded.png"/>
          <p:cNvPicPr>
            <a:picLocks noChangeAspect="1"/>
          </p:cNvPicPr>
          <p:nvPr/>
        </p:nvPicPr>
        <p:blipFill>
          <a:blip r:embed="rId4"/>
          <a:stretch>
            <a:fillRect/>
          </a:stretch>
        </p:blipFill>
        <p:spPr>
          <a:xfrm>
            <a:off x="6940296" y="2276856"/>
            <a:ext cx="475488" cy="475488"/>
          </a:xfrm>
          <a:prstGeom prst="rect">
            <a:avLst/>
          </a:prstGeom>
        </p:spPr>
      </p:pic>
      <p:sp>
        <p:nvSpPr>
          <p:cNvPr id="11" name="Shape 8"/>
          <p:cNvSpPr/>
          <p:nvPr/>
        </p:nvSpPr>
        <p:spPr>
          <a:xfrm>
            <a:off x="6903720" y="914400"/>
            <a:ext cx="548640" cy="548640"/>
          </a:xfrm>
          <a:prstGeom prst="ellipse">
            <a:avLst/>
          </a:prstGeom>
          <a:solidFill>
            <a:srgbClr val="FFFFFF"/>
          </a:solidFill>
          <a:ln/>
        </p:spPr>
      </p:sp>
      <p:pic>
        <p:nvPicPr>
          <p:cNvPr id="12" name="Image 1" descr="preencoded.png"/>
          <p:cNvPicPr>
            <a:picLocks noChangeAspect="1"/>
          </p:cNvPicPr>
          <p:nvPr/>
        </p:nvPicPr>
        <p:blipFill>
          <a:blip r:embed="rId5"/>
          <a:stretch>
            <a:fillRect/>
          </a:stretch>
        </p:blipFill>
        <p:spPr>
          <a:xfrm>
            <a:off x="7040880" y="1051560"/>
            <a:ext cx="274320" cy="274320"/>
          </a:xfrm>
          <a:prstGeom prst="rect">
            <a:avLst/>
          </a:prstGeom>
        </p:spPr>
      </p:pic>
      <p:sp>
        <p:nvSpPr>
          <p:cNvPr id="13" name="Shape 9"/>
          <p:cNvSpPr/>
          <p:nvPr/>
        </p:nvSpPr>
        <p:spPr>
          <a:xfrm>
            <a:off x="8051966" y="1577340"/>
            <a:ext cx="548640" cy="548640"/>
          </a:xfrm>
          <a:prstGeom prst="ellipse">
            <a:avLst/>
          </a:prstGeom>
          <a:solidFill>
            <a:srgbClr val="FFFFFF"/>
          </a:solidFill>
          <a:ln/>
        </p:spPr>
      </p:sp>
      <p:pic>
        <p:nvPicPr>
          <p:cNvPr id="14" name="Image 2" descr="preencoded.png"/>
          <p:cNvPicPr>
            <a:picLocks noChangeAspect="1"/>
          </p:cNvPicPr>
          <p:nvPr/>
        </p:nvPicPr>
        <p:blipFill>
          <a:blip r:embed="rId6"/>
          <a:stretch>
            <a:fillRect/>
          </a:stretch>
        </p:blipFill>
        <p:spPr>
          <a:xfrm>
            <a:off x="8189126" y="1714500"/>
            <a:ext cx="274320" cy="274320"/>
          </a:xfrm>
          <a:prstGeom prst="rect">
            <a:avLst/>
          </a:prstGeom>
        </p:spPr>
      </p:pic>
      <p:sp>
        <p:nvSpPr>
          <p:cNvPr id="15" name="Shape 10"/>
          <p:cNvSpPr/>
          <p:nvPr/>
        </p:nvSpPr>
        <p:spPr>
          <a:xfrm>
            <a:off x="8051966" y="2903220"/>
            <a:ext cx="548640" cy="548640"/>
          </a:xfrm>
          <a:prstGeom prst="ellipse">
            <a:avLst/>
          </a:prstGeom>
          <a:solidFill>
            <a:srgbClr val="FFFFFF"/>
          </a:solidFill>
          <a:ln/>
        </p:spPr>
      </p:sp>
      <p:pic>
        <p:nvPicPr>
          <p:cNvPr id="16" name="Image 3" descr="preencoded.png"/>
          <p:cNvPicPr>
            <a:picLocks noChangeAspect="1"/>
          </p:cNvPicPr>
          <p:nvPr/>
        </p:nvPicPr>
        <p:blipFill>
          <a:blip r:embed="rId7"/>
          <a:stretch>
            <a:fillRect/>
          </a:stretch>
        </p:blipFill>
        <p:spPr>
          <a:xfrm>
            <a:off x="8189126" y="3040380"/>
            <a:ext cx="274320" cy="274320"/>
          </a:xfrm>
          <a:prstGeom prst="rect">
            <a:avLst/>
          </a:prstGeom>
        </p:spPr>
      </p:pic>
      <p:sp>
        <p:nvSpPr>
          <p:cNvPr id="17" name="Shape 11"/>
          <p:cNvSpPr/>
          <p:nvPr/>
        </p:nvSpPr>
        <p:spPr>
          <a:xfrm>
            <a:off x="6903720" y="3566160"/>
            <a:ext cx="548640" cy="548640"/>
          </a:xfrm>
          <a:prstGeom prst="ellipse">
            <a:avLst/>
          </a:prstGeom>
          <a:solidFill>
            <a:srgbClr val="FFFFFF"/>
          </a:solidFill>
          <a:ln/>
        </p:spPr>
      </p:sp>
      <p:pic>
        <p:nvPicPr>
          <p:cNvPr id="18" name="Image 4" descr="preencoded.png"/>
          <p:cNvPicPr>
            <a:picLocks noChangeAspect="1"/>
          </p:cNvPicPr>
          <p:nvPr/>
        </p:nvPicPr>
        <p:blipFill>
          <a:blip r:embed="rId8"/>
          <a:stretch>
            <a:fillRect/>
          </a:stretch>
        </p:blipFill>
        <p:spPr>
          <a:xfrm>
            <a:off x="7040880" y="3703320"/>
            <a:ext cx="274320" cy="274320"/>
          </a:xfrm>
          <a:prstGeom prst="rect">
            <a:avLst/>
          </a:prstGeom>
        </p:spPr>
      </p:pic>
      <p:sp>
        <p:nvSpPr>
          <p:cNvPr id="19" name="Shape 12"/>
          <p:cNvSpPr/>
          <p:nvPr/>
        </p:nvSpPr>
        <p:spPr>
          <a:xfrm>
            <a:off x="5755474" y="2903220"/>
            <a:ext cx="548640" cy="548640"/>
          </a:xfrm>
          <a:prstGeom prst="ellipse">
            <a:avLst/>
          </a:prstGeom>
          <a:solidFill>
            <a:srgbClr val="FFFFFF"/>
          </a:solidFill>
          <a:ln/>
        </p:spPr>
      </p:sp>
      <p:pic>
        <p:nvPicPr>
          <p:cNvPr id="20" name="Image 5" descr="preencoded.png"/>
          <p:cNvPicPr>
            <a:picLocks noChangeAspect="1"/>
          </p:cNvPicPr>
          <p:nvPr/>
        </p:nvPicPr>
        <p:blipFill>
          <a:blip r:embed="rId9"/>
          <a:stretch>
            <a:fillRect/>
          </a:stretch>
        </p:blipFill>
        <p:spPr>
          <a:xfrm>
            <a:off x="5892634" y="3040380"/>
            <a:ext cx="274320" cy="274320"/>
          </a:xfrm>
          <a:prstGeom prst="rect">
            <a:avLst/>
          </a:prstGeom>
        </p:spPr>
      </p:pic>
      <p:sp>
        <p:nvSpPr>
          <p:cNvPr id="21" name="Shape 13"/>
          <p:cNvSpPr/>
          <p:nvPr/>
        </p:nvSpPr>
        <p:spPr>
          <a:xfrm>
            <a:off x="5755474" y="1577340"/>
            <a:ext cx="548640" cy="548640"/>
          </a:xfrm>
          <a:prstGeom prst="ellipse">
            <a:avLst/>
          </a:prstGeom>
          <a:solidFill>
            <a:srgbClr val="FFFFFF"/>
          </a:solidFill>
          <a:ln/>
        </p:spPr>
      </p:sp>
      <p:pic>
        <p:nvPicPr>
          <p:cNvPr id="22" name="Image 6" descr="preencoded.png"/>
          <p:cNvPicPr>
            <a:picLocks noChangeAspect="1"/>
          </p:cNvPicPr>
          <p:nvPr/>
        </p:nvPicPr>
        <p:blipFill>
          <a:blip r:embed="rId10"/>
          <a:stretch>
            <a:fillRect/>
          </a:stretch>
        </p:blipFill>
        <p:spPr>
          <a:xfrm>
            <a:off x="5892634" y="1714500"/>
            <a:ext cx="274320" cy="274320"/>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THE CHALLENGE</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Why statistical offices need engines</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AfDB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a:t>
            </a:r>
            <a:endParaRPr lang="en-US" sz="850" dirty="0"/>
          </a:p>
        </p:txBody>
      </p:sp>
      <p:sp>
        <p:nvSpPr>
          <p:cNvPr id="17" name="Shape 14"/>
          <p:cNvSpPr/>
          <p:nvPr/>
        </p:nvSpPr>
        <p:spPr>
          <a:xfrm>
            <a:off x="457200" y="1280160"/>
            <a:ext cx="3749040" cy="960120"/>
          </a:xfrm>
          <a:prstGeom prst="roundRect">
            <a:avLst>
              <a:gd name="adj" fmla="val 7619"/>
            </a:avLst>
          </a:prstGeom>
          <a:solidFill>
            <a:srgbClr val="F4F7F5"/>
          </a:solidFill>
          <a:ln w="9525">
            <a:solidFill>
              <a:srgbClr val="D5DED9"/>
            </a:solidFill>
            <a:prstDash val="solid"/>
          </a:ln>
        </p:spPr>
      </p:sp>
      <p:sp>
        <p:nvSpPr>
          <p:cNvPr id="18" name="Text 15"/>
          <p:cNvSpPr txBox="1"/>
          <p:nvPr/>
        </p:nvSpPr>
        <p:spPr>
          <a:xfrm>
            <a:off x="621792" y="1371600"/>
            <a:ext cx="1645920" cy="777240"/>
          </a:xfrm>
          <a:prstGeom prst="rect">
            <a:avLst/>
          </a:prstGeom>
          <a:noFill/>
          <a:ln/>
        </p:spPr>
        <p:txBody>
          <a:bodyPr wrap="square" lIns="0" tIns="0" rIns="0" bIns="0" rtlCol="0" anchor="ctr"/>
          <a:lstStyle/>
          <a:p>
            <a:pPr marL="0" indent="0">
              <a:buNone/>
            </a:pPr>
            <a:r>
              <a:rPr lang="en-US" sz="3000" b="1" dirty="0">
                <a:solidFill>
                  <a:srgbClr val="00A86A"/>
                </a:solidFill>
                <a:latin typeface="Calibri" pitchFamily="34" charset="0"/>
                <a:ea typeface="Calibri" pitchFamily="34" charset="-122"/>
                <a:cs typeface="Calibri" pitchFamily="34" charset="-120"/>
              </a:rPr>
              <a:t>≈ 611 m</a:t>
            </a:r>
            <a:endParaRPr lang="en-US" sz="3000" dirty="0"/>
          </a:p>
        </p:txBody>
      </p:sp>
      <p:sp>
        <p:nvSpPr>
          <p:cNvPr id="19" name="Text 16"/>
          <p:cNvSpPr txBox="1"/>
          <p:nvPr/>
        </p:nvSpPr>
        <p:spPr>
          <a:xfrm>
            <a:off x="2286000" y="1399032"/>
            <a:ext cx="1828800" cy="27432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Ookla Speedtest tiles</a:t>
            </a:r>
            <a:endParaRPr lang="en-US" sz="1200" dirty="0"/>
          </a:p>
        </p:txBody>
      </p:sp>
      <p:sp>
        <p:nvSpPr>
          <p:cNvPr id="20" name="Text 17"/>
          <p:cNvSpPr txBox="1"/>
          <p:nvPr/>
        </p:nvSpPr>
        <p:spPr>
          <a:xfrm>
            <a:off x="2286000" y="1673352"/>
            <a:ext cx="1828800" cy="512064"/>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Zoom-16 tiles, fixed and mobile layers, every quarter since 2019</a:t>
            </a:r>
            <a:endParaRPr lang="en-US" sz="950" dirty="0"/>
          </a:p>
        </p:txBody>
      </p:sp>
      <p:sp>
        <p:nvSpPr>
          <p:cNvPr id="21" name="Shape 18"/>
          <p:cNvSpPr/>
          <p:nvPr/>
        </p:nvSpPr>
        <p:spPr>
          <a:xfrm>
            <a:off x="457200" y="2377440"/>
            <a:ext cx="3749040" cy="960120"/>
          </a:xfrm>
          <a:prstGeom prst="roundRect">
            <a:avLst>
              <a:gd name="adj" fmla="val 7619"/>
            </a:avLst>
          </a:prstGeom>
          <a:solidFill>
            <a:srgbClr val="F4F7F5"/>
          </a:solidFill>
          <a:ln w="9525">
            <a:solidFill>
              <a:srgbClr val="D5DED9"/>
            </a:solidFill>
            <a:prstDash val="solid"/>
          </a:ln>
        </p:spPr>
      </p:sp>
      <p:sp>
        <p:nvSpPr>
          <p:cNvPr id="22" name="Text 19"/>
          <p:cNvSpPr txBox="1"/>
          <p:nvPr/>
        </p:nvSpPr>
        <p:spPr>
          <a:xfrm>
            <a:off x="621792" y="2468880"/>
            <a:ext cx="1645920" cy="777240"/>
          </a:xfrm>
          <a:prstGeom prst="rect">
            <a:avLst/>
          </a:prstGeom>
          <a:noFill/>
          <a:ln/>
        </p:spPr>
        <p:txBody>
          <a:bodyPr wrap="square" lIns="0" tIns="0" rIns="0" bIns="0" rtlCol="0" anchor="ctr"/>
          <a:lstStyle/>
          <a:p>
            <a:pPr marL="0" indent="0">
              <a:buNone/>
            </a:pPr>
            <a:r>
              <a:rPr lang="en-US" sz="3000" b="1" dirty="0">
                <a:solidFill>
                  <a:srgbClr val="0E7C86"/>
                </a:solidFill>
                <a:latin typeface="Calibri" pitchFamily="34" charset="0"/>
                <a:ea typeface="Calibri" pitchFamily="34" charset="-122"/>
                <a:cs typeface="Calibri" pitchFamily="34" charset="-120"/>
              </a:rPr>
              <a:t>≈ 3 billion</a:t>
            </a:r>
            <a:endParaRPr lang="en-US" sz="3000" dirty="0"/>
          </a:p>
        </p:txBody>
      </p:sp>
      <p:sp>
        <p:nvSpPr>
          <p:cNvPr id="23" name="Text 20"/>
          <p:cNvSpPr txBox="1"/>
          <p:nvPr/>
        </p:nvSpPr>
        <p:spPr>
          <a:xfrm>
            <a:off x="2286000" y="2496312"/>
            <a:ext cx="1828800" cy="27432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WorldPop 100 m grid</a:t>
            </a:r>
            <a:endParaRPr lang="en-US" sz="1200" dirty="0"/>
          </a:p>
        </p:txBody>
      </p:sp>
      <p:sp>
        <p:nvSpPr>
          <p:cNvPr id="24" name="Text 21"/>
          <p:cNvSpPr txBox="1"/>
          <p:nvPr/>
        </p:nvSpPr>
        <p:spPr>
          <a:xfrm>
            <a:off x="2286000" y="2770632"/>
            <a:ext cx="1828800" cy="512064"/>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Derived: ≈ 30 million km² × 100 cells per km², per layer and year</a:t>
            </a:r>
            <a:endParaRPr lang="en-US" sz="950" dirty="0"/>
          </a:p>
        </p:txBody>
      </p:sp>
      <p:sp>
        <p:nvSpPr>
          <p:cNvPr id="25" name="Shape 22"/>
          <p:cNvSpPr/>
          <p:nvPr/>
        </p:nvSpPr>
        <p:spPr>
          <a:xfrm>
            <a:off x="457200" y="3474720"/>
            <a:ext cx="3749040" cy="960120"/>
          </a:xfrm>
          <a:prstGeom prst="roundRect">
            <a:avLst>
              <a:gd name="adj" fmla="val 7619"/>
            </a:avLst>
          </a:prstGeom>
          <a:solidFill>
            <a:srgbClr val="F4F7F5"/>
          </a:solidFill>
          <a:ln w="9525">
            <a:solidFill>
              <a:srgbClr val="D5DED9"/>
            </a:solidFill>
            <a:prstDash val="solid"/>
          </a:ln>
        </p:spPr>
      </p:sp>
      <p:sp>
        <p:nvSpPr>
          <p:cNvPr id="26" name="Text 23"/>
          <p:cNvSpPr txBox="1"/>
          <p:nvPr/>
        </p:nvSpPr>
        <p:spPr>
          <a:xfrm>
            <a:off x="621792" y="3566160"/>
            <a:ext cx="1645920" cy="777240"/>
          </a:xfrm>
          <a:prstGeom prst="rect">
            <a:avLst/>
          </a:prstGeom>
          <a:noFill/>
          <a:ln/>
        </p:spPr>
        <p:txBody>
          <a:bodyPr wrap="square" lIns="0" tIns="0" rIns="0" bIns="0" rtlCol="0" anchor="ctr"/>
          <a:lstStyle/>
          <a:p>
            <a:pPr marL="0" indent="0">
              <a:buNone/>
            </a:pPr>
            <a:r>
              <a:rPr lang="en-US" sz="3000" b="1" dirty="0">
                <a:solidFill>
                  <a:srgbClr val="D49A00"/>
                </a:solidFill>
                <a:latin typeface="Calibri" pitchFamily="34" charset="0"/>
                <a:ea typeface="Calibri" pitchFamily="34" charset="-122"/>
                <a:cs typeface="Calibri" pitchFamily="34" charset="-120"/>
              </a:rPr>
              <a:t>Daily</a:t>
            </a:r>
            <a:endParaRPr lang="en-US" sz="3000" dirty="0"/>
          </a:p>
        </p:txBody>
      </p:sp>
      <p:sp>
        <p:nvSpPr>
          <p:cNvPr id="27" name="Text 24"/>
          <p:cNvSpPr txBox="1"/>
          <p:nvPr/>
        </p:nvSpPr>
        <p:spPr>
          <a:xfrm>
            <a:off x="2286000" y="3593592"/>
            <a:ext cx="1828800" cy="27432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NASA Black Marble radiance</a:t>
            </a:r>
            <a:endParaRPr lang="en-US" sz="1200" dirty="0"/>
          </a:p>
        </p:txBody>
      </p:sp>
      <p:sp>
        <p:nvSpPr>
          <p:cNvPr id="28" name="Text 25"/>
          <p:cNvSpPr txBox="1"/>
          <p:nvPr/>
        </p:nvSpPr>
        <p:spPr>
          <a:xfrm>
            <a:off x="2286000" y="3867912"/>
            <a:ext cx="1828800" cy="512064"/>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VNP46A2 night-time lights at ~500 m (15 arc-seconds)</a:t>
            </a:r>
            <a:endParaRPr lang="en-US" sz="950" dirty="0"/>
          </a:p>
        </p:txBody>
      </p:sp>
      <p:sp>
        <p:nvSpPr>
          <p:cNvPr id="29" name="Text 26"/>
          <p:cNvSpPr txBox="1"/>
          <p:nvPr/>
        </p:nvSpPr>
        <p:spPr>
          <a:xfrm>
            <a:off x="4526280" y="1280160"/>
            <a:ext cx="4114800" cy="27432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The memory wall — and three ways past it</a:t>
            </a:r>
            <a:endParaRPr lang="en-US" sz="1300" dirty="0"/>
          </a:p>
        </p:txBody>
      </p:sp>
      <p:sp>
        <p:nvSpPr>
          <p:cNvPr id="30" name="Shape 27"/>
          <p:cNvSpPr/>
          <p:nvPr/>
        </p:nvSpPr>
        <p:spPr>
          <a:xfrm>
            <a:off x="4526280" y="1645920"/>
            <a:ext cx="4160520" cy="566928"/>
          </a:xfrm>
          <a:prstGeom prst="roundRect">
            <a:avLst>
              <a:gd name="adj" fmla="val 12903"/>
            </a:avLst>
          </a:prstGeom>
          <a:solidFill>
            <a:srgbClr val="FFFFFF"/>
          </a:solidFill>
          <a:ln w="15875">
            <a:solidFill>
              <a:srgbClr val="A9B5B0"/>
            </a:solidFill>
            <a:prstDash val="solid"/>
          </a:ln>
        </p:spPr>
      </p:sp>
      <p:sp>
        <p:nvSpPr>
          <p:cNvPr id="31" name="Shape 28"/>
          <p:cNvSpPr/>
          <p:nvPr/>
        </p:nvSpPr>
        <p:spPr>
          <a:xfrm>
            <a:off x="4617720" y="1737360"/>
            <a:ext cx="384048" cy="384048"/>
          </a:xfrm>
          <a:prstGeom prst="ellipse">
            <a:avLst/>
          </a:prstGeom>
          <a:solidFill>
            <a:srgbClr val="5E6964">
              <a:alpha val="22000"/>
            </a:srgbClr>
          </a:solidFill>
          <a:ln/>
        </p:spPr>
      </p:sp>
      <p:pic>
        <p:nvPicPr>
          <p:cNvPr id="32" name="Image 0" descr="preencoded.png"/>
          <p:cNvPicPr>
            <a:picLocks noChangeAspect="1"/>
          </p:cNvPicPr>
          <p:nvPr/>
        </p:nvPicPr>
        <p:blipFill>
          <a:blip r:embed="rId3"/>
          <a:stretch>
            <a:fillRect/>
          </a:stretch>
        </p:blipFill>
        <p:spPr>
          <a:xfrm>
            <a:off x="4713732" y="1833372"/>
            <a:ext cx="192024" cy="192024"/>
          </a:xfrm>
          <a:prstGeom prst="rect">
            <a:avLst/>
          </a:prstGeom>
        </p:spPr>
      </p:pic>
      <p:sp>
        <p:nvSpPr>
          <p:cNvPr id="33" name="Text 29"/>
          <p:cNvSpPr txBox="1"/>
          <p:nvPr/>
        </p:nvSpPr>
        <p:spPr>
          <a:xfrm>
            <a:off x="5120640" y="1709928"/>
            <a:ext cx="3429000" cy="22860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Fits comfortably in RAM</a:t>
            </a:r>
            <a:endParaRPr lang="en-US" sz="1150" dirty="0"/>
          </a:p>
        </p:txBody>
      </p:sp>
      <p:sp>
        <p:nvSpPr>
          <p:cNvPr id="34" name="Text 30"/>
          <p:cNvSpPr txBox="1"/>
          <p:nvPr/>
        </p:nvSpPr>
        <p:spPr>
          <a:xfrm>
            <a:off x="5120640" y="1947672"/>
            <a:ext cx="3429000" cy="219456"/>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pandas, R — rule of thumb: RAM ≈ 5–10× data size</a:t>
            </a:r>
            <a:endParaRPr lang="en-US" sz="950" dirty="0"/>
          </a:p>
        </p:txBody>
      </p:sp>
      <p:sp>
        <p:nvSpPr>
          <p:cNvPr id="35" name="Shape 31"/>
          <p:cNvSpPr/>
          <p:nvPr/>
        </p:nvSpPr>
        <p:spPr>
          <a:xfrm>
            <a:off x="4526280" y="2304288"/>
            <a:ext cx="4160520" cy="566928"/>
          </a:xfrm>
          <a:prstGeom prst="roundRect">
            <a:avLst>
              <a:gd name="adj" fmla="val 12903"/>
            </a:avLst>
          </a:prstGeom>
          <a:solidFill>
            <a:srgbClr val="FFFFFF"/>
          </a:solidFill>
          <a:ln w="15875">
            <a:solidFill>
              <a:srgbClr val="00A86A"/>
            </a:solidFill>
            <a:prstDash val="solid"/>
          </a:ln>
        </p:spPr>
      </p:sp>
      <p:sp>
        <p:nvSpPr>
          <p:cNvPr id="36" name="Shape 32"/>
          <p:cNvSpPr/>
          <p:nvPr/>
        </p:nvSpPr>
        <p:spPr>
          <a:xfrm>
            <a:off x="4617720" y="2395728"/>
            <a:ext cx="384048" cy="384048"/>
          </a:xfrm>
          <a:prstGeom prst="ellipse">
            <a:avLst/>
          </a:prstGeom>
          <a:solidFill>
            <a:srgbClr val="00A86A">
              <a:alpha val="22000"/>
            </a:srgbClr>
          </a:solidFill>
          <a:ln/>
        </p:spPr>
      </p:sp>
      <p:pic>
        <p:nvPicPr>
          <p:cNvPr id="37" name="Image 1" descr="preencoded.png"/>
          <p:cNvPicPr>
            <a:picLocks noChangeAspect="1"/>
          </p:cNvPicPr>
          <p:nvPr/>
        </p:nvPicPr>
        <p:blipFill>
          <a:blip r:embed="rId4"/>
          <a:stretch>
            <a:fillRect/>
          </a:stretch>
        </p:blipFill>
        <p:spPr>
          <a:xfrm>
            <a:off x="4713732" y="2491740"/>
            <a:ext cx="192024" cy="192024"/>
          </a:xfrm>
          <a:prstGeom prst="rect">
            <a:avLst/>
          </a:prstGeom>
        </p:spPr>
      </p:pic>
      <p:sp>
        <p:nvSpPr>
          <p:cNvPr id="38" name="Text 33"/>
          <p:cNvSpPr txBox="1"/>
          <p:nvPr/>
        </p:nvSpPr>
        <p:spPr>
          <a:xfrm>
            <a:off x="5120640" y="2368296"/>
            <a:ext cx="3429000" cy="22860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Fits on one machine's disk</a:t>
            </a:r>
            <a:endParaRPr lang="en-US" sz="1150" dirty="0"/>
          </a:p>
        </p:txBody>
      </p:sp>
      <p:sp>
        <p:nvSpPr>
          <p:cNvPr id="39" name="Text 34"/>
          <p:cNvSpPr txBox="1"/>
          <p:nvPr/>
        </p:nvSpPr>
        <p:spPr>
          <a:xfrm>
            <a:off x="5120640" y="2606040"/>
            <a:ext cx="3429000" cy="219456"/>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DuckDB, Polars — stream columns from Parquet, out of core</a:t>
            </a:r>
            <a:endParaRPr lang="en-US" sz="950" dirty="0"/>
          </a:p>
        </p:txBody>
      </p:sp>
      <p:sp>
        <p:nvSpPr>
          <p:cNvPr id="40" name="Shape 35"/>
          <p:cNvSpPr/>
          <p:nvPr/>
        </p:nvSpPr>
        <p:spPr>
          <a:xfrm>
            <a:off x="4526280" y="2962656"/>
            <a:ext cx="4160520" cy="566928"/>
          </a:xfrm>
          <a:prstGeom prst="roundRect">
            <a:avLst>
              <a:gd name="adj" fmla="val 12903"/>
            </a:avLst>
          </a:prstGeom>
          <a:solidFill>
            <a:srgbClr val="FFFFFF"/>
          </a:solidFill>
          <a:ln w="15875">
            <a:solidFill>
              <a:srgbClr val="0E7C86"/>
            </a:solidFill>
            <a:prstDash val="solid"/>
          </a:ln>
        </p:spPr>
      </p:sp>
      <p:sp>
        <p:nvSpPr>
          <p:cNvPr id="41" name="Shape 36"/>
          <p:cNvSpPr/>
          <p:nvPr/>
        </p:nvSpPr>
        <p:spPr>
          <a:xfrm>
            <a:off x="4617720" y="3054096"/>
            <a:ext cx="384048" cy="384048"/>
          </a:xfrm>
          <a:prstGeom prst="ellipse">
            <a:avLst/>
          </a:prstGeom>
          <a:solidFill>
            <a:srgbClr val="0E7C86">
              <a:alpha val="22000"/>
            </a:srgbClr>
          </a:solidFill>
          <a:ln/>
        </p:spPr>
      </p:sp>
      <p:pic>
        <p:nvPicPr>
          <p:cNvPr id="42" name="Image 2" descr="preencoded.png"/>
          <p:cNvPicPr>
            <a:picLocks noChangeAspect="1"/>
          </p:cNvPicPr>
          <p:nvPr/>
        </p:nvPicPr>
        <p:blipFill>
          <a:blip r:embed="rId5"/>
          <a:stretch>
            <a:fillRect/>
          </a:stretch>
        </p:blipFill>
        <p:spPr>
          <a:xfrm>
            <a:off x="4713732" y="3150108"/>
            <a:ext cx="192024" cy="192024"/>
          </a:xfrm>
          <a:prstGeom prst="rect">
            <a:avLst/>
          </a:prstGeom>
        </p:spPr>
      </p:pic>
      <p:sp>
        <p:nvSpPr>
          <p:cNvPr id="43" name="Text 37"/>
          <p:cNvSpPr txBox="1"/>
          <p:nvPr/>
        </p:nvSpPr>
        <p:spPr>
          <a:xfrm>
            <a:off x="5120640" y="3026664"/>
            <a:ext cx="3429000" cy="22860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Exceeds one machine, or must be shared</a:t>
            </a:r>
            <a:endParaRPr lang="en-US" sz="1150" dirty="0"/>
          </a:p>
        </p:txBody>
      </p:sp>
      <p:sp>
        <p:nvSpPr>
          <p:cNvPr id="44" name="Text 38"/>
          <p:cNvSpPr txBox="1"/>
          <p:nvPr/>
        </p:nvSpPr>
        <p:spPr>
          <a:xfrm>
            <a:off x="5120640" y="3264408"/>
            <a:ext cx="3429000" cy="219456"/>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Object storage, Spark, lakehouse</a:t>
            </a:r>
            <a:endParaRPr lang="en-US" sz="950" dirty="0"/>
          </a:p>
        </p:txBody>
      </p:sp>
      <p:sp>
        <p:nvSpPr>
          <p:cNvPr id="45" name="Shape 39"/>
          <p:cNvSpPr/>
          <p:nvPr/>
        </p:nvSpPr>
        <p:spPr>
          <a:xfrm>
            <a:off x="4526280" y="3621024"/>
            <a:ext cx="4160520" cy="566928"/>
          </a:xfrm>
          <a:prstGeom prst="roundRect">
            <a:avLst>
              <a:gd name="adj" fmla="val 12903"/>
            </a:avLst>
          </a:prstGeom>
          <a:solidFill>
            <a:srgbClr val="FFFFFF"/>
          </a:solidFill>
          <a:ln w="15875">
            <a:solidFill>
              <a:srgbClr val="D49A00"/>
            </a:solidFill>
            <a:prstDash val="solid"/>
          </a:ln>
        </p:spPr>
      </p:sp>
      <p:sp>
        <p:nvSpPr>
          <p:cNvPr id="46" name="Shape 40"/>
          <p:cNvSpPr/>
          <p:nvPr/>
        </p:nvSpPr>
        <p:spPr>
          <a:xfrm>
            <a:off x="4617720" y="3712464"/>
            <a:ext cx="384048" cy="384048"/>
          </a:xfrm>
          <a:prstGeom prst="ellipse">
            <a:avLst/>
          </a:prstGeom>
          <a:solidFill>
            <a:srgbClr val="D49A00">
              <a:alpha val="22000"/>
            </a:srgbClr>
          </a:solidFill>
          <a:ln/>
        </p:spPr>
      </p:sp>
      <p:pic>
        <p:nvPicPr>
          <p:cNvPr id="47" name="Image 3" descr="preencoded.png"/>
          <p:cNvPicPr>
            <a:picLocks noChangeAspect="1"/>
          </p:cNvPicPr>
          <p:nvPr/>
        </p:nvPicPr>
        <p:blipFill>
          <a:blip r:embed="rId6"/>
          <a:stretch>
            <a:fillRect/>
          </a:stretch>
        </p:blipFill>
        <p:spPr>
          <a:xfrm>
            <a:off x="4713732" y="3808476"/>
            <a:ext cx="192024" cy="192024"/>
          </a:xfrm>
          <a:prstGeom prst="rect">
            <a:avLst/>
          </a:prstGeom>
        </p:spPr>
      </p:pic>
      <p:sp>
        <p:nvSpPr>
          <p:cNvPr id="48" name="Text 41"/>
          <p:cNvSpPr txBox="1"/>
          <p:nvPr/>
        </p:nvSpPr>
        <p:spPr>
          <a:xfrm>
            <a:off x="5120640" y="3685032"/>
            <a:ext cx="3429000" cy="22860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Must answer interactive queries fast</a:t>
            </a:r>
            <a:endParaRPr lang="en-US" sz="1150" dirty="0"/>
          </a:p>
        </p:txBody>
      </p:sp>
      <p:sp>
        <p:nvSpPr>
          <p:cNvPr id="49" name="Text 42"/>
          <p:cNvSpPr txBox="1"/>
          <p:nvPr/>
        </p:nvSpPr>
        <p:spPr>
          <a:xfrm>
            <a:off x="5120640" y="3922776"/>
            <a:ext cx="3429000" cy="219456"/>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Search engine: Elasticsearch</a:t>
            </a:r>
            <a:endParaRPr lang="en-US" sz="950" dirty="0"/>
          </a:p>
        </p:txBody>
      </p:sp>
      <p:sp>
        <p:nvSpPr>
          <p:cNvPr id="50" name="Text 43"/>
          <p:cNvSpPr txBox="1"/>
          <p:nvPr/>
        </p:nvSpPr>
        <p:spPr>
          <a:xfrm>
            <a:off x="457200" y="4590288"/>
            <a:ext cx="7498080" cy="201168"/>
          </a:xfrm>
          <a:prstGeom prst="rect">
            <a:avLst/>
          </a:prstGeom>
          <a:noFill/>
          <a:ln/>
        </p:spPr>
        <p:txBody>
          <a:bodyPr wrap="square" lIns="0" tIns="0" rIns="0" bIns="0" rtlCol="0" anchor="b"/>
          <a:lstStyle/>
          <a:p>
            <a:pPr marL="0" indent="0">
              <a:buNone/>
            </a:pPr>
            <a:r>
              <a:rPr lang="en-US" sz="900" i="1" dirty="0">
                <a:solidFill>
                  <a:srgbClr val="5E6964"/>
                </a:solidFill>
                <a:latin typeface="Calibri" pitchFamily="34" charset="0"/>
                <a:ea typeface="Calibri" pitchFamily="34" charset="-122"/>
                <a:cs typeface="Calibri" pitchFamily="34" charset="-120"/>
              </a:rPr>
              <a:t>Sources: Ookla Open Data (GitHub); WorldPop; NASA Black Marble; W. McKinney, "Apache Arrow and the 10 things I hate about pandas" (2017).</a:t>
            </a:r>
            <a:endParaRPr lang="en-US" sz="9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ROADMAP</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Six building blocks of any statistical data platform</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AfDB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4</a:t>
            </a:r>
            <a:endParaRPr lang="en-US" sz="850" dirty="0"/>
          </a:p>
        </p:txBody>
      </p:sp>
      <p:sp>
        <p:nvSpPr>
          <p:cNvPr id="17" name="Shape 14"/>
          <p:cNvSpPr/>
          <p:nvPr/>
        </p:nvSpPr>
        <p:spPr>
          <a:xfrm>
            <a:off x="457200" y="1325880"/>
            <a:ext cx="1719072" cy="1691640"/>
          </a:xfrm>
          <a:prstGeom prst="roundRect">
            <a:avLst>
              <a:gd name="adj" fmla="val 4324"/>
            </a:avLst>
          </a:prstGeom>
          <a:solidFill>
            <a:srgbClr val="FFFFFF"/>
          </a:solidFill>
          <a:ln w="19050">
            <a:solidFill>
              <a:srgbClr val="00A86A"/>
            </a:solidFill>
            <a:prstDash val="solid"/>
          </a:ln>
        </p:spPr>
      </p:sp>
      <p:sp>
        <p:nvSpPr>
          <p:cNvPr id="18" name="Shape 15"/>
          <p:cNvSpPr/>
          <p:nvPr/>
        </p:nvSpPr>
        <p:spPr>
          <a:xfrm>
            <a:off x="1042416" y="1463040"/>
            <a:ext cx="548640" cy="548640"/>
          </a:xfrm>
          <a:prstGeom prst="ellipse">
            <a:avLst/>
          </a:prstGeom>
          <a:solidFill>
            <a:srgbClr val="00A86A">
              <a:alpha val="22000"/>
            </a:srgbClr>
          </a:solidFill>
          <a:ln/>
        </p:spPr>
      </p:sp>
      <p:pic>
        <p:nvPicPr>
          <p:cNvPr id="19" name="Image 0" descr="preencoded.png"/>
          <p:cNvPicPr>
            <a:picLocks noChangeAspect="1"/>
          </p:cNvPicPr>
          <p:nvPr/>
        </p:nvPicPr>
        <p:blipFill>
          <a:blip r:embed="rId3"/>
          <a:stretch>
            <a:fillRect/>
          </a:stretch>
        </p:blipFill>
        <p:spPr>
          <a:xfrm>
            <a:off x="1179576" y="1600200"/>
            <a:ext cx="274320" cy="274320"/>
          </a:xfrm>
          <a:prstGeom prst="rect">
            <a:avLst/>
          </a:prstGeom>
        </p:spPr>
      </p:pic>
      <p:sp>
        <p:nvSpPr>
          <p:cNvPr id="20" name="Text 16"/>
          <p:cNvSpPr txBox="1"/>
          <p:nvPr/>
        </p:nvSpPr>
        <p:spPr>
          <a:xfrm>
            <a:off x="566928" y="1417320"/>
            <a:ext cx="365760" cy="228600"/>
          </a:xfrm>
          <a:prstGeom prst="rect">
            <a:avLst/>
          </a:prstGeom>
          <a:noFill/>
          <a:ln/>
        </p:spPr>
        <p:txBody>
          <a:bodyPr wrap="square" lIns="0" tIns="0" rIns="0" bIns="0" rtlCol="0" anchor="t"/>
          <a:lstStyle/>
          <a:p>
            <a:pPr marL="0" indent="0">
              <a:buNone/>
            </a:pPr>
            <a:r>
              <a:rPr lang="en-US" sz="1100" b="1" dirty="0">
                <a:solidFill>
                  <a:srgbClr val="00A86A"/>
                </a:solidFill>
                <a:latin typeface="Calibri" pitchFamily="34" charset="0"/>
                <a:ea typeface="Calibri" pitchFamily="34" charset="-122"/>
                <a:cs typeface="Calibri" pitchFamily="34" charset="-120"/>
              </a:rPr>
              <a:t>01</a:t>
            </a:r>
            <a:endParaRPr lang="en-US" sz="1100" dirty="0"/>
          </a:p>
        </p:txBody>
      </p:sp>
      <p:sp>
        <p:nvSpPr>
          <p:cNvPr id="21" name="Text 17"/>
          <p:cNvSpPr txBox="1"/>
          <p:nvPr/>
        </p:nvSpPr>
        <p:spPr>
          <a:xfrm>
            <a:off x="548640" y="2103120"/>
            <a:ext cx="1536192" cy="411480"/>
          </a:xfrm>
          <a:prstGeom prst="rect">
            <a:avLst/>
          </a:prstGeom>
          <a:noFill/>
          <a:ln/>
        </p:spPr>
        <p:txBody>
          <a:bodyPr wrap="square" lIns="0" tIns="0" rIns="0" bIns="0" rtlCol="0" anchor="ctr"/>
          <a:lstStyle/>
          <a:p>
            <a:pPr marL="0" indent="0" algn="ctr">
              <a:buNone/>
            </a:pPr>
            <a:r>
              <a:rPr lang="en-US" sz="1300" b="1" dirty="0">
                <a:solidFill>
                  <a:srgbClr val="231F20"/>
                </a:solidFill>
                <a:latin typeface="Calibri" pitchFamily="34" charset="0"/>
                <a:ea typeface="Calibri" pitchFamily="34" charset="-122"/>
                <a:cs typeface="Calibri" pitchFamily="34" charset="-120"/>
              </a:rPr>
              <a:t>Ingestion</a:t>
            </a:r>
            <a:endParaRPr lang="en-US" sz="1300" dirty="0"/>
          </a:p>
        </p:txBody>
      </p:sp>
      <p:sp>
        <p:nvSpPr>
          <p:cNvPr id="22" name="Text 18"/>
          <p:cNvSpPr txBox="1"/>
          <p:nvPr/>
        </p:nvSpPr>
        <p:spPr>
          <a:xfrm>
            <a:off x="594360" y="2514600"/>
            <a:ext cx="1444752" cy="411480"/>
          </a:xfrm>
          <a:prstGeom prst="rect">
            <a:avLst/>
          </a:prstGeom>
          <a:noFill/>
          <a:ln/>
        </p:spPr>
        <p:txBody>
          <a:bodyPr wrap="square" lIns="0" tIns="0" rIns="0" bIns="0" rtlCol="0" anchor="t"/>
          <a:lstStyle/>
          <a:p>
            <a:pPr marL="0" indent="0" algn="ctr">
              <a:buNone/>
            </a:pPr>
            <a:r>
              <a:rPr lang="en-US" sz="1000" dirty="0">
                <a:solidFill>
                  <a:srgbClr val="5E6964"/>
                </a:solidFill>
                <a:latin typeface="Calibri" pitchFamily="34" charset="0"/>
                <a:ea typeface="Calibri" pitchFamily="34" charset="-122"/>
                <a:cs typeface="Calibri" pitchFamily="34" charset="-120"/>
              </a:rPr>
              <a:t>Bring data in, unchanged and documented</a:t>
            </a:r>
            <a:endParaRPr lang="en-US" sz="1000" dirty="0"/>
          </a:p>
        </p:txBody>
      </p:sp>
      <p:sp>
        <p:nvSpPr>
          <p:cNvPr id="23" name="Shape 19"/>
          <p:cNvSpPr/>
          <p:nvPr/>
        </p:nvSpPr>
        <p:spPr>
          <a:xfrm>
            <a:off x="2221992" y="2167128"/>
            <a:ext cx="237744" cy="91"/>
          </a:xfrm>
          <a:prstGeom prst="line">
            <a:avLst/>
          </a:prstGeom>
          <a:noFill/>
          <a:ln w="15875">
            <a:solidFill>
              <a:srgbClr val="5E6964"/>
            </a:solidFill>
            <a:prstDash val="solid"/>
            <a:tailEnd type="triangle"/>
          </a:ln>
        </p:spPr>
      </p:sp>
      <p:sp>
        <p:nvSpPr>
          <p:cNvPr id="24" name="Shape 20"/>
          <p:cNvSpPr/>
          <p:nvPr/>
        </p:nvSpPr>
        <p:spPr>
          <a:xfrm>
            <a:off x="2505456" y="1325880"/>
            <a:ext cx="1719072" cy="1691640"/>
          </a:xfrm>
          <a:prstGeom prst="roundRect">
            <a:avLst>
              <a:gd name="adj" fmla="val 4324"/>
            </a:avLst>
          </a:prstGeom>
          <a:solidFill>
            <a:srgbClr val="FFFFFF"/>
          </a:solidFill>
          <a:ln w="19050">
            <a:solidFill>
              <a:srgbClr val="00704A"/>
            </a:solidFill>
            <a:prstDash val="solid"/>
          </a:ln>
        </p:spPr>
      </p:sp>
      <p:sp>
        <p:nvSpPr>
          <p:cNvPr id="25" name="Shape 21"/>
          <p:cNvSpPr/>
          <p:nvPr/>
        </p:nvSpPr>
        <p:spPr>
          <a:xfrm>
            <a:off x="3090672" y="1463040"/>
            <a:ext cx="548640" cy="548640"/>
          </a:xfrm>
          <a:prstGeom prst="ellipse">
            <a:avLst/>
          </a:prstGeom>
          <a:solidFill>
            <a:srgbClr val="00704A">
              <a:alpha val="22000"/>
            </a:srgbClr>
          </a:solidFill>
          <a:ln/>
        </p:spPr>
      </p:sp>
      <p:pic>
        <p:nvPicPr>
          <p:cNvPr id="26" name="Image 1" descr="preencoded.png"/>
          <p:cNvPicPr>
            <a:picLocks noChangeAspect="1"/>
          </p:cNvPicPr>
          <p:nvPr/>
        </p:nvPicPr>
        <p:blipFill>
          <a:blip r:embed="rId4"/>
          <a:stretch>
            <a:fillRect/>
          </a:stretch>
        </p:blipFill>
        <p:spPr>
          <a:xfrm>
            <a:off x="3227832" y="1600200"/>
            <a:ext cx="274320" cy="274320"/>
          </a:xfrm>
          <a:prstGeom prst="rect">
            <a:avLst/>
          </a:prstGeom>
        </p:spPr>
      </p:pic>
      <p:sp>
        <p:nvSpPr>
          <p:cNvPr id="27" name="Text 22"/>
          <p:cNvSpPr txBox="1"/>
          <p:nvPr/>
        </p:nvSpPr>
        <p:spPr>
          <a:xfrm>
            <a:off x="2615184" y="1417320"/>
            <a:ext cx="365760" cy="228600"/>
          </a:xfrm>
          <a:prstGeom prst="rect">
            <a:avLst/>
          </a:prstGeom>
          <a:noFill/>
          <a:ln/>
        </p:spPr>
        <p:txBody>
          <a:bodyPr wrap="square" lIns="0" tIns="0" rIns="0" bIns="0" rtlCol="0" anchor="t"/>
          <a:lstStyle/>
          <a:p>
            <a:pPr marL="0" indent="0">
              <a:buNone/>
            </a:pPr>
            <a:r>
              <a:rPr lang="en-US" sz="1100" b="1" dirty="0">
                <a:solidFill>
                  <a:srgbClr val="00704A"/>
                </a:solidFill>
                <a:latin typeface="Calibri" pitchFamily="34" charset="0"/>
                <a:ea typeface="Calibri" pitchFamily="34" charset="-122"/>
                <a:cs typeface="Calibri" pitchFamily="34" charset="-120"/>
              </a:rPr>
              <a:t>02</a:t>
            </a:r>
            <a:endParaRPr lang="en-US" sz="1100" dirty="0"/>
          </a:p>
        </p:txBody>
      </p:sp>
      <p:sp>
        <p:nvSpPr>
          <p:cNvPr id="28" name="Text 23"/>
          <p:cNvSpPr txBox="1"/>
          <p:nvPr/>
        </p:nvSpPr>
        <p:spPr>
          <a:xfrm>
            <a:off x="2596896" y="2103120"/>
            <a:ext cx="1536192" cy="411480"/>
          </a:xfrm>
          <a:prstGeom prst="rect">
            <a:avLst/>
          </a:prstGeom>
          <a:noFill/>
          <a:ln/>
        </p:spPr>
        <p:txBody>
          <a:bodyPr wrap="square" lIns="0" tIns="0" rIns="0" bIns="0" rtlCol="0" anchor="ctr"/>
          <a:lstStyle/>
          <a:p>
            <a:pPr marL="0" indent="0" algn="ctr">
              <a:buNone/>
            </a:pPr>
            <a:r>
              <a:rPr lang="en-US" sz="1300" b="1" dirty="0">
                <a:solidFill>
                  <a:srgbClr val="231F20"/>
                </a:solidFill>
                <a:latin typeface="Calibri" pitchFamily="34" charset="0"/>
                <a:ea typeface="Calibri" pitchFamily="34" charset="-122"/>
                <a:cs typeface="Calibri" pitchFamily="34" charset="-120"/>
              </a:rPr>
              <a:t>Storage</a:t>
            </a:r>
            <a:endParaRPr lang="en-US" sz="1300" dirty="0"/>
          </a:p>
        </p:txBody>
      </p:sp>
      <p:sp>
        <p:nvSpPr>
          <p:cNvPr id="29" name="Text 24"/>
          <p:cNvSpPr txBox="1"/>
          <p:nvPr/>
        </p:nvSpPr>
        <p:spPr>
          <a:xfrm>
            <a:off x="2642616" y="2514600"/>
            <a:ext cx="1444752" cy="411480"/>
          </a:xfrm>
          <a:prstGeom prst="rect">
            <a:avLst/>
          </a:prstGeom>
          <a:noFill/>
          <a:ln/>
        </p:spPr>
        <p:txBody>
          <a:bodyPr wrap="square" lIns="0" tIns="0" rIns="0" bIns="0" rtlCol="0" anchor="t"/>
          <a:lstStyle/>
          <a:p>
            <a:pPr marL="0" indent="0" algn="ctr">
              <a:buNone/>
            </a:pPr>
            <a:r>
              <a:rPr lang="en-US" sz="1000" dirty="0">
                <a:solidFill>
                  <a:srgbClr val="5E6964"/>
                </a:solidFill>
                <a:latin typeface="Calibri" pitchFamily="34" charset="0"/>
                <a:ea typeface="Calibri" pitchFamily="34" charset="-122"/>
                <a:cs typeface="Calibri" pitchFamily="34" charset="-120"/>
              </a:rPr>
              <a:t>Keep it cheap, safe and fast to read</a:t>
            </a:r>
            <a:endParaRPr lang="en-US" sz="1000" dirty="0"/>
          </a:p>
        </p:txBody>
      </p:sp>
      <p:sp>
        <p:nvSpPr>
          <p:cNvPr id="30" name="Shape 25"/>
          <p:cNvSpPr/>
          <p:nvPr/>
        </p:nvSpPr>
        <p:spPr>
          <a:xfrm>
            <a:off x="4270248" y="2167128"/>
            <a:ext cx="237744" cy="91"/>
          </a:xfrm>
          <a:prstGeom prst="line">
            <a:avLst/>
          </a:prstGeom>
          <a:noFill/>
          <a:ln w="15875">
            <a:solidFill>
              <a:srgbClr val="5E6964"/>
            </a:solidFill>
            <a:prstDash val="solid"/>
            <a:tailEnd type="triangle"/>
          </a:ln>
        </p:spPr>
      </p:sp>
      <p:sp>
        <p:nvSpPr>
          <p:cNvPr id="31" name="Shape 26"/>
          <p:cNvSpPr/>
          <p:nvPr/>
        </p:nvSpPr>
        <p:spPr>
          <a:xfrm>
            <a:off x="4553712" y="1325880"/>
            <a:ext cx="1719072" cy="1691640"/>
          </a:xfrm>
          <a:prstGeom prst="roundRect">
            <a:avLst>
              <a:gd name="adj" fmla="val 4324"/>
            </a:avLst>
          </a:prstGeom>
          <a:solidFill>
            <a:srgbClr val="FFFFFF"/>
          </a:solidFill>
          <a:ln w="19050">
            <a:solidFill>
              <a:srgbClr val="0E7C86"/>
            </a:solidFill>
            <a:prstDash val="solid"/>
          </a:ln>
        </p:spPr>
      </p:sp>
      <p:sp>
        <p:nvSpPr>
          <p:cNvPr id="32" name="Shape 27"/>
          <p:cNvSpPr/>
          <p:nvPr/>
        </p:nvSpPr>
        <p:spPr>
          <a:xfrm>
            <a:off x="5138928" y="1463040"/>
            <a:ext cx="548640" cy="548640"/>
          </a:xfrm>
          <a:prstGeom prst="ellipse">
            <a:avLst/>
          </a:prstGeom>
          <a:solidFill>
            <a:srgbClr val="0E7C86">
              <a:alpha val="22000"/>
            </a:srgbClr>
          </a:solidFill>
          <a:ln/>
        </p:spPr>
      </p:sp>
      <p:pic>
        <p:nvPicPr>
          <p:cNvPr id="33" name="Image 2" descr="preencoded.png"/>
          <p:cNvPicPr>
            <a:picLocks noChangeAspect="1"/>
          </p:cNvPicPr>
          <p:nvPr/>
        </p:nvPicPr>
        <p:blipFill>
          <a:blip r:embed="rId5"/>
          <a:stretch>
            <a:fillRect/>
          </a:stretch>
        </p:blipFill>
        <p:spPr>
          <a:xfrm>
            <a:off x="5276088" y="1600200"/>
            <a:ext cx="274320" cy="274320"/>
          </a:xfrm>
          <a:prstGeom prst="rect">
            <a:avLst/>
          </a:prstGeom>
        </p:spPr>
      </p:pic>
      <p:sp>
        <p:nvSpPr>
          <p:cNvPr id="34" name="Text 28"/>
          <p:cNvSpPr txBox="1"/>
          <p:nvPr/>
        </p:nvSpPr>
        <p:spPr>
          <a:xfrm>
            <a:off x="4663440" y="1417320"/>
            <a:ext cx="365760" cy="228600"/>
          </a:xfrm>
          <a:prstGeom prst="rect">
            <a:avLst/>
          </a:prstGeom>
          <a:noFill/>
          <a:ln/>
        </p:spPr>
        <p:txBody>
          <a:bodyPr wrap="square" lIns="0" tIns="0" rIns="0" bIns="0" rtlCol="0" anchor="t"/>
          <a:lstStyle/>
          <a:p>
            <a:pPr marL="0" indent="0">
              <a:buNone/>
            </a:pPr>
            <a:r>
              <a:rPr lang="en-US" sz="1100" b="1" dirty="0">
                <a:solidFill>
                  <a:srgbClr val="0E7C86"/>
                </a:solidFill>
                <a:latin typeface="Calibri" pitchFamily="34" charset="0"/>
                <a:ea typeface="Calibri" pitchFamily="34" charset="-122"/>
                <a:cs typeface="Calibri" pitchFamily="34" charset="-120"/>
              </a:rPr>
              <a:t>03</a:t>
            </a:r>
            <a:endParaRPr lang="en-US" sz="1100" dirty="0"/>
          </a:p>
        </p:txBody>
      </p:sp>
      <p:sp>
        <p:nvSpPr>
          <p:cNvPr id="35" name="Text 29"/>
          <p:cNvSpPr txBox="1"/>
          <p:nvPr/>
        </p:nvSpPr>
        <p:spPr>
          <a:xfrm>
            <a:off x="4645152" y="2103120"/>
            <a:ext cx="1536192" cy="411480"/>
          </a:xfrm>
          <a:prstGeom prst="rect">
            <a:avLst/>
          </a:prstGeom>
          <a:noFill/>
          <a:ln/>
        </p:spPr>
        <p:txBody>
          <a:bodyPr wrap="square" lIns="0" tIns="0" rIns="0" bIns="0" rtlCol="0" anchor="ctr"/>
          <a:lstStyle/>
          <a:p>
            <a:pPr marL="0" indent="0" algn="ctr">
              <a:buNone/>
            </a:pPr>
            <a:r>
              <a:rPr lang="en-US" sz="1300" b="1" dirty="0">
                <a:solidFill>
                  <a:srgbClr val="231F20"/>
                </a:solidFill>
                <a:latin typeface="Calibri" pitchFamily="34" charset="0"/>
                <a:ea typeface="Calibri" pitchFamily="34" charset="-122"/>
                <a:cs typeface="Calibri" pitchFamily="34" charset="-120"/>
              </a:rPr>
              <a:t>Distributed processing</a:t>
            </a:r>
            <a:endParaRPr lang="en-US" sz="1300" dirty="0"/>
          </a:p>
        </p:txBody>
      </p:sp>
      <p:sp>
        <p:nvSpPr>
          <p:cNvPr id="36" name="Text 30"/>
          <p:cNvSpPr txBox="1"/>
          <p:nvPr/>
        </p:nvSpPr>
        <p:spPr>
          <a:xfrm>
            <a:off x="4690872" y="2514600"/>
            <a:ext cx="1444752" cy="411480"/>
          </a:xfrm>
          <a:prstGeom prst="rect">
            <a:avLst/>
          </a:prstGeom>
          <a:noFill/>
          <a:ln/>
        </p:spPr>
        <p:txBody>
          <a:bodyPr wrap="square" lIns="0" tIns="0" rIns="0" bIns="0" rtlCol="0" anchor="t"/>
          <a:lstStyle/>
          <a:p>
            <a:pPr marL="0" indent="0" algn="ctr">
              <a:buNone/>
            </a:pPr>
            <a:r>
              <a:rPr lang="en-US" sz="1000" dirty="0">
                <a:solidFill>
                  <a:srgbClr val="5E6964"/>
                </a:solidFill>
                <a:latin typeface="Calibri" pitchFamily="34" charset="0"/>
                <a:ea typeface="Calibri" pitchFamily="34" charset="-122"/>
                <a:cs typeface="Calibri" pitchFamily="34" charset="-120"/>
              </a:rPr>
              <a:t>Clean, link and compute in parallel</a:t>
            </a:r>
            <a:endParaRPr lang="en-US" sz="1000" dirty="0"/>
          </a:p>
        </p:txBody>
      </p:sp>
      <p:sp>
        <p:nvSpPr>
          <p:cNvPr id="37" name="Shape 31"/>
          <p:cNvSpPr/>
          <p:nvPr/>
        </p:nvSpPr>
        <p:spPr>
          <a:xfrm>
            <a:off x="6318504" y="2167128"/>
            <a:ext cx="237744" cy="91"/>
          </a:xfrm>
          <a:prstGeom prst="line">
            <a:avLst/>
          </a:prstGeom>
          <a:noFill/>
          <a:ln w="15875">
            <a:solidFill>
              <a:srgbClr val="5E6964"/>
            </a:solidFill>
            <a:prstDash val="solid"/>
            <a:tailEnd type="triangle"/>
          </a:ln>
        </p:spPr>
      </p:sp>
      <p:sp>
        <p:nvSpPr>
          <p:cNvPr id="38" name="Shape 32"/>
          <p:cNvSpPr/>
          <p:nvPr/>
        </p:nvSpPr>
        <p:spPr>
          <a:xfrm>
            <a:off x="6601968" y="1325880"/>
            <a:ext cx="1719072" cy="1691640"/>
          </a:xfrm>
          <a:prstGeom prst="roundRect">
            <a:avLst>
              <a:gd name="adj" fmla="val 4324"/>
            </a:avLst>
          </a:prstGeom>
          <a:solidFill>
            <a:srgbClr val="FFFFFF"/>
          </a:solidFill>
          <a:ln w="19050">
            <a:solidFill>
              <a:srgbClr val="D49A00"/>
            </a:solidFill>
            <a:prstDash val="solid"/>
          </a:ln>
        </p:spPr>
      </p:sp>
      <p:sp>
        <p:nvSpPr>
          <p:cNvPr id="39" name="Shape 33"/>
          <p:cNvSpPr/>
          <p:nvPr/>
        </p:nvSpPr>
        <p:spPr>
          <a:xfrm>
            <a:off x="7187184" y="1463040"/>
            <a:ext cx="548640" cy="548640"/>
          </a:xfrm>
          <a:prstGeom prst="ellipse">
            <a:avLst/>
          </a:prstGeom>
          <a:solidFill>
            <a:srgbClr val="D49A00">
              <a:alpha val="22000"/>
            </a:srgbClr>
          </a:solidFill>
          <a:ln/>
        </p:spPr>
      </p:sp>
      <p:pic>
        <p:nvPicPr>
          <p:cNvPr id="40" name="Image 3" descr="preencoded.png"/>
          <p:cNvPicPr>
            <a:picLocks noChangeAspect="1"/>
          </p:cNvPicPr>
          <p:nvPr/>
        </p:nvPicPr>
        <p:blipFill>
          <a:blip r:embed="rId6"/>
          <a:stretch>
            <a:fillRect/>
          </a:stretch>
        </p:blipFill>
        <p:spPr>
          <a:xfrm>
            <a:off x="7324344" y="1600200"/>
            <a:ext cx="274320" cy="274320"/>
          </a:xfrm>
          <a:prstGeom prst="rect">
            <a:avLst/>
          </a:prstGeom>
        </p:spPr>
      </p:pic>
      <p:sp>
        <p:nvSpPr>
          <p:cNvPr id="41" name="Text 34"/>
          <p:cNvSpPr txBox="1"/>
          <p:nvPr/>
        </p:nvSpPr>
        <p:spPr>
          <a:xfrm>
            <a:off x="6711696" y="1417320"/>
            <a:ext cx="365760" cy="228600"/>
          </a:xfrm>
          <a:prstGeom prst="rect">
            <a:avLst/>
          </a:prstGeom>
          <a:noFill/>
          <a:ln/>
        </p:spPr>
        <p:txBody>
          <a:bodyPr wrap="square" lIns="0" tIns="0" rIns="0" bIns="0" rtlCol="0" anchor="t"/>
          <a:lstStyle/>
          <a:p>
            <a:pPr marL="0" indent="0">
              <a:buNone/>
            </a:pPr>
            <a:r>
              <a:rPr lang="en-US" sz="1100" b="1" dirty="0">
                <a:solidFill>
                  <a:srgbClr val="D49A00"/>
                </a:solidFill>
                <a:latin typeface="Calibri" pitchFamily="34" charset="0"/>
                <a:ea typeface="Calibri" pitchFamily="34" charset="-122"/>
                <a:cs typeface="Calibri" pitchFamily="34" charset="-120"/>
              </a:rPr>
              <a:t>04</a:t>
            </a:r>
            <a:endParaRPr lang="en-US" sz="1100" dirty="0"/>
          </a:p>
        </p:txBody>
      </p:sp>
      <p:sp>
        <p:nvSpPr>
          <p:cNvPr id="42" name="Text 35"/>
          <p:cNvSpPr txBox="1"/>
          <p:nvPr/>
        </p:nvSpPr>
        <p:spPr>
          <a:xfrm>
            <a:off x="6693408" y="2103120"/>
            <a:ext cx="1536192" cy="411480"/>
          </a:xfrm>
          <a:prstGeom prst="rect">
            <a:avLst/>
          </a:prstGeom>
          <a:noFill/>
          <a:ln/>
        </p:spPr>
        <p:txBody>
          <a:bodyPr wrap="square" lIns="0" tIns="0" rIns="0" bIns="0" rtlCol="0" anchor="ctr"/>
          <a:lstStyle/>
          <a:p>
            <a:pPr marL="0" indent="0" algn="ctr">
              <a:buNone/>
            </a:pPr>
            <a:r>
              <a:rPr lang="en-US" sz="1300" b="1" dirty="0">
                <a:solidFill>
                  <a:srgbClr val="231F20"/>
                </a:solidFill>
                <a:latin typeface="Calibri" pitchFamily="34" charset="0"/>
                <a:ea typeface="Calibri" pitchFamily="34" charset="-122"/>
                <a:cs typeface="Calibri" pitchFamily="34" charset="-120"/>
              </a:rPr>
              <a:t>Indexing &amp; search</a:t>
            </a:r>
            <a:endParaRPr lang="en-US" sz="1300" dirty="0"/>
          </a:p>
        </p:txBody>
      </p:sp>
      <p:sp>
        <p:nvSpPr>
          <p:cNvPr id="43" name="Text 36"/>
          <p:cNvSpPr txBox="1"/>
          <p:nvPr/>
        </p:nvSpPr>
        <p:spPr>
          <a:xfrm>
            <a:off x="6739128" y="2514600"/>
            <a:ext cx="1444752" cy="411480"/>
          </a:xfrm>
          <a:prstGeom prst="rect">
            <a:avLst/>
          </a:prstGeom>
          <a:noFill/>
          <a:ln/>
        </p:spPr>
        <p:txBody>
          <a:bodyPr wrap="square" lIns="0" tIns="0" rIns="0" bIns="0" rtlCol="0" anchor="t"/>
          <a:lstStyle/>
          <a:p>
            <a:pPr marL="0" indent="0" algn="ctr">
              <a:buNone/>
            </a:pPr>
            <a:r>
              <a:rPr lang="en-US" sz="1000" dirty="0">
                <a:solidFill>
                  <a:srgbClr val="5E6964"/>
                </a:solidFill>
                <a:latin typeface="Calibri" pitchFamily="34" charset="0"/>
                <a:ea typeface="Calibri" pitchFamily="34" charset="-122"/>
                <a:cs typeface="Calibri" pitchFamily="34" charset="-120"/>
              </a:rPr>
              <a:t>Find and query in milliseconds</a:t>
            </a:r>
            <a:endParaRPr lang="en-US" sz="1000" dirty="0"/>
          </a:p>
        </p:txBody>
      </p:sp>
      <p:sp>
        <p:nvSpPr>
          <p:cNvPr id="44" name="Shape 37"/>
          <p:cNvSpPr/>
          <p:nvPr/>
        </p:nvSpPr>
        <p:spPr>
          <a:xfrm>
            <a:off x="457200" y="3246120"/>
            <a:ext cx="8229600" cy="548640"/>
          </a:xfrm>
          <a:prstGeom prst="roundRect">
            <a:avLst>
              <a:gd name="adj" fmla="val 13333"/>
            </a:avLst>
          </a:prstGeom>
          <a:solidFill>
            <a:srgbClr val="C4621D">
              <a:alpha val="10000"/>
            </a:srgbClr>
          </a:solidFill>
          <a:ln w="12700">
            <a:solidFill>
              <a:srgbClr val="C4621D"/>
            </a:solidFill>
            <a:prstDash val="solid"/>
          </a:ln>
        </p:spPr>
      </p:sp>
      <p:sp>
        <p:nvSpPr>
          <p:cNvPr id="45" name="Shape 38"/>
          <p:cNvSpPr/>
          <p:nvPr/>
        </p:nvSpPr>
        <p:spPr>
          <a:xfrm>
            <a:off x="566928" y="3328416"/>
            <a:ext cx="384048" cy="384048"/>
          </a:xfrm>
          <a:prstGeom prst="ellipse">
            <a:avLst/>
          </a:prstGeom>
          <a:solidFill>
            <a:srgbClr val="C4621D">
              <a:alpha val="22000"/>
            </a:srgbClr>
          </a:solidFill>
          <a:ln/>
        </p:spPr>
      </p:sp>
      <p:pic>
        <p:nvPicPr>
          <p:cNvPr id="46" name="Image 4" descr="preencoded.png"/>
          <p:cNvPicPr>
            <a:picLocks noChangeAspect="1"/>
          </p:cNvPicPr>
          <p:nvPr/>
        </p:nvPicPr>
        <p:blipFill>
          <a:blip r:embed="rId7"/>
          <a:stretch>
            <a:fillRect/>
          </a:stretch>
        </p:blipFill>
        <p:spPr>
          <a:xfrm>
            <a:off x="662940" y="3424428"/>
            <a:ext cx="192024" cy="192024"/>
          </a:xfrm>
          <a:prstGeom prst="rect">
            <a:avLst/>
          </a:prstGeom>
        </p:spPr>
      </p:pic>
      <p:sp>
        <p:nvSpPr>
          <p:cNvPr id="47" name="Text 39"/>
          <p:cNvSpPr txBox="1"/>
          <p:nvPr/>
        </p:nvSpPr>
        <p:spPr>
          <a:xfrm>
            <a:off x="1097280" y="3246120"/>
            <a:ext cx="2377440" cy="548640"/>
          </a:xfrm>
          <a:prstGeom prst="rect">
            <a:avLst/>
          </a:prstGeom>
          <a:noFill/>
          <a:ln/>
        </p:spPr>
        <p:txBody>
          <a:bodyPr wrap="square" lIns="0" tIns="0" rIns="0" bIns="0" rtlCol="0" anchor="ctr"/>
          <a:lstStyle/>
          <a:p>
            <a:pPr marL="0" indent="0">
              <a:buNone/>
            </a:pPr>
            <a:r>
              <a:rPr lang="en-US" sz="1300" b="1" dirty="0">
                <a:solidFill>
                  <a:srgbClr val="C4621D"/>
                </a:solidFill>
                <a:latin typeface="Calibri" pitchFamily="34" charset="0"/>
                <a:ea typeface="Calibri" pitchFamily="34" charset="-122"/>
                <a:cs typeface="Calibri" pitchFamily="34" charset="-120"/>
              </a:rPr>
              <a:t>05  Orchestration</a:t>
            </a:r>
            <a:endParaRPr lang="en-US" sz="1300" dirty="0"/>
          </a:p>
        </p:txBody>
      </p:sp>
      <p:sp>
        <p:nvSpPr>
          <p:cNvPr id="48" name="Text 40"/>
          <p:cNvSpPr txBox="1"/>
          <p:nvPr/>
        </p:nvSpPr>
        <p:spPr>
          <a:xfrm>
            <a:off x="3474720" y="3246120"/>
            <a:ext cx="5029200" cy="54864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Schedules every step, manages dependencies, retries failures, raises alerts</a:t>
            </a:r>
            <a:endParaRPr lang="en-US" sz="1100" dirty="0"/>
          </a:p>
        </p:txBody>
      </p:sp>
      <p:sp>
        <p:nvSpPr>
          <p:cNvPr id="49" name="Shape 41"/>
          <p:cNvSpPr/>
          <p:nvPr/>
        </p:nvSpPr>
        <p:spPr>
          <a:xfrm>
            <a:off x="457200" y="3904488"/>
            <a:ext cx="8229600" cy="548640"/>
          </a:xfrm>
          <a:prstGeom prst="roundRect">
            <a:avLst>
              <a:gd name="adj" fmla="val 13333"/>
            </a:avLst>
          </a:prstGeom>
          <a:solidFill>
            <a:srgbClr val="B83B2E">
              <a:alpha val="10000"/>
            </a:srgbClr>
          </a:solidFill>
          <a:ln w="12700">
            <a:solidFill>
              <a:srgbClr val="B83B2E"/>
            </a:solidFill>
            <a:prstDash val="solid"/>
          </a:ln>
        </p:spPr>
      </p:sp>
      <p:sp>
        <p:nvSpPr>
          <p:cNvPr id="50" name="Shape 42"/>
          <p:cNvSpPr/>
          <p:nvPr/>
        </p:nvSpPr>
        <p:spPr>
          <a:xfrm>
            <a:off x="566928" y="3986784"/>
            <a:ext cx="384048" cy="384048"/>
          </a:xfrm>
          <a:prstGeom prst="ellipse">
            <a:avLst/>
          </a:prstGeom>
          <a:solidFill>
            <a:srgbClr val="B83B2E">
              <a:alpha val="22000"/>
            </a:srgbClr>
          </a:solidFill>
          <a:ln/>
        </p:spPr>
      </p:sp>
      <p:pic>
        <p:nvPicPr>
          <p:cNvPr id="51" name="Image 5" descr="preencoded.png"/>
          <p:cNvPicPr>
            <a:picLocks noChangeAspect="1"/>
          </p:cNvPicPr>
          <p:nvPr/>
        </p:nvPicPr>
        <p:blipFill>
          <a:blip r:embed="rId8"/>
          <a:stretch>
            <a:fillRect/>
          </a:stretch>
        </p:blipFill>
        <p:spPr>
          <a:xfrm>
            <a:off x="662940" y="4082796"/>
            <a:ext cx="192024" cy="192024"/>
          </a:xfrm>
          <a:prstGeom prst="rect">
            <a:avLst/>
          </a:prstGeom>
        </p:spPr>
      </p:pic>
      <p:sp>
        <p:nvSpPr>
          <p:cNvPr id="52" name="Text 43"/>
          <p:cNvSpPr txBox="1"/>
          <p:nvPr/>
        </p:nvSpPr>
        <p:spPr>
          <a:xfrm>
            <a:off x="1097280" y="3904488"/>
            <a:ext cx="2377440" cy="548640"/>
          </a:xfrm>
          <a:prstGeom prst="rect">
            <a:avLst/>
          </a:prstGeom>
          <a:noFill/>
          <a:ln/>
        </p:spPr>
        <p:txBody>
          <a:bodyPr wrap="square" lIns="0" tIns="0" rIns="0" bIns="0" rtlCol="0" anchor="ctr"/>
          <a:lstStyle/>
          <a:p>
            <a:pPr marL="0" indent="0">
              <a:buNone/>
            </a:pPr>
            <a:r>
              <a:rPr lang="en-US" sz="1300" b="1" dirty="0">
                <a:solidFill>
                  <a:srgbClr val="B83B2E"/>
                </a:solidFill>
                <a:latin typeface="Calibri" pitchFamily="34" charset="0"/>
                <a:ea typeface="Calibri" pitchFamily="34" charset="-122"/>
                <a:cs typeface="Calibri" pitchFamily="34" charset="-120"/>
              </a:rPr>
              <a:t>06  Metadata &amp; versioning</a:t>
            </a:r>
            <a:endParaRPr lang="en-US" sz="1300" dirty="0"/>
          </a:p>
        </p:txBody>
      </p:sp>
      <p:sp>
        <p:nvSpPr>
          <p:cNvPr id="53" name="Text 44"/>
          <p:cNvSpPr txBox="1"/>
          <p:nvPr/>
        </p:nvSpPr>
        <p:spPr>
          <a:xfrm>
            <a:off x="3474720" y="3904488"/>
            <a:ext cx="5029200" cy="54864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Describes every dataset, traces every number, versions code, data and environment</a:t>
            </a:r>
            <a:endParaRPr lang="en-US" sz="1100" dirty="0"/>
          </a:p>
        </p:txBody>
      </p:sp>
      <p:sp>
        <p:nvSpPr>
          <p:cNvPr id="54" name="Text 45"/>
          <p:cNvSpPr txBox="1"/>
          <p:nvPr/>
        </p:nvSpPr>
        <p:spPr>
          <a:xfrm>
            <a:off x="457200" y="4590288"/>
            <a:ext cx="5486400" cy="201168"/>
          </a:xfrm>
          <a:prstGeom prst="rect">
            <a:avLst/>
          </a:prstGeom>
          <a:noFill/>
          <a:ln/>
        </p:spPr>
        <p:txBody>
          <a:bodyPr wrap="square" lIns="0" tIns="0" rIns="0" bIns="0" rtlCol="0" anchor="b"/>
          <a:lstStyle/>
          <a:p>
            <a:pPr marL="0" indent="0">
              <a:buNone/>
            </a:pPr>
            <a:r>
              <a:rPr lang="en-US" sz="900" i="1" dirty="0">
                <a:solidFill>
                  <a:srgbClr val="5E6964"/>
                </a:solidFill>
                <a:latin typeface="Calibri" pitchFamily="34" charset="0"/>
                <a:ea typeface="Calibri" pitchFamily="34" charset="-122"/>
                <a:cs typeface="Calibri" pitchFamily="34" charset="-120"/>
              </a:rPr>
              <a:t>Cross-cutting: they span all four blocks above</a:t>
            </a:r>
            <a:endParaRPr lang="en-US" sz="9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68412" y="315468"/>
            <a:ext cx="118872" cy="118872"/>
          </a:xfrm>
          <a:prstGeom prst="ellipse">
            <a:avLst/>
          </a:prstGeom>
          <a:solidFill>
            <a:srgbClr val="F5C242"/>
          </a:solidFill>
          <a:ln/>
        </p:spPr>
      </p:sp>
      <p:sp>
        <p:nvSpPr>
          <p:cNvPr id="3" name="Shape 1"/>
          <p:cNvSpPr/>
          <p:nvPr/>
        </p:nvSpPr>
        <p:spPr>
          <a:xfrm>
            <a:off x="8028432" y="329184"/>
            <a:ext cx="91440" cy="91440"/>
          </a:xfrm>
          <a:prstGeom prst="ellipse">
            <a:avLst/>
          </a:prstGeom>
          <a:solidFill>
            <a:srgbClr val="FFFFFF">
              <a:alpha val="40000"/>
            </a:srgbClr>
          </a:solidFill>
          <a:ln/>
        </p:spPr>
      </p:sp>
      <p:sp>
        <p:nvSpPr>
          <p:cNvPr id="4" name="Shape 2"/>
          <p:cNvSpPr/>
          <p:nvPr/>
        </p:nvSpPr>
        <p:spPr>
          <a:xfrm>
            <a:off x="8174736" y="329184"/>
            <a:ext cx="91440" cy="91440"/>
          </a:xfrm>
          <a:prstGeom prst="ellipse">
            <a:avLst/>
          </a:prstGeom>
          <a:solidFill>
            <a:srgbClr val="FFFFFF">
              <a:alpha val="40000"/>
            </a:srgbClr>
          </a:solidFill>
          <a:ln/>
        </p:spPr>
      </p:sp>
      <p:sp>
        <p:nvSpPr>
          <p:cNvPr id="5" name="Shape 3"/>
          <p:cNvSpPr/>
          <p:nvPr/>
        </p:nvSpPr>
        <p:spPr>
          <a:xfrm>
            <a:off x="8321040" y="329184"/>
            <a:ext cx="91440" cy="91440"/>
          </a:xfrm>
          <a:prstGeom prst="ellipse">
            <a:avLst/>
          </a:prstGeom>
          <a:solidFill>
            <a:srgbClr val="FFFFFF">
              <a:alpha val="40000"/>
            </a:srgbClr>
          </a:solidFill>
          <a:ln/>
        </p:spPr>
      </p:sp>
      <p:sp>
        <p:nvSpPr>
          <p:cNvPr id="6" name="Shape 4"/>
          <p:cNvSpPr/>
          <p:nvPr/>
        </p:nvSpPr>
        <p:spPr>
          <a:xfrm>
            <a:off x="8467344" y="329184"/>
            <a:ext cx="91440" cy="91440"/>
          </a:xfrm>
          <a:prstGeom prst="ellipse">
            <a:avLst/>
          </a:prstGeom>
          <a:solidFill>
            <a:srgbClr val="FFFFFF">
              <a:alpha val="40000"/>
            </a:srgbClr>
          </a:solidFill>
          <a:ln/>
        </p:spPr>
      </p:sp>
      <p:sp>
        <p:nvSpPr>
          <p:cNvPr id="7" name="Shape 5"/>
          <p:cNvSpPr/>
          <p:nvPr/>
        </p:nvSpPr>
        <p:spPr>
          <a:xfrm>
            <a:off x="8613648" y="329184"/>
            <a:ext cx="91440" cy="91440"/>
          </a:xfrm>
          <a:prstGeom prst="ellipse">
            <a:avLst/>
          </a:prstGeom>
          <a:solidFill>
            <a:srgbClr val="FFFFFF">
              <a:alpha val="40000"/>
            </a:srgbClr>
          </a:solidFill>
          <a:ln/>
        </p:spPr>
      </p:sp>
      <p:sp>
        <p:nvSpPr>
          <p:cNvPr id="8" name="Text 6"/>
          <p:cNvSpPr txBox="1"/>
          <p:nvPr/>
        </p:nvSpPr>
        <p:spPr>
          <a:xfrm>
            <a:off x="548640" y="914400"/>
            <a:ext cx="45720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01 OF 06</a:t>
            </a:r>
            <a:endParaRPr lang="en-US" sz="1050" dirty="0"/>
          </a:p>
        </p:txBody>
      </p:sp>
      <p:sp>
        <p:nvSpPr>
          <p:cNvPr id="9" name="Text 7"/>
          <p:cNvSpPr txBox="1"/>
          <p:nvPr/>
        </p:nvSpPr>
        <p:spPr>
          <a:xfrm>
            <a:off x="502920" y="1097280"/>
            <a:ext cx="2743200" cy="1234440"/>
          </a:xfrm>
          <a:prstGeom prst="rect">
            <a:avLst/>
          </a:prstGeom>
          <a:noFill/>
          <a:ln/>
        </p:spPr>
        <p:txBody>
          <a:bodyPr wrap="square" lIns="0" tIns="0" rIns="0" bIns="0" rtlCol="0" anchor="t"/>
          <a:lstStyle/>
          <a:p>
            <a:pPr marL="0" indent="0">
              <a:buNone/>
            </a:pPr>
            <a:r>
              <a:rPr lang="en-US" sz="9600" b="1" dirty="0">
                <a:solidFill>
                  <a:srgbClr val="F5C242"/>
                </a:solidFill>
                <a:latin typeface="Calibri" pitchFamily="34" charset="0"/>
                <a:ea typeface="Calibri" pitchFamily="34" charset="-122"/>
                <a:cs typeface="Calibri" pitchFamily="34" charset="-120"/>
              </a:rPr>
              <a:t>01</a:t>
            </a:r>
            <a:endParaRPr lang="en-US" sz="9600" dirty="0"/>
          </a:p>
        </p:txBody>
      </p:sp>
      <p:sp>
        <p:nvSpPr>
          <p:cNvPr id="10" name="Text 8"/>
          <p:cNvSpPr txBox="1"/>
          <p:nvPr/>
        </p:nvSpPr>
        <p:spPr>
          <a:xfrm>
            <a:off x="548640" y="2487168"/>
            <a:ext cx="5120640" cy="68580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Ingestion</a:t>
            </a:r>
            <a:endParaRPr lang="en-US" sz="4000" dirty="0"/>
          </a:p>
        </p:txBody>
      </p:sp>
      <p:sp>
        <p:nvSpPr>
          <p:cNvPr id="11" name="Text 9"/>
          <p:cNvSpPr txBox="1"/>
          <p:nvPr/>
        </p:nvSpPr>
        <p:spPr>
          <a:xfrm>
            <a:off x="548640" y="3246120"/>
            <a:ext cx="4937760" cy="73152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How does data enter the system — and stay trustworthy from the very first byte?</a:t>
            </a:r>
            <a:endParaRPr lang="en-US" sz="1800" dirty="0"/>
          </a:p>
        </p:txBody>
      </p:sp>
      <p:sp>
        <p:nvSpPr>
          <p:cNvPr id="12" name="Shape 10"/>
          <p:cNvSpPr/>
          <p:nvPr/>
        </p:nvSpPr>
        <p:spPr>
          <a:xfrm>
            <a:off x="5989320" y="1143000"/>
            <a:ext cx="2651760" cy="2651760"/>
          </a:xfrm>
          <a:prstGeom prst="ellipse">
            <a:avLst/>
          </a:prstGeom>
          <a:solidFill>
            <a:srgbClr val="FFFFFF">
              <a:alpha val="10000"/>
            </a:srgbClr>
          </a:solidFill>
          <a:ln/>
        </p:spPr>
      </p:sp>
      <p:sp>
        <p:nvSpPr>
          <p:cNvPr id="13" name="Shape 11"/>
          <p:cNvSpPr/>
          <p:nvPr/>
        </p:nvSpPr>
        <p:spPr>
          <a:xfrm>
            <a:off x="6355080" y="1508760"/>
            <a:ext cx="1920240" cy="1920240"/>
          </a:xfrm>
          <a:prstGeom prst="ellipse">
            <a:avLst/>
          </a:prstGeom>
          <a:solidFill>
            <a:srgbClr val="FFFFFF">
              <a:alpha val="15000"/>
            </a:srgbClr>
          </a:solidFill>
          <a:ln/>
        </p:spPr>
      </p:sp>
      <p:sp>
        <p:nvSpPr>
          <p:cNvPr id="14" name="Shape 12"/>
          <p:cNvSpPr/>
          <p:nvPr/>
        </p:nvSpPr>
        <p:spPr>
          <a:xfrm>
            <a:off x="6720840" y="1874520"/>
            <a:ext cx="1188720" cy="1188720"/>
          </a:xfrm>
          <a:prstGeom prst="ellipse">
            <a:avLst/>
          </a:prstGeom>
          <a:solidFill>
            <a:srgbClr val="FFFFFF"/>
          </a:solidFill>
          <a:ln/>
        </p:spPr>
      </p:sp>
      <p:pic>
        <p:nvPicPr>
          <p:cNvPr id="15" name="Image 0" descr="preencoded.png"/>
          <p:cNvPicPr>
            <a:picLocks noChangeAspect="1"/>
          </p:cNvPicPr>
          <p:nvPr/>
        </p:nvPicPr>
        <p:blipFill>
          <a:blip r:embed="rId4"/>
          <a:stretch>
            <a:fillRect/>
          </a:stretch>
        </p:blipFill>
        <p:spPr>
          <a:xfrm>
            <a:off x="7022592" y="2176272"/>
            <a:ext cx="585216" cy="585216"/>
          </a:xfrm>
          <a:prstGeom prst="rect">
            <a:avLst/>
          </a:prstGeom>
        </p:spPr>
      </p:pic>
      <p:sp>
        <p:nvSpPr>
          <p:cNvPr id="16" name="Text 13"/>
          <p:cNvSpPr txBox="1"/>
          <p:nvPr/>
        </p:nvSpPr>
        <p:spPr>
          <a:xfrm>
            <a:off x="548640" y="4754880"/>
            <a:ext cx="5486400" cy="182880"/>
          </a:xfrm>
          <a:prstGeom prst="rect">
            <a:avLst/>
          </a:prstGeom>
          <a:noFill/>
          <a:ln/>
        </p:spPr>
        <p:txBody>
          <a:bodyPr wrap="square" lIns="0" tIns="0" rIns="0" bIns="0" rtlCol="0" anchor="t"/>
          <a:lstStyle/>
          <a:p>
            <a:pPr marL="0" indent="0">
              <a:buNone/>
            </a:pPr>
            <a:r>
              <a:rPr lang="en-US" sz="850" dirty="0">
                <a:solidFill>
                  <a:srgbClr val="E6F6EE"/>
                </a:solidFill>
                <a:latin typeface="Calibri" pitchFamily="34" charset="0"/>
                <a:ea typeface="Calibri" pitchFamily="34" charset="-122"/>
                <a:cs typeface="Calibri" pitchFamily="34" charset="-120"/>
              </a:rPr>
              <a:t>Engines of Scale · Big Data Technologies for Statistical Systems · AfDB – DI4A</a:t>
            </a:r>
            <a:endParaRPr lang="en-US" sz="85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INGESTION</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Five ways data enters a statistical system</a:t>
            </a:r>
            <a:endParaRPr lang="en-US" sz="2600" dirty="0"/>
          </a:p>
        </p:txBody>
      </p:sp>
      <p:sp>
        <p:nvSpPr>
          <p:cNvPr id="8" name="Shape 6"/>
          <p:cNvSpPr/>
          <p:nvPr/>
        </p:nvSpPr>
        <p:spPr>
          <a:xfrm>
            <a:off x="7868412" y="315468"/>
            <a:ext cx="118872" cy="118872"/>
          </a:xfrm>
          <a:prstGeom prst="ellipse">
            <a:avLst/>
          </a:prstGeom>
          <a:solidFill>
            <a:srgbClr val="00A86A"/>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AfDB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6</a:t>
            </a:r>
            <a:endParaRPr lang="en-US" sz="850" dirty="0"/>
          </a:p>
        </p:txBody>
      </p:sp>
      <p:sp>
        <p:nvSpPr>
          <p:cNvPr id="17" name="Shape 14"/>
          <p:cNvSpPr/>
          <p:nvPr/>
        </p:nvSpPr>
        <p:spPr>
          <a:xfrm>
            <a:off x="457200" y="1280160"/>
            <a:ext cx="1536192" cy="3200400"/>
          </a:xfrm>
          <a:prstGeom prst="roundRect">
            <a:avLst>
              <a:gd name="adj" fmla="val 4762"/>
            </a:avLst>
          </a:prstGeom>
          <a:solidFill>
            <a:srgbClr val="E8F5EF"/>
          </a:solidFill>
          <a:ln w="15875">
            <a:solidFill>
              <a:srgbClr val="00A86A"/>
            </a:solidFill>
            <a:prstDash val="solid"/>
          </a:ln>
        </p:spPr>
      </p:sp>
      <p:sp>
        <p:nvSpPr>
          <p:cNvPr id="18" name="Shape 15"/>
          <p:cNvSpPr/>
          <p:nvPr/>
        </p:nvSpPr>
        <p:spPr>
          <a:xfrm>
            <a:off x="594360" y="1417320"/>
            <a:ext cx="502920" cy="502920"/>
          </a:xfrm>
          <a:prstGeom prst="ellipse">
            <a:avLst/>
          </a:prstGeom>
          <a:solidFill>
            <a:srgbClr val="00A86A">
              <a:alpha val="22000"/>
            </a:srgbClr>
          </a:solidFill>
          <a:ln/>
        </p:spPr>
      </p:sp>
      <p:pic>
        <p:nvPicPr>
          <p:cNvPr id="19" name="Image 0" descr="preencoded.png"/>
          <p:cNvPicPr>
            <a:picLocks noChangeAspect="1"/>
          </p:cNvPicPr>
          <p:nvPr/>
        </p:nvPicPr>
        <p:blipFill>
          <a:blip r:embed="rId3"/>
          <a:stretch>
            <a:fillRect/>
          </a:stretch>
        </p:blipFill>
        <p:spPr>
          <a:xfrm>
            <a:off x="720090" y="1543050"/>
            <a:ext cx="251460" cy="251460"/>
          </a:xfrm>
          <a:prstGeom prst="rect">
            <a:avLst/>
          </a:prstGeom>
        </p:spPr>
      </p:pic>
      <p:sp>
        <p:nvSpPr>
          <p:cNvPr id="20" name="Text 16"/>
          <p:cNvSpPr txBox="1"/>
          <p:nvPr/>
        </p:nvSpPr>
        <p:spPr>
          <a:xfrm>
            <a:off x="594360" y="2011680"/>
            <a:ext cx="1261872" cy="411480"/>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Batch file transfer</a:t>
            </a:r>
            <a:endParaRPr lang="en-US" sz="1300" dirty="0"/>
          </a:p>
        </p:txBody>
      </p:sp>
      <p:sp>
        <p:nvSpPr>
          <p:cNvPr id="21" name="Text 17"/>
          <p:cNvSpPr txBox="1"/>
          <p:nvPr/>
        </p:nvSpPr>
        <p:spPr>
          <a:xfrm>
            <a:off x="594360" y="2450592"/>
            <a:ext cx="1261872" cy="54864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Complete files on a schedule</a:t>
            </a:r>
            <a:endParaRPr lang="en-US" sz="1000" dirty="0"/>
          </a:p>
        </p:txBody>
      </p:sp>
      <p:sp>
        <p:nvSpPr>
          <p:cNvPr id="22" name="Text 18"/>
          <p:cNvSpPr txBox="1"/>
          <p:nvPr/>
        </p:nvSpPr>
        <p:spPr>
          <a:xfrm>
            <a:off x="594360" y="3035808"/>
            <a:ext cx="1261872" cy="164592"/>
          </a:xfrm>
          <a:prstGeom prst="rect">
            <a:avLst/>
          </a:prstGeom>
          <a:noFill/>
          <a:ln/>
        </p:spPr>
        <p:txBody>
          <a:bodyPr wrap="square" lIns="0" tIns="0" rIns="0" bIns="0" rtlCol="0" anchor="t"/>
          <a:lstStyle/>
          <a:p>
            <a:pPr marL="0" indent="0">
              <a:buNone/>
            </a:pPr>
            <a:r>
              <a:rPr lang="en-US" sz="800" b="1" kern="0" spc="200" dirty="0">
                <a:solidFill>
                  <a:srgbClr val="00704A"/>
                </a:solidFill>
                <a:latin typeface="Calibri" pitchFamily="34" charset="0"/>
                <a:ea typeface="Calibri" pitchFamily="34" charset="-122"/>
                <a:cs typeface="Calibri" pitchFamily="34" charset="-120"/>
              </a:rPr>
              <a:t>EXAMPLE</a:t>
            </a:r>
            <a:endParaRPr lang="en-US" sz="800" dirty="0"/>
          </a:p>
        </p:txBody>
      </p:sp>
      <p:sp>
        <p:nvSpPr>
          <p:cNvPr id="23" name="Text 19"/>
          <p:cNvSpPr txBox="1"/>
          <p:nvPr/>
        </p:nvSpPr>
        <p:spPr>
          <a:xfrm>
            <a:off x="594360" y="3218688"/>
            <a:ext cx="1261872" cy="73152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Ookla tiles: quarterly Parquet from a public S3 bucket</a:t>
            </a:r>
            <a:endParaRPr lang="en-US" sz="1000" dirty="0"/>
          </a:p>
        </p:txBody>
      </p:sp>
      <p:sp>
        <p:nvSpPr>
          <p:cNvPr id="24" name="Shape 20"/>
          <p:cNvSpPr/>
          <p:nvPr/>
        </p:nvSpPr>
        <p:spPr>
          <a:xfrm>
            <a:off x="594360" y="4069080"/>
            <a:ext cx="1261872" cy="256032"/>
          </a:xfrm>
          <a:prstGeom prst="roundRect">
            <a:avLst>
              <a:gd name="adj" fmla="val 46429"/>
            </a:avLst>
          </a:prstGeom>
          <a:solidFill>
            <a:srgbClr val="00704A">
              <a:alpha val="15000"/>
            </a:srgbClr>
          </a:solidFill>
          <a:ln w="9525">
            <a:solidFill>
              <a:srgbClr val="00704A"/>
            </a:solidFill>
            <a:prstDash val="solid"/>
          </a:ln>
        </p:spPr>
      </p:sp>
      <p:sp>
        <p:nvSpPr>
          <p:cNvPr id="25" name="Text 21"/>
          <p:cNvSpPr txBox="1"/>
          <p:nvPr/>
        </p:nvSpPr>
        <p:spPr>
          <a:xfrm>
            <a:off x="594360" y="4069080"/>
            <a:ext cx="1261872" cy="256032"/>
          </a:xfrm>
          <a:prstGeom prst="rect">
            <a:avLst/>
          </a:prstGeom>
          <a:noFill/>
          <a:ln/>
        </p:spPr>
        <p:txBody>
          <a:bodyPr wrap="square" lIns="0" tIns="0" rIns="0" bIns="0" rtlCol="0" anchor="ctr"/>
          <a:lstStyle/>
          <a:p>
            <a:pPr marL="0" indent="0" algn="ctr">
              <a:buNone/>
            </a:pPr>
            <a:r>
              <a:rPr lang="en-US" sz="900" b="1" dirty="0">
                <a:solidFill>
                  <a:srgbClr val="00704A"/>
                </a:solidFill>
                <a:latin typeface="Calibri" pitchFamily="34" charset="0"/>
                <a:ea typeface="Calibri" pitchFamily="34" charset="-122"/>
                <a:cs typeface="Calibri" pitchFamily="34" charset="-120"/>
              </a:rPr>
              <a:t>Hours–days</a:t>
            </a:r>
            <a:endParaRPr lang="en-US" sz="900" dirty="0"/>
          </a:p>
        </p:txBody>
      </p:sp>
      <p:sp>
        <p:nvSpPr>
          <p:cNvPr id="26" name="Shape 22"/>
          <p:cNvSpPr/>
          <p:nvPr/>
        </p:nvSpPr>
        <p:spPr>
          <a:xfrm>
            <a:off x="2130552" y="1280160"/>
            <a:ext cx="1536192" cy="3200400"/>
          </a:xfrm>
          <a:prstGeom prst="roundRect">
            <a:avLst>
              <a:gd name="adj" fmla="val 4762"/>
            </a:avLst>
          </a:prstGeom>
          <a:solidFill>
            <a:srgbClr val="F4F7F5"/>
          </a:solidFill>
          <a:ln w="9525">
            <a:solidFill>
              <a:srgbClr val="D5DED9"/>
            </a:solidFill>
            <a:prstDash val="solid"/>
          </a:ln>
        </p:spPr>
      </p:sp>
      <p:sp>
        <p:nvSpPr>
          <p:cNvPr id="27" name="Shape 23"/>
          <p:cNvSpPr/>
          <p:nvPr/>
        </p:nvSpPr>
        <p:spPr>
          <a:xfrm>
            <a:off x="2267712" y="1417320"/>
            <a:ext cx="502920" cy="502920"/>
          </a:xfrm>
          <a:prstGeom prst="ellipse">
            <a:avLst/>
          </a:prstGeom>
          <a:solidFill>
            <a:srgbClr val="00A86A">
              <a:alpha val="22000"/>
            </a:srgbClr>
          </a:solidFill>
          <a:ln/>
        </p:spPr>
      </p:sp>
      <p:pic>
        <p:nvPicPr>
          <p:cNvPr id="28" name="Image 1" descr="preencoded.png"/>
          <p:cNvPicPr>
            <a:picLocks noChangeAspect="1"/>
          </p:cNvPicPr>
          <p:nvPr/>
        </p:nvPicPr>
        <p:blipFill>
          <a:blip r:embed="rId4"/>
          <a:stretch>
            <a:fillRect/>
          </a:stretch>
        </p:blipFill>
        <p:spPr>
          <a:xfrm>
            <a:off x="2393442" y="1543050"/>
            <a:ext cx="251460" cy="251460"/>
          </a:xfrm>
          <a:prstGeom prst="rect">
            <a:avLst/>
          </a:prstGeom>
        </p:spPr>
      </p:pic>
      <p:sp>
        <p:nvSpPr>
          <p:cNvPr id="29" name="Text 24"/>
          <p:cNvSpPr txBox="1"/>
          <p:nvPr/>
        </p:nvSpPr>
        <p:spPr>
          <a:xfrm>
            <a:off x="2267712" y="2011680"/>
            <a:ext cx="1261872" cy="411480"/>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API pull</a:t>
            </a:r>
            <a:endParaRPr lang="en-US" sz="1300" dirty="0"/>
          </a:p>
        </p:txBody>
      </p:sp>
      <p:sp>
        <p:nvSpPr>
          <p:cNvPr id="30" name="Text 25"/>
          <p:cNvSpPr txBox="1"/>
          <p:nvPr/>
        </p:nvSpPr>
        <p:spPr>
          <a:xfrm>
            <a:off x="2267712" y="2450592"/>
            <a:ext cx="1261872" cy="54864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Programmatic requests to a provider</a:t>
            </a:r>
            <a:endParaRPr lang="en-US" sz="1000" dirty="0"/>
          </a:p>
        </p:txBody>
      </p:sp>
      <p:sp>
        <p:nvSpPr>
          <p:cNvPr id="31" name="Text 26"/>
          <p:cNvSpPr txBox="1"/>
          <p:nvPr/>
        </p:nvSpPr>
        <p:spPr>
          <a:xfrm>
            <a:off x="2267712" y="3035808"/>
            <a:ext cx="1261872" cy="164592"/>
          </a:xfrm>
          <a:prstGeom prst="rect">
            <a:avLst/>
          </a:prstGeom>
          <a:noFill/>
          <a:ln/>
        </p:spPr>
        <p:txBody>
          <a:bodyPr wrap="square" lIns="0" tIns="0" rIns="0" bIns="0" rtlCol="0" anchor="t"/>
          <a:lstStyle/>
          <a:p>
            <a:pPr marL="0" indent="0">
              <a:buNone/>
            </a:pPr>
            <a:r>
              <a:rPr lang="en-US" sz="800" b="1" kern="0" spc="200" dirty="0">
                <a:solidFill>
                  <a:srgbClr val="00704A"/>
                </a:solidFill>
                <a:latin typeface="Calibri" pitchFamily="34" charset="0"/>
                <a:ea typeface="Calibri" pitchFamily="34" charset="-122"/>
                <a:cs typeface="Calibri" pitchFamily="34" charset="-120"/>
              </a:rPr>
              <a:t>EXAMPLE</a:t>
            </a:r>
            <a:endParaRPr lang="en-US" sz="800" dirty="0"/>
          </a:p>
        </p:txBody>
      </p:sp>
      <p:sp>
        <p:nvSpPr>
          <p:cNvPr id="32" name="Text 27"/>
          <p:cNvSpPr txBox="1"/>
          <p:nvPr/>
        </p:nvSpPr>
        <p:spPr>
          <a:xfrm>
            <a:off x="2267712" y="3218688"/>
            <a:ext cx="1261872" cy="73152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Night-time lights from NASA Earthdata or Google Earth Engine</a:t>
            </a:r>
            <a:endParaRPr lang="en-US" sz="1000" dirty="0"/>
          </a:p>
        </p:txBody>
      </p:sp>
      <p:sp>
        <p:nvSpPr>
          <p:cNvPr id="33" name="Shape 28"/>
          <p:cNvSpPr/>
          <p:nvPr/>
        </p:nvSpPr>
        <p:spPr>
          <a:xfrm>
            <a:off x="2267712" y="4069080"/>
            <a:ext cx="1261872" cy="256032"/>
          </a:xfrm>
          <a:prstGeom prst="roundRect">
            <a:avLst>
              <a:gd name="adj" fmla="val 46429"/>
            </a:avLst>
          </a:prstGeom>
          <a:solidFill>
            <a:srgbClr val="00704A">
              <a:alpha val="15000"/>
            </a:srgbClr>
          </a:solidFill>
          <a:ln w="9525">
            <a:solidFill>
              <a:srgbClr val="00704A"/>
            </a:solidFill>
            <a:prstDash val="solid"/>
          </a:ln>
        </p:spPr>
      </p:sp>
      <p:sp>
        <p:nvSpPr>
          <p:cNvPr id="34" name="Text 29"/>
          <p:cNvSpPr txBox="1"/>
          <p:nvPr/>
        </p:nvSpPr>
        <p:spPr>
          <a:xfrm>
            <a:off x="2267712" y="4069080"/>
            <a:ext cx="1261872" cy="256032"/>
          </a:xfrm>
          <a:prstGeom prst="rect">
            <a:avLst/>
          </a:prstGeom>
          <a:noFill/>
          <a:ln/>
        </p:spPr>
        <p:txBody>
          <a:bodyPr wrap="square" lIns="0" tIns="0" rIns="0" bIns="0" rtlCol="0" anchor="ctr"/>
          <a:lstStyle/>
          <a:p>
            <a:pPr marL="0" indent="0" algn="ctr">
              <a:buNone/>
            </a:pPr>
            <a:r>
              <a:rPr lang="en-US" sz="900" b="1" dirty="0">
                <a:solidFill>
                  <a:srgbClr val="00704A"/>
                </a:solidFill>
                <a:latin typeface="Calibri" pitchFamily="34" charset="0"/>
                <a:ea typeface="Calibri" pitchFamily="34" charset="-122"/>
                <a:cs typeface="Calibri" pitchFamily="34" charset="-120"/>
              </a:rPr>
              <a:t>Minutes–days</a:t>
            </a:r>
            <a:endParaRPr lang="en-US" sz="900" dirty="0"/>
          </a:p>
        </p:txBody>
      </p:sp>
      <p:sp>
        <p:nvSpPr>
          <p:cNvPr id="35" name="Shape 30"/>
          <p:cNvSpPr/>
          <p:nvPr/>
        </p:nvSpPr>
        <p:spPr>
          <a:xfrm>
            <a:off x="3803904" y="1280160"/>
            <a:ext cx="1536192" cy="3200400"/>
          </a:xfrm>
          <a:prstGeom prst="roundRect">
            <a:avLst>
              <a:gd name="adj" fmla="val 4762"/>
            </a:avLst>
          </a:prstGeom>
          <a:solidFill>
            <a:srgbClr val="F4F7F5"/>
          </a:solidFill>
          <a:ln w="9525">
            <a:solidFill>
              <a:srgbClr val="D5DED9"/>
            </a:solidFill>
            <a:prstDash val="solid"/>
          </a:ln>
        </p:spPr>
      </p:sp>
      <p:sp>
        <p:nvSpPr>
          <p:cNvPr id="36" name="Shape 31"/>
          <p:cNvSpPr/>
          <p:nvPr/>
        </p:nvSpPr>
        <p:spPr>
          <a:xfrm>
            <a:off x="3941064" y="1417320"/>
            <a:ext cx="502920" cy="502920"/>
          </a:xfrm>
          <a:prstGeom prst="ellipse">
            <a:avLst/>
          </a:prstGeom>
          <a:solidFill>
            <a:srgbClr val="00A86A">
              <a:alpha val="22000"/>
            </a:srgbClr>
          </a:solidFill>
          <a:ln/>
        </p:spPr>
      </p:sp>
      <p:pic>
        <p:nvPicPr>
          <p:cNvPr id="37" name="Image 2" descr="preencoded.png"/>
          <p:cNvPicPr>
            <a:picLocks noChangeAspect="1"/>
          </p:cNvPicPr>
          <p:nvPr/>
        </p:nvPicPr>
        <p:blipFill>
          <a:blip r:embed="rId5"/>
          <a:stretch>
            <a:fillRect/>
          </a:stretch>
        </p:blipFill>
        <p:spPr>
          <a:xfrm>
            <a:off x="4066794" y="1543050"/>
            <a:ext cx="251460" cy="251460"/>
          </a:xfrm>
          <a:prstGeom prst="rect">
            <a:avLst/>
          </a:prstGeom>
        </p:spPr>
      </p:pic>
      <p:sp>
        <p:nvSpPr>
          <p:cNvPr id="38" name="Text 32"/>
          <p:cNvSpPr txBox="1"/>
          <p:nvPr/>
        </p:nvSpPr>
        <p:spPr>
          <a:xfrm>
            <a:off x="3941064" y="2011680"/>
            <a:ext cx="1261872" cy="411480"/>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Change data capture</a:t>
            </a:r>
            <a:endParaRPr lang="en-US" sz="1300" dirty="0"/>
          </a:p>
        </p:txBody>
      </p:sp>
      <p:sp>
        <p:nvSpPr>
          <p:cNvPr id="39" name="Text 33"/>
          <p:cNvSpPr txBox="1"/>
          <p:nvPr/>
        </p:nvSpPr>
        <p:spPr>
          <a:xfrm>
            <a:off x="3941064" y="2450592"/>
            <a:ext cx="1261872" cy="54864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Only new or changed rows are copied</a:t>
            </a:r>
            <a:endParaRPr lang="en-US" sz="1000" dirty="0"/>
          </a:p>
        </p:txBody>
      </p:sp>
      <p:sp>
        <p:nvSpPr>
          <p:cNvPr id="40" name="Text 34"/>
          <p:cNvSpPr txBox="1"/>
          <p:nvPr/>
        </p:nvSpPr>
        <p:spPr>
          <a:xfrm>
            <a:off x="3941064" y="3035808"/>
            <a:ext cx="1261872" cy="164592"/>
          </a:xfrm>
          <a:prstGeom prst="rect">
            <a:avLst/>
          </a:prstGeom>
          <a:noFill/>
          <a:ln/>
        </p:spPr>
        <p:txBody>
          <a:bodyPr wrap="square" lIns="0" tIns="0" rIns="0" bIns="0" rtlCol="0" anchor="t"/>
          <a:lstStyle/>
          <a:p>
            <a:pPr marL="0" indent="0">
              <a:buNone/>
            </a:pPr>
            <a:r>
              <a:rPr lang="en-US" sz="800" b="1" kern="0" spc="200" dirty="0">
                <a:solidFill>
                  <a:srgbClr val="00704A"/>
                </a:solidFill>
                <a:latin typeface="Calibri" pitchFamily="34" charset="0"/>
                <a:ea typeface="Calibri" pitchFamily="34" charset="-122"/>
                <a:cs typeface="Calibri" pitchFamily="34" charset="-120"/>
              </a:rPr>
              <a:t>EXAMPLE</a:t>
            </a:r>
            <a:endParaRPr lang="en-US" sz="800" dirty="0"/>
          </a:p>
        </p:txBody>
      </p:sp>
      <p:sp>
        <p:nvSpPr>
          <p:cNvPr id="41" name="Text 35"/>
          <p:cNvSpPr txBox="1"/>
          <p:nvPr/>
        </p:nvSpPr>
        <p:spPr>
          <a:xfrm>
            <a:off x="3941064" y="3218688"/>
            <a:ext cx="1261872" cy="73152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Tax, business and civil registration registers</a:t>
            </a:r>
            <a:endParaRPr lang="en-US" sz="1000" dirty="0"/>
          </a:p>
        </p:txBody>
      </p:sp>
      <p:sp>
        <p:nvSpPr>
          <p:cNvPr id="42" name="Shape 36"/>
          <p:cNvSpPr/>
          <p:nvPr/>
        </p:nvSpPr>
        <p:spPr>
          <a:xfrm>
            <a:off x="3941064" y="4069080"/>
            <a:ext cx="1261872" cy="256032"/>
          </a:xfrm>
          <a:prstGeom prst="roundRect">
            <a:avLst>
              <a:gd name="adj" fmla="val 46429"/>
            </a:avLst>
          </a:prstGeom>
          <a:solidFill>
            <a:srgbClr val="00704A">
              <a:alpha val="15000"/>
            </a:srgbClr>
          </a:solidFill>
          <a:ln w="9525">
            <a:solidFill>
              <a:srgbClr val="00704A"/>
            </a:solidFill>
            <a:prstDash val="solid"/>
          </a:ln>
        </p:spPr>
      </p:sp>
      <p:sp>
        <p:nvSpPr>
          <p:cNvPr id="43" name="Text 37"/>
          <p:cNvSpPr txBox="1"/>
          <p:nvPr/>
        </p:nvSpPr>
        <p:spPr>
          <a:xfrm>
            <a:off x="3941064" y="4069080"/>
            <a:ext cx="1261872" cy="256032"/>
          </a:xfrm>
          <a:prstGeom prst="rect">
            <a:avLst/>
          </a:prstGeom>
          <a:noFill/>
          <a:ln/>
        </p:spPr>
        <p:txBody>
          <a:bodyPr wrap="square" lIns="0" tIns="0" rIns="0" bIns="0" rtlCol="0" anchor="ctr"/>
          <a:lstStyle/>
          <a:p>
            <a:pPr marL="0" indent="0" algn="ctr">
              <a:buNone/>
            </a:pPr>
            <a:r>
              <a:rPr lang="en-US" sz="900" b="1" dirty="0">
                <a:solidFill>
                  <a:srgbClr val="00704A"/>
                </a:solidFill>
                <a:latin typeface="Calibri" pitchFamily="34" charset="0"/>
                <a:ea typeface="Calibri" pitchFamily="34" charset="-122"/>
                <a:cs typeface="Calibri" pitchFamily="34" charset="-120"/>
              </a:rPr>
              <a:t>Minutes</a:t>
            </a:r>
            <a:endParaRPr lang="en-US" sz="900" dirty="0"/>
          </a:p>
        </p:txBody>
      </p:sp>
      <p:sp>
        <p:nvSpPr>
          <p:cNvPr id="44" name="Shape 38"/>
          <p:cNvSpPr/>
          <p:nvPr/>
        </p:nvSpPr>
        <p:spPr>
          <a:xfrm>
            <a:off x="5477256" y="1280160"/>
            <a:ext cx="1536192" cy="3200400"/>
          </a:xfrm>
          <a:prstGeom prst="roundRect">
            <a:avLst>
              <a:gd name="adj" fmla="val 4762"/>
            </a:avLst>
          </a:prstGeom>
          <a:solidFill>
            <a:srgbClr val="F4F7F5"/>
          </a:solidFill>
          <a:ln w="9525">
            <a:solidFill>
              <a:srgbClr val="D5DED9"/>
            </a:solidFill>
            <a:prstDash val="solid"/>
          </a:ln>
        </p:spPr>
      </p:sp>
      <p:sp>
        <p:nvSpPr>
          <p:cNvPr id="45" name="Shape 39"/>
          <p:cNvSpPr/>
          <p:nvPr/>
        </p:nvSpPr>
        <p:spPr>
          <a:xfrm>
            <a:off x="5614416" y="1417320"/>
            <a:ext cx="502920" cy="502920"/>
          </a:xfrm>
          <a:prstGeom prst="ellipse">
            <a:avLst/>
          </a:prstGeom>
          <a:solidFill>
            <a:srgbClr val="00A86A">
              <a:alpha val="22000"/>
            </a:srgbClr>
          </a:solidFill>
          <a:ln/>
        </p:spPr>
      </p:sp>
      <p:pic>
        <p:nvPicPr>
          <p:cNvPr id="46" name="Image 3" descr="preencoded.png"/>
          <p:cNvPicPr>
            <a:picLocks noChangeAspect="1"/>
          </p:cNvPicPr>
          <p:nvPr/>
        </p:nvPicPr>
        <p:blipFill>
          <a:blip r:embed="rId6"/>
          <a:stretch>
            <a:fillRect/>
          </a:stretch>
        </p:blipFill>
        <p:spPr>
          <a:xfrm>
            <a:off x="5740146" y="1543050"/>
            <a:ext cx="251460" cy="251460"/>
          </a:xfrm>
          <a:prstGeom prst="rect">
            <a:avLst/>
          </a:prstGeom>
        </p:spPr>
      </p:pic>
      <p:sp>
        <p:nvSpPr>
          <p:cNvPr id="47" name="Text 40"/>
          <p:cNvSpPr txBox="1"/>
          <p:nvPr/>
        </p:nvSpPr>
        <p:spPr>
          <a:xfrm>
            <a:off x="5614416" y="2011680"/>
            <a:ext cx="1261872" cy="411480"/>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Streaming</a:t>
            </a:r>
            <a:endParaRPr lang="en-US" sz="1300" dirty="0"/>
          </a:p>
        </p:txBody>
      </p:sp>
      <p:sp>
        <p:nvSpPr>
          <p:cNvPr id="48" name="Text 41"/>
          <p:cNvSpPr txBox="1"/>
          <p:nvPr/>
        </p:nvSpPr>
        <p:spPr>
          <a:xfrm>
            <a:off x="5614416" y="2450592"/>
            <a:ext cx="1261872" cy="54864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Events flow continuously through a log (Kafka)</a:t>
            </a:r>
            <a:endParaRPr lang="en-US" sz="1000" dirty="0"/>
          </a:p>
        </p:txBody>
      </p:sp>
      <p:sp>
        <p:nvSpPr>
          <p:cNvPr id="49" name="Text 42"/>
          <p:cNvSpPr txBox="1"/>
          <p:nvPr/>
        </p:nvSpPr>
        <p:spPr>
          <a:xfrm>
            <a:off x="5614416" y="3035808"/>
            <a:ext cx="1261872" cy="164592"/>
          </a:xfrm>
          <a:prstGeom prst="rect">
            <a:avLst/>
          </a:prstGeom>
          <a:noFill/>
          <a:ln/>
        </p:spPr>
        <p:txBody>
          <a:bodyPr wrap="square" lIns="0" tIns="0" rIns="0" bIns="0" rtlCol="0" anchor="t"/>
          <a:lstStyle/>
          <a:p>
            <a:pPr marL="0" indent="0">
              <a:buNone/>
            </a:pPr>
            <a:r>
              <a:rPr lang="en-US" sz="800" b="1" kern="0" spc="200" dirty="0">
                <a:solidFill>
                  <a:srgbClr val="00704A"/>
                </a:solidFill>
                <a:latin typeface="Calibri" pitchFamily="34" charset="0"/>
                <a:ea typeface="Calibri" pitchFamily="34" charset="-122"/>
                <a:cs typeface="Calibri" pitchFamily="34" charset="-120"/>
              </a:rPr>
              <a:t>EXAMPLE</a:t>
            </a:r>
            <a:endParaRPr lang="en-US" sz="800" dirty="0"/>
          </a:p>
        </p:txBody>
      </p:sp>
      <p:sp>
        <p:nvSpPr>
          <p:cNvPr id="50" name="Text 43"/>
          <p:cNvSpPr txBox="1"/>
          <p:nvPr/>
        </p:nvSpPr>
        <p:spPr>
          <a:xfrm>
            <a:off x="5614416" y="3218688"/>
            <a:ext cx="1261872" cy="73152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Web price collection, sensors, network events</a:t>
            </a:r>
            <a:endParaRPr lang="en-US" sz="1000" dirty="0"/>
          </a:p>
        </p:txBody>
      </p:sp>
      <p:sp>
        <p:nvSpPr>
          <p:cNvPr id="51" name="Shape 44"/>
          <p:cNvSpPr/>
          <p:nvPr/>
        </p:nvSpPr>
        <p:spPr>
          <a:xfrm>
            <a:off x="5614416" y="4069080"/>
            <a:ext cx="1261872" cy="256032"/>
          </a:xfrm>
          <a:prstGeom prst="roundRect">
            <a:avLst>
              <a:gd name="adj" fmla="val 46429"/>
            </a:avLst>
          </a:prstGeom>
          <a:solidFill>
            <a:srgbClr val="00704A">
              <a:alpha val="15000"/>
            </a:srgbClr>
          </a:solidFill>
          <a:ln w="9525">
            <a:solidFill>
              <a:srgbClr val="00704A"/>
            </a:solidFill>
            <a:prstDash val="solid"/>
          </a:ln>
        </p:spPr>
      </p:sp>
      <p:sp>
        <p:nvSpPr>
          <p:cNvPr id="52" name="Text 45"/>
          <p:cNvSpPr txBox="1"/>
          <p:nvPr/>
        </p:nvSpPr>
        <p:spPr>
          <a:xfrm>
            <a:off x="5614416" y="4069080"/>
            <a:ext cx="1261872" cy="256032"/>
          </a:xfrm>
          <a:prstGeom prst="rect">
            <a:avLst/>
          </a:prstGeom>
          <a:noFill/>
          <a:ln/>
        </p:spPr>
        <p:txBody>
          <a:bodyPr wrap="square" lIns="0" tIns="0" rIns="0" bIns="0" rtlCol="0" anchor="ctr"/>
          <a:lstStyle/>
          <a:p>
            <a:pPr marL="0" indent="0" algn="ctr">
              <a:buNone/>
            </a:pPr>
            <a:r>
              <a:rPr lang="en-US" sz="900" b="1" dirty="0">
                <a:solidFill>
                  <a:srgbClr val="00704A"/>
                </a:solidFill>
                <a:latin typeface="Calibri" pitchFamily="34" charset="0"/>
                <a:ea typeface="Calibri" pitchFamily="34" charset="-122"/>
                <a:cs typeface="Calibri" pitchFamily="34" charset="-120"/>
              </a:rPr>
              <a:t>Seconds</a:t>
            </a:r>
            <a:endParaRPr lang="en-US" sz="900" dirty="0"/>
          </a:p>
        </p:txBody>
      </p:sp>
      <p:sp>
        <p:nvSpPr>
          <p:cNvPr id="53" name="Shape 46"/>
          <p:cNvSpPr/>
          <p:nvPr/>
        </p:nvSpPr>
        <p:spPr>
          <a:xfrm>
            <a:off x="7150608" y="1280160"/>
            <a:ext cx="1536192" cy="3200400"/>
          </a:xfrm>
          <a:prstGeom prst="roundRect">
            <a:avLst>
              <a:gd name="adj" fmla="val 4762"/>
            </a:avLst>
          </a:prstGeom>
          <a:solidFill>
            <a:srgbClr val="F4F7F5"/>
          </a:solidFill>
          <a:ln w="9525">
            <a:solidFill>
              <a:srgbClr val="D5DED9"/>
            </a:solidFill>
            <a:prstDash val="solid"/>
          </a:ln>
        </p:spPr>
      </p:sp>
      <p:sp>
        <p:nvSpPr>
          <p:cNvPr id="54" name="Shape 47"/>
          <p:cNvSpPr/>
          <p:nvPr/>
        </p:nvSpPr>
        <p:spPr>
          <a:xfrm>
            <a:off x="7287768" y="1417320"/>
            <a:ext cx="502920" cy="502920"/>
          </a:xfrm>
          <a:prstGeom prst="ellipse">
            <a:avLst/>
          </a:prstGeom>
          <a:solidFill>
            <a:srgbClr val="00A86A">
              <a:alpha val="22000"/>
            </a:srgbClr>
          </a:solidFill>
          <a:ln/>
        </p:spPr>
      </p:sp>
      <p:pic>
        <p:nvPicPr>
          <p:cNvPr id="55" name="Image 4" descr="preencoded.png"/>
          <p:cNvPicPr>
            <a:picLocks noChangeAspect="1"/>
          </p:cNvPicPr>
          <p:nvPr/>
        </p:nvPicPr>
        <p:blipFill>
          <a:blip r:embed="rId7"/>
          <a:stretch>
            <a:fillRect/>
          </a:stretch>
        </p:blipFill>
        <p:spPr>
          <a:xfrm>
            <a:off x="7413498" y="1543050"/>
            <a:ext cx="251460" cy="251460"/>
          </a:xfrm>
          <a:prstGeom prst="rect">
            <a:avLst/>
          </a:prstGeom>
        </p:spPr>
      </p:pic>
      <p:sp>
        <p:nvSpPr>
          <p:cNvPr id="56" name="Text 48"/>
          <p:cNvSpPr txBox="1"/>
          <p:nvPr/>
        </p:nvSpPr>
        <p:spPr>
          <a:xfrm>
            <a:off x="7287768" y="2011680"/>
            <a:ext cx="1261872" cy="411480"/>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Secure drop zone</a:t>
            </a:r>
            <a:endParaRPr lang="en-US" sz="1300" dirty="0"/>
          </a:p>
        </p:txBody>
      </p:sp>
      <p:sp>
        <p:nvSpPr>
          <p:cNvPr id="57" name="Text 49"/>
          <p:cNvSpPr txBox="1"/>
          <p:nvPr/>
        </p:nvSpPr>
        <p:spPr>
          <a:xfrm>
            <a:off x="7287768" y="2450592"/>
            <a:ext cx="1261872" cy="54864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Encrypted, access-logged transfer</a:t>
            </a:r>
            <a:endParaRPr lang="en-US" sz="1000" dirty="0"/>
          </a:p>
        </p:txBody>
      </p:sp>
      <p:sp>
        <p:nvSpPr>
          <p:cNvPr id="58" name="Text 50"/>
          <p:cNvSpPr txBox="1"/>
          <p:nvPr/>
        </p:nvSpPr>
        <p:spPr>
          <a:xfrm>
            <a:off x="7287768" y="3035808"/>
            <a:ext cx="1261872" cy="164592"/>
          </a:xfrm>
          <a:prstGeom prst="rect">
            <a:avLst/>
          </a:prstGeom>
          <a:noFill/>
          <a:ln/>
        </p:spPr>
        <p:txBody>
          <a:bodyPr wrap="square" lIns="0" tIns="0" rIns="0" bIns="0" rtlCol="0" anchor="t"/>
          <a:lstStyle/>
          <a:p>
            <a:pPr marL="0" indent="0">
              <a:buNone/>
            </a:pPr>
            <a:r>
              <a:rPr lang="en-US" sz="800" b="1" kern="0" spc="200" dirty="0">
                <a:solidFill>
                  <a:srgbClr val="00704A"/>
                </a:solidFill>
                <a:latin typeface="Calibri" pitchFamily="34" charset="0"/>
                <a:ea typeface="Calibri" pitchFamily="34" charset="-122"/>
                <a:cs typeface="Calibri" pitchFamily="34" charset="-120"/>
              </a:rPr>
              <a:t>EXAMPLE</a:t>
            </a:r>
            <a:endParaRPr lang="en-US" sz="800" dirty="0"/>
          </a:p>
        </p:txBody>
      </p:sp>
      <p:sp>
        <p:nvSpPr>
          <p:cNvPr id="59" name="Text 51"/>
          <p:cNvSpPr txBox="1"/>
          <p:nvPr/>
        </p:nvSpPr>
        <p:spPr>
          <a:xfrm>
            <a:off x="7287768" y="3218688"/>
            <a:ext cx="1261872" cy="73152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Partner microdata, e.g. telecom operator extracts</a:t>
            </a:r>
            <a:endParaRPr lang="en-US" sz="1000" dirty="0"/>
          </a:p>
        </p:txBody>
      </p:sp>
      <p:sp>
        <p:nvSpPr>
          <p:cNvPr id="60" name="Shape 52"/>
          <p:cNvSpPr/>
          <p:nvPr/>
        </p:nvSpPr>
        <p:spPr>
          <a:xfrm>
            <a:off x="7287768" y="4069080"/>
            <a:ext cx="1261872" cy="256032"/>
          </a:xfrm>
          <a:prstGeom prst="roundRect">
            <a:avLst>
              <a:gd name="adj" fmla="val 46429"/>
            </a:avLst>
          </a:prstGeom>
          <a:solidFill>
            <a:srgbClr val="00704A">
              <a:alpha val="15000"/>
            </a:srgbClr>
          </a:solidFill>
          <a:ln w="9525">
            <a:solidFill>
              <a:srgbClr val="00704A"/>
            </a:solidFill>
            <a:prstDash val="solid"/>
          </a:ln>
        </p:spPr>
      </p:sp>
      <p:sp>
        <p:nvSpPr>
          <p:cNvPr id="61" name="Text 53"/>
          <p:cNvSpPr txBox="1"/>
          <p:nvPr/>
        </p:nvSpPr>
        <p:spPr>
          <a:xfrm>
            <a:off x="7287768" y="4069080"/>
            <a:ext cx="1261872" cy="256032"/>
          </a:xfrm>
          <a:prstGeom prst="rect">
            <a:avLst/>
          </a:prstGeom>
          <a:noFill/>
          <a:ln/>
        </p:spPr>
        <p:txBody>
          <a:bodyPr wrap="square" lIns="0" tIns="0" rIns="0" bIns="0" rtlCol="0" anchor="ctr"/>
          <a:lstStyle/>
          <a:p>
            <a:pPr marL="0" indent="0" algn="ctr">
              <a:buNone/>
            </a:pPr>
            <a:r>
              <a:rPr lang="en-US" sz="900" b="1" dirty="0">
                <a:solidFill>
                  <a:srgbClr val="00704A"/>
                </a:solidFill>
                <a:latin typeface="Calibri" pitchFamily="34" charset="0"/>
                <a:ea typeface="Calibri" pitchFamily="34" charset="-122"/>
                <a:cs typeface="Calibri" pitchFamily="34" charset="-120"/>
              </a:rPr>
              <a:t>Per agreement</a:t>
            </a:r>
            <a:endParaRPr lang="en-US" sz="900" dirty="0"/>
          </a:p>
        </p:txBody>
      </p:sp>
      <p:sp>
        <p:nvSpPr>
          <p:cNvPr id="62" name="Text 54"/>
          <p:cNvSpPr txBox="1"/>
          <p:nvPr/>
        </p:nvSpPr>
        <p:spPr>
          <a:xfrm>
            <a:off x="457200" y="4590288"/>
            <a:ext cx="7498080" cy="201168"/>
          </a:xfrm>
          <a:prstGeom prst="rect">
            <a:avLst/>
          </a:prstGeom>
          <a:noFill/>
          <a:ln/>
        </p:spPr>
        <p:txBody>
          <a:bodyPr wrap="square" lIns="0" tIns="0" rIns="0" bIns="0" rtlCol="0" anchor="b"/>
          <a:lstStyle/>
          <a:p>
            <a:pPr marL="0" indent="0">
              <a:buNone/>
            </a:pPr>
            <a:r>
              <a:rPr lang="en-US" sz="900" i="1" dirty="0">
                <a:solidFill>
                  <a:srgbClr val="5E6964"/>
                </a:solidFill>
                <a:latin typeface="Calibri" pitchFamily="34" charset="0"/>
                <a:ea typeface="Calibri" pitchFamily="34" charset="-122"/>
                <a:cs typeface="Calibri" pitchFamily="34" charset="-120"/>
              </a:rPr>
              <a:t>Latency ranges are indicative. Ookla bucket: s3://ookla-open-data (AWS Open Data Registry).</a:t>
            </a:r>
            <a:endParaRPr lang="en-US" sz="9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INGESTION</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The ingestion contract: five rules at the door</a:t>
            </a:r>
            <a:endParaRPr lang="en-US" sz="2600" dirty="0"/>
          </a:p>
        </p:txBody>
      </p:sp>
      <p:sp>
        <p:nvSpPr>
          <p:cNvPr id="8" name="Shape 6"/>
          <p:cNvSpPr/>
          <p:nvPr/>
        </p:nvSpPr>
        <p:spPr>
          <a:xfrm>
            <a:off x="7868412" y="315468"/>
            <a:ext cx="118872" cy="118872"/>
          </a:xfrm>
          <a:prstGeom prst="ellipse">
            <a:avLst/>
          </a:prstGeom>
          <a:solidFill>
            <a:srgbClr val="00A86A"/>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AfDB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7</a:t>
            </a:r>
            <a:endParaRPr lang="en-US" sz="850" dirty="0"/>
          </a:p>
        </p:txBody>
      </p:sp>
      <p:sp>
        <p:nvSpPr>
          <p:cNvPr id="17" name="Shape 14"/>
          <p:cNvSpPr/>
          <p:nvPr/>
        </p:nvSpPr>
        <p:spPr>
          <a:xfrm>
            <a:off x="457200" y="1280160"/>
            <a:ext cx="4572000" cy="566928"/>
          </a:xfrm>
          <a:prstGeom prst="roundRect">
            <a:avLst>
              <a:gd name="adj" fmla="val 12903"/>
            </a:avLst>
          </a:prstGeom>
          <a:solidFill>
            <a:srgbClr val="F4F7F5"/>
          </a:solidFill>
          <a:ln w="9525">
            <a:solidFill>
              <a:srgbClr val="D5DED9"/>
            </a:solidFill>
            <a:prstDash val="solid"/>
          </a:ln>
        </p:spPr>
      </p:sp>
      <p:sp>
        <p:nvSpPr>
          <p:cNvPr id="18" name="Shape 15"/>
          <p:cNvSpPr/>
          <p:nvPr/>
        </p:nvSpPr>
        <p:spPr>
          <a:xfrm>
            <a:off x="585216" y="1417320"/>
            <a:ext cx="292608" cy="292608"/>
          </a:xfrm>
          <a:prstGeom prst="ellipse">
            <a:avLst/>
          </a:prstGeom>
          <a:solidFill>
            <a:srgbClr val="00A86A"/>
          </a:solidFill>
          <a:ln/>
        </p:spPr>
      </p:sp>
      <p:sp>
        <p:nvSpPr>
          <p:cNvPr id="19" name="Text 16"/>
          <p:cNvSpPr txBox="1"/>
          <p:nvPr/>
        </p:nvSpPr>
        <p:spPr>
          <a:xfrm>
            <a:off x="585216" y="1417320"/>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0" name="Text 17"/>
          <p:cNvSpPr txBox="1"/>
          <p:nvPr/>
        </p:nvSpPr>
        <p:spPr>
          <a:xfrm>
            <a:off x="1005840" y="1344168"/>
            <a:ext cx="3886200" cy="219456"/>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Never modify raw data</a:t>
            </a:r>
            <a:endParaRPr lang="en-US" sz="1200" dirty="0"/>
          </a:p>
        </p:txBody>
      </p:sp>
      <p:sp>
        <p:nvSpPr>
          <p:cNvPr id="21" name="Text 18"/>
          <p:cNvSpPr txBox="1"/>
          <p:nvPr/>
        </p:nvSpPr>
        <p:spPr>
          <a:xfrm>
            <a:off x="1005840" y="1563624"/>
            <a:ext cx="3931920" cy="256032"/>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Keep bytes exactly as received; all corrections happen downstream.</a:t>
            </a:r>
            <a:endParaRPr lang="en-US" sz="1000" dirty="0"/>
          </a:p>
        </p:txBody>
      </p:sp>
      <p:sp>
        <p:nvSpPr>
          <p:cNvPr id="22" name="Shape 19"/>
          <p:cNvSpPr/>
          <p:nvPr/>
        </p:nvSpPr>
        <p:spPr>
          <a:xfrm>
            <a:off x="457200" y="1938528"/>
            <a:ext cx="4572000" cy="566928"/>
          </a:xfrm>
          <a:prstGeom prst="roundRect">
            <a:avLst>
              <a:gd name="adj" fmla="val 12903"/>
            </a:avLst>
          </a:prstGeom>
          <a:solidFill>
            <a:srgbClr val="F4F7F5"/>
          </a:solidFill>
          <a:ln w="9525">
            <a:solidFill>
              <a:srgbClr val="D5DED9"/>
            </a:solidFill>
            <a:prstDash val="solid"/>
          </a:ln>
        </p:spPr>
      </p:sp>
      <p:sp>
        <p:nvSpPr>
          <p:cNvPr id="23" name="Shape 20"/>
          <p:cNvSpPr/>
          <p:nvPr/>
        </p:nvSpPr>
        <p:spPr>
          <a:xfrm>
            <a:off x="585216" y="2075688"/>
            <a:ext cx="292608" cy="292608"/>
          </a:xfrm>
          <a:prstGeom prst="ellipse">
            <a:avLst/>
          </a:prstGeom>
          <a:solidFill>
            <a:srgbClr val="00A86A"/>
          </a:solidFill>
          <a:ln/>
        </p:spPr>
      </p:sp>
      <p:sp>
        <p:nvSpPr>
          <p:cNvPr id="24" name="Text 21"/>
          <p:cNvSpPr txBox="1"/>
          <p:nvPr/>
        </p:nvSpPr>
        <p:spPr>
          <a:xfrm>
            <a:off x="585216" y="2075688"/>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5" name="Text 22"/>
          <p:cNvSpPr txBox="1"/>
          <p:nvPr/>
        </p:nvSpPr>
        <p:spPr>
          <a:xfrm>
            <a:off x="1005840" y="2002536"/>
            <a:ext cx="3886200" cy="219456"/>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Record provenance</a:t>
            </a:r>
            <a:endParaRPr lang="en-US" sz="1200" dirty="0"/>
          </a:p>
        </p:txBody>
      </p:sp>
      <p:sp>
        <p:nvSpPr>
          <p:cNvPr id="26" name="Text 23"/>
          <p:cNvSpPr txBox="1"/>
          <p:nvPr/>
        </p:nvSpPr>
        <p:spPr>
          <a:xfrm>
            <a:off x="1005840" y="2221992"/>
            <a:ext cx="3931920" cy="256032"/>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Source, URL, time and licence (Ookla: CC BY-NC-SA 4.0).</a:t>
            </a:r>
            <a:endParaRPr lang="en-US" sz="1000" dirty="0"/>
          </a:p>
        </p:txBody>
      </p:sp>
      <p:sp>
        <p:nvSpPr>
          <p:cNvPr id="27" name="Shape 24"/>
          <p:cNvSpPr/>
          <p:nvPr/>
        </p:nvSpPr>
        <p:spPr>
          <a:xfrm>
            <a:off x="457200" y="2596896"/>
            <a:ext cx="4572000" cy="566928"/>
          </a:xfrm>
          <a:prstGeom prst="roundRect">
            <a:avLst>
              <a:gd name="adj" fmla="val 12903"/>
            </a:avLst>
          </a:prstGeom>
          <a:solidFill>
            <a:srgbClr val="F4F7F5"/>
          </a:solidFill>
          <a:ln w="9525">
            <a:solidFill>
              <a:srgbClr val="D5DED9"/>
            </a:solidFill>
            <a:prstDash val="solid"/>
          </a:ln>
        </p:spPr>
      </p:sp>
      <p:sp>
        <p:nvSpPr>
          <p:cNvPr id="28" name="Shape 25"/>
          <p:cNvSpPr/>
          <p:nvPr/>
        </p:nvSpPr>
        <p:spPr>
          <a:xfrm>
            <a:off x="585216" y="2734056"/>
            <a:ext cx="292608" cy="292608"/>
          </a:xfrm>
          <a:prstGeom prst="ellipse">
            <a:avLst/>
          </a:prstGeom>
          <a:solidFill>
            <a:srgbClr val="00A86A"/>
          </a:solidFill>
          <a:ln/>
        </p:spPr>
      </p:sp>
      <p:sp>
        <p:nvSpPr>
          <p:cNvPr id="29" name="Text 26"/>
          <p:cNvSpPr txBox="1"/>
          <p:nvPr/>
        </p:nvSpPr>
        <p:spPr>
          <a:xfrm>
            <a:off x="585216" y="2734056"/>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0" name="Text 27"/>
          <p:cNvSpPr txBox="1"/>
          <p:nvPr/>
        </p:nvSpPr>
        <p:spPr>
          <a:xfrm>
            <a:off x="1005840" y="2660904"/>
            <a:ext cx="3886200" cy="219456"/>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Verify integrity</a:t>
            </a:r>
            <a:endParaRPr lang="en-US" sz="1200" dirty="0"/>
          </a:p>
        </p:txBody>
      </p:sp>
      <p:sp>
        <p:nvSpPr>
          <p:cNvPr id="31" name="Text 28"/>
          <p:cNvSpPr txBox="1"/>
          <p:nvPr/>
        </p:nvSpPr>
        <p:spPr>
          <a:xfrm>
            <a:off x="1005840" y="2880360"/>
            <a:ext cx="3931920" cy="256032"/>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Checksums, row counts, and the expected number of files per period.</a:t>
            </a:r>
            <a:endParaRPr lang="en-US" sz="1000" dirty="0"/>
          </a:p>
        </p:txBody>
      </p:sp>
      <p:sp>
        <p:nvSpPr>
          <p:cNvPr id="32" name="Shape 29"/>
          <p:cNvSpPr/>
          <p:nvPr/>
        </p:nvSpPr>
        <p:spPr>
          <a:xfrm>
            <a:off x="457200" y="3255264"/>
            <a:ext cx="4572000" cy="566928"/>
          </a:xfrm>
          <a:prstGeom prst="roundRect">
            <a:avLst>
              <a:gd name="adj" fmla="val 12903"/>
            </a:avLst>
          </a:prstGeom>
          <a:solidFill>
            <a:srgbClr val="F4F7F5"/>
          </a:solidFill>
          <a:ln w="9525">
            <a:solidFill>
              <a:srgbClr val="D5DED9"/>
            </a:solidFill>
            <a:prstDash val="solid"/>
          </a:ln>
        </p:spPr>
      </p:sp>
      <p:sp>
        <p:nvSpPr>
          <p:cNvPr id="33" name="Shape 30"/>
          <p:cNvSpPr/>
          <p:nvPr/>
        </p:nvSpPr>
        <p:spPr>
          <a:xfrm>
            <a:off x="585216" y="3392424"/>
            <a:ext cx="292608" cy="292608"/>
          </a:xfrm>
          <a:prstGeom prst="ellipse">
            <a:avLst/>
          </a:prstGeom>
          <a:solidFill>
            <a:srgbClr val="00A86A"/>
          </a:solidFill>
          <a:ln/>
        </p:spPr>
      </p:sp>
      <p:sp>
        <p:nvSpPr>
          <p:cNvPr id="34" name="Text 31"/>
          <p:cNvSpPr txBox="1"/>
          <p:nvPr/>
        </p:nvSpPr>
        <p:spPr>
          <a:xfrm>
            <a:off x="585216" y="3392424"/>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5" name="Text 32"/>
          <p:cNvSpPr txBox="1"/>
          <p:nvPr/>
        </p:nvSpPr>
        <p:spPr>
          <a:xfrm>
            <a:off x="1005840" y="3319272"/>
            <a:ext cx="3886200" cy="219456"/>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Check the schema</a:t>
            </a:r>
            <a:endParaRPr lang="en-US" sz="1200" dirty="0"/>
          </a:p>
        </p:txBody>
      </p:sp>
      <p:sp>
        <p:nvSpPr>
          <p:cNvPr id="36" name="Text 33"/>
          <p:cNvSpPr txBox="1"/>
          <p:nvPr/>
        </p:nvSpPr>
        <p:spPr>
          <a:xfrm>
            <a:off x="1005840" y="3538728"/>
            <a:ext cx="3931920" cy="256032"/>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Ookla added columns in 2022–23: detect drift, never fail silently.</a:t>
            </a:r>
            <a:endParaRPr lang="en-US" sz="1000" dirty="0"/>
          </a:p>
        </p:txBody>
      </p:sp>
      <p:sp>
        <p:nvSpPr>
          <p:cNvPr id="37" name="Shape 34"/>
          <p:cNvSpPr/>
          <p:nvPr/>
        </p:nvSpPr>
        <p:spPr>
          <a:xfrm>
            <a:off x="457200" y="3913632"/>
            <a:ext cx="4572000" cy="566928"/>
          </a:xfrm>
          <a:prstGeom prst="roundRect">
            <a:avLst>
              <a:gd name="adj" fmla="val 12903"/>
            </a:avLst>
          </a:prstGeom>
          <a:solidFill>
            <a:srgbClr val="F4F7F5"/>
          </a:solidFill>
          <a:ln w="9525">
            <a:solidFill>
              <a:srgbClr val="D5DED9"/>
            </a:solidFill>
            <a:prstDash val="solid"/>
          </a:ln>
        </p:spPr>
      </p:sp>
      <p:sp>
        <p:nvSpPr>
          <p:cNvPr id="38" name="Shape 35"/>
          <p:cNvSpPr/>
          <p:nvPr/>
        </p:nvSpPr>
        <p:spPr>
          <a:xfrm>
            <a:off x="585216" y="4050792"/>
            <a:ext cx="292608" cy="292608"/>
          </a:xfrm>
          <a:prstGeom prst="ellipse">
            <a:avLst/>
          </a:prstGeom>
          <a:solidFill>
            <a:srgbClr val="00A86A"/>
          </a:solidFill>
          <a:ln/>
        </p:spPr>
      </p:sp>
      <p:sp>
        <p:nvSpPr>
          <p:cNvPr id="39" name="Text 36"/>
          <p:cNvSpPr txBox="1"/>
          <p:nvPr/>
        </p:nvSpPr>
        <p:spPr>
          <a:xfrm>
            <a:off x="585216" y="4050792"/>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40" name="Text 37"/>
          <p:cNvSpPr txBox="1"/>
          <p:nvPr/>
        </p:nvSpPr>
        <p:spPr>
          <a:xfrm>
            <a:off x="1005840" y="3977640"/>
            <a:ext cx="3886200" cy="219456"/>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Make loads idempotent</a:t>
            </a:r>
            <a:endParaRPr lang="en-US" sz="1200" dirty="0"/>
          </a:p>
        </p:txBody>
      </p:sp>
      <p:sp>
        <p:nvSpPr>
          <p:cNvPr id="41" name="Text 38"/>
          <p:cNvSpPr txBox="1"/>
          <p:nvPr/>
        </p:nvSpPr>
        <p:spPr>
          <a:xfrm>
            <a:off x="1005840" y="4197096"/>
            <a:ext cx="3931920" cy="256032"/>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Re-running the same quarter gives the same result — never duplicate rows.</a:t>
            </a:r>
            <a:endParaRPr lang="en-US" sz="1000" dirty="0"/>
          </a:p>
        </p:txBody>
      </p:sp>
      <p:sp>
        <p:nvSpPr>
          <p:cNvPr id="42" name="Shape 39"/>
          <p:cNvSpPr/>
          <p:nvPr/>
        </p:nvSpPr>
        <p:spPr>
          <a:xfrm>
            <a:off x="5257800" y="1280160"/>
            <a:ext cx="3429000" cy="3200400"/>
          </a:xfrm>
          <a:prstGeom prst="roundRect">
            <a:avLst>
              <a:gd name="adj" fmla="val 2286"/>
            </a:avLst>
          </a:prstGeom>
          <a:solidFill>
            <a:srgbClr val="F4F7F5"/>
          </a:solidFill>
          <a:ln w="9525">
            <a:solidFill>
              <a:srgbClr val="D5DED9"/>
            </a:solidFill>
            <a:prstDash val="solid"/>
          </a:ln>
        </p:spPr>
      </p:sp>
      <p:sp>
        <p:nvSpPr>
          <p:cNvPr id="43" name="Text 40"/>
          <p:cNvSpPr txBox="1"/>
          <p:nvPr/>
        </p:nvSpPr>
        <p:spPr>
          <a:xfrm>
            <a:off x="5394960" y="1371600"/>
            <a:ext cx="3154680" cy="201168"/>
          </a:xfrm>
          <a:prstGeom prst="rect">
            <a:avLst/>
          </a:prstGeom>
          <a:noFill/>
          <a:ln/>
        </p:spPr>
        <p:txBody>
          <a:bodyPr wrap="square" lIns="0" tIns="0" rIns="0" bIns="0" rtlCol="0" anchor="t"/>
          <a:lstStyle/>
          <a:p>
            <a:pPr marL="0" indent="0">
              <a:buNone/>
            </a:pPr>
            <a:r>
              <a:rPr lang="en-US" sz="900" b="1" kern="0" spc="100" dirty="0">
                <a:solidFill>
                  <a:srgbClr val="00704A"/>
                </a:solidFill>
                <a:latin typeface="Calibri" pitchFamily="34" charset="0"/>
                <a:ea typeface="Calibri" pitchFamily="34" charset="-122"/>
                <a:cs typeface="Calibri" pitchFamily="34" charset="-120"/>
              </a:rPr>
              <a:t>ILLUSTRATIVE PROVENANCE RECORD</a:t>
            </a:r>
            <a:endParaRPr lang="en-US" sz="900" dirty="0"/>
          </a:p>
        </p:txBody>
      </p:sp>
      <p:sp>
        <p:nvSpPr>
          <p:cNvPr id="44" name="Text 41"/>
          <p:cNvSpPr txBox="1"/>
          <p:nvPr/>
        </p:nvSpPr>
        <p:spPr>
          <a:xfrm>
            <a:off x="5394960" y="1609344"/>
            <a:ext cx="3154680" cy="2798064"/>
          </a:xfrm>
          <a:prstGeom prst="rect">
            <a:avLst/>
          </a:prstGeom>
          <a:noFill/>
          <a:ln/>
        </p:spPr>
        <p:txBody>
          <a:bodyPr wrap="square" lIns="0" tIns="0" rIns="0" bIns="0" rtlCol="0" anchor="t"/>
          <a:lstStyle/>
          <a:p>
            <a:pPr marL="0" indent="0">
              <a:lnSpc>
                <a:spcPct val="105000"/>
              </a:lnSpc>
              <a:buNone/>
            </a:pPr>
            <a:r>
              <a:rPr lang="en-US" sz="900" i="1" dirty="0">
                <a:solidFill>
                  <a:srgbClr val="00704A"/>
                </a:solidFill>
                <a:latin typeface="Courier New" pitchFamily="34" charset="0"/>
                <a:ea typeface="Courier New" pitchFamily="34" charset="-122"/>
                <a:cs typeface="Courier New" pitchFamily="34" charset="-120"/>
              </a:rPr>
              <a:t># provenance.json — one per raw file</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  "source": "Speedtest by Ookla",</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  "layer": "mobile",</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  "period": "2025-Q4",</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  "uri": "s3://ookla-open-data/</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    parquet/performance/type=mobile/</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    year=2025/quarter=4/",</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  "retrieved_at": "2026-01-15T08:12Z",</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  "licence": "CC BY-NC-SA 4.0",</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  "sha256": "9f2c…e41a",</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  "schema_version": "2023-Q3",</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  "loaded_by": "pipeline v1.4.0"</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a:t>
            </a:r>
            <a:endParaRPr lang="en-US" sz="900" dirty="0"/>
          </a:p>
        </p:txBody>
      </p:sp>
      <p:sp>
        <p:nvSpPr>
          <p:cNvPr id="45" name="Text 42"/>
          <p:cNvSpPr txBox="1"/>
          <p:nvPr/>
        </p:nvSpPr>
        <p:spPr>
          <a:xfrm>
            <a:off x="457200" y="4590288"/>
            <a:ext cx="7498080" cy="201168"/>
          </a:xfrm>
          <a:prstGeom prst="rect">
            <a:avLst/>
          </a:prstGeom>
          <a:noFill/>
          <a:ln/>
        </p:spPr>
        <p:txBody>
          <a:bodyPr wrap="square" lIns="0" tIns="0" rIns="0" bIns="0" rtlCol="0" anchor="b"/>
          <a:lstStyle/>
          <a:p>
            <a:pPr marL="0" indent="0">
              <a:buNone/>
            </a:pPr>
            <a:r>
              <a:rPr lang="en-US" sz="900" i="1" dirty="0">
                <a:solidFill>
                  <a:srgbClr val="5E6964"/>
                </a:solidFill>
                <a:latin typeface="Calibri" pitchFamily="34" charset="0"/>
                <a:ea typeface="Calibri" pitchFamily="34" charset="-122"/>
                <a:cs typeface="Calibri" pitchFamily="34" charset="-120"/>
              </a:rPr>
              <a:t>Source: Ookla Open Data documentation (column history and licence).</a:t>
            </a:r>
            <a:endParaRPr lang="en-US" sz="9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82128" y="329184"/>
            <a:ext cx="91440" cy="91440"/>
          </a:xfrm>
          <a:prstGeom prst="ellipse">
            <a:avLst/>
          </a:prstGeom>
          <a:solidFill>
            <a:srgbClr val="FFFFFF">
              <a:alpha val="40000"/>
            </a:srgbClr>
          </a:solidFill>
          <a:ln/>
        </p:spPr>
      </p:sp>
      <p:sp>
        <p:nvSpPr>
          <p:cNvPr id="3" name="Shape 1"/>
          <p:cNvSpPr/>
          <p:nvPr/>
        </p:nvSpPr>
        <p:spPr>
          <a:xfrm>
            <a:off x="8014716" y="315468"/>
            <a:ext cx="118872" cy="118872"/>
          </a:xfrm>
          <a:prstGeom prst="ellipse">
            <a:avLst/>
          </a:prstGeom>
          <a:solidFill>
            <a:srgbClr val="F5C242"/>
          </a:solidFill>
          <a:ln/>
        </p:spPr>
      </p:sp>
      <p:sp>
        <p:nvSpPr>
          <p:cNvPr id="4" name="Shape 2"/>
          <p:cNvSpPr/>
          <p:nvPr/>
        </p:nvSpPr>
        <p:spPr>
          <a:xfrm>
            <a:off x="8174736" y="329184"/>
            <a:ext cx="91440" cy="91440"/>
          </a:xfrm>
          <a:prstGeom prst="ellipse">
            <a:avLst/>
          </a:prstGeom>
          <a:solidFill>
            <a:srgbClr val="FFFFFF">
              <a:alpha val="40000"/>
            </a:srgbClr>
          </a:solidFill>
          <a:ln/>
        </p:spPr>
      </p:sp>
      <p:sp>
        <p:nvSpPr>
          <p:cNvPr id="5" name="Shape 3"/>
          <p:cNvSpPr/>
          <p:nvPr/>
        </p:nvSpPr>
        <p:spPr>
          <a:xfrm>
            <a:off x="8321040" y="329184"/>
            <a:ext cx="91440" cy="91440"/>
          </a:xfrm>
          <a:prstGeom prst="ellipse">
            <a:avLst/>
          </a:prstGeom>
          <a:solidFill>
            <a:srgbClr val="FFFFFF">
              <a:alpha val="40000"/>
            </a:srgbClr>
          </a:solidFill>
          <a:ln/>
        </p:spPr>
      </p:sp>
      <p:sp>
        <p:nvSpPr>
          <p:cNvPr id="6" name="Shape 4"/>
          <p:cNvSpPr/>
          <p:nvPr/>
        </p:nvSpPr>
        <p:spPr>
          <a:xfrm>
            <a:off x="8467344" y="329184"/>
            <a:ext cx="91440" cy="91440"/>
          </a:xfrm>
          <a:prstGeom prst="ellipse">
            <a:avLst/>
          </a:prstGeom>
          <a:solidFill>
            <a:srgbClr val="FFFFFF">
              <a:alpha val="40000"/>
            </a:srgbClr>
          </a:solidFill>
          <a:ln/>
        </p:spPr>
      </p:sp>
      <p:sp>
        <p:nvSpPr>
          <p:cNvPr id="7" name="Shape 5"/>
          <p:cNvSpPr/>
          <p:nvPr/>
        </p:nvSpPr>
        <p:spPr>
          <a:xfrm>
            <a:off x="8613648" y="329184"/>
            <a:ext cx="91440" cy="91440"/>
          </a:xfrm>
          <a:prstGeom prst="ellipse">
            <a:avLst/>
          </a:prstGeom>
          <a:solidFill>
            <a:srgbClr val="FFFFFF">
              <a:alpha val="40000"/>
            </a:srgbClr>
          </a:solidFill>
          <a:ln/>
        </p:spPr>
      </p:sp>
      <p:sp>
        <p:nvSpPr>
          <p:cNvPr id="8" name="Text 6"/>
          <p:cNvSpPr txBox="1"/>
          <p:nvPr/>
        </p:nvSpPr>
        <p:spPr>
          <a:xfrm>
            <a:off x="548640" y="914400"/>
            <a:ext cx="45720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02 OF 06</a:t>
            </a:r>
            <a:endParaRPr lang="en-US" sz="1050" dirty="0"/>
          </a:p>
        </p:txBody>
      </p:sp>
      <p:sp>
        <p:nvSpPr>
          <p:cNvPr id="9" name="Text 7"/>
          <p:cNvSpPr txBox="1"/>
          <p:nvPr/>
        </p:nvSpPr>
        <p:spPr>
          <a:xfrm>
            <a:off x="502920" y="1097280"/>
            <a:ext cx="2743200" cy="1234440"/>
          </a:xfrm>
          <a:prstGeom prst="rect">
            <a:avLst/>
          </a:prstGeom>
          <a:noFill/>
          <a:ln/>
        </p:spPr>
        <p:txBody>
          <a:bodyPr wrap="square" lIns="0" tIns="0" rIns="0" bIns="0" rtlCol="0" anchor="t"/>
          <a:lstStyle/>
          <a:p>
            <a:pPr marL="0" indent="0">
              <a:buNone/>
            </a:pPr>
            <a:r>
              <a:rPr lang="en-US" sz="9600" b="1" dirty="0">
                <a:solidFill>
                  <a:srgbClr val="F5C242"/>
                </a:solidFill>
                <a:latin typeface="Calibri" pitchFamily="34" charset="0"/>
                <a:ea typeface="Calibri" pitchFamily="34" charset="-122"/>
                <a:cs typeface="Calibri" pitchFamily="34" charset="-120"/>
              </a:rPr>
              <a:t>02</a:t>
            </a:r>
            <a:endParaRPr lang="en-US" sz="9600" dirty="0"/>
          </a:p>
        </p:txBody>
      </p:sp>
      <p:sp>
        <p:nvSpPr>
          <p:cNvPr id="10" name="Text 8"/>
          <p:cNvSpPr txBox="1"/>
          <p:nvPr/>
        </p:nvSpPr>
        <p:spPr>
          <a:xfrm>
            <a:off x="548640" y="2487168"/>
            <a:ext cx="5120640" cy="68580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Storage</a:t>
            </a:r>
            <a:endParaRPr lang="en-US" sz="4000" dirty="0"/>
          </a:p>
        </p:txBody>
      </p:sp>
      <p:sp>
        <p:nvSpPr>
          <p:cNvPr id="11" name="Text 9"/>
          <p:cNvSpPr txBox="1"/>
          <p:nvPr/>
        </p:nvSpPr>
        <p:spPr>
          <a:xfrm>
            <a:off x="548640" y="3246120"/>
            <a:ext cx="4937760" cy="73152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Where should data live so it is cheap to keep, fast to read and impossible to lose?</a:t>
            </a:r>
            <a:endParaRPr lang="en-US" sz="1800" dirty="0"/>
          </a:p>
        </p:txBody>
      </p:sp>
      <p:sp>
        <p:nvSpPr>
          <p:cNvPr id="12" name="Shape 10"/>
          <p:cNvSpPr/>
          <p:nvPr/>
        </p:nvSpPr>
        <p:spPr>
          <a:xfrm>
            <a:off x="5989320" y="1143000"/>
            <a:ext cx="2651760" cy="2651760"/>
          </a:xfrm>
          <a:prstGeom prst="ellipse">
            <a:avLst/>
          </a:prstGeom>
          <a:solidFill>
            <a:srgbClr val="FFFFFF">
              <a:alpha val="10000"/>
            </a:srgbClr>
          </a:solidFill>
          <a:ln/>
        </p:spPr>
      </p:sp>
      <p:sp>
        <p:nvSpPr>
          <p:cNvPr id="13" name="Shape 11"/>
          <p:cNvSpPr/>
          <p:nvPr/>
        </p:nvSpPr>
        <p:spPr>
          <a:xfrm>
            <a:off x="6355080" y="1508760"/>
            <a:ext cx="1920240" cy="1920240"/>
          </a:xfrm>
          <a:prstGeom prst="ellipse">
            <a:avLst/>
          </a:prstGeom>
          <a:solidFill>
            <a:srgbClr val="FFFFFF">
              <a:alpha val="15000"/>
            </a:srgbClr>
          </a:solidFill>
          <a:ln/>
        </p:spPr>
      </p:sp>
      <p:sp>
        <p:nvSpPr>
          <p:cNvPr id="14" name="Shape 12"/>
          <p:cNvSpPr/>
          <p:nvPr/>
        </p:nvSpPr>
        <p:spPr>
          <a:xfrm>
            <a:off x="6720840" y="1874520"/>
            <a:ext cx="1188720" cy="1188720"/>
          </a:xfrm>
          <a:prstGeom prst="ellipse">
            <a:avLst/>
          </a:prstGeom>
          <a:solidFill>
            <a:srgbClr val="FFFFFF"/>
          </a:solidFill>
          <a:ln/>
        </p:spPr>
      </p:sp>
      <p:pic>
        <p:nvPicPr>
          <p:cNvPr id="15" name="Image 0" descr="preencoded.png"/>
          <p:cNvPicPr>
            <a:picLocks noChangeAspect="1"/>
          </p:cNvPicPr>
          <p:nvPr/>
        </p:nvPicPr>
        <p:blipFill>
          <a:blip r:embed="rId4"/>
          <a:stretch>
            <a:fillRect/>
          </a:stretch>
        </p:blipFill>
        <p:spPr>
          <a:xfrm>
            <a:off x="7022592" y="2176272"/>
            <a:ext cx="585216" cy="585216"/>
          </a:xfrm>
          <a:prstGeom prst="rect">
            <a:avLst/>
          </a:prstGeom>
        </p:spPr>
      </p:pic>
      <p:sp>
        <p:nvSpPr>
          <p:cNvPr id="16" name="Text 13"/>
          <p:cNvSpPr txBox="1"/>
          <p:nvPr/>
        </p:nvSpPr>
        <p:spPr>
          <a:xfrm>
            <a:off x="548640" y="4754880"/>
            <a:ext cx="5486400" cy="182880"/>
          </a:xfrm>
          <a:prstGeom prst="rect">
            <a:avLst/>
          </a:prstGeom>
          <a:noFill/>
          <a:ln/>
        </p:spPr>
        <p:txBody>
          <a:bodyPr wrap="square" lIns="0" tIns="0" rIns="0" bIns="0" rtlCol="0" anchor="t"/>
          <a:lstStyle/>
          <a:p>
            <a:pPr marL="0" indent="0">
              <a:buNone/>
            </a:pPr>
            <a:r>
              <a:rPr lang="en-US" sz="850" dirty="0">
                <a:solidFill>
                  <a:srgbClr val="E6F6EE"/>
                </a:solidFill>
                <a:latin typeface="Calibri" pitchFamily="34" charset="0"/>
                <a:ea typeface="Calibri" pitchFamily="34" charset="-122"/>
                <a:cs typeface="Calibri" pitchFamily="34" charset="-120"/>
              </a:rPr>
              <a:t>Engines of Scale · Big Data Technologies for Statistical Systems · AfDB – DI4A</a:t>
            </a:r>
            <a:endParaRPr lang="en-US" sz="85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STORAGE</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Distributed storage: split, replicate, keep work local</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14716" y="315468"/>
            <a:ext cx="118872" cy="118872"/>
          </a:xfrm>
          <a:prstGeom prst="ellipse">
            <a:avLst/>
          </a:prstGeom>
          <a:solidFill>
            <a:srgbClr val="00704A"/>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AfDB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9</a:t>
            </a:r>
            <a:endParaRPr lang="en-US" sz="850" dirty="0"/>
          </a:p>
        </p:txBody>
      </p:sp>
      <p:sp>
        <p:nvSpPr>
          <p:cNvPr id="17" name="Shape 14"/>
          <p:cNvSpPr/>
          <p:nvPr/>
        </p:nvSpPr>
        <p:spPr>
          <a:xfrm>
            <a:off x="457200" y="1298448"/>
            <a:ext cx="502920" cy="502920"/>
          </a:xfrm>
          <a:prstGeom prst="ellipse">
            <a:avLst/>
          </a:prstGeom>
          <a:solidFill>
            <a:srgbClr val="00704A">
              <a:alpha val="22000"/>
            </a:srgbClr>
          </a:solidFill>
          <a:ln/>
        </p:spPr>
      </p:sp>
      <p:pic>
        <p:nvPicPr>
          <p:cNvPr id="18" name="Image 0" descr="preencoded.png"/>
          <p:cNvPicPr>
            <a:picLocks noChangeAspect="1"/>
          </p:cNvPicPr>
          <p:nvPr/>
        </p:nvPicPr>
        <p:blipFill>
          <a:blip r:embed="rId3"/>
          <a:stretch>
            <a:fillRect/>
          </a:stretch>
        </p:blipFill>
        <p:spPr>
          <a:xfrm>
            <a:off x="582930" y="1424178"/>
            <a:ext cx="251460" cy="251460"/>
          </a:xfrm>
          <a:prstGeom prst="rect">
            <a:avLst/>
          </a:prstGeom>
        </p:spPr>
      </p:pic>
      <p:sp>
        <p:nvSpPr>
          <p:cNvPr id="19" name="Text 15"/>
          <p:cNvSpPr txBox="1"/>
          <p:nvPr/>
        </p:nvSpPr>
        <p:spPr>
          <a:xfrm>
            <a:off x="1097280" y="1280160"/>
            <a:ext cx="301752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Partition</a:t>
            </a:r>
            <a:endParaRPr lang="en-US" sz="1300" dirty="0"/>
          </a:p>
        </p:txBody>
      </p:sp>
      <p:sp>
        <p:nvSpPr>
          <p:cNvPr id="20" name="Text 16"/>
          <p:cNvSpPr txBox="1"/>
          <p:nvPr/>
        </p:nvSpPr>
        <p:spPr>
          <a:xfrm>
            <a:off x="1097280" y="1545336"/>
            <a:ext cx="3017520" cy="566928"/>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Large files are cut into fixed-size blocks — 128 MB by default in HDFS — spread across nodes.</a:t>
            </a:r>
            <a:endParaRPr lang="en-US" sz="1050" dirty="0"/>
          </a:p>
        </p:txBody>
      </p:sp>
      <p:sp>
        <p:nvSpPr>
          <p:cNvPr id="21" name="Shape 17"/>
          <p:cNvSpPr/>
          <p:nvPr/>
        </p:nvSpPr>
        <p:spPr>
          <a:xfrm>
            <a:off x="457200" y="2231136"/>
            <a:ext cx="502920" cy="502920"/>
          </a:xfrm>
          <a:prstGeom prst="ellipse">
            <a:avLst/>
          </a:prstGeom>
          <a:solidFill>
            <a:srgbClr val="00704A">
              <a:alpha val="22000"/>
            </a:srgbClr>
          </a:solidFill>
          <a:ln/>
        </p:spPr>
      </p:sp>
      <p:pic>
        <p:nvPicPr>
          <p:cNvPr id="22" name="Image 1" descr="preencoded.png"/>
          <p:cNvPicPr>
            <a:picLocks noChangeAspect="1"/>
          </p:cNvPicPr>
          <p:nvPr/>
        </p:nvPicPr>
        <p:blipFill>
          <a:blip r:embed="rId4"/>
          <a:stretch>
            <a:fillRect/>
          </a:stretch>
        </p:blipFill>
        <p:spPr>
          <a:xfrm>
            <a:off x="582930" y="2356866"/>
            <a:ext cx="251460" cy="251460"/>
          </a:xfrm>
          <a:prstGeom prst="rect">
            <a:avLst/>
          </a:prstGeom>
        </p:spPr>
      </p:pic>
      <p:sp>
        <p:nvSpPr>
          <p:cNvPr id="23" name="Text 18"/>
          <p:cNvSpPr txBox="1"/>
          <p:nvPr/>
        </p:nvSpPr>
        <p:spPr>
          <a:xfrm>
            <a:off x="1097280" y="2212848"/>
            <a:ext cx="301752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Replicate</a:t>
            </a:r>
            <a:endParaRPr lang="en-US" sz="1300" dirty="0"/>
          </a:p>
        </p:txBody>
      </p:sp>
      <p:sp>
        <p:nvSpPr>
          <p:cNvPr id="24" name="Text 19"/>
          <p:cNvSpPr txBox="1"/>
          <p:nvPr/>
        </p:nvSpPr>
        <p:spPr>
          <a:xfrm>
            <a:off x="1097280" y="2478024"/>
            <a:ext cx="3017520" cy="566928"/>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Each block is stored on three nodes by default. Hardware failure is treated as normal.</a:t>
            </a:r>
            <a:endParaRPr lang="en-US" sz="1050" dirty="0"/>
          </a:p>
        </p:txBody>
      </p:sp>
      <p:sp>
        <p:nvSpPr>
          <p:cNvPr id="25" name="Shape 20"/>
          <p:cNvSpPr/>
          <p:nvPr/>
        </p:nvSpPr>
        <p:spPr>
          <a:xfrm>
            <a:off x="457200" y="3163824"/>
            <a:ext cx="502920" cy="502920"/>
          </a:xfrm>
          <a:prstGeom prst="ellipse">
            <a:avLst/>
          </a:prstGeom>
          <a:solidFill>
            <a:srgbClr val="00704A">
              <a:alpha val="22000"/>
            </a:srgbClr>
          </a:solidFill>
          <a:ln/>
        </p:spPr>
      </p:sp>
      <p:pic>
        <p:nvPicPr>
          <p:cNvPr id="26" name="Image 2" descr="preencoded.png"/>
          <p:cNvPicPr>
            <a:picLocks noChangeAspect="1"/>
          </p:cNvPicPr>
          <p:nvPr/>
        </p:nvPicPr>
        <p:blipFill>
          <a:blip r:embed="rId5"/>
          <a:stretch>
            <a:fillRect/>
          </a:stretch>
        </p:blipFill>
        <p:spPr>
          <a:xfrm>
            <a:off x="582930" y="3289554"/>
            <a:ext cx="251460" cy="251460"/>
          </a:xfrm>
          <a:prstGeom prst="rect">
            <a:avLst/>
          </a:prstGeom>
        </p:spPr>
      </p:pic>
      <p:sp>
        <p:nvSpPr>
          <p:cNvPr id="27" name="Text 21"/>
          <p:cNvSpPr txBox="1"/>
          <p:nvPr/>
        </p:nvSpPr>
        <p:spPr>
          <a:xfrm>
            <a:off x="1097280" y="3145536"/>
            <a:ext cx="301752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Keep work local</a:t>
            </a:r>
            <a:endParaRPr lang="en-US" sz="1300" dirty="0"/>
          </a:p>
        </p:txBody>
      </p:sp>
      <p:sp>
        <p:nvSpPr>
          <p:cNvPr id="28" name="Text 22"/>
          <p:cNvSpPr txBox="1"/>
          <p:nvPr/>
        </p:nvSpPr>
        <p:spPr>
          <a:xfrm>
            <a:off x="1097280" y="3410712"/>
            <a:ext cx="3017520" cy="566928"/>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Send the code to the data, not the data to the code — the key to speed at scale.</a:t>
            </a:r>
            <a:endParaRPr lang="en-US" sz="1050" dirty="0"/>
          </a:p>
        </p:txBody>
      </p:sp>
      <p:sp>
        <p:nvSpPr>
          <p:cNvPr id="29" name="Shape 23"/>
          <p:cNvSpPr/>
          <p:nvPr/>
        </p:nvSpPr>
        <p:spPr>
          <a:xfrm>
            <a:off x="4434840" y="1234440"/>
            <a:ext cx="4251960" cy="3291840"/>
          </a:xfrm>
          <a:prstGeom prst="roundRect">
            <a:avLst>
              <a:gd name="adj" fmla="val 2222"/>
            </a:avLst>
          </a:prstGeom>
          <a:solidFill>
            <a:srgbClr val="FFFFFF"/>
          </a:solidFill>
          <a:ln w="9525">
            <a:solidFill>
              <a:srgbClr val="D5DED9"/>
            </a:solidFill>
            <a:prstDash val="solid"/>
          </a:ln>
        </p:spPr>
      </p:sp>
      <p:sp>
        <p:nvSpPr>
          <p:cNvPr id="30" name="Text 24"/>
          <p:cNvSpPr txBox="1"/>
          <p:nvPr/>
        </p:nvSpPr>
        <p:spPr>
          <a:xfrm>
            <a:off x="4572000" y="1325880"/>
            <a:ext cx="3977640" cy="228600"/>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One 512 MB file → 4 blocks → 4 nodes</a:t>
            </a:r>
            <a:endParaRPr lang="en-US" sz="1100" dirty="0"/>
          </a:p>
        </p:txBody>
      </p:sp>
      <p:sp>
        <p:nvSpPr>
          <p:cNvPr id="31" name="Shape 25"/>
          <p:cNvSpPr/>
          <p:nvPr/>
        </p:nvSpPr>
        <p:spPr>
          <a:xfrm>
            <a:off x="4892040" y="1627632"/>
            <a:ext cx="731520" cy="292608"/>
          </a:xfrm>
          <a:prstGeom prst="roundRect">
            <a:avLst>
              <a:gd name="adj" fmla="val 15625"/>
            </a:avLst>
          </a:prstGeom>
          <a:solidFill>
            <a:srgbClr val="00A86A"/>
          </a:solidFill>
          <a:ln w="9525">
            <a:solidFill>
              <a:srgbClr val="00A86A"/>
            </a:solidFill>
            <a:prstDash val="solid"/>
          </a:ln>
        </p:spPr>
      </p:sp>
      <p:sp>
        <p:nvSpPr>
          <p:cNvPr id="32" name="Text 26"/>
          <p:cNvSpPr txBox="1"/>
          <p:nvPr/>
        </p:nvSpPr>
        <p:spPr>
          <a:xfrm>
            <a:off x="4892040" y="1627632"/>
            <a:ext cx="73152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B1</a:t>
            </a:r>
            <a:endParaRPr lang="en-US" sz="1100" dirty="0"/>
          </a:p>
        </p:txBody>
      </p:sp>
      <p:sp>
        <p:nvSpPr>
          <p:cNvPr id="33" name="Shape 27"/>
          <p:cNvSpPr/>
          <p:nvPr/>
        </p:nvSpPr>
        <p:spPr>
          <a:xfrm>
            <a:off x="5733288" y="1627632"/>
            <a:ext cx="731520" cy="292608"/>
          </a:xfrm>
          <a:prstGeom prst="roundRect">
            <a:avLst>
              <a:gd name="adj" fmla="val 15625"/>
            </a:avLst>
          </a:prstGeom>
          <a:solidFill>
            <a:srgbClr val="00704A"/>
          </a:solidFill>
          <a:ln w="9525">
            <a:solidFill>
              <a:srgbClr val="00704A"/>
            </a:solidFill>
            <a:prstDash val="solid"/>
          </a:ln>
        </p:spPr>
      </p:sp>
      <p:sp>
        <p:nvSpPr>
          <p:cNvPr id="34" name="Text 28"/>
          <p:cNvSpPr txBox="1"/>
          <p:nvPr/>
        </p:nvSpPr>
        <p:spPr>
          <a:xfrm>
            <a:off x="5733288" y="1627632"/>
            <a:ext cx="73152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B2</a:t>
            </a:r>
            <a:endParaRPr lang="en-US" sz="1100" dirty="0"/>
          </a:p>
        </p:txBody>
      </p:sp>
      <p:sp>
        <p:nvSpPr>
          <p:cNvPr id="35" name="Shape 29"/>
          <p:cNvSpPr/>
          <p:nvPr/>
        </p:nvSpPr>
        <p:spPr>
          <a:xfrm>
            <a:off x="6574536" y="1627632"/>
            <a:ext cx="731520" cy="292608"/>
          </a:xfrm>
          <a:prstGeom prst="roundRect">
            <a:avLst>
              <a:gd name="adj" fmla="val 15625"/>
            </a:avLst>
          </a:prstGeom>
          <a:solidFill>
            <a:srgbClr val="0E7C86"/>
          </a:solidFill>
          <a:ln w="9525">
            <a:solidFill>
              <a:srgbClr val="0E7C86"/>
            </a:solidFill>
            <a:prstDash val="solid"/>
          </a:ln>
        </p:spPr>
      </p:sp>
      <p:sp>
        <p:nvSpPr>
          <p:cNvPr id="36" name="Text 30"/>
          <p:cNvSpPr txBox="1"/>
          <p:nvPr/>
        </p:nvSpPr>
        <p:spPr>
          <a:xfrm>
            <a:off x="6574536" y="1627632"/>
            <a:ext cx="73152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B3</a:t>
            </a:r>
            <a:endParaRPr lang="en-US" sz="1100" dirty="0"/>
          </a:p>
        </p:txBody>
      </p:sp>
      <p:sp>
        <p:nvSpPr>
          <p:cNvPr id="37" name="Shape 31"/>
          <p:cNvSpPr/>
          <p:nvPr/>
        </p:nvSpPr>
        <p:spPr>
          <a:xfrm>
            <a:off x="7415784" y="1627632"/>
            <a:ext cx="731520" cy="292608"/>
          </a:xfrm>
          <a:prstGeom prst="roundRect">
            <a:avLst>
              <a:gd name="adj" fmla="val 15625"/>
            </a:avLst>
          </a:prstGeom>
          <a:solidFill>
            <a:srgbClr val="D49A00"/>
          </a:solidFill>
          <a:ln w="9525">
            <a:solidFill>
              <a:srgbClr val="D49A00"/>
            </a:solidFill>
            <a:prstDash val="solid"/>
          </a:ln>
        </p:spPr>
      </p:sp>
      <p:sp>
        <p:nvSpPr>
          <p:cNvPr id="38" name="Text 32"/>
          <p:cNvSpPr txBox="1"/>
          <p:nvPr/>
        </p:nvSpPr>
        <p:spPr>
          <a:xfrm>
            <a:off x="7415784" y="1627632"/>
            <a:ext cx="73152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B4</a:t>
            </a:r>
            <a:endParaRPr lang="en-US" sz="1100" dirty="0"/>
          </a:p>
        </p:txBody>
      </p:sp>
      <p:sp>
        <p:nvSpPr>
          <p:cNvPr id="39" name="Shape 33"/>
          <p:cNvSpPr/>
          <p:nvPr/>
        </p:nvSpPr>
        <p:spPr>
          <a:xfrm>
            <a:off x="6556248" y="1956816"/>
            <a:ext cx="91" cy="219456"/>
          </a:xfrm>
          <a:prstGeom prst="line">
            <a:avLst/>
          </a:prstGeom>
          <a:noFill/>
          <a:ln w="15875">
            <a:solidFill>
              <a:srgbClr val="5E6964"/>
            </a:solidFill>
            <a:prstDash val="solid"/>
            <a:tailEnd type="triangle"/>
          </a:ln>
        </p:spPr>
      </p:sp>
      <p:sp>
        <p:nvSpPr>
          <p:cNvPr id="40" name="Shape 34"/>
          <p:cNvSpPr/>
          <p:nvPr/>
        </p:nvSpPr>
        <p:spPr>
          <a:xfrm>
            <a:off x="4681728" y="2240280"/>
            <a:ext cx="868680" cy="1783080"/>
          </a:xfrm>
          <a:prstGeom prst="roundRect">
            <a:avLst>
              <a:gd name="adj" fmla="val 8421"/>
            </a:avLst>
          </a:prstGeom>
          <a:solidFill>
            <a:srgbClr val="F4F7F5"/>
          </a:solidFill>
          <a:ln w="9525">
            <a:solidFill>
              <a:srgbClr val="D5DED9"/>
            </a:solidFill>
            <a:prstDash val="solid"/>
          </a:ln>
        </p:spPr>
      </p:sp>
      <p:pic>
        <p:nvPicPr>
          <p:cNvPr id="41" name="Image 3" descr="preencoded.png"/>
          <p:cNvPicPr>
            <a:picLocks noChangeAspect="1"/>
          </p:cNvPicPr>
          <p:nvPr/>
        </p:nvPicPr>
        <p:blipFill>
          <a:blip r:embed="rId6"/>
          <a:stretch>
            <a:fillRect/>
          </a:stretch>
        </p:blipFill>
        <p:spPr>
          <a:xfrm>
            <a:off x="5029200" y="2313432"/>
            <a:ext cx="182880" cy="182880"/>
          </a:xfrm>
          <a:prstGeom prst="rect">
            <a:avLst/>
          </a:prstGeom>
        </p:spPr>
      </p:pic>
      <p:sp>
        <p:nvSpPr>
          <p:cNvPr id="42" name="Text 35"/>
          <p:cNvSpPr txBox="1"/>
          <p:nvPr/>
        </p:nvSpPr>
        <p:spPr>
          <a:xfrm>
            <a:off x="4681728" y="2523744"/>
            <a:ext cx="868680" cy="182880"/>
          </a:xfrm>
          <a:prstGeom prst="rect">
            <a:avLst/>
          </a:prstGeom>
          <a:noFill/>
          <a:ln/>
        </p:spPr>
        <p:txBody>
          <a:bodyPr wrap="square" lIns="0" tIns="0" rIns="0" bIns="0" rtlCol="0" anchor="t"/>
          <a:lstStyle/>
          <a:p>
            <a:pPr marL="0" indent="0" algn="ctr">
              <a:buNone/>
            </a:pPr>
            <a:r>
              <a:rPr lang="en-US" sz="900" b="1" dirty="0">
                <a:solidFill>
                  <a:srgbClr val="5E6964"/>
                </a:solidFill>
                <a:latin typeface="Calibri" pitchFamily="34" charset="0"/>
                <a:ea typeface="Calibri" pitchFamily="34" charset="-122"/>
                <a:cs typeface="Calibri" pitchFamily="34" charset="-120"/>
              </a:rPr>
              <a:t>Node 1</a:t>
            </a:r>
            <a:endParaRPr lang="en-US" sz="900" dirty="0"/>
          </a:p>
        </p:txBody>
      </p:sp>
      <p:sp>
        <p:nvSpPr>
          <p:cNvPr id="43" name="Shape 36"/>
          <p:cNvSpPr/>
          <p:nvPr/>
        </p:nvSpPr>
        <p:spPr>
          <a:xfrm>
            <a:off x="4791456" y="2761488"/>
            <a:ext cx="649224" cy="310896"/>
          </a:xfrm>
          <a:prstGeom prst="roundRect">
            <a:avLst>
              <a:gd name="adj" fmla="val 14706"/>
            </a:avLst>
          </a:prstGeom>
          <a:solidFill>
            <a:srgbClr val="00A86A"/>
          </a:solidFill>
          <a:ln w="9525">
            <a:solidFill>
              <a:srgbClr val="00A86A"/>
            </a:solidFill>
            <a:prstDash val="solid"/>
          </a:ln>
        </p:spPr>
      </p:sp>
      <p:sp>
        <p:nvSpPr>
          <p:cNvPr id="44" name="Text 37"/>
          <p:cNvSpPr txBox="1"/>
          <p:nvPr/>
        </p:nvSpPr>
        <p:spPr>
          <a:xfrm>
            <a:off x="4791456" y="2761488"/>
            <a:ext cx="649224"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B1</a:t>
            </a:r>
            <a:endParaRPr lang="en-US" sz="1000" dirty="0"/>
          </a:p>
        </p:txBody>
      </p:sp>
      <p:sp>
        <p:nvSpPr>
          <p:cNvPr id="45" name="Shape 38"/>
          <p:cNvSpPr/>
          <p:nvPr/>
        </p:nvSpPr>
        <p:spPr>
          <a:xfrm>
            <a:off x="4791456" y="3163824"/>
            <a:ext cx="649224" cy="310896"/>
          </a:xfrm>
          <a:prstGeom prst="roundRect">
            <a:avLst>
              <a:gd name="adj" fmla="val 14706"/>
            </a:avLst>
          </a:prstGeom>
          <a:solidFill>
            <a:srgbClr val="0E7C86"/>
          </a:solidFill>
          <a:ln w="9525">
            <a:solidFill>
              <a:srgbClr val="0E7C86"/>
            </a:solidFill>
            <a:prstDash val="solid"/>
          </a:ln>
        </p:spPr>
      </p:sp>
      <p:sp>
        <p:nvSpPr>
          <p:cNvPr id="46" name="Text 39"/>
          <p:cNvSpPr txBox="1"/>
          <p:nvPr/>
        </p:nvSpPr>
        <p:spPr>
          <a:xfrm>
            <a:off x="4791456" y="3163824"/>
            <a:ext cx="649224"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B3</a:t>
            </a:r>
            <a:endParaRPr lang="en-US" sz="1000" dirty="0"/>
          </a:p>
        </p:txBody>
      </p:sp>
      <p:sp>
        <p:nvSpPr>
          <p:cNvPr id="47" name="Shape 40"/>
          <p:cNvSpPr/>
          <p:nvPr/>
        </p:nvSpPr>
        <p:spPr>
          <a:xfrm>
            <a:off x="4791456" y="3566160"/>
            <a:ext cx="649224" cy="310896"/>
          </a:xfrm>
          <a:prstGeom prst="roundRect">
            <a:avLst>
              <a:gd name="adj" fmla="val 14706"/>
            </a:avLst>
          </a:prstGeom>
          <a:solidFill>
            <a:srgbClr val="D49A00"/>
          </a:solidFill>
          <a:ln w="9525">
            <a:solidFill>
              <a:srgbClr val="D49A00"/>
            </a:solidFill>
            <a:prstDash val="solid"/>
          </a:ln>
        </p:spPr>
      </p:sp>
      <p:sp>
        <p:nvSpPr>
          <p:cNvPr id="48" name="Text 41"/>
          <p:cNvSpPr txBox="1"/>
          <p:nvPr/>
        </p:nvSpPr>
        <p:spPr>
          <a:xfrm>
            <a:off x="4791456" y="3566160"/>
            <a:ext cx="649224"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B4</a:t>
            </a:r>
            <a:endParaRPr lang="en-US" sz="1000" dirty="0"/>
          </a:p>
        </p:txBody>
      </p:sp>
      <p:sp>
        <p:nvSpPr>
          <p:cNvPr id="49" name="Shape 42"/>
          <p:cNvSpPr/>
          <p:nvPr/>
        </p:nvSpPr>
        <p:spPr>
          <a:xfrm>
            <a:off x="5660136" y="2240280"/>
            <a:ext cx="868680" cy="1783080"/>
          </a:xfrm>
          <a:prstGeom prst="roundRect">
            <a:avLst>
              <a:gd name="adj" fmla="val 8421"/>
            </a:avLst>
          </a:prstGeom>
          <a:solidFill>
            <a:srgbClr val="F4F7F5"/>
          </a:solidFill>
          <a:ln w="9525">
            <a:solidFill>
              <a:srgbClr val="D5DED9"/>
            </a:solidFill>
            <a:prstDash val="solid"/>
          </a:ln>
        </p:spPr>
      </p:sp>
      <p:pic>
        <p:nvPicPr>
          <p:cNvPr id="50" name="Image 4" descr="preencoded.png"/>
          <p:cNvPicPr>
            <a:picLocks noChangeAspect="1"/>
          </p:cNvPicPr>
          <p:nvPr/>
        </p:nvPicPr>
        <p:blipFill>
          <a:blip r:embed="rId6"/>
          <a:stretch>
            <a:fillRect/>
          </a:stretch>
        </p:blipFill>
        <p:spPr>
          <a:xfrm>
            <a:off x="6007608" y="2313432"/>
            <a:ext cx="182880" cy="182880"/>
          </a:xfrm>
          <a:prstGeom prst="rect">
            <a:avLst/>
          </a:prstGeom>
        </p:spPr>
      </p:pic>
      <p:sp>
        <p:nvSpPr>
          <p:cNvPr id="51" name="Text 43"/>
          <p:cNvSpPr txBox="1"/>
          <p:nvPr/>
        </p:nvSpPr>
        <p:spPr>
          <a:xfrm>
            <a:off x="5660136" y="2523744"/>
            <a:ext cx="868680" cy="182880"/>
          </a:xfrm>
          <a:prstGeom prst="rect">
            <a:avLst/>
          </a:prstGeom>
          <a:noFill/>
          <a:ln/>
        </p:spPr>
        <p:txBody>
          <a:bodyPr wrap="square" lIns="0" tIns="0" rIns="0" bIns="0" rtlCol="0" anchor="t"/>
          <a:lstStyle/>
          <a:p>
            <a:pPr marL="0" indent="0" algn="ctr">
              <a:buNone/>
            </a:pPr>
            <a:r>
              <a:rPr lang="en-US" sz="900" b="1" dirty="0">
                <a:solidFill>
                  <a:srgbClr val="5E6964"/>
                </a:solidFill>
                <a:latin typeface="Calibri" pitchFamily="34" charset="0"/>
                <a:ea typeface="Calibri" pitchFamily="34" charset="-122"/>
                <a:cs typeface="Calibri" pitchFamily="34" charset="-120"/>
              </a:rPr>
              <a:t>Node 2</a:t>
            </a:r>
            <a:endParaRPr lang="en-US" sz="900" dirty="0"/>
          </a:p>
        </p:txBody>
      </p:sp>
      <p:sp>
        <p:nvSpPr>
          <p:cNvPr id="52" name="Shape 44"/>
          <p:cNvSpPr/>
          <p:nvPr/>
        </p:nvSpPr>
        <p:spPr>
          <a:xfrm>
            <a:off x="5769864" y="2761488"/>
            <a:ext cx="649224" cy="310896"/>
          </a:xfrm>
          <a:prstGeom prst="roundRect">
            <a:avLst>
              <a:gd name="adj" fmla="val 14706"/>
            </a:avLst>
          </a:prstGeom>
          <a:solidFill>
            <a:srgbClr val="00A86A"/>
          </a:solidFill>
          <a:ln w="9525">
            <a:solidFill>
              <a:srgbClr val="00A86A"/>
            </a:solidFill>
            <a:prstDash val="solid"/>
          </a:ln>
        </p:spPr>
      </p:sp>
      <p:sp>
        <p:nvSpPr>
          <p:cNvPr id="53" name="Text 45"/>
          <p:cNvSpPr txBox="1"/>
          <p:nvPr/>
        </p:nvSpPr>
        <p:spPr>
          <a:xfrm>
            <a:off x="5769864" y="2761488"/>
            <a:ext cx="649224"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B1</a:t>
            </a:r>
            <a:endParaRPr lang="en-US" sz="1000" dirty="0"/>
          </a:p>
        </p:txBody>
      </p:sp>
      <p:sp>
        <p:nvSpPr>
          <p:cNvPr id="54" name="Shape 46"/>
          <p:cNvSpPr/>
          <p:nvPr/>
        </p:nvSpPr>
        <p:spPr>
          <a:xfrm>
            <a:off x="5769864" y="3163824"/>
            <a:ext cx="649224" cy="310896"/>
          </a:xfrm>
          <a:prstGeom prst="roundRect">
            <a:avLst>
              <a:gd name="adj" fmla="val 14706"/>
            </a:avLst>
          </a:prstGeom>
          <a:solidFill>
            <a:srgbClr val="00704A"/>
          </a:solidFill>
          <a:ln w="9525">
            <a:solidFill>
              <a:srgbClr val="00704A"/>
            </a:solidFill>
            <a:prstDash val="solid"/>
          </a:ln>
        </p:spPr>
      </p:sp>
      <p:sp>
        <p:nvSpPr>
          <p:cNvPr id="55" name="Text 47"/>
          <p:cNvSpPr txBox="1"/>
          <p:nvPr/>
        </p:nvSpPr>
        <p:spPr>
          <a:xfrm>
            <a:off x="5769864" y="3163824"/>
            <a:ext cx="649224"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B2</a:t>
            </a:r>
            <a:endParaRPr lang="en-US" sz="1000" dirty="0"/>
          </a:p>
        </p:txBody>
      </p:sp>
      <p:sp>
        <p:nvSpPr>
          <p:cNvPr id="56" name="Shape 48"/>
          <p:cNvSpPr/>
          <p:nvPr/>
        </p:nvSpPr>
        <p:spPr>
          <a:xfrm>
            <a:off x="5769864" y="3566160"/>
            <a:ext cx="649224" cy="310896"/>
          </a:xfrm>
          <a:prstGeom prst="roundRect">
            <a:avLst>
              <a:gd name="adj" fmla="val 14706"/>
            </a:avLst>
          </a:prstGeom>
          <a:solidFill>
            <a:srgbClr val="D49A00"/>
          </a:solidFill>
          <a:ln w="9525">
            <a:solidFill>
              <a:srgbClr val="D49A00"/>
            </a:solidFill>
            <a:prstDash val="solid"/>
          </a:ln>
        </p:spPr>
      </p:sp>
      <p:sp>
        <p:nvSpPr>
          <p:cNvPr id="57" name="Text 49"/>
          <p:cNvSpPr txBox="1"/>
          <p:nvPr/>
        </p:nvSpPr>
        <p:spPr>
          <a:xfrm>
            <a:off x="5769864" y="3566160"/>
            <a:ext cx="649224"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B4</a:t>
            </a:r>
            <a:endParaRPr lang="en-US" sz="1000" dirty="0"/>
          </a:p>
        </p:txBody>
      </p:sp>
      <p:sp>
        <p:nvSpPr>
          <p:cNvPr id="58" name="Shape 50"/>
          <p:cNvSpPr/>
          <p:nvPr/>
        </p:nvSpPr>
        <p:spPr>
          <a:xfrm>
            <a:off x="6638544" y="2240280"/>
            <a:ext cx="868680" cy="1783080"/>
          </a:xfrm>
          <a:prstGeom prst="roundRect">
            <a:avLst>
              <a:gd name="adj" fmla="val 8421"/>
            </a:avLst>
          </a:prstGeom>
          <a:solidFill>
            <a:srgbClr val="F4F7F5"/>
          </a:solidFill>
          <a:ln w="9525">
            <a:solidFill>
              <a:srgbClr val="D5DED9"/>
            </a:solidFill>
            <a:prstDash val="solid"/>
          </a:ln>
        </p:spPr>
      </p:sp>
      <p:pic>
        <p:nvPicPr>
          <p:cNvPr id="59" name="Image 5" descr="preencoded.png"/>
          <p:cNvPicPr>
            <a:picLocks noChangeAspect="1"/>
          </p:cNvPicPr>
          <p:nvPr/>
        </p:nvPicPr>
        <p:blipFill>
          <a:blip r:embed="rId6"/>
          <a:stretch>
            <a:fillRect/>
          </a:stretch>
        </p:blipFill>
        <p:spPr>
          <a:xfrm>
            <a:off x="6986016" y="2313432"/>
            <a:ext cx="182880" cy="182880"/>
          </a:xfrm>
          <a:prstGeom prst="rect">
            <a:avLst/>
          </a:prstGeom>
        </p:spPr>
      </p:pic>
      <p:sp>
        <p:nvSpPr>
          <p:cNvPr id="60" name="Text 51"/>
          <p:cNvSpPr txBox="1"/>
          <p:nvPr/>
        </p:nvSpPr>
        <p:spPr>
          <a:xfrm>
            <a:off x="6638544" y="2523744"/>
            <a:ext cx="868680" cy="182880"/>
          </a:xfrm>
          <a:prstGeom prst="rect">
            <a:avLst/>
          </a:prstGeom>
          <a:noFill/>
          <a:ln/>
        </p:spPr>
        <p:txBody>
          <a:bodyPr wrap="square" lIns="0" tIns="0" rIns="0" bIns="0" rtlCol="0" anchor="t"/>
          <a:lstStyle/>
          <a:p>
            <a:pPr marL="0" indent="0" algn="ctr">
              <a:buNone/>
            </a:pPr>
            <a:r>
              <a:rPr lang="en-US" sz="900" b="1" dirty="0">
                <a:solidFill>
                  <a:srgbClr val="5E6964"/>
                </a:solidFill>
                <a:latin typeface="Calibri" pitchFamily="34" charset="0"/>
                <a:ea typeface="Calibri" pitchFamily="34" charset="-122"/>
                <a:cs typeface="Calibri" pitchFamily="34" charset="-120"/>
              </a:rPr>
              <a:t>Node 3</a:t>
            </a:r>
            <a:endParaRPr lang="en-US" sz="900" dirty="0"/>
          </a:p>
        </p:txBody>
      </p:sp>
      <p:sp>
        <p:nvSpPr>
          <p:cNvPr id="61" name="Shape 52"/>
          <p:cNvSpPr/>
          <p:nvPr/>
        </p:nvSpPr>
        <p:spPr>
          <a:xfrm>
            <a:off x="6748272" y="2761488"/>
            <a:ext cx="649224" cy="310896"/>
          </a:xfrm>
          <a:prstGeom prst="roundRect">
            <a:avLst>
              <a:gd name="adj" fmla="val 14706"/>
            </a:avLst>
          </a:prstGeom>
          <a:solidFill>
            <a:srgbClr val="00A86A"/>
          </a:solidFill>
          <a:ln w="9525">
            <a:solidFill>
              <a:srgbClr val="00A86A"/>
            </a:solidFill>
            <a:prstDash val="solid"/>
          </a:ln>
        </p:spPr>
      </p:sp>
      <p:sp>
        <p:nvSpPr>
          <p:cNvPr id="62" name="Text 53"/>
          <p:cNvSpPr txBox="1"/>
          <p:nvPr/>
        </p:nvSpPr>
        <p:spPr>
          <a:xfrm>
            <a:off x="6748272" y="2761488"/>
            <a:ext cx="649224"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B1</a:t>
            </a:r>
            <a:endParaRPr lang="en-US" sz="1000" dirty="0"/>
          </a:p>
        </p:txBody>
      </p:sp>
      <p:sp>
        <p:nvSpPr>
          <p:cNvPr id="63" name="Shape 54"/>
          <p:cNvSpPr/>
          <p:nvPr/>
        </p:nvSpPr>
        <p:spPr>
          <a:xfrm>
            <a:off x="6748272" y="3163824"/>
            <a:ext cx="649224" cy="310896"/>
          </a:xfrm>
          <a:prstGeom prst="roundRect">
            <a:avLst>
              <a:gd name="adj" fmla="val 14706"/>
            </a:avLst>
          </a:prstGeom>
          <a:solidFill>
            <a:srgbClr val="00704A"/>
          </a:solidFill>
          <a:ln w="9525">
            <a:solidFill>
              <a:srgbClr val="00704A"/>
            </a:solidFill>
            <a:prstDash val="solid"/>
          </a:ln>
        </p:spPr>
      </p:sp>
      <p:sp>
        <p:nvSpPr>
          <p:cNvPr id="64" name="Text 55"/>
          <p:cNvSpPr txBox="1"/>
          <p:nvPr/>
        </p:nvSpPr>
        <p:spPr>
          <a:xfrm>
            <a:off x="6748272" y="3163824"/>
            <a:ext cx="649224"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B2</a:t>
            </a:r>
            <a:endParaRPr lang="en-US" sz="1000" dirty="0"/>
          </a:p>
        </p:txBody>
      </p:sp>
      <p:sp>
        <p:nvSpPr>
          <p:cNvPr id="65" name="Shape 56"/>
          <p:cNvSpPr/>
          <p:nvPr/>
        </p:nvSpPr>
        <p:spPr>
          <a:xfrm>
            <a:off x="6748272" y="3566160"/>
            <a:ext cx="649224" cy="310896"/>
          </a:xfrm>
          <a:prstGeom prst="roundRect">
            <a:avLst>
              <a:gd name="adj" fmla="val 14706"/>
            </a:avLst>
          </a:prstGeom>
          <a:solidFill>
            <a:srgbClr val="0E7C86"/>
          </a:solidFill>
          <a:ln w="9525">
            <a:solidFill>
              <a:srgbClr val="0E7C86"/>
            </a:solidFill>
            <a:prstDash val="solid"/>
          </a:ln>
        </p:spPr>
      </p:sp>
      <p:sp>
        <p:nvSpPr>
          <p:cNvPr id="66" name="Text 57"/>
          <p:cNvSpPr txBox="1"/>
          <p:nvPr/>
        </p:nvSpPr>
        <p:spPr>
          <a:xfrm>
            <a:off x="6748272" y="3566160"/>
            <a:ext cx="649224"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B3</a:t>
            </a:r>
            <a:endParaRPr lang="en-US" sz="1000" dirty="0"/>
          </a:p>
        </p:txBody>
      </p:sp>
      <p:sp>
        <p:nvSpPr>
          <p:cNvPr id="67" name="Shape 58"/>
          <p:cNvSpPr/>
          <p:nvPr/>
        </p:nvSpPr>
        <p:spPr>
          <a:xfrm>
            <a:off x="7616952" y="2240280"/>
            <a:ext cx="868680" cy="1783080"/>
          </a:xfrm>
          <a:prstGeom prst="roundRect">
            <a:avLst>
              <a:gd name="adj" fmla="val 8421"/>
            </a:avLst>
          </a:prstGeom>
          <a:solidFill>
            <a:srgbClr val="F4F7F5"/>
          </a:solidFill>
          <a:ln w="9525">
            <a:solidFill>
              <a:srgbClr val="D5DED9"/>
            </a:solidFill>
            <a:prstDash val="solid"/>
          </a:ln>
        </p:spPr>
      </p:sp>
      <p:pic>
        <p:nvPicPr>
          <p:cNvPr id="68" name="Image 6" descr="preencoded.png"/>
          <p:cNvPicPr>
            <a:picLocks noChangeAspect="1"/>
          </p:cNvPicPr>
          <p:nvPr/>
        </p:nvPicPr>
        <p:blipFill>
          <a:blip r:embed="rId6"/>
          <a:stretch>
            <a:fillRect/>
          </a:stretch>
        </p:blipFill>
        <p:spPr>
          <a:xfrm>
            <a:off x="7964424" y="2313432"/>
            <a:ext cx="182880" cy="182880"/>
          </a:xfrm>
          <a:prstGeom prst="rect">
            <a:avLst/>
          </a:prstGeom>
        </p:spPr>
      </p:pic>
      <p:sp>
        <p:nvSpPr>
          <p:cNvPr id="69" name="Text 59"/>
          <p:cNvSpPr txBox="1"/>
          <p:nvPr/>
        </p:nvSpPr>
        <p:spPr>
          <a:xfrm>
            <a:off x="7616952" y="2523744"/>
            <a:ext cx="868680" cy="182880"/>
          </a:xfrm>
          <a:prstGeom prst="rect">
            <a:avLst/>
          </a:prstGeom>
          <a:noFill/>
          <a:ln/>
        </p:spPr>
        <p:txBody>
          <a:bodyPr wrap="square" lIns="0" tIns="0" rIns="0" bIns="0" rtlCol="0" anchor="t"/>
          <a:lstStyle/>
          <a:p>
            <a:pPr marL="0" indent="0" algn="ctr">
              <a:buNone/>
            </a:pPr>
            <a:r>
              <a:rPr lang="en-US" sz="900" b="1" dirty="0">
                <a:solidFill>
                  <a:srgbClr val="5E6964"/>
                </a:solidFill>
                <a:latin typeface="Calibri" pitchFamily="34" charset="0"/>
                <a:ea typeface="Calibri" pitchFamily="34" charset="-122"/>
                <a:cs typeface="Calibri" pitchFamily="34" charset="-120"/>
              </a:rPr>
              <a:t>Node 4</a:t>
            </a:r>
            <a:endParaRPr lang="en-US" sz="900" dirty="0"/>
          </a:p>
        </p:txBody>
      </p:sp>
      <p:sp>
        <p:nvSpPr>
          <p:cNvPr id="70" name="Shape 60"/>
          <p:cNvSpPr/>
          <p:nvPr/>
        </p:nvSpPr>
        <p:spPr>
          <a:xfrm>
            <a:off x="7726680" y="2761488"/>
            <a:ext cx="649224" cy="310896"/>
          </a:xfrm>
          <a:prstGeom prst="roundRect">
            <a:avLst>
              <a:gd name="adj" fmla="val 14706"/>
            </a:avLst>
          </a:prstGeom>
          <a:solidFill>
            <a:srgbClr val="00704A"/>
          </a:solidFill>
          <a:ln w="9525">
            <a:solidFill>
              <a:srgbClr val="00704A"/>
            </a:solidFill>
            <a:prstDash val="solid"/>
          </a:ln>
        </p:spPr>
      </p:sp>
      <p:sp>
        <p:nvSpPr>
          <p:cNvPr id="71" name="Text 61"/>
          <p:cNvSpPr txBox="1"/>
          <p:nvPr/>
        </p:nvSpPr>
        <p:spPr>
          <a:xfrm>
            <a:off x="7726680" y="2761488"/>
            <a:ext cx="649224"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B2</a:t>
            </a:r>
            <a:endParaRPr lang="en-US" sz="1000" dirty="0"/>
          </a:p>
        </p:txBody>
      </p:sp>
      <p:sp>
        <p:nvSpPr>
          <p:cNvPr id="72" name="Shape 62"/>
          <p:cNvSpPr/>
          <p:nvPr/>
        </p:nvSpPr>
        <p:spPr>
          <a:xfrm>
            <a:off x="7726680" y="3163824"/>
            <a:ext cx="649224" cy="310896"/>
          </a:xfrm>
          <a:prstGeom prst="roundRect">
            <a:avLst>
              <a:gd name="adj" fmla="val 14706"/>
            </a:avLst>
          </a:prstGeom>
          <a:solidFill>
            <a:srgbClr val="0E7C86"/>
          </a:solidFill>
          <a:ln w="9525">
            <a:solidFill>
              <a:srgbClr val="0E7C86"/>
            </a:solidFill>
            <a:prstDash val="solid"/>
          </a:ln>
        </p:spPr>
      </p:sp>
      <p:sp>
        <p:nvSpPr>
          <p:cNvPr id="73" name="Text 63"/>
          <p:cNvSpPr txBox="1"/>
          <p:nvPr/>
        </p:nvSpPr>
        <p:spPr>
          <a:xfrm>
            <a:off x="7726680" y="3163824"/>
            <a:ext cx="649224"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B3</a:t>
            </a:r>
            <a:endParaRPr lang="en-US" sz="1000" dirty="0"/>
          </a:p>
        </p:txBody>
      </p:sp>
      <p:sp>
        <p:nvSpPr>
          <p:cNvPr id="74" name="Shape 64"/>
          <p:cNvSpPr/>
          <p:nvPr/>
        </p:nvSpPr>
        <p:spPr>
          <a:xfrm>
            <a:off x="7726680" y="3566160"/>
            <a:ext cx="649224" cy="310896"/>
          </a:xfrm>
          <a:prstGeom prst="roundRect">
            <a:avLst>
              <a:gd name="adj" fmla="val 14706"/>
            </a:avLst>
          </a:prstGeom>
          <a:solidFill>
            <a:srgbClr val="D49A00"/>
          </a:solidFill>
          <a:ln w="9525">
            <a:solidFill>
              <a:srgbClr val="D49A00"/>
            </a:solidFill>
            <a:prstDash val="solid"/>
          </a:ln>
        </p:spPr>
      </p:sp>
      <p:sp>
        <p:nvSpPr>
          <p:cNvPr id="75" name="Text 65"/>
          <p:cNvSpPr txBox="1"/>
          <p:nvPr/>
        </p:nvSpPr>
        <p:spPr>
          <a:xfrm>
            <a:off x="7726680" y="3566160"/>
            <a:ext cx="649224"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B4</a:t>
            </a:r>
            <a:endParaRPr lang="en-US" sz="1000" dirty="0"/>
          </a:p>
        </p:txBody>
      </p:sp>
      <p:sp>
        <p:nvSpPr>
          <p:cNvPr id="76" name="Text 66"/>
          <p:cNvSpPr txBox="1"/>
          <p:nvPr/>
        </p:nvSpPr>
        <p:spPr>
          <a:xfrm>
            <a:off x="4572000" y="4087368"/>
            <a:ext cx="3977640" cy="365760"/>
          </a:xfrm>
          <a:prstGeom prst="rect">
            <a:avLst/>
          </a:prstGeom>
          <a:noFill/>
          <a:ln/>
        </p:spPr>
        <p:txBody>
          <a:bodyPr wrap="square" lIns="0" tIns="0" rIns="0" bIns="0" rtlCol="0" anchor="t"/>
          <a:lstStyle/>
          <a:p>
            <a:pPr marL="0" indent="0" algn="ctr">
              <a:buNone/>
            </a:pPr>
            <a:r>
              <a:rPr lang="en-US" sz="950" i="1" dirty="0">
                <a:solidFill>
                  <a:srgbClr val="5E6964"/>
                </a:solidFill>
                <a:latin typeface="Calibri" pitchFamily="34" charset="0"/>
                <a:ea typeface="Calibri" pitchFamily="34" charset="-122"/>
                <a:cs typeface="Calibri" pitchFamily="34" charset="-120"/>
              </a:rPr>
              <a:t>Every block lives on 3 of 4 nodes: any single node can fail without data loss.</a:t>
            </a:r>
            <a:endParaRPr lang="en-US" sz="950" dirty="0"/>
          </a:p>
        </p:txBody>
      </p:sp>
      <p:sp>
        <p:nvSpPr>
          <p:cNvPr id="77" name="Text 67"/>
          <p:cNvSpPr txBox="1"/>
          <p:nvPr/>
        </p:nvSpPr>
        <p:spPr>
          <a:xfrm>
            <a:off x="457200" y="4590288"/>
            <a:ext cx="7498080" cy="201168"/>
          </a:xfrm>
          <a:prstGeom prst="rect">
            <a:avLst/>
          </a:prstGeom>
          <a:noFill/>
          <a:ln/>
        </p:spPr>
        <p:txBody>
          <a:bodyPr wrap="square" lIns="0" tIns="0" rIns="0" bIns="0" rtlCol="0" anchor="b"/>
          <a:lstStyle/>
          <a:p>
            <a:pPr marL="0" indent="0">
              <a:buNone/>
            </a:pPr>
            <a:r>
              <a:rPr lang="en-US" sz="900" i="1" dirty="0">
                <a:solidFill>
                  <a:srgbClr val="5E6964"/>
                </a:solidFill>
                <a:latin typeface="Calibri" pitchFamily="34" charset="0"/>
                <a:ea typeface="Calibri" pitchFamily="34" charset="-122"/>
                <a:cs typeface="Calibri" pitchFamily="34" charset="-120"/>
              </a:rPr>
              <a:t>Source: Apache Hadoop HDFS Architecture guide (default block size and replication factor).</a:t>
            </a:r>
            <a:endParaRPr lang="en-US" sz="9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STORAGE</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File format is a performance decision, not a detail</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14716" y="315468"/>
            <a:ext cx="118872" cy="118872"/>
          </a:xfrm>
          <a:prstGeom prst="ellipse">
            <a:avLst/>
          </a:prstGeom>
          <a:solidFill>
            <a:srgbClr val="00704A"/>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AfDB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10</a:t>
            </a:r>
            <a:endParaRPr lang="en-US" sz="850" dirty="0"/>
          </a:p>
        </p:txBody>
      </p:sp>
      <p:graphicFrame>
        <p:nvGraphicFramePr>
          <p:cNvPr id="17" name="Chart 0"/>
          <p:cNvGraphicFramePr/>
          <p:nvPr/>
        </p:nvGraphicFramePr>
        <p:xfrm>
          <a:off x="457200" y="1234440"/>
          <a:ext cx="420624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18" name="Shape 14"/>
          <p:cNvSpPr/>
          <p:nvPr/>
        </p:nvSpPr>
        <p:spPr>
          <a:xfrm>
            <a:off x="4937760" y="1280160"/>
            <a:ext cx="3749040" cy="960120"/>
          </a:xfrm>
          <a:prstGeom prst="roundRect">
            <a:avLst>
              <a:gd name="adj" fmla="val 7619"/>
            </a:avLst>
          </a:prstGeom>
          <a:solidFill>
            <a:srgbClr val="E8F5EF"/>
          </a:solidFill>
          <a:ln w="15875">
            <a:solidFill>
              <a:srgbClr val="00704A"/>
            </a:solidFill>
            <a:prstDash val="solid"/>
          </a:ln>
        </p:spPr>
      </p:sp>
      <p:sp>
        <p:nvSpPr>
          <p:cNvPr id="19" name="Shape 15"/>
          <p:cNvSpPr/>
          <p:nvPr/>
        </p:nvSpPr>
        <p:spPr>
          <a:xfrm>
            <a:off x="5074920" y="1481328"/>
            <a:ext cx="502920" cy="502920"/>
          </a:xfrm>
          <a:prstGeom prst="ellipse">
            <a:avLst/>
          </a:prstGeom>
          <a:solidFill>
            <a:srgbClr val="00704A">
              <a:alpha val="22000"/>
            </a:srgbClr>
          </a:solidFill>
          <a:ln/>
        </p:spPr>
      </p:sp>
      <p:pic>
        <p:nvPicPr>
          <p:cNvPr id="20" name="Image 0" descr="preencoded.png"/>
          <p:cNvPicPr>
            <a:picLocks noChangeAspect="1"/>
          </p:cNvPicPr>
          <p:nvPr/>
        </p:nvPicPr>
        <p:blipFill>
          <a:blip r:embed="rId4"/>
          <a:stretch>
            <a:fillRect/>
          </a:stretch>
        </p:blipFill>
        <p:spPr>
          <a:xfrm>
            <a:off x="5200650" y="1607058"/>
            <a:ext cx="251460" cy="251460"/>
          </a:xfrm>
          <a:prstGeom prst="rect">
            <a:avLst/>
          </a:prstGeom>
        </p:spPr>
      </p:pic>
      <p:sp>
        <p:nvSpPr>
          <p:cNvPr id="21" name="Text 16"/>
          <p:cNvSpPr txBox="1"/>
          <p:nvPr/>
        </p:nvSpPr>
        <p:spPr>
          <a:xfrm>
            <a:off x="5715000" y="1389888"/>
            <a:ext cx="2834640" cy="256032"/>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Read columns, not rows</a:t>
            </a:r>
            <a:endParaRPr lang="en-US" sz="1250" dirty="0"/>
          </a:p>
        </p:txBody>
      </p:sp>
      <p:sp>
        <p:nvSpPr>
          <p:cNvPr id="22" name="Text 17"/>
          <p:cNvSpPr txBox="1"/>
          <p:nvPr/>
        </p:nvSpPr>
        <p:spPr>
          <a:xfrm>
            <a:off x="5715000" y="1664208"/>
            <a:ext cx="2834640" cy="530352"/>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A tests-weighted mean speed needs 2 of the 11 columns in recent Ookla files.</a:t>
            </a:r>
            <a:endParaRPr lang="en-US" sz="1000" dirty="0"/>
          </a:p>
        </p:txBody>
      </p:sp>
      <p:sp>
        <p:nvSpPr>
          <p:cNvPr id="23" name="Shape 18"/>
          <p:cNvSpPr/>
          <p:nvPr/>
        </p:nvSpPr>
        <p:spPr>
          <a:xfrm>
            <a:off x="4937760" y="2359152"/>
            <a:ext cx="3749040" cy="960120"/>
          </a:xfrm>
          <a:prstGeom prst="roundRect">
            <a:avLst>
              <a:gd name="adj" fmla="val 7619"/>
            </a:avLst>
          </a:prstGeom>
          <a:solidFill>
            <a:srgbClr val="F4F7F5"/>
          </a:solidFill>
          <a:ln w="9525">
            <a:solidFill>
              <a:srgbClr val="D5DED9"/>
            </a:solidFill>
            <a:prstDash val="solid"/>
          </a:ln>
        </p:spPr>
      </p:sp>
      <p:sp>
        <p:nvSpPr>
          <p:cNvPr id="24" name="Shape 19"/>
          <p:cNvSpPr/>
          <p:nvPr/>
        </p:nvSpPr>
        <p:spPr>
          <a:xfrm>
            <a:off x="5074920" y="2560320"/>
            <a:ext cx="502920" cy="502920"/>
          </a:xfrm>
          <a:prstGeom prst="ellipse">
            <a:avLst/>
          </a:prstGeom>
          <a:solidFill>
            <a:srgbClr val="00704A">
              <a:alpha val="22000"/>
            </a:srgbClr>
          </a:solidFill>
          <a:ln/>
        </p:spPr>
      </p:sp>
      <p:pic>
        <p:nvPicPr>
          <p:cNvPr id="25" name="Image 1" descr="preencoded.png"/>
          <p:cNvPicPr>
            <a:picLocks noChangeAspect="1"/>
          </p:cNvPicPr>
          <p:nvPr/>
        </p:nvPicPr>
        <p:blipFill>
          <a:blip r:embed="rId5"/>
          <a:stretch>
            <a:fillRect/>
          </a:stretch>
        </p:blipFill>
        <p:spPr>
          <a:xfrm>
            <a:off x="5200650" y="2686050"/>
            <a:ext cx="251460" cy="251460"/>
          </a:xfrm>
          <a:prstGeom prst="rect">
            <a:avLst/>
          </a:prstGeom>
        </p:spPr>
      </p:pic>
      <p:sp>
        <p:nvSpPr>
          <p:cNvPr id="26" name="Text 20"/>
          <p:cNvSpPr txBox="1"/>
          <p:nvPr/>
        </p:nvSpPr>
        <p:spPr>
          <a:xfrm>
            <a:off x="5715000" y="2468880"/>
            <a:ext cx="2834640" cy="256032"/>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Compress similar values</a:t>
            </a:r>
            <a:endParaRPr lang="en-US" sz="1250" dirty="0"/>
          </a:p>
        </p:txBody>
      </p:sp>
      <p:sp>
        <p:nvSpPr>
          <p:cNvPr id="27" name="Text 21"/>
          <p:cNvSpPr txBox="1"/>
          <p:nvPr/>
        </p:nvSpPr>
        <p:spPr>
          <a:xfrm>
            <a:off x="5715000" y="2743200"/>
            <a:ext cx="2834640" cy="530352"/>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Neighbouring values in a column look alike, so columnar files compress far better.</a:t>
            </a:r>
            <a:endParaRPr lang="en-US" sz="1000" dirty="0"/>
          </a:p>
        </p:txBody>
      </p:sp>
      <p:sp>
        <p:nvSpPr>
          <p:cNvPr id="28" name="Shape 22"/>
          <p:cNvSpPr/>
          <p:nvPr/>
        </p:nvSpPr>
        <p:spPr>
          <a:xfrm>
            <a:off x="4937760" y="3438144"/>
            <a:ext cx="3749040" cy="960120"/>
          </a:xfrm>
          <a:prstGeom prst="roundRect">
            <a:avLst>
              <a:gd name="adj" fmla="val 7619"/>
            </a:avLst>
          </a:prstGeom>
          <a:solidFill>
            <a:srgbClr val="F4F7F5"/>
          </a:solidFill>
          <a:ln w="9525">
            <a:solidFill>
              <a:srgbClr val="D5DED9"/>
            </a:solidFill>
            <a:prstDash val="solid"/>
          </a:ln>
        </p:spPr>
      </p:sp>
      <p:sp>
        <p:nvSpPr>
          <p:cNvPr id="29" name="Shape 23"/>
          <p:cNvSpPr/>
          <p:nvPr/>
        </p:nvSpPr>
        <p:spPr>
          <a:xfrm>
            <a:off x="5074920" y="3639312"/>
            <a:ext cx="502920" cy="502920"/>
          </a:xfrm>
          <a:prstGeom prst="ellipse">
            <a:avLst/>
          </a:prstGeom>
          <a:solidFill>
            <a:srgbClr val="00704A">
              <a:alpha val="22000"/>
            </a:srgbClr>
          </a:solidFill>
          <a:ln/>
        </p:spPr>
      </p:sp>
      <p:pic>
        <p:nvPicPr>
          <p:cNvPr id="30" name="Image 2" descr="preencoded.png"/>
          <p:cNvPicPr>
            <a:picLocks noChangeAspect="1"/>
          </p:cNvPicPr>
          <p:nvPr/>
        </p:nvPicPr>
        <p:blipFill>
          <a:blip r:embed="rId6"/>
          <a:stretch>
            <a:fillRect/>
          </a:stretch>
        </p:blipFill>
        <p:spPr>
          <a:xfrm>
            <a:off x="5200650" y="3765042"/>
            <a:ext cx="251460" cy="251460"/>
          </a:xfrm>
          <a:prstGeom prst="rect">
            <a:avLst/>
          </a:prstGeom>
        </p:spPr>
      </p:pic>
      <p:sp>
        <p:nvSpPr>
          <p:cNvPr id="31" name="Text 24"/>
          <p:cNvSpPr txBox="1"/>
          <p:nvPr/>
        </p:nvSpPr>
        <p:spPr>
          <a:xfrm>
            <a:off x="5715000" y="3547872"/>
            <a:ext cx="2834640" cy="256032"/>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Skip what you don't need</a:t>
            </a:r>
            <a:endParaRPr lang="en-US" sz="1250" dirty="0"/>
          </a:p>
        </p:txBody>
      </p:sp>
      <p:sp>
        <p:nvSpPr>
          <p:cNvPr id="32" name="Text 25"/>
          <p:cNvSpPr txBox="1"/>
          <p:nvPr/>
        </p:nvSpPr>
        <p:spPr>
          <a:xfrm>
            <a:off x="5715000" y="3822192"/>
            <a:ext cx="2834640" cy="530352"/>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Min/max statistics per row group let the engine skip whole blocks (predicate pushdown).</a:t>
            </a:r>
            <a:endParaRPr lang="en-US" sz="1000" dirty="0"/>
          </a:p>
        </p:txBody>
      </p:sp>
      <p:sp>
        <p:nvSpPr>
          <p:cNvPr id="33" name="Text 26"/>
          <p:cNvSpPr txBox="1"/>
          <p:nvPr/>
        </p:nvSpPr>
        <p:spPr>
          <a:xfrm>
            <a:off x="457200" y="4590288"/>
            <a:ext cx="7498080" cy="201168"/>
          </a:xfrm>
          <a:prstGeom prst="rect">
            <a:avLst/>
          </a:prstGeom>
          <a:noFill/>
          <a:ln/>
        </p:spPr>
        <p:txBody>
          <a:bodyPr wrap="square" lIns="0" tIns="0" rIns="0" bIns="0" rtlCol="0" anchor="b"/>
          <a:lstStyle/>
          <a:p>
            <a:pPr marL="0" indent="0">
              <a:buNone/>
            </a:pPr>
            <a:r>
              <a:rPr lang="en-US" sz="900" i="1" dirty="0">
                <a:solidFill>
                  <a:srgbClr val="5E6964"/>
                </a:solidFill>
                <a:latin typeface="Calibri" pitchFamily="34" charset="0"/>
                <a:ea typeface="Calibri" pitchFamily="34" charset="-122"/>
                <a:cs typeface="Calibri" pitchFamily="34" charset="-120"/>
              </a:rPr>
              <a:t>Illustrative orders of magnitude, not a benchmark. Sources: Apache Parquet documentation; Ookla Open Data schema.</a:t>
            </a:r>
            <a:endParaRPr lang="en-US" sz="9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STORAGE</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Warehouse, lake, lakehouse</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14716" y="315468"/>
            <a:ext cx="118872" cy="118872"/>
          </a:xfrm>
          <a:prstGeom prst="ellipse">
            <a:avLst/>
          </a:prstGeom>
          <a:solidFill>
            <a:srgbClr val="00704A"/>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AfDB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11</a:t>
            </a:r>
            <a:endParaRPr lang="en-US" sz="850" dirty="0"/>
          </a:p>
        </p:txBody>
      </p:sp>
      <p:sp>
        <p:nvSpPr>
          <p:cNvPr id="17" name="Shape 14"/>
          <p:cNvSpPr/>
          <p:nvPr/>
        </p:nvSpPr>
        <p:spPr>
          <a:xfrm>
            <a:off x="457200" y="1280160"/>
            <a:ext cx="2624328" cy="3246120"/>
          </a:xfrm>
          <a:prstGeom prst="roundRect">
            <a:avLst>
              <a:gd name="adj" fmla="val 2787"/>
            </a:avLst>
          </a:prstGeom>
          <a:solidFill>
            <a:srgbClr val="F4F7F5"/>
          </a:solidFill>
          <a:ln w="9525">
            <a:solidFill>
              <a:srgbClr val="D5DED9"/>
            </a:solidFill>
            <a:prstDash val="solid"/>
          </a:ln>
        </p:spPr>
      </p:sp>
      <p:sp>
        <p:nvSpPr>
          <p:cNvPr id="18" name="Shape 15"/>
          <p:cNvSpPr/>
          <p:nvPr/>
        </p:nvSpPr>
        <p:spPr>
          <a:xfrm>
            <a:off x="594360" y="1389888"/>
            <a:ext cx="438912" cy="438912"/>
          </a:xfrm>
          <a:prstGeom prst="ellipse">
            <a:avLst/>
          </a:prstGeom>
          <a:solidFill>
            <a:srgbClr val="5E6964">
              <a:alpha val="22000"/>
            </a:srgbClr>
          </a:solidFill>
          <a:ln/>
        </p:spPr>
      </p:sp>
      <p:pic>
        <p:nvPicPr>
          <p:cNvPr id="19" name="Image 0" descr="preencoded.png"/>
          <p:cNvPicPr>
            <a:picLocks noChangeAspect="1"/>
          </p:cNvPicPr>
          <p:nvPr/>
        </p:nvPicPr>
        <p:blipFill>
          <a:blip r:embed="rId3"/>
          <a:stretch>
            <a:fillRect/>
          </a:stretch>
        </p:blipFill>
        <p:spPr>
          <a:xfrm>
            <a:off x="704088" y="1499616"/>
            <a:ext cx="219456" cy="219456"/>
          </a:xfrm>
          <a:prstGeom prst="rect">
            <a:avLst/>
          </a:prstGeom>
        </p:spPr>
      </p:pic>
      <p:sp>
        <p:nvSpPr>
          <p:cNvPr id="20" name="Text 16"/>
          <p:cNvSpPr txBox="1"/>
          <p:nvPr/>
        </p:nvSpPr>
        <p:spPr>
          <a:xfrm>
            <a:off x="1115568" y="1389888"/>
            <a:ext cx="1828800" cy="438912"/>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Data warehouse</a:t>
            </a:r>
            <a:endParaRPr lang="en-US" sz="1500" dirty="0"/>
          </a:p>
        </p:txBody>
      </p:sp>
      <p:sp>
        <p:nvSpPr>
          <p:cNvPr id="21" name="Text 17"/>
          <p:cNvSpPr txBox="1"/>
          <p:nvPr/>
        </p:nvSpPr>
        <p:spPr>
          <a:xfrm>
            <a:off x="621792" y="1965960"/>
            <a:ext cx="2286000" cy="146304"/>
          </a:xfrm>
          <a:prstGeom prst="rect">
            <a:avLst/>
          </a:prstGeom>
          <a:noFill/>
          <a:ln/>
        </p:spPr>
        <p:txBody>
          <a:bodyPr wrap="square" lIns="0" tIns="0" rIns="0" bIns="0" rtlCol="0" anchor="t"/>
          <a:lstStyle/>
          <a:p>
            <a:pPr marL="0" indent="0">
              <a:buNone/>
            </a:pPr>
            <a:r>
              <a:rPr lang="en-US" sz="750" b="1" kern="0" spc="200" dirty="0">
                <a:solidFill>
                  <a:srgbClr val="5E6964"/>
                </a:solidFill>
                <a:latin typeface="Calibri" pitchFamily="34" charset="0"/>
                <a:ea typeface="Calibri" pitchFamily="34" charset="-122"/>
                <a:cs typeface="Calibri" pitchFamily="34" charset="-120"/>
              </a:rPr>
              <a:t>HOLDS</a:t>
            </a:r>
            <a:endParaRPr lang="en-US" sz="750" dirty="0"/>
          </a:p>
        </p:txBody>
      </p:sp>
      <p:sp>
        <p:nvSpPr>
          <p:cNvPr id="22" name="Text 18"/>
          <p:cNvSpPr txBox="1"/>
          <p:nvPr/>
        </p:nvSpPr>
        <p:spPr>
          <a:xfrm>
            <a:off x="621792" y="2121408"/>
            <a:ext cx="2331720" cy="329184"/>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Curated, structured tables</a:t>
            </a:r>
            <a:endParaRPr lang="en-US" sz="1000" dirty="0"/>
          </a:p>
        </p:txBody>
      </p:sp>
      <p:sp>
        <p:nvSpPr>
          <p:cNvPr id="23" name="Text 19"/>
          <p:cNvSpPr txBox="1"/>
          <p:nvPr/>
        </p:nvSpPr>
        <p:spPr>
          <a:xfrm>
            <a:off x="621792" y="2468880"/>
            <a:ext cx="2286000" cy="146304"/>
          </a:xfrm>
          <a:prstGeom prst="rect">
            <a:avLst/>
          </a:prstGeom>
          <a:noFill/>
          <a:ln/>
        </p:spPr>
        <p:txBody>
          <a:bodyPr wrap="square" lIns="0" tIns="0" rIns="0" bIns="0" rtlCol="0" anchor="t"/>
          <a:lstStyle/>
          <a:p>
            <a:pPr marL="0" indent="0">
              <a:buNone/>
            </a:pPr>
            <a:r>
              <a:rPr lang="en-US" sz="750" b="1" kern="0" spc="200" dirty="0">
                <a:solidFill>
                  <a:srgbClr val="5E6964"/>
                </a:solidFill>
                <a:latin typeface="Calibri" pitchFamily="34" charset="0"/>
                <a:ea typeface="Calibri" pitchFamily="34" charset="-122"/>
                <a:cs typeface="Calibri" pitchFamily="34" charset="-120"/>
              </a:rPr>
              <a:t>SCHEMA</a:t>
            </a:r>
            <a:endParaRPr lang="en-US" sz="750" dirty="0"/>
          </a:p>
        </p:txBody>
      </p:sp>
      <p:sp>
        <p:nvSpPr>
          <p:cNvPr id="24" name="Text 20"/>
          <p:cNvSpPr txBox="1"/>
          <p:nvPr/>
        </p:nvSpPr>
        <p:spPr>
          <a:xfrm>
            <a:off x="621792" y="2624328"/>
            <a:ext cx="2331720" cy="329184"/>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Schema enforced on write</a:t>
            </a:r>
            <a:endParaRPr lang="en-US" sz="1000" dirty="0"/>
          </a:p>
        </p:txBody>
      </p:sp>
      <p:sp>
        <p:nvSpPr>
          <p:cNvPr id="25" name="Text 21"/>
          <p:cNvSpPr txBox="1"/>
          <p:nvPr/>
        </p:nvSpPr>
        <p:spPr>
          <a:xfrm>
            <a:off x="621792" y="2971800"/>
            <a:ext cx="2286000" cy="146304"/>
          </a:xfrm>
          <a:prstGeom prst="rect">
            <a:avLst/>
          </a:prstGeom>
          <a:noFill/>
          <a:ln/>
        </p:spPr>
        <p:txBody>
          <a:bodyPr wrap="square" lIns="0" tIns="0" rIns="0" bIns="0" rtlCol="0" anchor="t"/>
          <a:lstStyle/>
          <a:p>
            <a:pPr marL="0" indent="0">
              <a:buNone/>
            </a:pPr>
            <a:r>
              <a:rPr lang="en-US" sz="750" b="1" kern="0" spc="200" dirty="0">
                <a:solidFill>
                  <a:srgbClr val="5E6964"/>
                </a:solidFill>
                <a:latin typeface="Calibri" pitchFamily="34" charset="0"/>
                <a:ea typeface="Calibri" pitchFamily="34" charset="-122"/>
                <a:cs typeface="Calibri" pitchFamily="34" charset="-120"/>
              </a:rPr>
              <a:t>STRENGTH</a:t>
            </a:r>
            <a:endParaRPr lang="en-US" sz="750" dirty="0"/>
          </a:p>
        </p:txBody>
      </p:sp>
      <p:sp>
        <p:nvSpPr>
          <p:cNvPr id="26" name="Text 22"/>
          <p:cNvSpPr txBox="1"/>
          <p:nvPr/>
        </p:nvSpPr>
        <p:spPr>
          <a:xfrm>
            <a:off x="621792" y="3127248"/>
            <a:ext cx="2331720" cy="329184"/>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Fast SQL, strong governance</a:t>
            </a:r>
            <a:endParaRPr lang="en-US" sz="1000" dirty="0"/>
          </a:p>
        </p:txBody>
      </p:sp>
      <p:sp>
        <p:nvSpPr>
          <p:cNvPr id="27" name="Text 23"/>
          <p:cNvSpPr txBox="1"/>
          <p:nvPr/>
        </p:nvSpPr>
        <p:spPr>
          <a:xfrm>
            <a:off x="621792" y="3474720"/>
            <a:ext cx="2286000" cy="146304"/>
          </a:xfrm>
          <a:prstGeom prst="rect">
            <a:avLst/>
          </a:prstGeom>
          <a:noFill/>
          <a:ln/>
        </p:spPr>
        <p:txBody>
          <a:bodyPr wrap="square" lIns="0" tIns="0" rIns="0" bIns="0" rtlCol="0" anchor="t"/>
          <a:lstStyle/>
          <a:p>
            <a:pPr marL="0" indent="0">
              <a:buNone/>
            </a:pPr>
            <a:r>
              <a:rPr lang="en-US" sz="750" b="1" kern="0" spc="200" dirty="0">
                <a:solidFill>
                  <a:srgbClr val="5E6964"/>
                </a:solidFill>
                <a:latin typeface="Calibri" pitchFamily="34" charset="0"/>
                <a:ea typeface="Calibri" pitchFamily="34" charset="-122"/>
                <a:cs typeface="Calibri" pitchFamily="34" charset="-120"/>
              </a:rPr>
              <a:t>WATCH-OUT</a:t>
            </a:r>
            <a:endParaRPr lang="en-US" sz="750" dirty="0"/>
          </a:p>
        </p:txBody>
      </p:sp>
      <p:sp>
        <p:nvSpPr>
          <p:cNvPr id="28" name="Text 24"/>
          <p:cNvSpPr txBox="1"/>
          <p:nvPr/>
        </p:nvSpPr>
        <p:spPr>
          <a:xfrm>
            <a:off x="621792" y="3630168"/>
            <a:ext cx="2331720" cy="329184"/>
          </a:xfrm>
          <a:prstGeom prst="rect">
            <a:avLst/>
          </a:prstGeom>
          <a:noFill/>
          <a:ln/>
        </p:spPr>
        <p:txBody>
          <a:bodyPr wrap="square" lIns="0" tIns="0" rIns="0" bIns="0" rtlCol="0" anchor="t"/>
          <a:lstStyle/>
          <a:p>
            <a:pPr marL="0" indent="0">
              <a:buNone/>
            </a:pPr>
            <a:r>
              <a:rPr lang="en-US" sz="1000" i="1" dirty="0">
                <a:solidFill>
                  <a:srgbClr val="231F20"/>
                </a:solidFill>
                <a:latin typeface="Calibri" pitchFamily="34" charset="0"/>
                <a:ea typeface="Calibri" pitchFamily="34" charset="-122"/>
                <a:cs typeface="Calibri" pitchFamily="34" charset="-120"/>
              </a:rPr>
              <a:t>Rigid; costly to scale</a:t>
            </a:r>
            <a:endParaRPr lang="en-US" sz="1000" dirty="0"/>
          </a:p>
        </p:txBody>
      </p:sp>
      <p:sp>
        <p:nvSpPr>
          <p:cNvPr id="29" name="Text 25"/>
          <p:cNvSpPr txBox="1"/>
          <p:nvPr/>
        </p:nvSpPr>
        <p:spPr>
          <a:xfrm>
            <a:off x="621792" y="3977640"/>
            <a:ext cx="2286000" cy="146304"/>
          </a:xfrm>
          <a:prstGeom prst="rect">
            <a:avLst/>
          </a:prstGeom>
          <a:noFill/>
          <a:ln/>
        </p:spPr>
        <p:txBody>
          <a:bodyPr wrap="square" lIns="0" tIns="0" rIns="0" bIns="0" rtlCol="0" anchor="t"/>
          <a:lstStyle/>
          <a:p>
            <a:pPr marL="0" indent="0">
              <a:buNone/>
            </a:pPr>
            <a:r>
              <a:rPr lang="en-US" sz="750" b="1" kern="0" spc="200" dirty="0">
                <a:solidFill>
                  <a:srgbClr val="5E6964"/>
                </a:solidFill>
                <a:latin typeface="Calibri" pitchFamily="34" charset="0"/>
                <a:ea typeface="Calibri" pitchFamily="34" charset="-122"/>
                <a:cs typeface="Calibri" pitchFamily="34" charset="-120"/>
              </a:rPr>
              <a:t>EXAMPLES</a:t>
            </a:r>
            <a:endParaRPr lang="en-US" sz="750" dirty="0"/>
          </a:p>
        </p:txBody>
      </p:sp>
      <p:sp>
        <p:nvSpPr>
          <p:cNvPr id="30" name="Text 26"/>
          <p:cNvSpPr txBox="1"/>
          <p:nvPr/>
        </p:nvSpPr>
        <p:spPr>
          <a:xfrm>
            <a:off x="621792" y="4133088"/>
            <a:ext cx="2331720" cy="329184"/>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BigQuery, Snowflake, PostgreSQL</a:t>
            </a:r>
            <a:endParaRPr lang="en-US" sz="1000" dirty="0"/>
          </a:p>
        </p:txBody>
      </p:sp>
      <p:sp>
        <p:nvSpPr>
          <p:cNvPr id="31" name="Shape 27"/>
          <p:cNvSpPr/>
          <p:nvPr/>
        </p:nvSpPr>
        <p:spPr>
          <a:xfrm>
            <a:off x="3264408" y="1280160"/>
            <a:ext cx="2624328" cy="3246120"/>
          </a:xfrm>
          <a:prstGeom prst="roundRect">
            <a:avLst>
              <a:gd name="adj" fmla="val 2787"/>
            </a:avLst>
          </a:prstGeom>
          <a:solidFill>
            <a:srgbClr val="F4F7F5"/>
          </a:solidFill>
          <a:ln w="9525">
            <a:solidFill>
              <a:srgbClr val="D5DED9"/>
            </a:solidFill>
            <a:prstDash val="solid"/>
          </a:ln>
        </p:spPr>
      </p:sp>
      <p:sp>
        <p:nvSpPr>
          <p:cNvPr id="32" name="Shape 28"/>
          <p:cNvSpPr/>
          <p:nvPr/>
        </p:nvSpPr>
        <p:spPr>
          <a:xfrm>
            <a:off x="3401568" y="1389888"/>
            <a:ext cx="438912" cy="438912"/>
          </a:xfrm>
          <a:prstGeom prst="ellipse">
            <a:avLst/>
          </a:prstGeom>
          <a:solidFill>
            <a:srgbClr val="0E7C86">
              <a:alpha val="22000"/>
            </a:srgbClr>
          </a:solidFill>
          <a:ln/>
        </p:spPr>
      </p:sp>
      <p:pic>
        <p:nvPicPr>
          <p:cNvPr id="33" name="Image 1" descr="preencoded.png"/>
          <p:cNvPicPr>
            <a:picLocks noChangeAspect="1"/>
          </p:cNvPicPr>
          <p:nvPr/>
        </p:nvPicPr>
        <p:blipFill>
          <a:blip r:embed="rId4"/>
          <a:stretch>
            <a:fillRect/>
          </a:stretch>
        </p:blipFill>
        <p:spPr>
          <a:xfrm>
            <a:off x="3511296" y="1499616"/>
            <a:ext cx="219456" cy="219456"/>
          </a:xfrm>
          <a:prstGeom prst="rect">
            <a:avLst/>
          </a:prstGeom>
        </p:spPr>
      </p:pic>
      <p:sp>
        <p:nvSpPr>
          <p:cNvPr id="34" name="Text 29"/>
          <p:cNvSpPr txBox="1"/>
          <p:nvPr/>
        </p:nvSpPr>
        <p:spPr>
          <a:xfrm>
            <a:off x="3922776" y="1389888"/>
            <a:ext cx="1828800" cy="438912"/>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Data lake</a:t>
            </a:r>
            <a:endParaRPr lang="en-US" sz="1500" dirty="0"/>
          </a:p>
        </p:txBody>
      </p:sp>
      <p:sp>
        <p:nvSpPr>
          <p:cNvPr id="35" name="Text 30"/>
          <p:cNvSpPr txBox="1"/>
          <p:nvPr/>
        </p:nvSpPr>
        <p:spPr>
          <a:xfrm>
            <a:off x="3429000" y="1965960"/>
            <a:ext cx="2286000" cy="146304"/>
          </a:xfrm>
          <a:prstGeom prst="rect">
            <a:avLst/>
          </a:prstGeom>
          <a:noFill/>
          <a:ln/>
        </p:spPr>
        <p:txBody>
          <a:bodyPr wrap="square" lIns="0" tIns="0" rIns="0" bIns="0" rtlCol="0" anchor="t"/>
          <a:lstStyle/>
          <a:p>
            <a:pPr marL="0" indent="0">
              <a:buNone/>
            </a:pPr>
            <a:r>
              <a:rPr lang="en-US" sz="750" b="1" kern="0" spc="200" dirty="0">
                <a:solidFill>
                  <a:srgbClr val="0E7C86"/>
                </a:solidFill>
                <a:latin typeface="Calibri" pitchFamily="34" charset="0"/>
                <a:ea typeface="Calibri" pitchFamily="34" charset="-122"/>
                <a:cs typeface="Calibri" pitchFamily="34" charset="-120"/>
              </a:rPr>
              <a:t>HOLDS</a:t>
            </a:r>
            <a:endParaRPr lang="en-US" sz="750" dirty="0"/>
          </a:p>
        </p:txBody>
      </p:sp>
      <p:sp>
        <p:nvSpPr>
          <p:cNvPr id="36" name="Text 31"/>
          <p:cNvSpPr txBox="1"/>
          <p:nvPr/>
        </p:nvSpPr>
        <p:spPr>
          <a:xfrm>
            <a:off x="3429000" y="2121408"/>
            <a:ext cx="2331720" cy="329184"/>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Raw files in any format</a:t>
            </a:r>
            <a:endParaRPr lang="en-US" sz="1000" dirty="0"/>
          </a:p>
        </p:txBody>
      </p:sp>
      <p:sp>
        <p:nvSpPr>
          <p:cNvPr id="37" name="Text 32"/>
          <p:cNvSpPr txBox="1"/>
          <p:nvPr/>
        </p:nvSpPr>
        <p:spPr>
          <a:xfrm>
            <a:off x="3429000" y="2468880"/>
            <a:ext cx="2286000" cy="146304"/>
          </a:xfrm>
          <a:prstGeom prst="rect">
            <a:avLst/>
          </a:prstGeom>
          <a:noFill/>
          <a:ln/>
        </p:spPr>
        <p:txBody>
          <a:bodyPr wrap="square" lIns="0" tIns="0" rIns="0" bIns="0" rtlCol="0" anchor="t"/>
          <a:lstStyle/>
          <a:p>
            <a:pPr marL="0" indent="0">
              <a:buNone/>
            </a:pPr>
            <a:r>
              <a:rPr lang="en-US" sz="750" b="1" kern="0" spc="200" dirty="0">
                <a:solidFill>
                  <a:srgbClr val="0E7C86"/>
                </a:solidFill>
                <a:latin typeface="Calibri" pitchFamily="34" charset="0"/>
                <a:ea typeface="Calibri" pitchFamily="34" charset="-122"/>
                <a:cs typeface="Calibri" pitchFamily="34" charset="-120"/>
              </a:rPr>
              <a:t>SCHEMA</a:t>
            </a:r>
            <a:endParaRPr lang="en-US" sz="750" dirty="0"/>
          </a:p>
        </p:txBody>
      </p:sp>
      <p:sp>
        <p:nvSpPr>
          <p:cNvPr id="38" name="Text 33"/>
          <p:cNvSpPr txBox="1"/>
          <p:nvPr/>
        </p:nvSpPr>
        <p:spPr>
          <a:xfrm>
            <a:off x="3429000" y="2624328"/>
            <a:ext cx="2331720" cy="329184"/>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Schema interpreted on read</a:t>
            </a:r>
            <a:endParaRPr lang="en-US" sz="1000" dirty="0"/>
          </a:p>
        </p:txBody>
      </p:sp>
      <p:sp>
        <p:nvSpPr>
          <p:cNvPr id="39" name="Text 34"/>
          <p:cNvSpPr txBox="1"/>
          <p:nvPr/>
        </p:nvSpPr>
        <p:spPr>
          <a:xfrm>
            <a:off x="3429000" y="2971800"/>
            <a:ext cx="2286000" cy="146304"/>
          </a:xfrm>
          <a:prstGeom prst="rect">
            <a:avLst/>
          </a:prstGeom>
          <a:noFill/>
          <a:ln/>
        </p:spPr>
        <p:txBody>
          <a:bodyPr wrap="square" lIns="0" tIns="0" rIns="0" bIns="0" rtlCol="0" anchor="t"/>
          <a:lstStyle/>
          <a:p>
            <a:pPr marL="0" indent="0">
              <a:buNone/>
            </a:pPr>
            <a:r>
              <a:rPr lang="en-US" sz="750" b="1" kern="0" spc="200" dirty="0">
                <a:solidFill>
                  <a:srgbClr val="0E7C86"/>
                </a:solidFill>
                <a:latin typeface="Calibri" pitchFamily="34" charset="0"/>
                <a:ea typeface="Calibri" pitchFamily="34" charset="-122"/>
                <a:cs typeface="Calibri" pitchFamily="34" charset="-120"/>
              </a:rPr>
              <a:t>STRENGTH</a:t>
            </a:r>
            <a:endParaRPr lang="en-US" sz="750" dirty="0"/>
          </a:p>
        </p:txBody>
      </p:sp>
      <p:sp>
        <p:nvSpPr>
          <p:cNvPr id="40" name="Text 35"/>
          <p:cNvSpPr txBox="1"/>
          <p:nvPr/>
        </p:nvSpPr>
        <p:spPr>
          <a:xfrm>
            <a:off x="3429000" y="3127248"/>
            <a:ext cx="2331720" cy="329184"/>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Cheap, flexible, unlimited</a:t>
            </a:r>
            <a:endParaRPr lang="en-US" sz="1000" dirty="0"/>
          </a:p>
        </p:txBody>
      </p:sp>
      <p:sp>
        <p:nvSpPr>
          <p:cNvPr id="41" name="Text 36"/>
          <p:cNvSpPr txBox="1"/>
          <p:nvPr/>
        </p:nvSpPr>
        <p:spPr>
          <a:xfrm>
            <a:off x="3429000" y="3474720"/>
            <a:ext cx="2286000" cy="146304"/>
          </a:xfrm>
          <a:prstGeom prst="rect">
            <a:avLst/>
          </a:prstGeom>
          <a:noFill/>
          <a:ln/>
        </p:spPr>
        <p:txBody>
          <a:bodyPr wrap="square" lIns="0" tIns="0" rIns="0" bIns="0" rtlCol="0" anchor="t"/>
          <a:lstStyle/>
          <a:p>
            <a:pPr marL="0" indent="0">
              <a:buNone/>
            </a:pPr>
            <a:r>
              <a:rPr lang="en-US" sz="750" b="1" kern="0" spc="200" dirty="0">
                <a:solidFill>
                  <a:srgbClr val="0E7C86"/>
                </a:solidFill>
                <a:latin typeface="Calibri" pitchFamily="34" charset="0"/>
                <a:ea typeface="Calibri" pitchFamily="34" charset="-122"/>
                <a:cs typeface="Calibri" pitchFamily="34" charset="-120"/>
              </a:rPr>
              <a:t>WATCH-OUT</a:t>
            </a:r>
            <a:endParaRPr lang="en-US" sz="750" dirty="0"/>
          </a:p>
        </p:txBody>
      </p:sp>
      <p:sp>
        <p:nvSpPr>
          <p:cNvPr id="42" name="Text 37"/>
          <p:cNvSpPr txBox="1"/>
          <p:nvPr/>
        </p:nvSpPr>
        <p:spPr>
          <a:xfrm>
            <a:off x="3429000" y="3630168"/>
            <a:ext cx="2331720" cy="329184"/>
          </a:xfrm>
          <a:prstGeom prst="rect">
            <a:avLst/>
          </a:prstGeom>
          <a:noFill/>
          <a:ln/>
        </p:spPr>
        <p:txBody>
          <a:bodyPr wrap="square" lIns="0" tIns="0" rIns="0" bIns="0" rtlCol="0" anchor="t"/>
          <a:lstStyle/>
          <a:p>
            <a:pPr marL="0" indent="0">
              <a:buNone/>
            </a:pPr>
            <a:r>
              <a:rPr lang="en-US" sz="1000" i="1" dirty="0">
                <a:solidFill>
                  <a:srgbClr val="231F20"/>
                </a:solidFill>
                <a:latin typeface="Calibri" pitchFamily="34" charset="0"/>
                <a:ea typeface="Calibri" pitchFamily="34" charset="-122"/>
                <a:cs typeface="Calibri" pitchFamily="34" charset="-120"/>
              </a:rPr>
              <a:t>Turns into a "data swamp" without discipline</a:t>
            </a:r>
            <a:endParaRPr lang="en-US" sz="1000" dirty="0"/>
          </a:p>
        </p:txBody>
      </p:sp>
      <p:sp>
        <p:nvSpPr>
          <p:cNvPr id="43" name="Text 38"/>
          <p:cNvSpPr txBox="1"/>
          <p:nvPr/>
        </p:nvSpPr>
        <p:spPr>
          <a:xfrm>
            <a:off x="3429000" y="3977640"/>
            <a:ext cx="2286000" cy="146304"/>
          </a:xfrm>
          <a:prstGeom prst="rect">
            <a:avLst/>
          </a:prstGeom>
          <a:noFill/>
          <a:ln/>
        </p:spPr>
        <p:txBody>
          <a:bodyPr wrap="square" lIns="0" tIns="0" rIns="0" bIns="0" rtlCol="0" anchor="t"/>
          <a:lstStyle/>
          <a:p>
            <a:pPr marL="0" indent="0">
              <a:buNone/>
            </a:pPr>
            <a:r>
              <a:rPr lang="en-US" sz="750" b="1" kern="0" spc="200" dirty="0">
                <a:solidFill>
                  <a:srgbClr val="0E7C86"/>
                </a:solidFill>
                <a:latin typeface="Calibri" pitchFamily="34" charset="0"/>
                <a:ea typeface="Calibri" pitchFamily="34" charset="-122"/>
                <a:cs typeface="Calibri" pitchFamily="34" charset="-120"/>
              </a:rPr>
              <a:t>EXAMPLES</a:t>
            </a:r>
            <a:endParaRPr lang="en-US" sz="750" dirty="0"/>
          </a:p>
        </p:txBody>
      </p:sp>
      <p:sp>
        <p:nvSpPr>
          <p:cNvPr id="44" name="Text 39"/>
          <p:cNvSpPr txBox="1"/>
          <p:nvPr/>
        </p:nvSpPr>
        <p:spPr>
          <a:xfrm>
            <a:off x="3429000" y="4133088"/>
            <a:ext cx="2331720" cy="329184"/>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Object storage + Parquet, GeoTIFF, HDF5</a:t>
            </a:r>
            <a:endParaRPr lang="en-US" sz="1000" dirty="0"/>
          </a:p>
        </p:txBody>
      </p:sp>
      <p:sp>
        <p:nvSpPr>
          <p:cNvPr id="45" name="Shape 40"/>
          <p:cNvSpPr/>
          <p:nvPr/>
        </p:nvSpPr>
        <p:spPr>
          <a:xfrm>
            <a:off x="6071616" y="1280160"/>
            <a:ext cx="2624328" cy="3246120"/>
          </a:xfrm>
          <a:prstGeom prst="roundRect">
            <a:avLst>
              <a:gd name="adj" fmla="val 2787"/>
            </a:avLst>
          </a:prstGeom>
          <a:solidFill>
            <a:srgbClr val="E8F5EF"/>
          </a:solidFill>
          <a:ln w="15875">
            <a:solidFill>
              <a:srgbClr val="00704A"/>
            </a:solidFill>
            <a:prstDash val="solid"/>
          </a:ln>
        </p:spPr>
      </p:sp>
      <p:sp>
        <p:nvSpPr>
          <p:cNvPr id="46" name="Shape 41"/>
          <p:cNvSpPr/>
          <p:nvPr/>
        </p:nvSpPr>
        <p:spPr>
          <a:xfrm>
            <a:off x="6208776" y="1389888"/>
            <a:ext cx="438912" cy="438912"/>
          </a:xfrm>
          <a:prstGeom prst="ellipse">
            <a:avLst/>
          </a:prstGeom>
          <a:solidFill>
            <a:srgbClr val="00704A">
              <a:alpha val="22000"/>
            </a:srgbClr>
          </a:solidFill>
          <a:ln/>
        </p:spPr>
      </p:sp>
      <p:pic>
        <p:nvPicPr>
          <p:cNvPr id="47" name="Image 2" descr="preencoded.png"/>
          <p:cNvPicPr>
            <a:picLocks noChangeAspect="1"/>
          </p:cNvPicPr>
          <p:nvPr/>
        </p:nvPicPr>
        <p:blipFill>
          <a:blip r:embed="rId5"/>
          <a:stretch>
            <a:fillRect/>
          </a:stretch>
        </p:blipFill>
        <p:spPr>
          <a:xfrm>
            <a:off x="6318504" y="1499616"/>
            <a:ext cx="219456" cy="219456"/>
          </a:xfrm>
          <a:prstGeom prst="rect">
            <a:avLst/>
          </a:prstGeom>
        </p:spPr>
      </p:pic>
      <p:sp>
        <p:nvSpPr>
          <p:cNvPr id="48" name="Text 42"/>
          <p:cNvSpPr txBox="1"/>
          <p:nvPr/>
        </p:nvSpPr>
        <p:spPr>
          <a:xfrm>
            <a:off x="6729984" y="1389888"/>
            <a:ext cx="1828800" cy="438912"/>
          </a:xfrm>
          <a:prstGeom prst="rect">
            <a:avLst/>
          </a:prstGeom>
          <a:noFill/>
          <a:ln/>
        </p:spPr>
        <p:txBody>
          <a:bodyPr wrap="square" lIns="0" tIns="0" rIns="0" bIns="0" rtlCol="0" anchor="ctr"/>
          <a:lstStyle/>
          <a:p>
            <a:pPr marL="0" indent="0">
              <a:buNone/>
            </a:pPr>
            <a:r>
              <a:rPr lang="en-US" sz="1500" b="1" dirty="0">
                <a:solidFill>
                  <a:srgbClr val="00704A"/>
                </a:solidFill>
                <a:latin typeface="Calibri" pitchFamily="34" charset="0"/>
                <a:ea typeface="Calibri" pitchFamily="34" charset="-122"/>
                <a:cs typeface="Calibri" pitchFamily="34" charset="-120"/>
              </a:rPr>
              <a:t>Lakehouse</a:t>
            </a:r>
            <a:endParaRPr lang="en-US" sz="1500" dirty="0"/>
          </a:p>
        </p:txBody>
      </p:sp>
      <p:sp>
        <p:nvSpPr>
          <p:cNvPr id="49" name="Text 43"/>
          <p:cNvSpPr txBox="1"/>
          <p:nvPr/>
        </p:nvSpPr>
        <p:spPr>
          <a:xfrm>
            <a:off x="6236208" y="1965960"/>
            <a:ext cx="2286000" cy="146304"/>
          </a:xfrm>
          <a:prstGeom prst="rect">
            <a:avLst/>
          </a:prstGeom>
          <a:noFill/>
          <a:ln/>
        </p:spPr>
        <p:txBody>
          <a:bodyPr wrap="square" lIns="0" tIns="0" rIns="0" bIns="0" rtlCol="0" anchor="t"/>
          <a:lstStyle/>
          <a:p>
            <a:pPr marL="0" indent="0">
              <a:buNone/>
            </a:pPr>
            <a:r>
              <a:rPr lang="en-US" sz="750" b="1" kern="0" spc="200" dirty="0">
                <a:solidFill>
                  <a:srgbClr val="00704A"/>
                </a:solidFill>
                <a:latin typeface="Calibri" pitchFamily="34" charset="0"/>
                <a:ea typeface="Calibri" pitchFamily="34" charset="-122"/>
                <a:cs typeface="Calibri" pitchFamily="34" charset="-120"/>
              </a:rPr>
              <a:t>HOLDS</a:t>
            </a:r>
            <a:endParaRPr lang="en-US" sz="750" dirty="0"/>
          </a:p>
        </p:txBody>
      </p:sp>
      <p:sp>
        <p:nvSpPr>
          <p:cNvPr id="50" name="Text 44"/>
          <p:cNvSpPr txBox="1"/>
          <p:nvPr/>
        </p:nvSpPr>
        <p:spPr>
          <a:xfrm>
            <a:off x="6236208" y="2121408"/>
            <a:ext cx="2331720" cy="329184"/>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Raw through curated, one place</a:t>
            </a:r>
            <a:endParaRPr lang="en-US" sz="1000" dirty="0"/>
          </a:p>
        </p:txBody>
      </p:sp>
      <p:sp>
        <p:nvSpPr>
          <p:cNvPr id="51" name="Text 45"/>
          <p:cNvSpPr txBox="1"/>
          <p:nvPr/>
        </p:nvSpPr>
        <p:spPr>
          <a:xfrm>
            <a:off x="6236208" y="2468880"/>
            <a:ext cx="2286000" cy="146304"/>
          </a:xfrm>
          <a:prstGeom prst="rect">
            <a:avLst/>
          </a:prstGeom>
          <a:noFill/>
          <a:ln/>
        </p:spPr>
        <p:txBody>
          <a:bodyPr wrap="square" lIns="0" tIns="0" rIns="0" bIns="0" rtlCol="0" anchor="t"/>
          <a:lstStyle/>
          <a:p>
            <a:pPr marL="0" indent="0">
              <a:buNone/>
            </a:pPr>
            <a:r>
              <a:rPr lang="en-US" sz="750" b="1" kern="0" spc="200" dirty="0">
                <a:solidFill>
                  <a:srgbClr val="00704A"/>
                </a:solidFill>
                <a:latin typeface="Calibri" pitchFamily="34" charset="0"/>
                <a:ea typeface="Calibri" pitchFamily="34" charset="-122"/>
                <a:cs typeface="Calibri" pitchFamily="34" charset="-120"/>
              </a:rPr>
              <a:t>SCHEMA</a:t>
            </a:r>
            <a:endParaRPr lang="en-US" sz="750" dirty="0"/>
          </a:p>
        </p:txBody>
      </p:sp>
      <p:sp>
        <p:nvSpPr>
          <p:cNvPr id="52" name="Text 46"/>
          <p:cNvSpPr txBox="1"/>
          <p:nvPr/>
        </p:nvSpPr>
        <p:spPr>
          <a:xfrm>
            <a:off x="6236208" y="2624328"/>
            <a:ext cx="2331720" cy="329184"/>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On read, plus enforced tables</a:t>
            </a:r>
            <a:endParaRPr lang="en-US" sz="1000" dirty="0"/>
          </a:p>
        </p:txBody>
      </p:sp>
      <p:sp>
        <p:nvSpPr>
          <p:cNvPr id="53" name="Text 47"/>
          <p:cNvSpPr txBox="1"/>
          <p:nvPr/>
        </p:nvSpPr>
        <p:spPr>
          <a:xfrm>
            <a:off x="6236208" y="2971800"/>
            <a:ext cx="2286000" cy="146304"/>
          </a:xfrm>
          <a:prstGeom prst="rect">
            <a:avLst/>
          </a:prstGeom>
          <a:noFill/>
          <a:ln/>
        </p:spPr>
        <p:txBody>
          <a:bodyPr wrap="square" lIns="0" tIns="0" rIns="0" bIns="0" rtlCol="0" anchor="t"/>
          <a:lstStyle/>
          <a:p>
            <a:pPr marL="0" indent="0">
              <a:buNone/>
            </a:pPr>
            <a:r>
              <a:rPr lang="en-US" sz="750" b="1" kern="0" spc="200" dirty="0">
                <a:solidFill>
                  <a:srgbClr val="00704A"/>
                </a:solidFill>
                <a:latin typeface="Calibri" pitchFamily="34" charset="0"/>
                <a:ea typeface="Calibri" pitchFamily="34" charset="-122"/>
                <a:cs typeface="Calibri" pitchFamily="34" charset="-120"/>
              </a:rPr>
              <a:t>STRENGTH</a:t>
            </a:r>
            <a:endParaRPr lang="en-US" sz="750" dirty="0"/>
          </a:p>
        </p:txBody>
      </p:sp>
      <p:sp>
        <p:nvSpPr>
          <p:cNvPr id="54" name="Text 48"/>
          <p:cNvSpPr txBox="1"/>
          <p:nvPr/>
        </p:nvSpPr>
        <p:spPr>
          <a:xfrm>
            <a:off x="6236208" y="3127248"/>
            <a:ext cx="2331720" cy="329184"/>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Transactions, time travel, schema evolution</a:t>
            </a:r>
            <a:endParaRPr lang="en-US" sz="1000" dirty="0"/>
          </a:p>
        </p:txBody>
      </p:sp>
      <p:sp>
        <p:nvSpPr>
          <p:cNvPr id="55" name="Text 49"/>
          <p:cNvSpPr txBox="1"/>
          <p:nvPr/>
        </p:nvSpPr>
        <p:spPr>
          <a:xfrm>
            <a:off x="6236208" y="3474720"/>
            <a:ext cx="2286000" cy="146304"/>
          </a:xfrm>
          <a:prstGeom prst="rect">
            <a:avLst/>
          </a:prstGeom>
          <a:noFill/>
          <a:ln/>
        </p:spPr>
        <p:txBody>
          <a:bodyPr wrap="square" lIns="0" tIns="0" rIns="0" bIns="0" rtlCol="0" anchor="t"/>
          <a:lstStyle/>
          <a:p>
            <a:pPr marL="0" indent="0">
              <a:buNone/>
            </a:pPr>
            <a:r>
              <a:rPr lang="en-US" sz="750" b="1" kern="0" spc="200" dirty="0">
                <a:solidFill>
                  <a:srgbClr val="00704A"/>
                </a:solidFill>
                <a:latin typeface="Calibri" pitchFamily="34" charset="0"/>
                <a:ea typeface="Calibri" pitchFamily="34" charset="-122"/>
                <a:cs typeface="Calibri" pitchFamily="34" charset="-120"/>
              </a:rPr>
              <a:t>WATCH-OUT</a:t>
            </a:r>
            <a:endParaRPr lang="en-US" sz="750" dirty="0"/>
          </a:p>
        </p:txBody>
      </p:sp>
      <p:sp>
        <p:nvSpPr>
          <p:cNvPr id="56" name="Text 50"/>
          <p:cNvSpPr txBox="1"/>
          <p:nvPr/>
        </p:nvSpPr>
        <p:spPr>
          <a:xfrm>
            <a:off x="6236208" y="3630168"/>
            <a:ext cx="2331720" cy="329184"/>
          </a:xfrm>
          <a:prstGeom prst="rect">
            <a:avLst/>
          </a:prstGeom>
          <a:noFill/>
          <a:ln/>
        </p:spPr>
        <p:txBody>
          <a:bodyPr wrap="square" lIns="0" tIns="0" rIns="0" bIns="0" rtlCol="0" anchor="t"/>
          <a:lstStyle/>
          <a:p>
            <a:pPr marL="0" indent="0">
              <a:buNone/>
            </a:pPr>
            <a:r>
              <a:rPr lang="en-US" sz="1000" i="1" dirty="0">
                <a:solidFill>
                  <a:srgbClr val="231F20"/>
                </a:solidFill>
                <a:latin typeface="Calibri" pitchFamily="34" charset="0"/>
                <a:ea typeface="Calibri" pitchFamily="34" charset="-122"/>
                <a:cs typeface="Calibri" pitchFamily="34" charset="-120"/>
              </a:rPr>
              <a:t>Needs engineering maturity</a:t>
            </a:r>
            <a:endParaRPr lang="en-US" sz="1000" dirty="0"/>
          </a:p>
        </p:txBody>
      </p:sp>
      <p:sp>
        <p:nvSpPr>
          <p:cNvPr id="57" name="Text 51"/>
          <p:cNvSpPr txBox="1"/>
          <p:nvPr/>
        </p:nvSpPr>
        <p:spPr>
          <a:xfrm>
            <a:off x="6236208" y="3977640"/>
            <a:ext cx="2286000" cy="146304"/>
          </a:xfrm>
          <a:prstGeom prst="rect">
            <a:avLst/>
          </a:prstGeom>
          <a:noFill/>
          <a:ln/>
        </p:spPr>
        <p:txBody>
          <a:bodyPr wrap="square" lIns="0" tIns="0" rIns="0" bIns="0" rtlCol="0" anchor="t"/>
          <a:lstStyle/>
          <a:p>
            <a:pPr marL="0" indent="0">
              <a:buNone/>
            </a:pPr>
            <a:r>
              <a:rPr lang="en-US" sz="750" b="1" kern="0" spc="200" dirty="0">
                <a:solidFill>
                  <a:srgbClr val="00704A"/>
                </a:solidFill>
                <a:latin typeface="Calibri" pitchFamily="34" charset="0"/>
                <a:ea typeface="Calibri" pitchFamily="34" charset="-122"/>
                <a:cs typeface="Calibri" pitchFamily="34" charset="-120"/>
              </a:rPr>
              <a:t>EXAMPLES</a:t>
            </a:r>
            <a:endParaRPr lang="en-US" sz="750" dirty="0"/>
          </a:p>
        </p:txBody>
      </p:sp>
      <p:sp>
        <p:nvSpPr>
          <p:cNvPr id="58" name="Text 52"/>
          <p:cNvSpPr txBox="1"/>
          <p:nvPr/>
        </p:nvSpPr>
        <p:spPr>
          <a:xfrm>
            <a:off x="6236208" y="4133088"/>
            <a:ext cx="2331720" cy="329184"/>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Apache Iceberg, Delta Lake, Apache Hudi</a:t>
            </a:r>
            <a:endParaRPr lang="en-US" sz="1000" dirty="0"/>
          </a:p>
        </p:txBody>
      </p:sp>
      <p:sp>
        <p:nvSpPr>
          <p:cNvPr id="59" name="Text 53"/>
          <p:cNvSpPr txBox="1"/>
          <p:nvPr/>
        </p:nvSpPr>
        <p:spPr>
          <a:xfrm>
            <a:off x="457200" y="4590288"/>
            <a:ext cx="7498080" cy="201168"/>
          </a:xfrm>
          <a:prstGeom prst="rect">
            <a:avLst/>
          </a:prstGeom>
          <a:noFill/>
          <a:ln/>
        </p:spPr>
        <p:txBody>
          <a:bodyPr wrap="square" lIns="0" tIns="0" rIns="0" bIns="0" rtlCol="0" anchor="b"/>
          <a:lstStyle/>
          <a:p>
            <a:pPr marL="0" indent="0">
              <a:buNone/>
            </a:pPr>
            <a:r>
              <a:rPr lang="en-US" sz="900" i="1" dirty="0">
                <a:solidFill>
                  <a:srgbClr val="5E6964"/>
                </a:solidFill>
                <a:latin typeface="Calibri" pitchFamily="34" charset="0"/>
                <a:ea typeface="Calibri" pitchFamily="34" charset="-122"/>
                <a:cs typeface="Calibri" pitchFamily="34" charset="-120"/>
              </a:rPr>
              <a:t>Source: Armbrust et al., "Lakehouse: A New Generation of Open Platforms…", CIDR 2021.</a:t>
            </a:r>
            <a:endParaRPr lang="en-US" sz="9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STORAGE</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The medallion pattern, applied to the lab data</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14716" y="315468"/>
            <a:ext cx="118872" cy="118872"/>
          </a:xfrm>
          <a:prstGeom prst="ellipse">
            <a:avLst/>
          </a:prstGeom>
          <a:solidFill>
            <a:srgbClr val="00704A"/>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AfDB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12</a:t>
            </a:r>
            <a:endParaRPr lang="en-US" sz="850" dirty="0"/>
          </a:p>
        </p:txBody>
      </p:sp>
      <p:sp>
        <p:nvSpPr>
          <p:cNvPr id="17" name="Shape 14"/>
          <p:cNvSpPr/>
          <p:nvPr/>
        </p:nvSpPr>
        <p:spPr>
          <a:xfrm>
            <a:off x="457200" y="1280160"/>
            <a:ext cx="2377440" cy="2834640"/>
          </a:xfrm>
          <a:prstGeom prst="roundRect">
            <a:avLst>
              <a:gd name="adj" fmla="val 3077"/>
            </a:avLst>
          </a:prstGeom>
          <a:solidFill>
            <a:srgbClr val="FFFFFF"/>
          </a:solidFill>
          <a:ln w="19050">
            <a:solidFill>
              <a:srgbClr val="C4621D"/>
            </a:solidFill>
            <a:prstDash val="solid"/>
          </a:ln>
        </p:spPr>
      </p:sp>
      <p:sp>
        <p:nvSpPr>
          <p:cNvPr id="18" name="Shape 15"/>
          <p:cNvSpPr/>
          <p:nvPr/>
        </p:nvSpPr>
        <p:spPr>
          <a:xfrm>
            <a:off x="457200" y="1280160"/>
            <a:ext cx="2377440" cy="640080"/>
          </a:xfrm>
          <a:prstGeom prst="roundRect">
            <a:avLst>
              <a:gd name="adj" fmla="val 11429"/>
            </a:avLst>
          </a:prstGeom>
          <a:solidFill>
            <a:srgbClr val="C4621D"/>
          </a:solidFill>
          <a:ln w="19050">
            <a:solidFill>
              <a:srgbClr val="C4621D"/>
            </a:solidFill>
            <a:prstDash val="solid"/>
          </a:ln>
        </p:spPr>
      </p:sp>
      <p:sp>
        <p:nvSpPr>
          <p:cNvPr id="19" name="Text 16"/>
          <p:cNvSpPr txBox="1"/>
          <p:nvPr/>
        </p:nvSpPr>
        <p:spPr>
          <a:xfrm>
            <a:off x="594360" y="1325880"/>
            <a:ext cx="2103120" cy="320040"/>
          </a:xfrm>
          <a:prstGeom prst="rect">
            <a:avLst/>
          </a:prstGeom>
          <a:noFill/>
          <a:ln/>
        </p:spPr>
        <p:txBody>
          <a:bodyPr wrap="square" lIns="0" tIns="0" rIns="0" bIns="0" rtlCol="0" anchor="t"/>
          <a:lstStyle/>
          <a:p>
            <a:pPr marL="0" indent="0">
              <a:buNone/>
            </a:pPr>
            <a:r>
              <a:rPr lang="en-US" sz="1600" b="1" kern="0" spc="300" dirty="0">
                <a:solidFill>
                  <a:srgbClr val="FFFFFF"/>
                </a:solidFill>
                <a:latin typeface="Calibri" pitchFamily="34" charset="0"/>
                <a:ea typeface="Calibri" pitchFamily="34" charset="-122"/>
                <a:cs typeface="Calibri" pitchFamily="34" charset="-120"/>
              </a:rPr>
              <a:t>BRONZE</a:t>
            </a:r>
            <a:endParaRPr lang="en-US" sz="1600" dirty="0"/>
          </a:p>
        </p:txBody>
      </p:sp>
      <p:sp>
        <p:nvSpPr>
          <p:cNvPr id="20" name="Text 17"/>
          <p:cNvSpPr txBox="1"/>
          <p:nvPr/>
        </p:nvSpPr>
        <p:spPr>
          <a:xfrm>
            <a:off x="594360" y="1627632"/>
            <a:ext cx="2103120" cy="228600"/>
          </a:xfrm>
          <a:prstGeom prst="rect">
            <a:avLst/>
          </a:prstGeom>
          <a:noFill/>
          <a:ln/>
        </p:spPr>
        <p:txBody>
          <a:bodyPr wrap="square" lIns="0" tIns="0" rIns="0" bIns="0" rtlCol="0" anchor="t"/>
          <a:lstStyle/>
          <a:p>
            <a:pPr marL="0" indent="0">
              <a:buNone/>
            </a:pPr>
            <a:r>
              <a:rPr lang="en-US" sz="1050" i="1" dirty="0">
                <a:solidFill>
                  <a:srgbClr val="FFFFFF"/>
                </a:solidFill>
                <a:latin typeface="Calibri" pitchFamily="34" charset="0"/>
                <a:ea typeface="Calibri" pitchFamily="34" charset="-122"/>
                <a:cs typeface="Calibri" pitchFamily="34" charset="-120"/>
              </a:rPr>
              <a:t>Raw, as received</a:t>
            </a:r>
            <a:endParaRPr lang="en-US" sz="1050" dirty="0"/>
          </a:p>
        </p:txBody>
      </p:sp>
      <p:sp>
        <p:nvSpPr>
          <p:cNvPr id="21" name="Text 18"/>
          <p:cNvSpPr txBox="1"/>
          <p:nvPr/>
        </p:nvSpPr>
        <p:spPr>
          <a:xfrm>
            <a:off x="594360" y="2057400"/>
            <a:ext cx="2103120" cy="196596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231F20"/>
                </a:solidFill>
                <a:latin typeface="Calibri" pitchFamily="34" charset="0"/>
                <a:ea typeface="Calibri" pitchFamily="34" charset="-122"/>
                <a:cs typeface="Calibri" pitchFamily="34" charset="-120"/>
              </a:rPr>
              <a:t>Ookla quarterly Parquet files</a:t>
            </a:r>
            <a:endParaRPr lang="en-US" sz="1050" dirty="0"/>
          </a:p>
          <a:p>
            <a:pPr marL="342900" indent="-342900">
              <a:spcAft>
                <a:spcPts val="600"/>
              </a:spcAft>
              <a:buSzPct val="100000"/>
              <a:buChar char="•"/>
            </a:pPr>
            <a:r>
              <a:rPr lang="en-US" sz="1050" dirty="0">
                <a:solidFill>
                  <a:srgbClr val="231F20"/>
                </a:solidFill>
                <a:latin typeface="Calibri" pitchFamily="34" charset="0"/>
                <a:ea typeface="Calibri" pitchFamily="34" charset="-122"/>
                <a:cs typeface="Calibri" pitchFamily="34" charset="-120"/>
              </a:rPr>
              <a:t>WorldPop GeoTIFF rasters</a:t>
            </a:r>
            <a:endParaRPr lang="en-US" sz="1050" dirty="0"/>
          </a:p>
          <a:p>
            <a:pPr marL="342900" indent="-342900">
              <a:spcAft>
                <a:spcPts val="600"/>
              </a:spcAft>
              <a:buSzPct val="100000"/>
              <a:buChar char="•"/>
            </a:pPr>
            <a:r>
              <a:rPr lang="en-US" sz="1050" dirty="0">
                <a:solidFill>
                  <a:srgbClr val="231F20"/>
                </a:solidFill>
                <a:latin typeface="Calibri" pitchFamily="34" charset="0"/>
                <a:ea typeface="Calibri" pitchFamily="34" charset="-122"/>
                <a:cs typeface="Calibri" pitchFamily="34" charset="-120"/>
              </a:rPr>
              <a:t>Black Marble HDF5 granules</a:t>
            </a:r>
            <a:endParaRPr lang="en-US" sz="1050" dirty="0"/>
          </a:p>
          <a:p>
            <a:pPr marL="342900" indent="-342900">
              <a:spcAft>
                <a:spcPts val="600"/>
              </a:spcAft>
              <a:buSzPct val="100000"/>
              <a:buChar char="•"/>
            </a:pPr>
            <a:r>
              <a:rPr lang="en-US" sz="1050" dirty="0">
                <a:solidFill>
                  <a:srgbClr val="231F20"/>
                </a:solidFill>
                <a:latin typeface="Calibri" pitchFamily="34" charset="0"/>
                <a:ea typeface="Calibri" pitchFamily="34" charset="-122"/>
                <a:cs typeface="Calibri" pitchFamily="34" charset="-120"/>
              </a:rPr>
              <a:t>Admin boundary files</a:t>
            </a:r>
            <a:endParaRPr lang="en-US" sz="1050" dirty="0"/>
          </a:p>
        </p:txBody>
      </p:sp>
      <p:sp>
        <p:nvSpPr>
          <p:cNvPr id="22" name="Shape 19"/>
          <p:cNvSpPr/>
          <p:nvPr/>
        </p:nvSpPr>
        <p:spPr>
          <a:xfrm>
            <a:off x="2907792" y="2697480"/>
            <a:ext cx="402336" cy="91"/>
          </a:xfrm>
          <a:prstGeom prst="line">
            <a:avLst/>
          </a:prstGeom>
          <a:noFill/>
          <a:ln w="25400">
            <a:solidFill>
              <a:srgbClr val="00A86A"/>
            </a:solidFill>
            <a:prstDash val="solid"/>
            <a:tailEnd type="triangle"/>
          </a:ln>
        </p:spPr>
      </p:sp>
      <p:pic>
        <p:nvPicPr>
          <p:cNvPr id="23" name="Image 0" descr="preencoded.png"/>
          <p:cNvPicPr>
            <a:picLocks noChangeAspect="1"/>
          </p:cNvPicPr>
          <p:nvPr/>
        </p:nvPicPr>
        <p:blipFill>
          <a:blip r:embed="rId3"/>
          <a:stretch>
            <a:fillRect/>
          </a:stretch>
        </p:blipFill>
        <p:spPr>
          <a:xfrm>
            <a:off x="2990088" y="2286000"/>
            <a:ext cx="237744" cy="237744"/>
          </a:xfrm>
          <a:prstGeom prst="rect">
            <a:avLst/>
          </a:prstGeom>
        </p:spPr>
      </p:pic>
      <p:sp>
        <p:nvSpPr>
          <p:cNvPr id="24" name="Shape 20"/>
          <p:cNvSpPr/>
          <p:nvPr/>
        </p:nvSpPr>
        <p:spPr>
          <a:xfrm>
            <a:off x="3383280" y="1280160"/>
            <a:ext cx="2377440" cy="2834640"/>
          </a:xfrm>
          <a:prstGeom prst="roundRect">
            <a:avLst>
              <a:gd name="adj" fmla="val 3077"/>
            </a:avLst>
          </a:prstGeom>
          <a:solidFill>
            <a:srgbClr val="FFFFFF"/>
          </a:solidFill>
          <a:ln w="19050">
            <a:solidFill>
              <a:srgbClr val="5E6964"/>
            </a:solidFill>
            <a:prstDash val="solid"/>
          </a:ln>
        </p:spPr>
      </p:sp>
      <p:sp>
        <p:nvSpPr>
          <p:cNvPr id="25" name="Shape 21"/>
          <p:cNvSpPr/>
          <p:nvPr/>
        </p:nvSpPr>
        <p:spPr>
          <a:xfrm>
            <a:off x="3383280" y="1280160"/>
            <a:ext cx="2377440" cy="640080"/>
          </a:xfrm>
          <a:prstGeom prst="roundRect">
            <a:avLst>
              <a:gd name="adj" fmla="val 11429"/>
            </a:avLst>
          </a:prstGeom>
          <a:solidFill>
            <a:srgbClr val="5E6964"/>
          </a:solidFill>
          <a:ln w="19050">
            <a:solidFill>
              <a:srgbClr val="5E6964"/>
            </a:solidFill>
            <a:prstDash val="solid"/>
          </a:ln>
        </p:spPr>
      </p:sp>
      <p:sp>
        <p:nvSpPr>
          <p:cNvPr id="26" name="Text 22"/>
          <p:cNvSpPr txBox="1"/>
          <p:nvPr/>
        </p:nvSpPr>
        <p:spPr>
          <a:xfrm>
            <a:off x="3520440" y="1325880"/>
            <a:ext cx="2103120" cy="320040"/>
          </a:xfrm>
          <a:prstGeom prst="rect">
            <a:avLst/>
          </a:prstGeom>
          <a:noFill/>
          <a:ln/>
        </p:spPr>
        <p:txBody>
          <a:bodyPr wrap="square" lIns="0" tIns="0" rIns="0" bIns="0" rtlCol="0" anchor="t"/>
          <a:lstStyle/>
          <a:p>
            <a:pPr marL="0" indent="0">
              <a:buNone/>
            </a:pPr>
            <a:r>
              <a:rPr lang="en-US" sz="1600" b="1" kern="0" spc="300" dirty="0">
                <a:solidFill>
                  <a:srgbClr val="FFFFFF"/>
                </a:solidFill>
                <a:latin typeface="Calibri" pitchFamily="34" charset="0"/>
                <a:ea typeface="Calibri" pitchFamily="34" charset="-122"/>
                <a:cs typeface="Calibri" pitchFamily="34" charset="-120"/>
              </a:rPr>
              <a:t>SILVER</a:t>
            </a:r>
            <a:endParaRPr lang="en-US" sz="1600" dirty="0"/>
          </a:p>
        </p:txBody>
      </p:sp>
      <p:sp>
        <p:nvSpPr>
          <p:cNvPr id="27" name="Text 23"/>
          <p:cNvSpPr txBox="1"/>
          <p:nvPr/>
        </p:nvSpPr>
        <p:spPr>
          <a:xfrm>
            <a:off x="3520440" y="1627632"/>
            <a:ext cx="2103120" cy="228600"/>
          </a:xfrm>
          <a:prstGeom prst="rect">
            <a:avLst/>
          </a:prstGeom>
          <a:noFill/>
          <a:ln/>
        </p:spPr>
        <p:txBody>
          <a:bodyPr wrap="square" lIns="0" tIns="0" rIns="0" bIns="0" rtlCol="0" anchor="t"/>
          <a:lstStyle/>
          <a:p>
            <a:pPr marL="0" indent="0">
              <a:buNone/>
            </a:pPr>
            <a:r>
              <a:rPr lang="en-US" sz="1050" i="1" dirty="0">
                <a:solidFill>
                  <a:srgbClr val="FFFFFF"/>
                </a:solidFill>
                <a:latin typeface="Calibri" pitchFamily="34" charset="0"/>
                <a:ea typeface="Calibri" pitchFamily="34" charset="-122"/>
                <a:cs typeface="Calibri" pitchFamily="34" charset="-120"/>
              </a:rPr>
              <a:t>Validated &amp; linked</a:t>
            </a:r>
            <a:endParaRPr lang="en-US" sz="1050" dirty="0"/>
          </a:p>
        </p:txBody>
      </p:sp>
      <p:sp>
        <p:nvSpPr>
          <p:cNvPr id="28" name="Text 24"/>
          <p:cNvSpPr txBox="1"/>
          <p:nvPr/>
        </p:nvSpPr>
        <p:spPr>
          <a:xfrm>
            <a:off x="3520440" y="2057400"/>
            <a:ext cx="2103120" cy="196596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231F20"/>
                </a:solidFill>
                <a:latin typeface="Calibri" pitchFamily="34" charset="0"/>
                <a:ea typeface="Calibri" pitchFamily="34" charset="-122"/>
                <a:cs typeface="Calibri" pitchFamily="34" charset="-120"/>
              </a:rPr>
              <a:t>Tiles clipped to the national extent</a:t>
            </a:r>
            <a:endParaRPr lang="en-US" sz="1050" dirty="0"/>
          </a:p>
          <a:p>
            <a:pPr marL="342900" indent="-342900">
              <a:spcAft>
                <a:spcPts val="600"/>
              </a:spcAft>
              <a:buSzPct val="100000"/>
              <a:buChar char="•"/>
            </a:pPr>
            <a:r>
              <a:rPr lang="en-US" sz="1050" dirty="0">
                <a:solidFill>
                  <a:srgbClr val="231F20"/>
                </a:solidFill>
                <a:latin typeface="Calibri" pitchFamily="34" charset="0"/>
                <a:ea typeface="Calibri" pitchFamily="34" charset="-122"/>
                <a:cs typeface="Calibri" pitchFamily="34" charset="-120"/>
              </a:rPr>
              <a:t>Each tile joined to its admin unit</a:t>
            </a:r>
            <a:endParaRPr lang="en-US" sz="1050" dirty="0"/>
          </a:p>
          <a:p>
            <a:pPr marL="342900" indent="-342900">
              <a:spcAft>
                <a:spcPts val="600"/>
              </a:spcAft>
              <a:buSzPct val="100000"/>
              <a:buChar char="•"/>
            </a:pPr>
            <a:r>
              <a:rPr lang="en-US" sz="1050" dirty="0">
                <a:solidFill>
                  <a:srgbClr val="231F20"/>
                </a:solidFill>
                <a:latin typeface="Calibri" pitchFamily="34" charset="0"/>
                <a:ea typeface="Calibri" pitchFamily="34" charset="-122"/>
                <a:cs typeface="Calibri" pitchFamily="34" charset="-120"/>
              </a:rPr>
              <a:t>Population per tile from WorldPop</a:t>
            </a:r>
            <a:endParaRPr lang="en-US" sz="1050" dirty="0"/>
          </a:p>
          <a:p>
            <a:pPr marL="342900" indent="-342900">
              <a:spcAft>
                <a:spcPts val="600"/>
              </a:spcAft>
              <a:buSzPct val="100000"/>
              <a:buChar char="•"/>
            </a:pPr>
            <a:r>
              <a:rPr lang="en-US" sz="1050" dirty="0">
                <a:solidFill>
                  <a:srgbClr val="231F20"/>
                </a:solidFill>
                <a:latin typeface="Calibri" pitchFamily="34" charset="0"/>
                <a:ea typeface="Calibri" pitchFamily="34" charset="-122"/>
                <a:cs typeface="Calibri" pitchFamily="34" charset="-120"/>
              </a:rPr>
              <a:t>Radiance with cloud and quality masks</a:t>
            </a:r>
            <a:endParaRPr lang="en-US" sz="1050" dirty="0"/>
          </a:p>
        </p:txBody>
      </p:sp>
      <p:sp>
        <p:nvSpPr>
          <p:cNvPr id="29" name="Shape 25"/>
          <p:cNvSpPr/>
          <p:nvPr/>
        </p:nvSpPr>
        <p:spPr>
          <a:xfrm>
            <a:off x="5833872" y="2697480"/>
            <a:ext cx="402336" cy="91"/>
          </a:xfrm>
          <a:prstGeom prst="line">
            <a:avLst/>
          </a:prstGeom>
          <a:noFill/>
          <a:ln w="25400">
            <a:solidFill>
              <a:srgbClr val="00A86A"/>
            </a:solidFill>
            <a:prstDash val="solid"/>
            <a:tailEnd type="triangle"/>
          </a:ln>
        </p:spPr>
      </p:sp>
      <p:pic>
        <p:nvPicPr>
          <p:cNvPr id="30" name="Image 1" descr="preencoded.png"/>
          <p:cNvPicPr>
            <a:picLocks noChangeAspect="1"/>
          </p:cNvPicPr>
          <p:nvPr/>
        </p:nvPicPr>
        <p:blipFill>
          <a:blip r:embed="rId3"/>
          <a:stretch>
            <a:fillRect/>
          </a:stretch>
        </p:blipFill>
        <p:spPr>
          <a:xfrm>
            <a:off x="5916168" y="2286000"/>
            <a:ext cx="237744" cy="237744"/>
          </a:xfrm>
          <a:prstGeom prst="rect">
            <a:avLst/>
          </a:prstGeom>
        </p:spPr>
      </p:pic>
      <p:sp>
        <p:nvSpPr>
          <p:cNvPr id="31" name="Shape 26"/>
          <p:cNvSpPr/>
          <p:nvPr/>
        </p:nvSpPr>
        <p:spPr>
          <a:xfrm>
            <a:off x="6309360" y="1280160"/>
            <a:ext cx="2377440" cy="2834640"/>
          </a:xfrm>
          <a:prstGeom prst="roundRect">
            <a:avLst>
              <a:gd name="adj" fmla="val 3077"/>
            </a:avLst>
          </a:prstGeom>
          <a:solidFill>
            <a:srgbClr val="FFFFFF"/>
          </a:solidFill>
          <a:ln w="19050">
            <a:solidFill>
              <a:srgbClr val="D49A00"/>
            </a:solidFill>
            <a:prstDash val="solid"/>
          </a:ln>
        </p:spPr>
      </p:sp>
      <p:sp>
        <p:nvSpPr>
          <p:cNvPr id="32" name="Shape 27"/>
          <p:cNvSpPr/>
          <p:nvPr/>
        </p:nvSpPr>
        <p:spPr>
          <a:xfrm>
            <a:off x="6309360" y="1280160"/>
            <a:ext cx="2377440" cy="640080"/>
          </a:xfrm>
          <a:prstGeom prst="roundRect">
            <a:avLst>
              <a:gd name="adj" fmla="val 11429"/>
            </a:avLst>
          </a:prstGeom>
          <a:solidFill>
            <a:srgbClr val="D49A00"/>
          </a:solidFill>
          <a:ln w="19050">
            <a:solidFill>
              <a:srgbClr val="D49A00"/>
            </a:solidFill>
            <a:prstDash val="solid"/>
          </a:ln>
        </p:spPr>
      </p:sp>
      <p:sp>
        <p:nvSpPr>
          <p:cNvPr id="33" name="Text 28"/>
          <p:cNvSpPr txBox="1"/>
          <p:nvPr/>
        </p:nvSpPr>
        <p:spPr>
          <a:xfrm>
            <a:off x="6446520" y="1325880"/>
            <a:ext cx="2103120" cy="320040"/>
          </a:xfrm>
          <a:prstGeom prst="rect">
            <a:avLst/>
          </a:prstGeom>
          <a:noFill/>
          <a:ln/>
        </p:spPr>
        <p:txBody>
          <a:bodyPr wrap="square" lIns="0" tIns="0" rIns="0" bIns="0" rtlCol="0" anchor="t"/>
          <a:lstStyle/>
          <a:p>
            <a:pPr marL="0" indent="0">
              <a:buNone/>
            </a:pPr>
            <a:r>
              <a:rPr lang="en-US" sz="1600" b="1" kern="0" spc="300" dirty="0">
                <a:solidFill>
                  <a:srgbClr val="FFFFFF"/>
                </a:solidFill>
                <a:latin typeface="Calibri" pitchFamily="34" charset="0"/>
                <a:ea typeface="Calibri" pitchFamily="34" charset="-122"/>
                <a:cs typeface="Calibri" pitchFamily="34" charset="-120"/>
              </a:rPr>
              <a:t>GOLD</a:t>
            </a:r>
            <a:endParaRPr lang="en-US" sz="1600" dirty="0"/>
          </a:p>
        </p:txBody>
      </p:sp>
      <p:sp>
        <p:nvSpPr>
          <p:cNvPr id="34" name="Text 29"/>
          <p:cNvSpPr txBox="1"/>
          <p:nvPr/>
        </p:nvSpPr>
        <p:spPr>
          <a:xfrm>
            <a:off x="6446520" y="1627632"/>
            <a:ext cx="2103120" cy="228600"/>
          </a:xfrm>
          <a:prstGeom prst="rect">
            <a:avLst/>
          </a:prstGeom>
          <a:noFill/>
          <a:ln/>
        </p:spPr>
        <p:txBody>
          <a:bodyPr wrap="square" lIns="0" tIns="0" rIns="0" bIns="0" rtlCol="0" anchor="t"/>
          <a:lstStyle/>
          <a:p>
            <a:pPr marL="0" indent="0">
              <a:buNone/>
            </a:pPr>
            <a:r>
              <a:rPr lang="en-US" sz="1050" i="1" dirty="0">
                <a:solidFill>
                  <a:srgbClr val="FFFFFF"/>
                </a:solidFill>
                <a:latin typeface="Calibri" pitchFamily="34" charset="0"/>
                <a:ea typeface="Calibri" pitchFamily="34" charset="-122"/>
                <a:cs typeface="Calibri" pitchFamily="34" charset="-120"/>
              </a:rPr>
              <a:t>Statistical outputs</a:t>
            </a:r>
            <a:endParaRPr lang="en-US" sz="1050" dirty="0"/>
          </a:p>
        </p:txBody>
      </p:sp>
      <p:sp>
        <p:nvSpPr>
          <p:cNvPr id="35" name="Text 30"/>
          <p:cNvSpPr txBox="1"/>
          <p:nvPr/>
        </p:nvSpPr>
        <p:spPr>
          <a:xfrm>
            <a:off x="6446520" y="2057400"/>
            <a:ext cx="2103120" cy="196596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231F20"/>
                </a:solidFill>
                <a:latin typeface="Calibri" pitchFamily="34" charset="0"/>
                <a:ea typeface="Calibri" pitchFamily="34" charset="-122"/>
                <a:cs typeface="Calibri" pitchFamily="34" charset="-120"/>
              </a:rPr>
              <a:t>Population-weighted connectivity by region and quarter</a:t>
            </a:r>
            <a:endParaRPr lang="en-US" sz="1050" dirty="0"/>
          </a:p>
          <a:p>
            <a:pPr marL="342900" indent="-342900">
              <a:spcAft>
                <a:spcPts val="600"/>
              </a:spcAft>
              <a:buSzPct val="100000"/>
              <a:buChar char="•"/>
            </a:pPr>
            <a:r>
              <a:rPr lang="en-US" sz="1050" dirty="0">
                <a:solidFill>
                  <a:srgbClr val="231F20"/>
                </a:solidFill>
                <a:latin typeface="Calibri" pitchFamily="34" charset="0"/>
                <a:ea typeface="Calibri" pitchFamily="34" charset="-122"/>
                <a:cs typeface="Calibri" pitchFamily="34" charset="-120"/>
              </a:rPr>
              <a:t>NTL zonal statistics by admin level</a:t>
            </a:r>
            <a:endParaRPr lang="en-US" sz="1050" dirty="0"/>
          </a:p>
          <a:p>
            <a:pPr marL="342900" indent="-342900">
              <a:spcAft>
                <a:spcPts val="600"/>
              </a:spcAft>
              <a:buSzPct val="100000"/>
              <a:buChar char="•"/>
            </a:pPr>
            <a:r>
              <a:rPr lang="en-US" sz="1050" dirty="0">
                <a:solidFill>
                  <a:srgbClr val="231F20"/>
                </a:solidFill>
                <a:latin typeface="Calibri" pitchFamily="34" charset="0"/>
                <a:ea typeface="Calibri" pitchFamily="34" charset="-122"/>
                <a:cs typeface="Calibri" pitchFamily="34" charset="-120"/>
              </a:rPr>
              <a:t>Dashboard and GitHub tables</a:t>
            </a:r>
            <a:endParaRPr lang="en-US" sz="1050" dirty="0"/>
          </a:p>
        </p:txBody>
      </p:sp>
      <p:sp>
        <p:nvSpPr>
          <p:cNvPr id="36" name="Text 31"/>
          <p:cNvSpPr txBox="1"/>
          <p:nvPr/>
        </p:nvSpPr>
        <p:spPr>
          <a:xfrm>
            <a:off x="457200" y="4224528"/>
            <a:ext cx="8229600" cy="274320"/>
          </a:xfrm>
          <a:prstGeom prst="rect">
            <a:avLst/>
          </a:prstGeom>
          <a:noFill/>
          <a:ln/>
        </p:spPr>
        <p:txBody>
          <a:bodyPr wrap="square" lIns="0" tIns="0" rIns="0" bIns="0" rtlCol="0" anchor="t"/>
          <a:lstStyle/>
          <a:p>
            <a:pPr marL="0" indent="0">
              <a:buNone/>
            </a:pPr>
            <a:r>
              <a:rPr lang="en-US" sz="1100" b="1" dirty="0">
                <a:solidFill>
                  <a:srgbClr val="00704A"/>
                </a:solidFill>
                <a:latin typeface="Calibri" pitchFamily="34" charset="0"/>
                <a:ea typeface="Calibri" pitchFamily="34" charset="-122"/>
                <a:cs typeface="Calibri" pitchFamily="34" charset="-120"/>
              </a:rPr>
              <a:t>Quality gate at every arrow: </a:t>
            </a:r>
            <a:r>
              <a:rPr lang="en-US" sz="1100" dirty="0">
                <a:solidFill>
                  <a:srgbClr val="231F20"/>
                </a:solidFill>
                <a:latin typeface="Calibri" pitchFamily="34" charset="0"/>
                <a:ea typeface="Calibri" pitchFamily="34" charset="-122"/>
                <a:cs typeface="Calibri" pitchFamily="34" charset="-120"/>
              </a:rPr>
              <a:t>each zone has an owner, a schema contract and tests. Nothing moves forward until they pass.</a:t>
            </a:r>
            <a:endParaRPr lang="en-US" sz="11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STORAGE</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What a lakehouse table format adds</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14716" y="315468"/>
            <a:ext cx="118872" cy="118872"/>
          </a:xfrm>
          <a:prstGeom prst="ellipse">
            <a:avLst/>
          </a:prstGeom>
          <a:solidFill>
            <a:srgbClr val="00704A"/>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AfDB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13</a:t>
            </a:r>
            <a:endParaRPr lang="en-US" sz="850" dirty="0"/>
          </a:p>
        </p:txBody>
      </p:sp>
      <p:sp>
        <p:nvSpPr>
          <p:cNvPr id="17" name="Shape 14"/>
          <p:cNvSpPr/>
          <p:nvPr/>
        </p:nvSpPr>
        <p:spPr>
          <a:xfrm>
            <a:off x="457200" y="1280160"/>
            <a:ext cx="1965960" cy="1280160"/>
          </a:xfrm>
          <a:prstGeom prst="roundRect">
            <a:avLst>
              <a:gd name="adj" fmla="val 5714"/>
            </a:avLst>
          </a:prstGeom>
          <a:solidFill>
            <a:srgbClr val="F4F7F5"/>
          </a:solidFill>
          <a:ln w="9525">
            <a:solidFill>
              <a:srgbClr val="D5DED9"/>
            </a:solidFill>
            <a:prstDash val="solid"/>
          </a:ln>
        </p:spPr>
      </p:sp>
      <p:sp>
        <p:nvSpPr>
          <p:cNvPr id="18" name="Shape 15"/>
          <p:cNvSpPr/>
          <p:nvPr/>
        </p:nvSpPr>
        <p:spPr>
          <a:xfrm>
            <a:off x="594360" y="1417320"/>
            <a:ext cx="438912" cy="438912"/>
          </a:xfrm>
          <a:prstGeom prst="ellipse">
            <a:avLst/>
          </a:prstGeom>
          <a:solidFill>
            <a:srgbClr val="00704A">
              <a:alpha val="22000"/>
            </a:srgbClr>
          </a:solidFill>
          <a:ln/>
        </p:spPr>
      </p:sp>
      <p:pic>
        <p:nvPicPr>
          <p:cNvPr id="19" name="Image 0" descr="preencoded.png"/>
          <p:cNvPicPr>
            <a:picLocks noChangeAspect="1"/>
          </p:cNvPicPr>
          <p:nvPr/>
        </p:nvPicPr>
        <p:blipFill>
          <a:blip r:embed="rId3"/>
          <a:stretch>
            <a:fillRect/>
          </a:stretch>
        </p:blipFill>
        <p:spPr>
          <a:xfrm>
            <a:off x="704088" y="1527048"/>
            <a:ext cx="219456" cy="219456"/>
          </a:xfrm>
          <a:prstGeom prst="rect">
            <a:avLst/>
          </a:prstGeom>
        </p:spPr>
      </p:pic>
      <p:sp>
        <p:nvSpPr>
          <p:cNvPr id="20" name="Text 16"/>
          <p:cNvSpPr txBox="1"/>
          <p:nvPr/>
        </p:nvSpPr>
        <p:spPr>
          <a:xfrm>
            <a:off x="594360" y="1920240"/>
            <a:ext cx="1737360" cy="237744"/>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ACID transactions</a:t>
            </a:r>
            <a:endParaRPr lang="en-US" sz="1200" dirty="0"/>
          </a:p>
        </p:txBody>
      </p:sp>
      <p:sp>
        <p:nvSpPr>
          <p:cNvPr id="21" name="Text 17"/>
          <p:cNvSpPr txBox="1"/>
          <p:nvPr/>
        </p:nvSpPr>
        <p:spPr>
          <a:xfrm>
            <a:off x="594360" y="2157984"/>
            <a:ext cx="1737360" cy="36576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Concurrent writers never leave a table half-updated.</a:t>
            </a:r>
            <a:endParaRPr lang="en-US" sz="950" dirty="0"/>
          </a:p>
        </p:txBody>
      </p:sp>
      <p:sp>
        <p:nvSpPr>
          <p:cNvPr id="22" name="Shape 18"/>
          <p:cNvSpPr/>
          <p:nvPr/>
        </p:nvSpPr>
        <p:spPr>
          <a:xfrm>
            <a:off x="2560320" y="1280160"/>
            <a:ext cx="1965960" cy="1280160"/>
          </a:xfrm>
          <a:prstGeom prst="roundRect">
            <a:avLst>
              <a:gd name="adj" fmla="val 5714"/>
            </a:avLst>
          </a:prstGeom>
          <a:solidFill>
            <a:srgbClr val="E8F5EF"/>
          </a:solidFill>
          <a:ln w="15875">
            <a:solidFill>
              <a:srgbClr val="00704A"/>
            </a:solidFill>
            <a:prstDash val="solid"/>
          </a:ln>
        </p:spPr>
      </p:sp>
      <p:sp>
        <p:nvSpPr>
          <p:cNvPr id="23" name="Shape 19"/>
          <p:cNvSpPr/>
          <p:nvPr/>
        </p:nvSpPr>
        <p:spPr>
          <a:xfrm>
            <a:off x="2697480" y="1417320"/>
            <a:ext cx="438912" cy="438912"/>
          </a:xfrm>
          <a:prstGeom prst="ellipse">
            <a:avLst/>
          </a:prstGeom>
          <a:solidFill>
            <a:srgbClr val="00704A">
              <a:alpha val="22000"/>
            </a:srgbClr>
          </a:solidFill>
          <a:ln/>
        </p:spPr>
      </p:sp>
      <p:pic>
        <p:nvPicPr>
          <p:cNvPr id="24" name="Image 1" descr="preencoded.png"/>
          <p:cNvPicPr>
            <a:picLocks noChangeAspect="1"/>
          </p:cNvPicPr>
          <p:nvPr/>
        </p:nvPicPr>
        <p:blipFill>
          <a:blip r:embed="rId4"/>
          <a:stretch>
            <a:fillRect/>
          </a:stretch>
        </p:blipFill>
        <p:spPr>
          <a:xfrm>
            <a:off x="2807208" y="1527048"/>
            <a:ext cx="219456" cy="219456"/>
          </a:xfrm>
          <a:prstGeom prst="rect">
            <a:avLst/>
          </a:prstGeom>
        </p:spPr>
      </p:pic>
      <p:sp>
        <p:nvSpPr>
          <p:cNvPr id="25" name="Text 20"/>
          <p:cNvSpPr txBox="1"/>
          <p:nvPr/>
        </p:nvSpPr>
        <p:spPr>
          <a:xfrm>
            <a:off x="2697480" y="1920240"/>
            <a:ext cx="1737360" cy="237744"/>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Time travel</a:t>
            </a:r>
            <a:endParaRPr lang="en-US" sz="1200" dirty="0"/>
          </a:p>
        </p:txBody>
      </p:sp>
      <p:sp>
        <p:nvSpPr>
          <p:cNvPr id="26" name="Text 21"/>
          <p:cNvSpPr txBox="1"/>
          <p:nvPr/>
        </p:nvSpPr>
        <p:spPr>
          <a:xfrm>
            <a:off x="2697480" y="2157984"/>
            <a:ext cx="1737360" cy="36576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Query any table as it stood on a past date.</a:t>
            </a:r>
            <a:endParaRPr lang="en-US" sz="950" dirty="0"/>
          </a:p>
        </p:txBody>
      </p:sp>
      <p:sp>
        <p:nvSpPr>
          <p:cNvPr id="27" name="Shape 22"/>
          <p:cNvSpPr/>
          <p:nvPr/>
        </p:nvSpPr>
        <p:spPr>
          <a:xfrm>
            <a:off x="457200" y="2697480"/>
            <a:ext cx="1965960" cy="1280160"/>
          </a:xfrm>
          <a:prstGeom prst="roundRect">
            <a:avLst>
              <a:gd name="adj" fmla="val 5714"/>
            </a:avLst>
          </a:prstGeom>
          <a:solidFill>
            <a:srgbClr val="F4F7F5"/>
          </a:solidFill>
          <a:ln w="9525">
            <a:solidFill>
              <a:srgbClr val="D5DED9"/>
            </a:solidFill>
            <a:prstDash val="solid"/>
          </a:ln>
        </p:spPr>
      </p:sp>
      <p:sp>
        <p:nvSpPr>
          <p:cNvPr id="28" name="Shape 23"/>
          <p:cNvSpPr/>
          <p:nvPr/>
        </p:nvSpPr>
        <p:spPr>
          <a:xfrm>
            <a:off x="594360" y="2834640"/>
            <a:ext cx="438912" cy="438912"/>
          </a:xfrm>
          <a:prstGeom prst="ellipse">
            <a:avLst/>
          </a:prstGeom>
          <a:solidFill>
            <a:srgbClr val="00704A">
              <a:alpha val="22000"/>
            </a:srgbClr>
          </a:solidFill>
          <a:ln/>
        </p:spPr>
      </p:sp>
      <p:pic>
        <p:nvPicPr>
          <p:cNvPr id="29" name="Image 2" descr="preencoded.png"/>
          <p:cNvPicPr>
            <a:picLocks noChangeAspect="1"/>
          </p:cNvPicPr>
          <p:nvPr/>
        </p:nvPicPr>
        <p:blipFill>
          <a:blip r:embed="rId5"/>
          <a:stretch>
            <a:fillRect/>
          </a:stretch>
        </p:blipFill>
        <p:spPr>
          <a:xfrm>
            <a:off x="704088" y="2944368"/>
            <a:ext cx="219456" cy="219456"/>
          </a:xfrm>
          <a:prstGeom prst="rect">
            <a:avLst/>
          </a:prstGeom>
        </p:spPr>
      </p:pic>
      <p:sp>
        <p:nvSpPr>
          <p:cNvPr id="30" name="Text 24"/>
          <p:cNvSpPr txBox="1"/>
          <p:nvPr/>
        </p:nvSpPr>
        <p:spPr>
          <a:xfrm>
            <a:off x="594360" y="3337560"/>
            <a:ext cx="1737360" cy="237744"/>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Schema evolution</a:t>
            </a:r>
            <a:endParaRPr lang="en-US" sz="1200" dirty="0"/>
          </a:p>
        </p:txBody>
      </p:sp>
      <p:sp>
        <p:nvSpPr>
          <p:cNvPr id="31" name="Text 25"/>
          <p:cNvSpPr txBox="1"/>
          <p:nvPr/>
        </p:nvSpPr>
        <p:spPr>
          <a:xfrm>
            <a:off x="594360" y="3575304"/>
            <a:ext cx="1737360" cy="36576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Add a column without rewriting history.</a:t>
            </a:r>
            <a:endParaRPr lang="en-US" sz="950" dirty="0"/>
          </a:p>
        </p:txBody>
      </p:sp>
      <p:sp>
        <p:nvSpPr>
          <p:cNvPr id="32" name="Shape 26"/>
          <p:cNvSpPr/>
          <p:nvPr/>
        </p:nvSpPr>
        <p:spPr>
          <a:xfrm>
            <a:off x="2560320" y="2697480"/>
            <a:ext cx="1965960" cy="1280160"/>
          </a:xfrm>
          <a:prstGeom prst="roundRect">
            <a:avLst>
              <a:gd name="adj" fmla="val 5714"/>
            </a:avLst>
          </a:prstGeom>
          <a:solidFill>
            <a:srgbClr val="F4F7F5"/>
          </a:solidFill>
          <a:ln w="9525">
            <a:solidFill>
              <a:srgbClr val="D5DED9"/>
            </a:solidFill>
            <a:prstDash val="solid"/>
          </a:ln>
        </p:spPr>
      </p:sp>
      <p:sp>
        <p:nvSpPr>
          <p:cNvPr id="33" name="Shape 27"/>
          <p:cNvSpPr/>
          <p:nvPr/>
        </p:nvSpPr>
        <p:spPr>
          <a:xfrm>
            <a:off x="2697480" y="2834640"/>
            <a:ext cx="438912" cy="438912"/>
          </a:xfrm>
          <a:prstGeom prst="ellipse">
            <a:avLst/>
          </a:prstGeom>
          <a:solidFill>
            <a:srgbClr val="00704A">
              <a:alpha val="22000"/>
            </a:srgbClr>
          </a:solidFill>
          <a:ln/>
        </p:spPr>
      </p:sp>
      <p:pic>
        <p:nvPicPr>
          <p:cNvPr id="34" name="Image 3" descr="preencoded.png"/>
          <p:cNvPicPr>
            <a:picLocks noChangeAspect="1"/>
          </p:cNvPicPr>
          <p:nvPr/>
        </p:nvPicPr>
        <p:blipFill>
          <a:blip r:embed="rId6"/>
          <a:stretch>
            <a:fillRect/>
          </a:stretch>
        </p:blipFill>
        <p:spPr>
          <a:xfrm>
            <a:off x="2807208" y="2944368"/>
            <a:ext cx="219456" cy="219456"/>
          </a:xfrm>
          <a:prstGeom prst="rect">
            <a:avLst/>
          </a:prstGeom>
        </p:spPr>
      </p:pic>
      <p:sp>
        <p:nvSpPr>
          <p:cNvPr id="35" name="Text 28"/>
          <p:cNvSpPr txBox="1"/>
          <p:nvPr/>
        </p:nvSpPr>
        <p:spPr>
          <a:xfrm>
            <a:off x="2697480" y="3337560"/>
            <a:ext cx="1737360" cy="237744"/>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Partition pruning</a:t>
            </a:r>
            <a:endParaRPr lang="en-US" sz="1200" dirty="0"/>
          </a:p>
        </p:txBody>
      </p:sp>
      <p:sp>
        <p:nvSpPr>
          <p:cNvPr id="36" name="Text 29"/>
          <p:cNvSpPr txBox="1"/>
          <p:nvPr/>
        </p:nvSpPr>
        <p:spPr>
          <a:xfrm>
            <a:off x="2697480" y="3575304"/>
            <a:ext cx="1737360" cy="36576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A query for one quarter skips all the others.</a:t>
            </a:r>
            <a:endParaRPr lang="en-US" sz="950" dirty="0"/>
          </a:p>
        </p:txBody>
      </p:sp>
      <p:sp>
        <p:nvSpPr>
          <p:cNvPr id="37" name="Shape 30"/>
          <p:cNvSpPr/>
          <p:nvPr/>
        </p:nvSpPr>
        <p:spPr>
          <a:xfrm>
            <a:off x="4754880" y="1280160"/>
            <a:ext cx="3931920" cy="1737360"/>
          </a:xfrm>
          <a:prstGeom prst="roundRect">
            <a:avLst>
              <a:gd name="adj" fmla="val 4211"/>
            </a:avLst>
          </a:prstGeom>
          <a:solidFill>
            <a:srgbClr val="F4F7F5"/>
          </a:solidFill>
          <a:ln w="9525">
            <a:solidFill>
              <a:srgbClr val="D5DED9"/>
            </a:solidFill>
            <a:prstDash val="solid"/>
          </a:ln>
        </p:spPr>
      </p:sp>
      <p:sp>
        <p:nvSpPr>
          <p:cNvPr id="38" name="Text 31"/>
          <p:cNvSpPr txBox="1"/>
          <p:nvPr/>
        </p:nvSpPr>
        <p:spPr>
          <a:xfrm>
            <a:off x="4892040" y="1371600"/>
            <a:ext cx="3657600" cy="201168"/>
          </a:xfrm>
          <a:prstGeom prst="rect">
            <a:avLst/>
          </a:prstGeom>
          <a:noFill/>
          <a:ln/>
        </p:spPr>
        <p:txBody>
          <a:bodyPr wrap="square" lIns="0" tIns="0" rIns="0" bIns="0" rtlCol="0" anchor="t"/>
          <a:lstStyle/>
          <a:p>
            <a:pPr marL="0" indent="0">
              <a:buNone/>
            </a:pPr>
            <a:r>
              <a:rPr lang="en-US" sz="900" b="1" kern="0" spc="100" dirty="0">
                <a:solidFill>
                  <a:srgbClr val="00704A"/>
                </a:solidFill>
                <a:latin typeface="Calibri" pitchFamily="34" charset="0"/>
                <a:ea typeface="Calibri" pitchFamily="34" charset="-122"/>
                <a:cs typeface="Calibri" pitchFamily="34" charset="-120"/>
              </a:rPr>
              <a:t>SPARK SQL + APACHE ICEBERG</a:t>
            </a:r>
            <a:endParaRPr lang="en-US" sz="900" dirty="0"/>
          </a:p>
        </p:txBody>
      </p:sp>
      <p:sp>
        <p:nvSpPr>
          <p:cNvPr id="39" name="Text 32"/>
          <p:cNvSpPr txBox="1"/>
          <p:nvPr/>
        </p:nvSpPr>
        <p:spPr>
          <a:xfrm>
            <a:off x="4892040" y="1609344"/>
            <a:ext cx="3657600" cy="1335024"/>
          </a:xfrm>
          <a:prstGeom prst="rect">
            <a:avLst/>
          </a:prstGeom>
          <a:noFill/>
          <a:ln/>
        </p:spPr>
        <p:txBody>
          <a:bodyPr wrap="square" lIns="0" tIns="0" rIns="0" bIns="0" rtlCol="0" anchor="t"/>
          <a:lstStyle/>
          <a:p>
            <a:pPr marL="0" indent="0">
              <a:lnSpc>
                <a:spcPct val="105000"/>
              </a:lnSpc>
              <a:buNone/>
            </a:pPr>
            <a:r>
              <a:rPr lang="en-US" sz="1000" i="1" dirty="0">
                <a:solidFill>
                  <a:srgbClr val="00704A"/>
                </a:solidFill>
                <a:latin typeface="Courier New" pitchFamily="34" charset="0"/>
                <a:ea typeface="Courier New" pitchFamily="34" charset="-122"/>
                <a:cs typeface="Courier New" pitchFamily="34" charset="-120"/>
              </a:rPr>
              <a:t>-- The table exactly as it stood</a:t>
            </a:r>
            <a:endParaRPr lang="en-US" sz="1000" dirty="0"/>
          </a:p>
          <a:p>
            <a:pPr marL="0" indent="0">
              <a:lnSpc>
                <a:spcPct val="105000"/>
              </a:lnSpc>
              <a:buNone/>
            </a:pPr>
            <a:r>
              <a:rPr lang="en-US" sz="1000" i="1" dirty="0">
                <a:solidFill>
                  <a:srgbClr val="00704A"/>
                </a:solidFill>
                <a:latin typeface="Courier New" pitchFamily="34" charset="0"/>
                <a:ea typeface="Courier New" pitchFamily="34" charset="-122"/>
                <a:cs typeface="Courier New" pitchFamily="34" charset="-120"/>
              </a:rPr>
              <a:t>-- when the Q2 figures were published</a:t>
            </a:r>
            <a:endParaRPr lang="en-US" sz="1000" dirty="0"/>
          </a:p>
          <a:p>
            <a:pPr marL="0" indent="0">
              <a:lnSpc>
                <a:spcPct val="105000"/>
              </a:lnSpc>
              <a:buNone/>
            </a:pPr>
            <a:r>
              <a:rPr lang="en-US" sz="1000" dirty="0">
                <a:solidFill>
                  <a:srgbClr val="231F20"/>
                </a:solidFill>
                <a:latin typeface="Courier New" pitchFamily="34" charset="0"/>
                <a:ea typeface="Courier New" pitchFamily="34" charset="-122"/>
                <a:cs typeface="Courier New" pitchFamily="34" charset="-120"/>
              </a:rPr>
              <a:t>SELECT admin1, dl_kbps_weighted</a:t>
            </a:r>
            <a:endParaRPr lang="en-US" sz="1000" dirty="0"/>
          </a:p>
          <a:p>
            <a:pPr marL="0" indent="0">
              <a:lnSpc>
                <a:spcPct val="105000"/>
              </a:lnSpc>
              <a:buNone/>
            </a:pPr>
            <a:r>
              <a:rPr lang="en-US" sz="1000" dirty="0">
                <a:solidFill>
                  <a:srgbClr val="231F20"/>
                </a:solidFill>
                <a:latin typeface="Courier New" pitchFamily="34" charset="0"/>
                <a:ea typeface="Courier New" pitchFamily="34" charset="-122"/>
                <a:cs typeface="Courier New" pitchFamily="34" charset="-120"/>
              </a:rPr>
              <a:t>FROM   lake.gold.connectivity</a:t>
            </a:r>
            <a:endParaRPr lang="en-US" sz="1000" dirty="0"/>
          </a:p>
          <a:p>
            <a:pPr marL="0" indent="0">
              <a:lnSpc>
                <a:spcPct val="105000"/>
              </a:lnSpc>
              <a:buNone/>
            </a:pPr>
            <a:r>
              <a:rPr lang="en-US" sz="1000" dirty="0">
                <a:solidFill>
                  <a:srgbClr val="231F20"/>
                </a:solidFill>
                <a:latin typeface="Courier New" pitchFamily="34" charset="0"/>
                <a:ea typeface="Courier New" pitchFamily="34" charset="-122"/>
                <a:cs typeface="Courier New" pitchFamily="34" charset="-120"/>
              </a:rPr>
              <a:t>TIMESTAMP AS OF '2026-07-15 00:00:00'</a:t>
            </a:r>
            <a:endParaRPr lang="en-US" sz="1000" dirty="0"/>
          </a:p>
          <a:p>
            <a:pPr marL="0" indent="0">
              <a:lnSpc>
                <a:spcPct val="105000"/>
              </a:lnSpc>
              <a:buNone/>
            </a:pPr>
            <a:r>
              <a:rPr lang="en-US" sz="1000" dirty="0">
                <a:solidFill>
                  <a:srgbClr val="231F20"/>
                </a:solidFill>
                <a:latin typeface="Courier New" pitchFamily="34" charset="0"/>
                <a:ea typeface="Courier New" pitchFamily="34" charset="-122"/>
                <a:cs typeface="Courier New" pitchFamily="34" charset="-120"/>
              </a:rPr>
              <a:t>WHERE  year = 2026 AND quarter = 2;</a:t>
            </a:r>
            <a:endParaRPr lang="en-US" sz="1000" dirty="0"/>
          </a:p>
        </p:txBody>
      </p:sp>
      <p:sp>
        <p:nvSpPr>
          <p:cNvPr id="40" name="Shape 33"/>
          <p:cNvSpPr/>
          <p:nvPr/>
        </p:nvSpPr>
        <p:spPr>
          <a:xfrm>
            <a:off x="4754880" y="3154680"/>
            <a:ext cx="3931920" cy="822960"/>
          </a:xfrm>
          <a:prstGeom prst="roundRect">
            <a:avLst>
              <a:gd name="adj" fmla="val 8889"/>
            </a:avLst>
          </a:prstGeom>
          <a:solidFill>
            <a:srgbClr val="E8F5EF"/>
          </a:solidFill>
          <a:ln w="15875">
            <a:solidFill>
              <a:srgbClr val="00704A"/>
            </a:solidFill>
            <a:prstDash val="solid"/>
          </a:ln>
        </p:spPr>
      </p:sp>
      <p:sp>
        <p:nvSpPr>
          <p:cNvPr id="41" name="Text 34"/>
          <p:cNvSpPr txBox="1"/>
          <p:nvPr/>
        </p:nvSpPr>
        <p:spPr>
          <a:xfrm>
            <a:off x="4919472" y="3218688"/>
            <a:ext cx="3611880" cy="713232"/>
          </a:xfrm>
          <a:prstGeom prst="rect">
            <a:avLst/>
          </a:prstGeom>
          <a:noFill/>
          <a:ln/>
        </p:spPr>
        <p:txBody>
          <a:bodyPr wrap="square" lIns="0" tIns="0" rIns="0" bIns="0" rtlCol="0" anchor="t"/>
          <a:lstStyle/>
          <a:p>
            <a:pPr marL="0" indent="0">
              <a:buNone/>
            </a:pPr>
            <a:r>
              <a:rPr lang="en-US" sz="1200" b="1" dirty="0">
                <a:solidFill>
                  <a:srgbClr val="00704A"/>
                </a:solidFill>
                <a:latin typeface="Calibri" pitchFamily="34" charset="0"/>
                <a:ea typeface="Calibri" pitchFamily="34" charset="-122"/>
                <a:cs typeface="Calibri" pitchFamily="34" charset="-120"/>
              </a:rPr>
              <a:t>Why statisticians care
</a:t>
            </a:r>
            <a:r>
              <a:rPr lang="en-US" sz="1050" dirty="0">
                <a:solidFill>
                  <a:srgbClr val="231F20"/>
                </a:solidFill>
                <a:latin typeface="Calibri" pitchFamily="34" charset="0"/>
                <a:ea typeface="Calibri" pitchFamily="34" charset="-122"/>
                <a:cs typeface="Calibri" pitchFamily="34" charset="-120"/>
              </a:rPr>
              <a:t>A revision can be explained by re-running the exact input state of a published number.</a:t>
            </a:r>
            <a:endParaRPr lang="en-US" sz="1200" dirty="0"/>
          </a:p>
        </p:txBody>
      </p:sp>
      <p:sp>
        <p:nvSpPr>
          <p:cNvPr id="42" name="Text 35"/>
          <p:cNvSpPr txBox="1"/>
          <p:nvPr/>
        </p:nvSpPr>
        <p:spPr>
          <a:xfrm>
            <a:off x="457200" y="4590288"/>
            <a:ext cx="7498080" cy="201168"/>
          </a:xfrm>
          <a:prstGeom prst="rect">
            <a:avLst/>
          </a:prstGeom>
          <a:noFill/>
          <a:ln/>
        </p:spPr>
        <p:txBody>
          <a:bodyPr wrap="square" lIns="0" tIns="0" rIns="0" bIns="0" rtlCol="0" anchor="b"/>
          <a:lstStyle/>
          <a:p>
            <a:pPr marL="0" indent="0">
              <a:buNone/>
            </a:pPr>
            <a:r>
              <a:rPr lang="en-US" sz="900" i="1" dirty="0">
                <a:solidFill>
                  <a:srgbClr val="5E6964"/>
                </a:solidFill>
                <a:latin typeface="Calibri" pitchFamily="34" charset="0"/>
                <a:ea typeface="Calibri" pitchFamily="34" charset="-122"/>
                <a:cs typeface="Calibri" pitchFamily="34" charset="-120"/>
              </a:rPr>
              <a:t>Sources: Apache Iceberg and Delta Lake documentation. Table and column names are illustrative.</a:t>
            </a:r>
            <a:endParaRPr lang="en-US" sz="9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82128" y="329184"/>
            <a:ext cx="91440" cy="91440"/>
          </a:xfrm>
          <a:prstGeom prst="ellipse">
            <a:avLst/>
          </a:prstGeom>
          <a:solidFill>
            <a:srgbClr val="FFFFFF">
              <a:alpha val="40000"/>
            </a:srgbClr>
          </a:solidFill>
          <a:ln/>
        </p:spPr>
      </p:sp>
      <p:sp>
        <p:nvSpPr>
          <p:cNvPr id="3" name="Shape 1"/>
          <p:cNvSpPr/>
          <p:nvPr/>
        </p:nvSpPr>
        <p:spPr>
          <a:xfrm>
            <a:off x="8028432" y="329184"/>
            <a:ext cx="91440" cy="91440"/>
          </a:xfrm>
          <a:prstGeom prst="ellipse">
            <a:avLst/>
          </a:prstGeom>
          <a:solidFill>
            <a:srgbClr val="FFFFFF">
              <a:alpha val="40000"/>
            </a:srgbClr>
          </a:solidFill>
          <a:ln/>
        </p:spPr>
      </p:sp>
      <p:sp>
        <p:nvSpPr>
          <p:cNvPr id="4" name="Shape 2"/>
          <p:cNvSpPr/>
          <p:nvPr/>
        </p:nvSpPr>
        <p:spPr>
          <a:xfrm>
            <a:off x="8161020" y="315468"/>
            <a:ext cx="118872" cy="118872"/>
          </a:xfrm>
          <a:prstGeom prst="ellipse">
            <a:avLst/>
          </a:prstGeom>
          <a:solidFill>
            <a:srgbClr val="F5C242"/>
          </a:solidFill>
          <a:ln/>
        </p:spPr>
      </p:sp>
      <p:sp>
        <p:nvSpPr>
          <p:cNvPr id="5" name="Shape 3"/>
          <p:cNvSpPr/>
          <p:nvPr/>
        </p:nvSpPr>
        <p:spPr>
          <a:xfrm>
            <a:off x="8321040" y="329184"/>
            <a:ext cx="91440" cy="91440"/>
          </a:xfrm>
          <a:prstGeom prst="ellipse">
            <a:avLst/>
          </a:prstGeom>
          <a:solidFill>
            <a:srgbClr val="FFFFFF">
              <a:alpha val="40000"/>
            </a:srgbClr>
          </a:solidFill>
          <a:ln/>
        </p:spPr>
      </p:sp>
      <p:sp>
        <p:nvSpPr>
          <p:cNvPr id="6" name="Shape 4"/>
          <p:cNvSpPr/>
          <p:nvPr/>
        </p:nvSpPr>
        <p:spPr>
          <a:xfrm>
            <a:off x="8467344" y="329184"/>
            <a:ext cx="91440" cy="91440"/>
          </a:xfrm>
          <a:prstGeom prst="ellipse">
            <a:avLst/>
          </a:prstGeom>
          <a:solidFill>
            <a:srgbClr val="FFFFFF">
              <a:alpha val="40000"/>
            </a:srgbClr>
          </a:solidFill>
          <a:ln/>
        </p:spPr>
      </p:sp>
      <p:sp>
        <p:nvSpPr>
          <p:cNvPr id="7" name="Shape 5"/>
          <p:cNvSpPr/>
          <p:nvPr/>
        </p:nvSpPr>
        <p:spPr>
          <a:xfrm>
            <a:off x="8613648" y="329184"/>
            <a:ext cx="91440" cy="91440"/>
          </a:xfrm>
          <a:prstGeom prst="ellipse">
            <a:avLst/>
          </a:prstGeom>
          <a:solidFill>
            <a:srgbClr val="FFFFFF">
              <a:alpha val="40000"/>
            </a:srgbClr>
          </a:solidFill>
          <a:ln/>
        </p:spPr>
      </p:sp>
      <p:sp>
        <p:nvSpPr>
          <p:cNvPr id="8" name="Text 6"/>
          <p:cNvSpPr txBox="1"/>
          <p:nvPr/>
        </p:nvSpPr>
        <p:spPr>
          <a:xfrm>
            <a:off x="548640" y="914400"/>
            <a:ext cx="45720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03 OF 06</a:t>
            </a:r>
            <a:endParaRPr lang="en-US" sz="1050" dirty="0"/>
          </a:p>
        </p:txBody>
      </p:sp>
      <p:sp>
        <p:nvSpPr>
          <p:cNvPr id="9" name="Text 7"/>
          <p:cNvSpPr txBox="1"/>
          <p:nvPr/>
        </p:nvSpPr>
        <p:spPr>
          <a:xfrm>
            <a:off x="502920" y="1097280"/>
            <a:ext cx="2743200" cy="1234440"/>
          </a:xfrm>
          <a:prstGeom prst="rect">
            <a:avLst/>
          </a:prstGeom>
          <a:noFill/>
          <a:ln/>
        </p:spPr>
        <p:txBody>
          <a:bodyPr wrap="square" lIns="0" tIns="0" rIns="0" bIns="0" rtlCol="0" anchor="t"/>
          <a:lstStyle/>
          <a:p>
            <a:pPr marL="0" indent="0">
              <a:buNone/>
            </a:pPr>
            <a:r>
              <a:rPr lang="en-US" sz="9600" b="1" dirty="0">
                <a:solidFill>
                  <a:srgbClr val="F5C242"/>
                </a:solidFill>
                <a:latin typeface="Calibri" pitchFamily="34" charset="0"/>
                <a:ea typeface="Calibri" pitchFamily="34" charset="-122"/>
                <a:cs typeface="Calibri" pitchFamily="34" charset="-120"/>
              </a:rPr>
              <a:t>03</a:t>
            </a:r>
            <a:endParaRPr lang="en-US" sz="9600" dirty="0"/>
          </a:p>
        </p:txBody>
      </p:sp>
      <p:sp>
        <p:nvSpPr>
          <p:cNvPr id="10" name="Text 8"/>
          <p:cNvSpPr txBox="1"/>
          <p:nvPr/>
        </p:nvSpPr>
        <p:spPr>
          <a:xfrm>
            <a:off x="548640" y="2487168"/>
            <a:ext cx="5120640" cy="68580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Distributed processing</a:t>
            </a:r>
            <a:endParaRPr lang="en-US" sz="4000" dirty="0"/>
          </a:p>
        </p:txBody>
      </p:sp>
      <p:sp>
        <p:nvSpPr>
          <p:cNvPr id="11" name="Text 9"/>
          <p:cNvSpPr txBox="1"/>
          <p:nvPr/>
        </p:nvSpPr>
        <p:spPr>
          <a:xfrm>
            <a:off x="548640" y="3246120"/>
            <a:ext cx="4937760" cy="73152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How do a hundred machines compute one statistic as if they were one?</a:t>
            </a:r>
            <a:endParaRPr lang="en-US" sz="1800" dirty="0"/>
          </a:p>
        </p:txBody>
      </p:sp>
      <p:sp>
        <p:nvSpPr>
          <p:cNvPr id="12" name="Shape 10"/>
          <p:cNvSpPr/>
          <p:nvPr/>
        </p:nvSpPr>
        <p:spPr>
          <a:xfrm>
            <a:off x="5989320" y="1143000"/>
            <a:ext cx="2651760" cy="2651760"/>
          </a:xfrm>
          <a:prstGeom prst="ellipse">
            <a:avLst/>
          </a:prstGeom>
          <a:solidFill>
            <a:srgbClr val="FFFFFF">
              <a:alpha val="10000"/>
            </a:srgbClr>
          </a:solidFill>
          <a:ln/>
        </p:spPr>
      </p:sp>
      <p:sp>
        <p:nvSpPr>
          <p:cNvPr id="13" name="Shape 11"/>
          <p:cNvSpPr/>
          <p:nvPr/>
        </p:nvSpPr>
        <p:spPr>
          <a:xfrm>
            <a:off x="6355080" y="1508760"/>
            <a:ext cx="1920240" cy="1920240"/>
          </a:xfrm>
          <a:prstGeom prst="ellipse">
            <a:avLst/>
          </a:prstGeom>
          <a:solidFill>
            <a:srgbClr val="FFFFFF">
              <a:alpha val="15000"/>
            </a:srgbClr>
          </a:solidFill>
          <a:ln/>
        </p:spPr>
      </p:sp>
      <p:sp>
        <p:nvSpPr>
          <p:cNvPr id="14" name="Shape 12"/>
          <p:cNvSpPr/>
          <p:nvPr/>
        </p:nvSpPr>
        <p:spPr>
          <a:xfrm>
            <a:off x="6720840" y="1874520"/>
            <a:ext cx="1188720" cy="1188720"/>
          </a:xfrm>
          <a:prstGeom prst="ellipse">
            <a:avLst/>
          </a:prstGeom>
          <a:solidFill>
            <a:srgbClr val="FFFFFF"/>
          </a:solidFill>
          <a:ln/>
        </p:spPr>
      </p:sp>
      <p:pic>
        <p:nvPicPr>
          <p:cNvPr id="15" name="Image 0" descr="preencoded.png"/>
          <p:cNvPicPr>
            <a:picLocks noChangeAspect="1"/>
          </p:cNvPicPr>
          <p:nvPr/>
        </p:nvPicPr>
        <p:blipFill>
          <a:blip r:embed="rId4"/>
          <a:stretch>
            <a:fillRect/>
          </a:stretch>
        </p:blipFill>
        <p:spPr>
          <a:xfrm>
            <a:off x="7022592" y="2176272"/>
            <a:ext cx="585216" cy="585216"/>
          </a:xfrm>
          <a:prstGeom prst="rect">
            <a:avLst/>
          </a:prstGeom>
        </p:spPr>
      </p:pic>
      <p:sp>
        <p:nvSpPr>
          <p:cNvPr id="16" name="Text 13"/>
          <p:cNvSpPr txBox="1"/>
          <p:nvPr/>
        </p:nvSpPr>
        <p:spPr>
          <a:xfrm>
            <a:off x="548640" y="4754880"/>
            <a:ext cx="5486400" cy="182880"/>
          </a:xfrm>
          <a:prstGeom prst="rect">
            <a:avLst/>
          </a:prstGeom>
          <a:noFill/>
          <a:ln/>
        </p:spPr>
        <p:txBody>
          <a:bodyPr wrap="square" lIns="0" tIns="0" rIns="0" bIns="0" rtlCol="0" anchor="t"/>
          <a:lstStyle/>
          <a:p>
            <a:pPr marL="0" indent="0">
              <a:buNone/>
            </a:pPr>
            <a:r>
              <a:rPr lang="en-US" sz="850" dirty="0">
                <a:solidFill>
                  <a:srgbClr val="E6F6EE"/>
                </a:solidFill>
                <a:latin typeface="Calibri" pitchFamily="34" charset="0"/>
                <a:ea typeface="Calibri" pitchFamily="34" charset="-122"/>
                <a:cs typeface="Calibri" pitchFamily="34" charset="-120"/>
              </a:rPr>
              <a:t>Engines of Scale · Big Data Technologies for Statistical Systems · AfDB – DI4A</a:t>
            </a:r>
            <a:endParaRPr lang="en-US" sz="85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DISTRIBUTED PROCESSING</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MapReduce: the idea inside every engine</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61020" y="315468"/>
            <a:ext cx="118872" cy="118872"/>
          </a:xfrm>
          <a:prstGeom prst="ellipse">
            <a:avLst/>
          </a:prstGeom>
          <a:solidFill>
            <a:srgbClr val="0E7C86"/>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AfDB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15</a:t>
            </a:r>
            <a:endParaRPr lang="en-US" sz="850" dirty="0"/>
          </a:p>
        </p:txBody>
      </p:sp>
      <p:sp>
        <p:nvSpPr>
          <p:cNvPr id="17" name="Text 14"/>
          <p:cNvSpPr txBox="1"/>
          <p:nvPr/>
        </p:nvSpPr>
        <p:spPr>
          <a:xfrm>
            <a:off x="457200" y="1188720"/>
            <a:ext cx="8229600" cy="228600"/>
          </a:xfrm>
          <a:prstGeom prst="rect">
            <a:avLst/>
          </a:prstGeom>
          <a:noFill/>
          <a:ln/>
        </p:spPr>
        <p:txBody>
          <a:bodyPr wrap="square" lIns="0" tIns="0" rIns="0" bIns="0" rtlCol="0" anchor="t"/>
          <a:lstStyle/>
          <a:p>
            <a:pPr marL="0" indent="0">
              <a:buNone/>
            </a:pPr>
            <a:r>
              <a:rPr lang="en-US" sz="1150" i="1" dirty="0">
                <a:solidFill>
                  <a:srgbClr val="5E6964"/>
                </a:solidFill>
                <a:latin typeface="Calibri" pitchFamily="34" charset="0"/>
                <a:ea typeface="Calibri" pitchFamily="34" charset="-122"/>
                <a:cs typeface="Calibri" pitchFamily="34" charset="-120"/>
              </a:rPr>
              <a:t>Worked example — tests-weighted mean download speed per region, from Ookla tiles</a:t>
            </a:r>
            <a:endParaRPr lang="en-US" sz="1150" dirty="0"/>
          </a:p>
        </p:txBody>
      </p:sp>
      <p:sp>
        <p:nvSpPr>
          <p:cNvPr id="18" name="Shape 15"/>
          <p:cNvSpPr/>
          <p:nvPr/>
        </p:nvSpPr>
        <p:spPr>
          <a:xfrm>
            <a:off x="457200" y="1554480"/>
            <a:ext cx="1463040" cy="1874520"/>
          </a:xfrm>
          <a:prstGeom prst="roundRect">
            <a:avLst>
              <a:gd name="adj" fmla="val 5000"/>
            </a:avLst>
          </a:prstGeom>
          <a:solidFill>
            <a:srgbClr val="F4F7F5"/>
          </a:solidFill>
          <a:ln w="9525">
            <a:solidFill>
              <a:srgbClr val="D5DED9"/>
            </a:solidFill>
            <a:prstDash val="solid"/>
          </a:ln>
        </p:spPr>
      </p:sp>
      <p:sp>
        <p:nvSpPr>
          <p:cNvPr id="19" name="Shape 16"/>
          <p:cNvSpPr/>
          <p:nvPr/>
        </p:nvSpPr>
        <p:spPr>
          <a:xfrm>
            <a:off x="594360" y="1673352"/>
            <a:ext cx="365760" cy="365760"/>
          </a:xfrm>
          <a:prstGeom prst="ellipse">
            <a:avLst/>
          </a:prstGeom>
          <a:solidFill>
            <a:srgbClr val="0E7C86"/>
          </a:solidFill>
          <a:ln/>
        </p:spPr>
      </p:sp>
      <p:sp>
        <p:nvSpPr>
          <p:cNvPr id="20" name="Text 17"/>
          <p:cNvSpPr txBox="1"/>
          <p:nvPr/>
        </p:nvSpPr>
        <p:spPr>
          <a:xfrm>
            <a:off x="594360" y="1673352"/>
            <a:ext cx="36576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1" name="Text 18"/>
          <p:cNvSpPr txBox="1"/>
          <p:nvPr/>
        </p:nvSpPr>
        <p:spPr>
          <a:xfrm>
            <a:off x="1051560" y="1673352"/>
            <a:ext cx="822960" cy="365760"/>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Split</a:t>
            </a:r>
            <a:endParaRPr lang="en-US" sz="1400" dirty="0"/>
          </a:p>
        </p:txBody>
      </p:sp>
      <p:sp>
        <p:nvSpPr>
          <p:cNvPr id="22" name="Text 19"/>
          <p:cNvSpPr txBox="1"/>
          <p:nvPr/>
        </p:nvSpPr>
        <p:spPr>
          <a:xfrm>
            <a:off x="594360" y="2148840"/>
            <a:ext cx="1188720" cy="64008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Tiles are divided into chunks, one per worker.</a:t>
            </a:r>
            <a:endParaRPr lang="en-US" sz="1000" dirty="0"/>
          </a:p>
        </p:txBody>
      </p:sp>
      <p:sp>
        <p:nvSpPr>
          <p:cNvPr id="23" name="Shape 20"/>
          <p:cNvSpPr/>
          <p:nvPr/>
        </p:nvSpPr>
        <p:spPr>
          <a:xfrm>
            <a:off x="548640" y="2852928"/>
            <a:ext cx="1280160" cy="457200"/>
          </a:xfrm>
          <a:prstGeom prst="roundRect">
            <a:avLst>
              <a:gd name="adj" fmla="val 8000"/>
            </a:avLst>
          </a:prstGeom>
          <a:solidFill>
            <a:srgbClr val="FFFFFF"/>
          </a:solidFill>
          <a:ln w="9525">
            <a:solidFill>
              <a:srgbClr val="D5DED9"/>
            </a:solidFill>
            <a:prstDash val="solid"/>
          </a:ln>
        </p:spPr>
      </p:sp>
      <p:sp>
        <p:nvSpPr>
          <p:cNvPr id="24" name="Text 21"/>
          <p:cNvSpPr txBox="1"/>
          <p:nvPr/>
        </p:nvSpPr>
        <p:spPr>
          <a:xfrm>
            <a:off x="566928" y="2852928"/>
            <a:ext cx="1243584" cy="457200"/>
          </a:xfrm>
          <a:prstGeom prst="rect">
            <a:avLst/>
          </a:prstGeom>
          <a:noFill/>
          <a:ln/>
        </p:spPr>
        <p:txBody>
          <a:bodyPr wrap="square" lIns="0" tIns="0" rIns="0" bIns="0" rtlCol="0" anchor="ctr"/>
          <a:lstStyle/>
          <a:p>
            <a:pPr marL="0" indent="0" algn="ctr">
              <a:buNone/>
            </a:pPr>
            <a:r>
              <a:rPr lang="en-US" sz="850" dirty="0">
                <a:solidFill>
                  <a:srgbClr val="0E7C86"/>
                </a:solidFill>
                <a:latin typeface="Courier New" pitchFamily="34" charset="0"/>
                <a:ea typeface="Courier New" pitchFamily="34" charset="-122"/>
                <a:cs typeface="Courier New" pitchFamily="34" charset="-120"/>
              </a:rPr>
              <a:t>chunk 1…n</a:t>
            </a:r>
            <a:endParaRPr lang="en-US" sz="850" dirty="0"/>
          </a:p>
        </p:txBody>
      </p:sp>
      <p:sp>
        <p:nvSpPr>
          <p:cNvPr id="25" name="Shape 22"/>
          <p:cNvSpPr/>
          <p:nvPr/>
        </p:nvSpPr>
        <p:spPr>
          <a:xfrm>
            <a:off x="1947672" y="2487168"/>
            <a:ext cx="173736" cy="91"/>
          </a:xfrm>
          <a:prstGeom prst="line">
            <a:avLst/>
          </a:prstGeom>
          <a:noFill/>
          <a:ln w="15875">
            <a:solidFill>
              <a:srgbClr val="5E6964"/>
            </a:solidFill>
            <a:prstDash val="solid"/>
            <a:tailEnd type="triangle"/>
          </a:ln>
        </p:spPr>
      </p:sp>
      <p:sp>
        <p:nvSpPr>
          <p:cNvPr id="26" name="Shape 23"/>
          <p:cNvSpPr/>
          <p:nvPr/>
        </p:nvSpPr>
        <p:spPr>
          <a:xfrm>
            <a:off x="2148840" y="1554480"/>
            <a:ext cx="1463040" cy="1874520"/>
          </a:xfrm>
          <a:prstGeom prst="roundRect">
            <a:avLst>
              <a:gd name="adj" fmla="val 5000"/>
            </a:avLst>
          </a:prstGeom>
          <a:solidFill>
            <a:srgbClr val="F4F7F5"/>
          </a:solidFill>
          <a:ln w="9525">
            <a:solidFill>
              <a:srgbClr val="D5DED9"/>
            </a:solidFill>
            <a:prstDash val="solid"/>
          </a:ln>
        </p:spPr>
      </p:sp>
      <p:sp>
        <p:nvSpPr>
          <p:cNvPr id="27" name="Shape 24"/>
          <p:cNvSpPr/>
          <p:nvPr/>
        </p:nvSpPr>
        <p:spPr>
          <a:xfrm>
            <a:off x="2286000" y="1673352"/>
            <a:ext cx="365760" cy="365760"/>
          </a:xfrm>
          <a:prstGeom prst="ellipse">
            <a:avLst/>
          </a:prstGeom>
          <a:solidFill>
            <a:srgbClr val="0E7C86"/>
          </a:solidFill>
          <a:ln/>
        </p:spPr>
      </p:sp>
      <p:sp>
        <p:nvSpPr>
          <p:cNvPr id="28" name="Text 25"/>
          <p:cNvSpPr txBox="1"/>
          <p:nvPr/>
        </p:nvSpPr>
        <p:spPr>
          <a:xfrm>
            <a:off x="2286000" y="1673352"/>
            <a:ext cx="36576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9" name="Text 26"/>
          <p:cNvSpPr txBox="1"/>
          <p:nvPr/>
        </p:nvSpPr>
        <p:spPr>
          <a:xfrm>
            <a:off x="2743200" y="1673352"/>
            <a:ext cx="822960" cy="365760"/>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Map</a:t>
            </a:r>
            <a:endParaRPr lang="en-US" sz="1400" dirty="0"/>
          </a:p>
        </p:txBody>
      </p:sp>
      <p:sp>
        <p:nvSpPr>
          <p:cNvPr id="30" name="Text 27"/>
          <p:cNvSpPr txBox="1"/>
          <p:nvPr/>
        </p:nvSpPr>
        <p:spPr>
          <a:xfrm>
            <a:off x="2286000" y="2148840"/>
            <a:ext cx="1188720" cy="64008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Each tile emits its region and two numbers.</a:t>
            </a:r>
            <a:endParaRPr lang="en-US" sz="1000" dirty="0"/>
          </a:p>
        </p:txBody>
      </p:sp>
      <p:sp>
        <p:nvSpPr>
          <p:cNvPr id="31" name="Shape 28"/>
          <p:cNvSpPr/>
          <p:nvPr/>
        </p:nvSpPr>
        <p:spPr>
          <a:xfrm>
            <a:off x="2240280" y="2852928"/>
            <a:ext cx="1280160" cy="457200"/>
          </a:xfrm>
          <a:prstGeom prst="roundRect">
            <a:avLst>
              <a:gd name="adj" fmla="val 8000"/>
            </a:avLst>
          </a:prstGeom>
          <a:solidFill>
            <a:srgbClr val="FFFFFF"/>
          </a:solidFill>
          <a:ln w="9525">
            <a:solidFill>
              <a:srgbClr val="D5DED9"/>
            </a:solidFill>
            <a:prstDash val="solid"/>
          </a:ln>
        </p:spPr>
      </p:sp>
      <p:sp>
        <p:nvSpPr>
          <p:cNvPr id="32" name="Text 29"/>
          <p:cNvSpPr txBox="1"/>
          <p:nvPr/>
        </p:nvSpPr>
        <p:spPr>
          <a:xfrm>
            <a:off x="2258568" y="2852928"/>
            <a:ext cx="1243584" cy="457200"/>
          </a:xfrm>
          <a:prstGeom prst="rect">
            <a:avLst/>
          </a:prstGeom>
          <a:noFill/>
          <a:ln/>
        </p:spPr>
        <p:txBody>
          <a:bodyPr wrap="square" lIns="0" tIns="0" rIns="0" bIns="0" rtlCol="0" anchor="ctr"/>
          <a:lstStyle/>
          <a:p>
            <a:pPr marL="0" indent="0" algn="ctr">
              <a:buNone/>
            </a:pPr>
            <a:r>
              <a:rPr lang="en-US" sz="850" dirty="0">
                <a:solidFill>
                  <a:srgbClr val="0E7C86"/>
                </a:solidFill>
                <a:latin typeface="Courier New" pitchFamily="34" charset="0"/>
                <a:ea typeface="Courier New" pitchFamily="34" charset="-122"/>
                <a:cs typeface="Courier New" pitchFamily="34" charset="-120"/>
              </a:rPr>
              <a:t>(region, speed × tests, tests)</a:t>
            </a:r>
            <a:endParaRPr lang="en-US" sz="850" dirty="0"/>
          </a:p>
        </p:txBody>
      </p:sp>
      <p:sp>
        <p:nvSpPr>
          <p:cNvPr id="33" name="Shape 30"/>
          <p:cNvSpPr/>
          <p:nvPr/>
        </p:nvSpPr>
        <p:spPr>
          <a:xfrm>
            <a:off x="3639312" y="2487168"/>
            <a:ext cx="173736" cy="91"/>
          </a:xfrm>
          <a:prstGeom prst="line">
            <a:avLst/>
          </a:prstGeom>
          <a:noFill/>
          <a:ln w="15875">
            <a:solidFill>
              <a:srgbClr val="5E6964"/>
            </a:solidFill>
            <a:prstDash val="solid"/>
            <a:tailEnd type="triangle"/>
          </a:ln>
        </p:spPr>
      </p:sp>
      <p:sp>
        <p:nvSpPr>
          <p:cNvPr id="34" name="Shape 31"/>
          <p:cNvSpPr/>
          <p:nvPr/>
        </p:nvSpPr>
        <p:spPr>
          <a:xfrm>
            <a:off x="3840480" y="1554480"/>
            <a:ext cx="1463040" cy="1874520"/>
          </a:xfrm>
          <a:prstGeom prst="roundRect">
            <a:avLst>
              <a:gd name="adj" fmla="val 5000"/>
            </a:avLst>
          </a:prstGeom>
          <a:solidFill>
            <a:srgbClr val="E8F5EF"/>
          </a:solidFill>
          <a:ln w="15875">
            <a:solidFill>
              <a:srgbClr val="0E7C86"/>
            </a:solidFill>
            <a:prstDash val="solid"/>
          </a:ln>
        </p:spPr>
      </p:sp>
      <p:sp>
        <p:nvSpPr>
          <p:cNvPr id="35" name="Shape 32"/>
          <p:cNvSpPr/>
          <p:nvPr/>
        </p:nvSpPr>
        <p:spPr>
          <a:xfrm>
            <a:off x="3977640" y="1673352"/>
            <a:ext cx="365760" cy="365760"/>
          </a:xfrm>
          <a:prstGeom prst="ellipse">
            <a:avLst/>
          </a:prstGeom>
          <a:solidFill>
            <a:srgbClr val="0E7C86"/>
          </a:solidFill>
          <a:ln/>
        </p:spPr>
      </p:sp>
      <p:sp>
        <p:nvSpPr>
          <p:cNvPr id="36" name="Text 33"/>
          <p:cNvSpPr txBox="1"/>
          <p:nvPr/>
        </p:nvSpPr>
        <p:spPr>
          <a:xfrm>
            <a:off x="3977640" y="1673352"/>
            <a:ext cx="36576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7" name="Text 34"/>
          <p:cNvSpPr txBox="1"/>
          <p:nvPr/>
        </p:nvSpPr>
        <p:spPr>
          <a:xfrm>
            <a:off x="4434840" y="1673352"/>
            <a:ext cx="822960" cy="365760"/>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Shuffle</a:t>
            </a:r>
            <a:endParaRPr lang="en-US" sz="1400" dirty="0"/>
          </a:p>
        </p:txBody>
      </p:sp>
      <p:sp>
        <p:nvSpPr>
          <p:cNvPr id="38" name="Text 35"/>
          <p:cNvSpPr txBox="1"/>
          <p:nvPr/>
        </p:nvSpPr>
        <p:spPr>
          <a:xfrm>
            <a:off x="3977640" y="2148840"/>
            <a:ext cx="1188720" cy="64008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Pairs with the same region move to the same node.</a:t>
            </a:r>
            <a:endParaRPr lang="en-US" sz="1000" dirty="0"/>
          </a:p>
        </p:txBody>
      </p:sp>
      <p:sp>
        <p:nvSpPr>
          <p:cNvPr id="39" name="Shape 36"/>
          <p:cNvSpPr/>
          <p:nvPr/>
        </p:nvSpPr>
        <p:spPr>
          <a:xfrm>
            <a:off x="3931920" y="2852928"/>
            <a:ext cx="1280160" cy="457200"/>
          </a:xfrm>
          <a:prstGeom prst="roundRect">
            <a:avLst>
              <a:gd name="adj" fmla="val 8000"/>
            </a:avLst>
          </a:prstGeom>
          <a:solidFill>
            <a:srgbClr val="FFFFFF"/>
          </a:solidFill>
          <a:ln w="9525">
            <a:solidFill>
              <a:srgbClr val="D5DED9"/>
            </a:solidFill>
            <a:prstDash val="solid"/>
          </a:ln>
        </p:spPr>
      </p:sp>
      <p:sp>
        <p:nvSpPr>
          <p:cNvPr id="40" name="Text 37"/>
          <p:cNvSpPr txBox="1"/>
          <p:nvPr/>
        </p:nvSpPr>
        <p:spPr>
          <a:xfrm>
            <a:off x="3950208" y="2852928"/>
            <a:ext cx="1243584" cy="457200"/>
          </a:xfrm>
          <a:prstGeom prst="rect">
            <a:avLst/>
          </a:prstGeom>
          <a:noFill/>
          <a:ln/>
        </p:spPr>
        <p:txBody>
          <a:bodyPr wrap="square" lIns="0" tIns="0" rIns="0" bIns="0" rtlCol="0" anchor="ctr"/>
          <a:lstStyle/>
          <a:p>
            <a:pPr marL="0" indent="0" algn="ctr">
              <a:buNone/>
            </a:pPr>
            <a:r>
              <a:rPr lang="en-US" sz="850" dirty="0">
                <a:solidFill>
                  <a:srgbClr val="0E7C86"/>
                </a:solidFill>
                <a:latin typeface="Courier New" pitchFamily="34" charset="0"/>
                <a:ea typeface="Courier New" pitchFamily="34" charset="-122"/>
                <a:cs typeface="Courier New" pitchFamily="34" charset="-120"/>
              </a:rPr>
              <a:t>Kigali → [ … ]</a:t>
            </a:r>
            <a:endParaRPr lang="en-US" sz="850" dirty="0"/>
          </a:p>
        </p:txBody>
      </p:sp>
      <p:sp>
        <p:nvSpPr>
          <p:cNvPr id="41" name="Shape 38"/>
          <p:cNvSpPr/>
          <p:nvPr/>
        </p:nvSpPr>
        <p:spPr>
          <a:xfrm>
            <a:off x="5330952" y="2487168"/>
            <a:ext cx="173736" cy="91"/>
          </a:xfrm>
          <a:prstGeom prst="line">
            <a:avLst/>
          </a:prstGeom>
          <a:noFill/>
          <a:ln w="15875">
            <a:solidFill>
              <a:srgbClr val="5E6964"/>
            </a:solidFill>
            <a:prstDash val="solid"/>
            <a:tailEnd type="triangle"/>
          </a:ln>
        </p:spPr>
      </p:sp>
      <p:sp>
        <p:nvSpPr>
          <p:cNvPr id="42" name="Shape 39"/>
          <p:cNvSpPr/>
          <p:nvPr/>
        </p:nvSpPr>
        <p:spPr>
          <a:xfrm>
            <a:off x="5532120" y="1554480"/>
            <a:ext cx="1463040" cy="1874520"/>
          </a:xfrm>
          <a:prstGeom prst="roundRect">
            <a:avLst>
              <a:gd name="adj" fmla="val 5000"/>
            </a:avLst>
          </a:prstGeom>
          <a:solidFill>
            <a:srgbClr val="F4F7F5"/>
          </a:solidFill>
          <a:ln w="9525">
            <a:solidFill>
              <a:srgbClr val="D5DED9"/>
            </a:solidFill>
            <a:prstDash val="solid"/>
          </a:ln>
        </p:spPr>
      </p:sp>
      <p:sp>
        <p:nvSpPr>
          <p:cNvPr id="43" name="Shape 40"/>
          <p:cNvSpPr/>
          <p:nvPr/>
        </p:nvSpPr>
        <p:spPr>
          <a:xfrm>
            <a:off x="5669280" y="1673352"/>
            <a:ext cx="365760" cy="365760"/>
          </a:xfrm>
          <a:prstGeom prst="ellipse">
            <a:avLst/>
          </a:prstGeom>
          <a:solidFill>
            <a:srgbClr val="0E7C86"/>
          </a:solidFill>
          <a:ln/>
        </p:spPr>
      </p:sp>
      <p:sp>
        <p:nvSpPr>
          <p:cNvPr id="44" name="Text 41"/>
          <p:cNvSpPr txBox="1"/>
          <p:nvPr/>
        </p:nvSpPr>
        <p:spPr>
          <a:xfrm>
            <a:off x="5669280" y="1673352"/>
            <a:ext cx="36576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45" name="Text 42"/>
          <p:cNvSpPr txBox="1"/>
          <p:nvPr/>
        </p:nvSpPr>
        <p:spPr>
          <a:xfrm>
            <a:off x="6126480" y="1673352"/>
            <a:ext cx="822960" cy="365760"/>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Reduce</a:t>
            </a:r>
            <a:endParaRPr lang="en-US" sz="1400" dirty="0"/>
          </a:p>
        </p:txBody>
      </p:sp>
      <p:sp>
        <p:nvSpPr>
          <p:cNvPr id="46" name="Text 43"/>
          <p:cNvSpPr txBox="1"/>
          <p:nvPr/>
        </p:nvSpPr>
        <p:spPr>
          <a:xfrm>
            <a:off x="5669280" y="2148840"/>
            <a:ext cx="1188720" cy="64008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Each group is summed.</a:t>
            </a:r>
            <a:endParaRPr lang="en-US" sz="1000" dirty="0"/>
          </a:p>
        </p:txBody>
      </p:sp>
      <p:sp>
        <p:nvSpPr>
          <p:cNvPr id="47" name="Shape 44"/>
          <p:cNvSpPr/>
          <p:nvPr/>
        </p:nvSpPr>
        <p:spPr>
          <a:xfrm>
            <a:off x="5623560" y="2852928"/>
            <a:ext cx="1280160" cy="457200"/>
          </a:xfrm>
          <a:prstGeom prst="roundRect">
            <a:avLst>
              <a:gd name="adj" fmla="val 8000"/>
            </a:avLst>
          </a:prstGeom>
          <a:solidFill>
            <a:srgbClr val="FFFFFF"/>
          </a:solidFill>
          <a:ln w="9525">
            <a:solidFill>
              <a:srgbClr val="D5DED9"/>
            </a:solidFill>
            <a:prstDash val="solid"/>
          </a:ln>
        </p:spPr>
      </p:sp>
      <p:sp>
        <p:nvSpPr>
          <p:cNvPr id="48" name="Text 45"/>
          <p:cNvSpPr txBox="1"/>
          <p:nvPr/>
        </p:nvSpPr>
        <p:spPr>
          <a:xfrm>
            <a:off x="5641848" y="2852928"/>
            <a:ext cx="1243584" cy="457200"/>
          </a:xfrm>
          <a:prstGeom prst="rect">
            <a:avLst/>
          </a:prstGeom>
          <a:noFill/>
          <a:ln/>
        </p:spPr>
        <p:txBody>
          <a:bodyPr wrap="square" lIns="0" tIns="0" rIns="0" bIns="0" rtlCol="0" anchor="ctr"/>
          <a:lstStyle/>
          <a:p>
            <a:pPr marL="0" indent="0" algn="ctr">
              <a:buNone/>
            </a:pPr>
            <a:r>
              <a:rPr lang="en-US" sz="850" dirty="0">
                <a:solidFill>
                  <a:srgbClr val="0E7C86"/>
                </a:solidFill>
                <a:latin typeface="Courier New" pitchFamily="34" charset="0"/>
                <a:ea typeface="Courier New" pitchFamily="34" charset="-122"/>
                <a:cs typeface="Courier New" pitchFamily="34" charset="-120"/>
              </a:rPr>
              <a:t>Σ speed×tests, Σ tests</a:t>
            </a:r>
            <a:endParaRPr lang="en-US" sz="850" dirty="0"/>
          </a:p>
        </p:txBody>
      </p:sp>
      <p:sp>
        <p:nvSpPr>
          <p:cNvPr id="49" name="Shape 46"/>
          <p:cNvSpPr/>
          <p:nvPr/>
        </p:nvSpPr>
        <p:spPr>
          <a:xfrm>
            <a:off x="7022592" y="2487168"/>
            <a:ext cx="173736" cy="91"/>
          </a:xfrm>
          <a:prstGeom prst="line">
            <a:avLst/>
          </a:prstGeom>
          <a:noFill/>
          <a:ln w="15875">
            <a:solidFill>
              <a:srgbClr val="5E6964"/>
            </a:solidFill>
            <a:prstDash val="solid"/>
            <a:tailEnd type="triangle"/>
          </a:ln>
        </p:spPr>
      </p:sp>
      <p:sp>
        <p:nvSpPr>
          <p:cNvPr id="50" name="Shape 47"/>
          <p:cNvSpPr/>
          <p:nvPr/>
        </p:nvSpPr>
        <p:spPr>
          <a:xfrm>
            <a:off x="7223760" y="1554480"/>
            <a:ext cx="1463040" cy="1874520"/>
          </a:xfrm>
          <a:prstGeom prst="roundRect">
            <a:avLst>
              <a:gd name="adj" fmla="val 5000"/>
            </a:avLst>
          </a:prstGeom>
          <a:solidFill>
            <a:srgbClr val="F4F7F5"/>
          </a:solidFill>
          <a:ln w="9525">
            <a:solidFill>
              <a:srgbClr val="D5DED9"/>
            </a:solidFill>
            <a:prstDash val="solid"/>
          </a:ln>
        </p:spPr>
      </p:sp>
      <p:sp>
        <p:nvSpPr>
          <p:cNvPr id="51" name="Shape 48"/>
          <p:cNvSpPr/>
          <p:nvPr/>
        </p:nvSpPr>
        <p:spPr>
          <a:xfrm>
            <a:off x="7360920" y="1673352"/>
            <a:ext cx="365760" cy="365760"/>
          </a:xfrm>
          <a:prstGeom prst="ellipse">
            <a:avLst/>
          </a:prstGeom>
          <a:solidFill>
            <a:srgbClr val="0E7C86"/>
          </a:solidFill>
          <a:ln/>
        </p:spPr>
      </p:sp>
      <p:sp>
        <p:nvSpPr>
          <p:cNvPr id="52" name="Text 49"/>
          <p:cNvSpPr txBox="1"/>
          <p:nvPr/>
        </p:nvSpPr>
        <p:spPr>
          <a:xfrm>
            <a:off x="7360920" y="1673352"/>
            <a:ext cx="36576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53" name="Text 50"/>
          <p:cNvSpPr txBox="1"/>
          <p:nvPr/>
        </p:nvSpPr>
        <p:spPr>
          <a:xfrm>
            <a:off x="7818120" y="1673352"/>
            <a:ext cx="822960" cy="365760"/>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Output</a:t>
            </a:r>
            <a:endParaRPr lang="en-US" sz="1400" dirty="0"/>
          </a:p>
        </p:txBody>
      </p:sp>
      <p:sp>
        <p:nvSpPr>
          <p:cNvPr id="54" name="Text 51"/>
          <p:cNvSpPr txBox="1"/>
          <p:nvPr/>
        </p:nvSpPr>
        <p:spPr>
          <a:xfrm>
            <a:off x="7360920" y="2148840"/>
            <a:ext cx="1188720" cy="64008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Divide once, at the very end.</a:t>
            </a:r>
            <a:endParaRPr lang="en-US" sz="1000" dirty="0"/>
          </a:p>
        </p:txBody>
      </p:sp>
      <p:sp>
        <p:nvSpPr>
          <p:cNvPr id="55" name="Shape 52"/>
          <p:cNvSpPr/>
          <p:nvPr/>
        </p:nvSpPr>
        <p:spPr>
          <a:xfrm>
            <a:off x="7315200" y="2852928"/>
            <a:ext cx="1280160" cy="457200"/>
          </a:xfrm>
          <a:prstGeom prst="roundRect">
            <a:avLst>
              <a:gd name="adj" fmla="val 8000"/>
            </a:avLst>
          </a:prstGeom>
          <a:solidFill>
            <a:srgbClr val="FFFFFF"/>
          </a:solidFill>
          <a:ln w="9525">
            <a:solidFill>
              <a:srgbClr val="D5DED9"/>
            </a:solidFill>
            <a:prstDash val="solid"/>
          </a:ln>
        </p:spPr>
      </p:sp>
      <p:sp>
        <p:nvSpPr>
          <p:cNvPr id="56" name="Text 53"/>
          <p:cNvSpPr txBox="1"/>
          <p:nvPr/>
        </p:nvSpPr>
        <p:spPr>
          <a:xfrm>
            <a:off x="7333488" y="2852928"/>
            <a:ext cx="1243584" cy="457200"/>
          </a:xfrm>
          <a:prstGeom prst="rect">
            <a:avLst/>
          </a:prstGeom>
          <a:noFill/>
          <a:ln/>
        </p:spPr>
        <p:txBody>
          <a:bodyPr wrap="square" lIns="0" tIns="0" rIns="0" bIns="0" rtlCol="0" anchor="ctr"/>
          <a:lstStyle/>
          <a:p>
            <a:pPr marL="0" indent="0" algn="ctr">
              <a:buNone/>
            </a:pPr>
            <a:r>
              <a:rPr lang="en-US" sz="850" dirty="0">
                <a:solidFill>
                  <a:srgbClr val="0E7C86"/>
                </a:solidFill>
                <a:latin typeface="Courier New" pitchFamily="34" charset="0"/>
                <a:ea typeface="Courier New" pitchFamily="34" charset="-122"/>
                <a:cs typeface="Courier New" pitchFamily="34" charset="-120"/>
              </a:rPr>
              <a:t>Σ(speed×tests) ÷ Σ tests</a:t>
            </a:r>
            <a:endParaRPr lang="en-US" sz="850" dirty="0"/>
          </a:p>
        </p:txBody>
      </p:sp>
      <p:sp>
        <p:nvSpPr>
          <p:cNvPr id="57" name="Text 54"/>
          <p:cNvSpPr txBox="1"/>
          <p:nvPr/>
        </p:nvSpPr>
        <p:spPr>
          <a:xfrm>
            <a:off x="3566160" y="3474720"/>
            <a:ext cx="2011680" cy="182880"/>
          </a:xfrm>
          <a:prstGeom prst="rect">
            <a:avLst/>
          </a:prstGeom>
          <a:noFill/>
          <a:ln/>
        </p:spPr>
        <p:txBody>
          <a:bodyPr wrap="square" lIns="0" tIns="0" rIns="0" bIns="0" rtlCol="0" anchor="t"/>
          <a:lstStyle/>
          <a:p>
            <a:pPr marL="0" indent="0" algn="ctr">
              <a:buNone/>
            </a:pPr>
            <a:r>
              <a:rPr lang="en-US" sz="850" i="1" dirty="0">
                <a:solidFill>
                  <a:srgbClr val="0E7C86"/>
                </a:solidFill>
                <a:latin typeface="Calibri" pitchFamily="34" charset="0"/>
                <a:ea typeface="Calibri" pitchFamily="34" charset="-122"/>
                <a:cs typeface="Calibri" pitchFamily="34" charset="-120"/>
              </a:rPr>
              <a:t>Shuffle = the expensive network step</a:t>
            </a:r>
            <a:endParaRPr lang="en-US" sz="850" dirty="0"/>
          </a:p>
        </p:txBody>
      </p:sp>
      <p:sp>
        <p:nvSpPr>
          <p:cNvPr id="58" name="Shape 55"/>
          <p:cNvSpPr/>
          <p:nvPr/>
        </p:nvSpPr>
        <p:spPr>
          <a:xfrm>
            <a:off x="457200" y="3749040"/>
            <a:ext cx="8229600" cy="749808"/>
          </a:xfrm>
          <a:prstGeom prst="roundRect">
            <a:avLst>
              <a:gd name="adj" fmla="val 9756"/>
            </a:avLst>
          </a:prstGeom>
          <a:solidFill>
            <a:srgbClr val="D49A00">
              <a:alpha val="13000"/>
            </a:srgbClr>
          </a:solidFill>
          <a:ln w="12700">
            <a:solidFill>
              <a:srgbClr val="D49A00"/>
            </a:solidFill>
            <a:prstDash val="solid"/>
          </a:ln>
        </p:spPr>
      </p:sp>
      <p:pic>
        <p:nvPicPr>
          <p:cNvPr id="59" name="Image 0" descr="preencoded.png"/>
          <p:cNvPicPr>
            <a:picLocks noChangeAspect="1"/>
          </p:cNvPicPr>
          <p:nvPr/>
        </p:nvPicPr>
        <p:blipFill>
          <a:blip r:embed="rId3"/>
          <a:stretch>
            <a:fillRect/>
          </a:stretch>
        </p:blipFill>
        <p:spPr>
          <a:xfrm>
            <a:off x="594360" y="4014216"/>
            <a:ext cx="219456" cy="219456"/>
          </a:xfrm>
          <a:prstGeom prst="rect">
            <a:avLst/>
          </a:prstGeom>
        </p:spPr>
      </p:pic>
      <p:sp>
        <p:nvSpPr>
          <p:cNvPr id="60" name="Text 56"/>
          <p:cNvSpPr txBox="1"/>
          <p:nvPr/>
        </p:nvSpPr>
        <p:spPr>
          <a:xfrm>
            <a:off x="932688" y="3749040"/>
            <a:ext cx="7616952" cy="74980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Never average the averages. </a:t>
            </a:r>
            <a:r>
              <a:rPr lang="en-US" sz="1050" dirty="0">
                <a:solidFill>
                  <a:srgbClr val="231F20"/>
                </a:solidFill>
                <a:latin typeface="Calibri" pitchFamily="34" charset="0"/>
                <a:ea typeface="Calibri" pitchFamily="34" charset="-122"/>
                <a:cs typeface="Calibri" pitchFamily="34" charset="-120"/>
              </a:rPr>
              <a:t>Each Ookla tile is already a mean over a different number of tests. Carry sums and counts through the pipeline and divide at the end — it is both statistically correct and perfectly parallel. Medians and quantiles cannot be split this way, so engines approximate them.</a:t>
            </a:r>
            <a:endParaRPr lang="en-US" sz="105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DISTRIBUTED PROCESSING</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Apache Spark: how a job actually runs</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61020" y="315468"/>
            <a:ext cx="118872" cy="118872"/>
          </a:xfrm>
          <a:prstGeom prst="ellipse">
            <a:avLst/>
          </a:prstGeom>
          <a:solidFill>
            <a:srgbClr val="0E7C86"/>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AfDB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16</a:t>
            </a:r>
            <a:endParaRPr lang="en-US" sz="850" dirty="0"/>
          </a:p>
        </p:txBody>
      </p:sp>
      <p:sp>
        <p:nvSpPr>
          <p:cNvPr id="17" name="Shape 14"/>
          <p:cNvSpPr/>
          <p:nvPr/>
        </p:nvSpPr>
        <p:spPr>
          <a:xfrm>
            <a:off x="457200" y="1280160"/>
            <a:ext cx="4572000" cy="3200400"/>
          </a:xfrm>
          <a:prstGeom prst="roundRect">
            <a:avLst>
              <a:gd name="adj" fmla="val 2286"/>
            </a:avLst>
          </a:prstGeom>
          <a:solidFill>
            <a:srgbClr val="FFFFFF"/>
          </a:solidFill>
          <a:ln w="9525">
            <a:solidFill>
              <a:srgbClr val="D5DED9"/>
            </a:solidFill>
            <a:prstDash val="solid"/>
          </a:ln>
        </p:spPr>
      </p:sp>
      <p:sp>
        <p:nvSpPr>
          <p:cNvPr id="18" name="Shape 15"/>
          <p:cNvSpPr/>
          <p:nvPr/>
        </p:nvSpPr>
        <p:spPr>
          <a:xfrm>
            <a:off x="640080" y="1417320"/>
            <a:ext cx="1417320" cy="1097280"/>
          </a:xfrm>
          <a:prstGeom prst="roundRect">
            <a:avLst>
              <a:gd name="adj" fmla="val 6667"/>
            </a:avLst>
          </a:prstGeom>
          <a:solidFill>
            <a:srgbClr val="E8F5EF"/>
          </a:solidFill>
          <a:ln w="15875">
            <a:solidFill>
              <a:srgbClr val="0E7C86"/>
            </a:solidFill>
            <a:prstDash val="solid"/>
          </a:ln>
        </p:spPr>
      </p:sp>
      <p:pic>
        <p:nvPicPr>
          <p:cNvPr id="19" name="Image 0" descr="preencoded.png"/>
          <p:cNvPicPr>
            <a:picLocks noChangeAspect="1"/>
          </p:cNvPicPr>
          <p:nvPr/>
        </p:nvPicPr>
        <p:blipFill>
          <a:blip r:embed="rId3"/>
          <a:stretch>
            <a:fillRect/>
          </a:stretch>
        </p:blipFill>
        <p:spPr>
          <a:xfrm>
            <a:off x="1188720" y="1508760"/>
            <a:ext cx="320040" cy="320040"/>
          </a:xfrm>
          <a:prstGeom prst="rect">
            <a:avLst/>
          </a:prstGeom>
        </p:spPr>
      </p:pic>
      <p:sp>
        <p:nvSpPr>
          <p:cNvPr id="20" name="Text 16"/>
          <p:cNvSpPr txBox="1"/>
          <p:nvPr/>
        </p:nvSpPr>
        <p:spPr>
          <a:xfrm>
            <a:off x="640080" y="1856232"/>
            <a:ext cx="1417320" cy="228600"/>
          </a:xfrm>
          <a:prstGeom prst="rect">
            <a:avLst/>
          </a:prstGeom>
          <a:noFill/>
          <a:ln/>
        </p:spPr>
        <p:txBody>
          <a:bodyPr wrap="square" lIns="0" tIns="0" rIns="0" bIns="0" rtlCol="0" anchor="t"/>
          <a:lstStyle/>
          <a:p>
            <a:pPr marL="0" indent="0" algn="ctr">
              <a:buNone/>
            </a:pPr>
            <a:r>
              <a:rPr lang="en-US" sz="1200" b="1" dirty="0">
                <a:solidFill>
                  <a:srgbClr val="231F20"/>
                </a:solidFill>
                <a:latin typeface="Calibri" pitchFamily="34" charset="0"/>
                <a:ea typeface="Calibri" pitchFamily="34" charset="-122"/>
                <a:cs typeface="Calibri" pitchFamily="34" charset="-120"/>
              </a:rPr>
              <a:t>Driver</a:t>
            </a:r>
            <a:endParaRPr lang="en-US" sz="1200" dirty="0"/>
          </a:p>
        </p:txBody>
      </p:sp>
      <p:sp>
        <p:nvSpPr>
          <p:cNvPr id="21" name="Text 17"/>
          <p:cNvSpPr txBox="1"/>
          <p:nvPr/>
        </p:nvSpPr>
        <p:spPr>
          <a:xfrm>
            <a:off x="713232" y="2084832"/>
            <a:ext cx="1280160" cy="384048"/>
          </a:xfrm>
          <a:prstGeom prst="rect">
            <a:avLst/>
          </a:prstGeom>
          <a:noFill/>
          <a:ln/>
        </p:spPr>
        <p:txBody>
          <a:bodyPr wrap="square" lIns="0" tIns="0" rIns="0" bIns="0" rtlCol="0" anchor="t"/>
          <a:lstStyle/>
          <a:p>
            <a:pPr marL="0" indent="0" algn="ctr">
              <a:buNone/>
            </a:pPr>
            <a:r>
              <a:rPr lang="en-US" sz="850" dirty="0">
                <a:solidFill>
                  <a:srgbClr val="5E6964"/>
                </a:solidFill>
                <a:latin typeface="Calibri" pitchFamily="34" charset="0"/>
                <a:ea typeface="Calibri" pitchFamily="34" charset="-122"/>
                <a:cs typeface="Calibri" pitchFamily="34" charset="-120"/>
              </a:rPr>
              <a:t>your notebook: builds and optimises the plan</a:t>
            </a:r>
            <a:endParaRPr lang="en-US" sz="850" dirty="0"/>
          </a:p>
        </p:txBody>
      </p:sp>
      <p:sp>
        <p:nvSpPr>
          <p:cNvPr id="22" name="Shape 18"/>
          <p:cNvSpPr/>
          <p:nvPr/>
        </p:nvSpPr>
        <p:spPr>
          <a:xfrm>
            <a:off x="2834640" y="1417320"/>
            <a:ext cx="2011680" cy="1097280"/>
          </a:xfrm>
          <a:prstGeom prst="roundRect">
            <a:avLst>
              <a:gd name="adj" fmla="val 6667"/>
            </a:avLst>
          </a:prstGeom>
          <a:solidFill>
            <a:srgbClr val="FFFFFF"/>
          </a:solidFill>
          <a:ln w="15875">
            <a:solidFill>
              <a:srgbClr val="0E7C86"/>
            </a:solidFill>
            <a:prstDash val="solid"/>
          </a:ln>
        </p:spPr>
      </p:sp>
      <p:pic>
        <p:nvPicPr>
          <p:cNvPr id="23" name="Image 1" descr="preencoded.png"/>
          <p:cNvPicPr>
            <a:picLocks noChangeAspect="1"/>
          </p:cNvPicPr>
          <p:nvPr/>
        </p:nvPicPr>
        <p:blipFill>
          <a:blip r:embed="rId4"/>
          <a:stretch>
            <a:fillRect/>
          </a:stretch>
        </p:blipFill>
        <p:spPr>
          <a:xfrm>
            <a:off x="3675888" y="1508760"/>
            <a:ext cx="320040" cy="320040"/>
          </a:xfrm>
          <a:prstGeom prst="rect">
            <a:avLst/>
          </a:prstGeom>
        </p:spPr>
      </p:pic>
      <p:sp>
        <p:nvSpPr>
          <p:cNvPr id="24" name="Text 19"/>
          <p:cNvSpPr txBox="1"/>
          <p:nvPr/>
        </p:nvSpPr>
        <p:spPr>
          <a:xfrm>
            <a:off x="2834640" y="1856232"/>
            <a:ext cx="2011680" cy="228600"/>
          </a:xfrm>
          <a:prstGeom prst="rect">
            <a:avLst/>
          </a:prstGeom>
          <a:noFill/>
          <a:ln/>
        </p:spPr>
        <p:txBody>
          <a:bodyPr wrap="square" lIns="0" tIns="0" rIns="0" bIns="0" rtlCol="0" anchor="t"/>
          <a:lstStyle/>
          <a:p>
            <a:pPr marL="0" indent="0" algn="ctr">
              <a:buNone/>
            </a:pPr>
            <a:r>
              <a:rPr lang="en-US" sz="1200" b="1" dirty="0">
                <a:solidFill>
                  <a:srgbClr val="231F20"/>
                </a:solidFill>
                <a:latin typeface="Calibri" pitchFamily="34" charset="0"/>
                <a:ea typeface="Calibri" pitchFamily="34" charset="-122"/>
                <a:cs typeface="Calibri" pitchFamily="34" charset="-120"/>
              </a:rPr>
              <a:t>Cluster manager</a:t>
            </a:r>
            <a:endParaRPr lang="en-US" sz="1200" dirty="0"/>
          </a:p>
        </p:txBody>
      </p:sp>
      <p:sp>
        <p:nvSpPr>
          <p:cNvPr id="25" name="Text 20"/>
          <p:cNvSpPr txBox="1"/>
          <p:nvPr/>
        </p:nvSpPr>
        <p:spPr>
          <a:xfrm>
            <a:off x="2880360" y="2103120"/>
            <a:ext cx="1920240" cy="274320"/>
          </a:xfrm>
          <a:prstGeom prst="rect">
            <a:avLst/>
          </a:prstGeom>
          <a:noFill/>
          <a:ln/>
        </p:spPr>
        <p:txBody>
          <a:bodyPr wrap="square" lIns="0" tIns="0" rIns="0" bIns="0" rtlCol="0" anchor="t"/>
          <a:lstStyle/>
          <a:p>
            <a:pPr marL="0" indent="0" algn="ctr">
              <a:buNone/>
            </a:pPr>
            <a:r>
              <a:rPr lang="en-US" sz="850" dirty="0">
                <a:solidFill>
                  <a:srgbClr val="5E6964"/>
                </a:solidFill>
                <a:latin typeface="Calibri" pitchFamily="34" charset="0"/>
                <a:ea typeface="Calibri" pitchFamily="34" charset="-122"/>
                <a:cs typeface="Calibri" pitchFamily="34" charset="-120"/>
              </a:rPr>
              <a:t>YARN · Kubernetes · standalone</a:t>
            </a:r>
            <a:endParaRPr lang="en-US" sz="850" dirty="0"/>
          </a:p>
        </p:txBody>
      </p:sp>
      <p:sp>
        <p:nvSpPr>
          <p:cNvPr id="26" name="Shape 21"/>
          <p:cNvSpPr/>
          <p:nvPr/>
        </p:nvSpPr>
        <p:spPr>
          <a:xfrm>
            <a:off x="2103120" y="1965960"/>
            <a:ext cx="685800" cy="91"/>
          </a:xfrm>
          <a:prstGeom prst="line">
            <a:avLst/>
          </a:prstGeom>
          <a:noFill/>
          <a:ln w="19050">
            <a:solidFill>
              <a:srgbClr val="0E7C86"/>
            </a:solidFill>
            <a:prstDash val="solid"/>
            <a:tailEnd type="triangle"/>
          </a:ln>
        </p:spPr>
      </p:sp>
      <p:sp>
        <p:nvSpPr>
          <p:cNvPr id="27" name="Shape 22"/>
          <p:cNvSpPr/>
          <p:nvPr/>
        </p:nvSpPr>
        <p:spPr>
          <a:xfrm>
            <a:off x="685800" y="2971800"/>
            <a:ext cx="1280160" cy="1371600"/>
          </a:xfrm>
          <a:prstGeom prst="roundRect">
            <a:avLst>
              <a:gd name="adj" fmla="val 5714"/>
            </a:avLst>
          </a:prstGeom>
          <a:solidFill>
            <a:srgbClr val="F4F7F5"/>
          </a:solidFill>
          <a:ln w="12700">
            <a:solidFill>
              <a:srgbClr val="0E7C86"/>
            </a:solidFill>
            <a:prstDash val="solid"/>
          </a:ln>
        </p:spPr>
      </p:sp>
      <p:sp>
        <p:nvSpPr>
          <p:cNvPr id="28" name="Text 23"/>
          <p:cNvSpPr txBox="1"/>
          <p:nvPr/>
        </p:nvSpPr>
        <p:spPr>
          <a:xfrm>
            <a:off x="685800" y="3035808"/>
            <a:ext cx="1280160" cy="201168"/>
          </a:xfrm>
          <a:prstGeom prst="rect">
            <a:avLst/>
          </a:prstGeom>
          <a:noFill/>
          <a:ln/>
        </p:spPr>
        <p:txBody>
          <a:bodyPr wrap="square" lIns="0" tIns="0" rIns="0" bIns="0" rtlCol="0" anchor="t"/>
          <a:lstStyle/>
          <a:p>
            <a:pPr marL="0" indent="0" algn="ctr">
              <a:buNone/>
            </a:pPr>
            <a:r>
              <a:rPr lang="en-US" sz="1050" b="1" dirty="0">
                <a:solidFill>
                  <a:srgbClr val="231F20"/>
                </a:solidFill>
                <a:latin typeface="Calibri" pitchFamily="34" charset="0"/>
                <a:ea typeface="Calibri" pitchFamily="34" charset="-122"/>
                <a:cs typeface="Calibri" pitchFamily="34" charset="-120"/>
              </a:rPr>
              <a:t>Executor 1</a:t>
            </a:r>
            <a:endParaRPr lang="en-US" sz="1050" dirty="0"/>
          </a:p>
        </p:txBody>
      </p:sp>
      <p:sp>
        <p:nvSpPr>
          <p:cNvPr id="29" name="Shape 24"/>
          <p:cNvSpPr/>
          <p:nvPr/>
        </p:nvSpPr>
        <p:spPr>
          <a:xfrm>
            <a:off x="804672" y="3310128"/>
            <a:ext cx="1042416" cy="384048"/>
          </a:xfrm>
          <a:prstGeom prst="roundRect">
            <a:avLst>
              <a:gd name="adj" fmla="val 11905"/>
            </a:avLst>
          </a:prstGeom>
          <a:solidFill>
            <a:srgbClr val="0E7C86"/>
          </a:solidFill>
          <a:ln w="9525">
            <a:solidFill>
              <a:srgbClr val="0E7C86"/>
            </a:solidFill>
            <a:prstDash val="solid"/>
          </a:ln>
        </p:spPr>
      </p:sp>
      <p:sp>
        <p:nvSpPr>
          <p:cNvPr id="30" name="Text 25"/>
          <p:cNvSpPr txBox="1"/>
          <p:nvPr/>
        </p:nvSpPr>
        <p:spPr>
          <a:xfrm>
            <a:off x="804672" y="3310128"/>
            <a:ext cx="1042416" cy="38404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task · partition 1</a:t>
            </a:r>
            <a:endParaRPr lang="en-US" sz="850" dirty="0"/>
          </a:p>
        </p:txBody>
      </p:sp>
      <p:sp>
        <p:nvSpPr>
          <p:cNvPr id="31" name="Shape 26"/>
          <p:cNvSpPr/>
          <p:nvPr/>
        </p:nvSpPr>
        <p:spPr>
          <a:xfrm>
            <a:off x="804672" y="3785616"/>
            <a:ext cx="1042416" cy="384048"/>
          </a:xfrm>
          <a:prstGeom prst="roundRect">
            <a:avLst>
              <a:gd name="adj" fmla="val 11905"/>
            </a:avLst>
          </a:prstGeom>
          <a:solidFill>
            <a:srgbClr val="0E7C86"/>
          </a:solidFill>
          <a:ln w="9525">
            <a:solidFill>
              <a:srgbClr val="0E7C86"/>
            </a:solidFill>
            <a:prstDash val="solid"/>
          </a:ln>
        </p:spPr>
      </p:sp>
      <p:sp>
        <p:nvSpPr>
          <p:cNvPr id="32" name="Text 27"/>
          <p:cNvSpPr txBox="1"/>
          <p:nvPr/>
        </p:nvSpPr>
        <p:spPr>
          <a:xfrm>
            <a:off x="804672" y="3785616"/>
            <a:ext cx="1042416" cy="38404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task · partition 2</a:t>
            </a:r>
            <a:endParaRPr lang="en-US" sz="850" dirty="0"/>
          </a:p>
        </p:txBody>
      </p:sp>
      <p:sp>
        <p:nvSpPr>
          <p:cNvPr id="33" name="Shape 28"/>
          <p:cNvSpPr/>
          <p:nvPr/>
        </p:nvSpPr>
        <p:spPr>
          <a:xfrm flipH="1">
            <a:off x="1325880" y="2560320"/>
            <a:ext cx="2514600" cy="365760"/>
          </a:xfrm>
          <a:prstGeom prst="line">
            <a:avLst/>
          </a:prstGeom>
          <a:noFill/>
          <a:ln w="12700">
            <a:solidFill>
              <a:srgbClr val="5E6964"/>
            </a:solidFill>
            <a:prstDash val="solid"/>
            <a:tailEnd type="triangle"/>
          </a:ln>
        </p:spPr>
      </p:sp>
      <p:sp>
        <p:nvSpPr>
          <p:cNvPr id="34" name="Shape 29"/>
          <p:cNvSpPr/>
          <p:nvPr/>
        </p:nvSpPr>
        <p:spPr>
          <a:xfrm>
            <a:off x="2130552" y="2971800"/>
            <a:ext cx="1280160" cy="1371600"/>
          </a:xfrm>
          <a:prstGeom prst="roundRect">
            <a:avLst>
              <a:gd name="adj" fmla="val 5714"/>
            </a:avLst>
          </a:prstGeom>
          <a:solidFill>
            <a:srgbClr val="F4F7F5"/>
          </a:solidFill>
          <a:ln w="12700">
            <a:solidFill>
              <a:srgbClr val="0E7C86"/>
            </a:solidFill>
            <a:prstDash val="solid"/>
          </a:ln>
        </p:spPr>
      </p:sp>
      <p:sp>
        <p:nvSpPr>
          <p:cNvPr id="35" name="Text 30"/>
          <p:cNvSpPr txBox="1"/>
          <p:nvPr/>
        </p:nvSpPr>
        <p:spPr>
          <a:xfrm>
            <a:off x="2130552" y="3035808"/>
            <a:ext cx="1280160" cy="201168"/>
          </a:xfrm>
          <a:prstGeom prst="rect">
            <a:avLst/>
          </a:prstGeom>
          <a:noFill/>
          <a:ln/>
        </p:spPr>
        <p:txBody>
          <a:bodyPr wrap="square" lIns="0" tIns="0" rIns="0" bIns="0" rtlCol="0" anchor="t"/>
          <a:lstStyle/>
          <a:p>
            <a:pPr marL="0" indent="0" algn="ctr">
              <a:buNone/>
            </a:pPr>
            <a:r>
              <a:rPr lang="en-US" sz="1050" b="1" dirty="0">
                <a:solidFill>
                  <a:srgbClr val="231F20"/>
                </a:solidFill>
                <a:latin typeface="Calibri" pitchFamily="34" charset="0"/>
                <a:ea typeface="Calibri" pitchFamily="34" charset="-122"/>
                <a:cs typeface="Calibri" pitchFamily="34" charset="-120"/>
              </a:rPr>
              <a:t>Executor 2</a:t>
            </a:r>
            <a:endParaRPr lang="en-US" sz="1050" dirty="0"/>
          </a:p>
        </p:txBody>
      </p:sp>
      <p:sp>
        <p:nvSpPr>
          <p:cNvPr id="36" name="Shape 31"/>
          <p:cNvSpPr/>
          <p:nvPr/>
        </p:nvSpPr>
        <p:spPr>
          <a:xfrm>
            <a:off x="2249424" y="3310128"/>
            <a:ext cx="1042416" cy="384048"/>
          </a:xfrm>
          <a:prstGeom prst="roundRect">
            <a:avLst>
              <a:gd name="adj" fmla="val 11905"/>
            </a:avLst>
          </a:prstGeom>
          <a:solidFill>
            <a:srgbClr val="0E7C86"/>
          </a:solidFill>
          <a:ln w="9525">
            <a:solidFill>
              <a:srgbClr val="0E7C86"/>
            </a:solidFill>
            <a:prstDash val="solid"/>
          </a:ln>
        </p:spPr>
      </p:sp>
      <p:sp>
        <p:nvSpPr>
          <p:cNvPr id="37" name="Text 32"/>
          <p:cNvSpPr txBox="1"/>
          <p:nvPr/>
        </p:nvSpPr>
        <p:spPr>
          <a:xfrm>
            <a:off x="2249424" y="3310128"/>
            <a:ext cx="1042416" cy="38404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task · partition 3</a:t>
            </a:r>
            <a:endParaRPr lang="en-US" sz="850" dirty="0"/>
          </a:p>
        </p:txBody>
      </p:sp>
      <p:sp>
        <p:nvSpPr>
          <p:cNvPr id="38" name="Shape 33"/>
          <p:cNvSpPr/>
          <p:nvPr/>
        </p:nvSpPr>
        <p:spPr>
          <a:xfrm>
            <a:off x="2249424" y="3785616"/>
            <a:ext cx="1042416" cy="384048"/>
          </a:xfrm>
          <a:prstGeom prst="roundRect">
            <a:avLst>
              <a:gd name="adj" fmla="val 11905"/>
            </a:avLst>
          </a:prstGeom>
          <a:solidFill>
            <a:srgbClr val="0E7C86"/>
          </a:solidFill>
          <a:ln w="9525">
            <a:solidFill>
              <a:srgbClr val="0E7C86"/>
            </a:solidFill>
            <a:prstDash val="solid"/>
          </a:ln>
        </p:spPr>
      </p:sp>
      <p:sp>
        <p:nvSpPr>
          <p:cNvPr id="39" name="Text 34"/>
          <p:cNvSpPr txBox="1"/>
          <p:nvPr/>
        </p:nvSpPr>
        <p:spPr>
          <a:xfrm>
            <a:off x="2249424" y="3785616"/>
            <a:ext cx="1042416" cy="38404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task · partition 4</a:t>
            </a:r>
            <a:endParaRPr lang="en-US" sz="850" dirty="0"/>
          </a:p>
        </p:txBody>
      </p:sp>
      <p:sp>
        <p:nvSpPr>
          <p:cNvPr id="40" name="Shape 35"/>
          <p:cNvSpPr/>
          <p:nvPr/>
        </p:nvSpPr>
        <p:spPr>
          <a:xfrm flipH="1">
            <a:off x="2770632" y="2560320"/>
            <a:ext cx="1069848" cy="365760"/>
          </a:xfrm>
          <a:prstGeom prst="line">
            <a:avLst/>
          </a:prstGeom>
          <a:noFill/>
          <a:ln w="12700">
            <a:solidFill>
              <a:srgbClr val="5E6964"/>
            </a:solidFill>
            <a:prstDash val="solid"/>
            <a:tailEnd type="triangle"/>
          </a:ln>
        </p:spPr>
      </p:sp>
      <p:sp>
        <p:nvSpPr>
          <p:cNvPr id="41" name="Shape 36"/>
          <p:cNvSpPr/>
          <p:nvPr/>
        </p:nvSpPr>
        <p:spPr>
          <a:xfrm>
            <a:off x="3575304" y="2971800"/>
            <a:ext cx="1280160" cy="1371600"/>
          </a:xfrm>
          <a:prstGeom prst="roundRect">
            <a:avLst>
              <a:gd name="adj" fmla="val 5714"/>
            </a:avLst>
          </a:prstGeom>
          <a:solidFill>
            <a:srgbClr val="F4F7F5"/>
          </a:solidFill>
          <a:ln w="12700">
            <a:solidFill>
              <a:srgbClr val="0E7C86"/>
            </a:solidFill>
            <a:prstDash val="solid"/>
          </a:ln>
        </p:spPr>
      </p:sp>
      <p:sp>
        <p:nvSpPr>
          <p:cNvPr id="42" name="Text 37"/>
          <p:cNvSpPr txBox="1"/>
          <p:nvPr/>
        </p:nvSpPr>
        <p:spPr>
          <a:xfrm>
            <a:off x="3575304" y="3035808"/>
            <a:ext cx="1280160" cy="201168"/>
          </a:xfrm>
          <a:prstGeom prst="rect">
            <a:avLst/>
          </a:prstGeom>
          <a:noFill/>
          <a:ln/>
        </p:spPr>
        <p:txBody>
          <a:bodyPr wrap="square" lIns="0" tIns="0" rIns="0" bIns="0" rtlCol="0" anchor="t"/>
          <a:lstStyle/>
          <a:p>
            <a:pPr marL="0" indent="0" algn="ctr">
              <a:buNone/>
            </a:pPr>
            <a:r>
              <a:rPr lang="en-US" sz="1050" b="1" dirty="0">
                <a:solidFill>
                  <a:srgbClr val="231F20"/>
                </a:solidFill>
                <a:latin typeface="Calibri" pitchFamily="34" charset="0"/>
                <a:ea typeface="Calibri" pitchFamily="34" charset="-122"/>
                <a:cs typeface="Calibri" pitchFamily="34" charset="-120"/>
              </a:rPr>
              <a:t>Executor 3</a:t>
            </a:r>
            <a:endParaRPr lang="en-US" sz="1050" dirty="0"/>
          </a:p>
        </p:txBody>
      </p:sp>
      <p:sp>
        <p:nvSpPr>
          <p:cNvPr id="43" name="Shape 38"/>
          <p:cNvSpPr/>
          <p:nvPr/>
        </p:nvSpPr>
        <p:spPr>
          <a:xfrm>
            <a:off x="3694176" y="3310128"/>
            <a:ext cx="1042416" cy="384048"/>
          </a:xfrm>
          <a:prstGeom prst="roundRect">
            <a:avLst>
              <a:gd name="adj" fmla="val 11905"/>
            </a:avLst>
          </a:prstGeom>
          <a:solidFill>
            <a:srgbClr val="0E7C86"/>
          </a:solidFill>
          <a:ln w="9525">
            <a:solidFill>
              <a:srgbClr val="0E7C86"/>
            </a:solidFill>
            <a:prstDash val="solid"/>
          </a:ln>
        </p:spPr>
      </p:sp>
      <p:sp>
        <p:nvSpPr>
          <p:cNvPr id="44" name="Text 39"/>
          <p:cNvSpPr txBox="1"/>
          <p:nvPr/>
        </p:nvSpPr>
        <p:spPr>
          <a:xfrm>
            <a:off x="3694176" y="3310128"/>
            <a:ext cx="1042416" cy="38404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task · partition 5</a:t>
            </a:r>
            <a:endParaRPr lang="en-US" sz="850" dirty="0"/>
          </a:p>
        </p:txBody>
      </p:sp>
      <p:sp>
        <p:nvSpPr>
          <p:cNvPr id="45" name="Shape 40"/>
          <p:cNvSpPr/>
          <p:nvPr/>
        </p:nvSpPr>
        <p:spPr>
          <a:xfrm>
            <a:off x="3694176" y="3785616"/>
            <a:ext cx="1042416" cy="384048"/>
          </a:xfrm>
          <a:prstGeom prst="roundRect">
            <a:avLst>
              <a:gd name="adj" fmla="val 11905"/>
            </a:avLst>
          </a:prstGeom>
          <a:solidFill>
            <a:srgbClr val="0E7C86"/>
          </a:solidFill>
          <a:ln w="9525">
            <a:solidFill>
              <a:srgbClr val="0E7C86"/>
            </a:solidFill>
            <a:prstDash val="solid"/>
          </a:ln>
        </p:spPr>
      </p:sp>
      <p:sp>
        <p:nvSpPr>
          <p:cNvPr id="46" name="Text 41"/>
          <p:cNvSpPr txBox="1"/>
          <p:nvPr/>
        </p:nvSpPr>
        <p:spPr>
          <a:xfrm>
            <a:off x="3694176" y="3785616"/>
            <a:ext cx="1042416" cy="38404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task · partition 6</a:t>
            </a:r>
            <a:endParaRPr lang="en-US" sz="850" dirty="0"/>
          </a:p>
        </p:txBody>
      </p:sp>
      <p:sp>
        <p:nvSpPr>
          <p:cNvPr id="47" name="Shape 42"/>
          <p:cNvSpPr/>
          <p:nvPr/>
        </p:nvSpPr>
        <p:spPr>
          <a:xfrm>
            <a:off x="3840480" y="2560320"/>
            <a:ext cx="374904" cy="365760"/>
          </a:xfrm>
          <a:prstGeom prst="line">
            <a:avLst/>
          </a:prstGeom>
          <a:noFill/>
          <a:ln w="12700">
            <a:solidFill>
              <a:srgbClr val="5E6964"/>
            </a:solidFill>
            <a:prstDash val="solid"/>
            <a:tailEnd type="triangle"/>
          </a:ln>
        </p:spPr>
      </p:sp>
      <p:sp>
        <p:nvSpPr>
          <p:cNvPr id="48" name="Shape 43"/>
          <p:cNvSpPr/>
          <p:nvPr/>
        </p:nvSpPr>
        <p:spPr>
          <a:xfrm>
            <a:off x="1344168" y="2560320"/>
            <a:ext cx="91" cy="365760"/>
          </a:xfrm>
          <a:prstGeom prst="line">
            <a:avLst/>
          </a:prstGeom>
          <a:noFill/>
          <a:ln w="12700">
            <a:solidFill>
              <a:srgbClr val="5E6964"/>
            </a:solidFill>
            <a:prstDash val="solid"/>
            <a:tailEnd type="triangle"/>
          </a:ln>
        </p:spPr>
      </p:sp>
      <p:sp>
        <p:nvSpPr>
          <p:cNvPr id="49" name="Shape 44"/>
          <p:cNvSpPr/>
          <p:nvPr/>
        </p:nvSpPr>
        <p:spPr>
          <a:xfrm>
            <a:off x="5257800" y="1280160"/>
            <a:ext cx="3429000" cy="722376"/>
          </a:xfrm>
          <a:prstGeom prst="roundRect">
            <a:avLst>
              <a:gd name="adj" fmla="val 10127"/>
            </a:avLst>
          </a:prstGeom>
          <a:solidFill>
            <a:srgbClr val="F4F7F5"/>
          </a:solidFill>
          <a:ln w="9525">
            <a:solidFill>
              <a:srgbClr val="D5DED9"/>
            </a:solidFill>
            <a:prstDash val="solid"/>
          </a:ln>
        </p:spPr>
      </p:sp>
      <p:sp>
        <p:nvSpPr>
          <p:cNvPr id="50" name="Text 45"/>
          <p:cNvSpPr txBox="1"/>
          <p:nvPr/>
        </p:nvSpPr>
        <p:spPr>
          <a:xfrm>
            <a:off x="5394960" y="1353312"/>
            <a:ext cx="3154680" cy="219456"/>
          </a:xfrm>
          <a:prstGeom prst="rect">
            <a:avLst/>
          </a:prstGeom>
          <a:noFill/>
          <a:ln/>
        </p:spPr>
        <p:txBody>
          <a:bodyPr wrap="square" lIns="0" tIns="0" rIns="0" bIns="0" rtlCol="0" anchor="t"/>
          <a:lstStyle/>
          <a:p>
            <a:pPr marL="0" indent="0">
              <a:buNone/>
            </a:pPr>
            <a:r>
              <a:rPr lang="en-US" sz="1200" b="1" dirty="0">
                <a:solidFill>
                  <a:srgbClr val="0E7C86"/>
                </a:solidFill>
                <a:latin typeface="Calibri" pitchFamily="34" charset="0"/>
                <a:ea typeface="Calibri" pitchFamily="34" charset="-122"/>
                <a:cs typeface="Calibri" pitchFamily="34" charset="-120"/>
              </a:rPr>
              <a:t>Partitions</a:t>
            </a:r>
            <a:endParaRPr lang="en-US" sz="1200" dirty="0"/>
          </a:p>
        </p:txBody>
      </p:sp>
      <p:sp>
        <p:nvSpPr>
          <p:cNvPr id="51" name="Text 46"/>
          <p:cNvSpPr txBox="1"/>
          <p:nvPr/>
        </p:nvSpPr>
        <p:spPr>
          <a:xfrm>
            <a:off x="5394960" y="1581912"/>
            <a:ext cx="3154680" cy="384048"/>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Data is split into chunks; one task processes one partition.</a:t>
            </a:r>
            <a:endParaRPr lang="en-US" sz="1000" dirty="0"/>
          </a:p>
        </p:txBody>
      </p:sp>
      <p:sp>
        <p:nvSpPr>
          <p:cNvPr id="52" name="Shape 47"/>
          <p:cNvSpPr/>
          <p:nvPr/>
        </p:nvSpPr>
        <p:spPr>
          <a:xfrm>
            <a:off x="5257800" y="2093976"/>
            <a:ext cx="3429000" cy="722376"/>
          </a:xfrm>
          <a:prstGeom prst="roundRect">
            <a:avLst>
              <a:gd name="adj" fmla="val 10127"/>
            </a:avLst>
          </a:prstGeom>
          <a:solidFill>
            <a:srgbClr val="F4F7F5"/>
          </a:solidFill>
          <a:ln w="9525">
            <a:solidFill>
              <a:srgbClr val="D5DED9"/>
            </a:solidFill>
            <a:prstDash val="solid"/>
          </a:ln>
        </p:spPr>
      </p:sp>
      <p:sp>
        <p:nvSpPr>
          <p:cNvPr id="53" name="Text 48"/>
          <p:cNvSpPr txBox="1"/>
          <p:nvPr/>
        </p:nvSpPr>
        <p:spPr>
          <a:xfrm>
            <a:off x="5394960" y="2167128"/>
            <a:ext cx="3154680" cy="219456"/>
          </a:xfrm>
          <a:prstGeom prst="rect">
            <a:avLst/>
          </a:prstGeom>
          <a:noFill/>
          <a:ln/>
        </p:spPr>
        <p:txBody>
          <a:bodyPr wrap="square" lIns="0" tIns="0" rIns="0" bIns="0" rtlCol="0" anchor="t"/>
          <a:lstStyle/>
          <a:p>
            <a:pPr marL="0" indent="0">
              <a:buNone/>
            </a:pPr>
            <a:r>
              <a:rPr lang="en-US" sz="1200" b="1" dirty="0">
                <a:solidFill>
                  <a:srgbClr val="0E7C86"/>
                </a:solidFill>
                <a:latin typeface="Calibri" pitchFamily="34" charset="0"/>
                <a:ea typeface="Calibri" pitchFamily="34" charset="-122"/>
                <a:cs typeface="Calibri" pitchFamily="34" charset="-120"/>
              </a:rPr>
              <a:t>Lazy evaluation</a:t>
            </a:r>
            <a:endParaRPr lang="en-US" sz="1200" dirty="0"/>
          </a:p>
        </p:txBody>
      </p:sp>
      <p:sp>
        <p:nvSpPr>
          <p:cNvPr id="54" name="Text 49"/>
          <p:cNvSpPr txBox="1"/>
          <p:nvPr/>
        </p:nvSpPr>
        <p:spPr>
          <a:xfrm>
            <a:off x="5394960" y="2395728"/>
            <a:ext cx="3154680" cy="384048"/>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Transformations are only recorded; an action (write, count) triggers execution.</a:t>
            </a:r>
            <a:endParaRPr lang="en-US" sz="1000" dirty="0"/>
          </a:p>
        </p:txBody>
      </p:sp>
      <p:sp>
        <p:nvSpPr>
          <p:cNvPr id="55" name="Shape 50"/>
          <p:cNvSpPr/>
          <p:nvPr/>
        </p:nvSpPr>
        <p:spPr>
          <a:xfrm>
            <a:off x="5257800" y="2907792"/>
            <a:ext cx="3429000" cy="722376"/>
          </a:xfrm>
          <a:prstGeom prst="roundRect">
            <a:avLst>
              <a:gd name="adj" fmla="val 10127"/>
            </a:avLst>
          </a:prstGeom>
          <a:solidFill>
            <a:srgbClr val="F4F7F5"/>
          </a:solidFill>
          <a:ln w="9525">
            <a:solidFill>
              <a:srgbClr val="D5DED9"/>
            </a:solidFill>
            <a:prstDash val="solid"/>
          </a:ln>
        </p:spPr>
      </p:sp>
      <p:sp>
        <p:nvSpPr>
          <p:cNvPr id="56" name="Text 51"/>
          <p:cNvSpPr txBox="1"/>
          <p:nvPr/>
        </p:nvSpPr>
        <p:spPr>
          <a:xfrm>
            <a:off x="5394960" y="2980944"/>
            <a:ext cx="3154680" cy="219456"/>
          </a:xfrm>
          <a:prstGeom prst="rect">
            <a:avLst/>
          </a:prstGeom>
          <a:noFill/>
          <a:ln/>
        </p:spPr>
        <p:txBody>
          <a:bodyPr wrap="square" lIns="0" tIns="0" rIns="0" bIns="0" rtlCol="0" anchor="t"/>
          <a:lstStyle/>
          <a:p>
            <a:pPr marL="0" indent="0">
              <a:buNone/>
            </a:pPr>
            <a:r>
              <a:rPr lang="en-US" sz="1200" b="1" dirty="0">
                <a:solidFill>
                  <a:srgbClr val="0E7C86"/>
                </a:solidFill>
                <a:latin typeface="Calibri" pitchFamily="34" charset="0"/>
                <a:ea typeface="Calibri" pitchFamily="34" charset="-122"/>
                <a:cs typeface="Calibri" pitchFamily="34" charset="-120"/>
              </a:rPr>
              <a:t>Optimiser (Catalyst)</a:t>
            </a:r>
            <a:endParaRPr lang="en-US" sz="1200" dirty="0"/>
          </a:p>
        </p:txBody>
      </p:sp>
      <p:sp>
        <p:nvSpPr>
          <p:cNvPr id="57" name="Text 52"/>
          <p:cNvSpPr txBox="1"/>
          <p:nvPr/>
        </p:nvSpPr>
        <p:spPr>
          <a:xfrm>
            <a:off x="5394960" y="3209544"/>
            <a:ext cx="3154680" cy="384048"/>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Rewrites the whole plan: pushes filters down, picks join strategies.</a:t>
            </a:r>
            <a:endParaRPr lang="en-US" sz="1000" dirty="0"/>
          </a:p>
        </p:txBody>
      </p:sp>
      <p:sp>
        <p:nvSpPr>
          <p:cNvPr id="58" name="Shape 53"/>
          <p:cNvSpPr/>
          <p:nvPr/>
        </p:nvSpPr>
        <p:spPr>
          <a:xfrm>
            <a:off x="5257800" y="3721608"/>
            <a:ext cx="3429000" cy="722376"/>
          </a:xfrm>
          <a:prstGeom prst="roundRect">
            <a:avLst>
              <a:gd name="adj" fmla="val 10127"/>
            </a:avLst>
          </a:prstGeom>
          <a:solidFill>
            <a:srgbClr val="E8F5EF"/>
          </a:solidFill>
          <a:ln w="15875">
            <a:solidFill>
              <a:srgbClr val="0E7C86"/>
            </a:solidFill>
            <a:prstDash val="solid"/>
          </a:ln>
        </p:spPr>
      </p:sp>
      <p:sp>
        <p:nvSpPr>
          <p:cNvPr id="59" name="Text 54"/>
          <p:cNvSpPr txBox="1"/>
          <p:nvPr/>
        </p:nvSpPr>
        <p:spPr>
          <a:xfrm>
            <a:off x="5394960" y="3794760"/>
            <a:ext cx="3154680" cy="219456"/>
          </a:xfrm>
          <a:prstGeom prst="rect">
            <a:avLst/>
          </a:prstGeom>
          <a:noFill/>
          <a:ln/>
        </p:spPr>
        <p:txBody>
          <a:bodyPr wrap="square" lIns="0" tIns="0" rIns="0" bIns="0" rtlCol="0" anchor="t"/>
          <a:lstStyle/>
          <a:p>
            <a:pPr marL="0" indent="0">
              <a:buNone/>
            </a:pPr>
            <a:r>
              <a:rPr lang="en-US" sz="1200" b="1" dirty="0">
                <a:solidFill>
                  <a:srgbClr val="0E7C86"/>
                </a:solidFill>
                <a:latin typeface="Calibri" pitchFamily="34" charset="0"/>
                <a:ea typeface="Calibri" pitchFamily="34" charset="-122"/>
                <a:cs typeface="Calibri" pitchFamily="34" charset="-120"/>
              </a:rPr>
              <a:t>Shuffle</a:t>
            </a:r>
            <a:endParaRPr lang="en-US" sz="1200" dirty="0"/>
          </a:p>
        </p:txBody>
      </p:sp>
      <p:sp>
        <p:nvSpPr>
          <p:cNvPr id="60" name="Text 55"/>
          <p:cNvSpPr txBox="1"/>
          <p:nvPr/>
        </p:nvSpPr>
        <p:spPr>
          <a:xfrm>
            <a:off x="5394960" y="4023360"/>
            <a:ext cx="3154680" cy="384048"/>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Group-bys and joins move data across the network — the usual bottleneck.</a:t>
            </a:r>
            <a:endParaRPr lang="en-US" sz="1000" dirty="0"/>
          </a:p>
        </p:txBody>
      </p:sp>
      <p:sp>
        <p:nvSpPr>
          <p:cNvPr id="61" name="Text 56"/>
          <p:cNvSpPr txBox="1"/>
          <p:nvPr/>
        </p:nvSpPr>
        <p:spPr>
          <a:xfrm>
            <a:off x="457200" y="4590288"/>
            <a:ext cx="7498080" cy="201168"/>
          </a:xfrm>
          <a:prstGeom prst="rect">
            <a:avLst/>
          </a:prstGeom>
          <a:noFill/>
          <a:ln/>
        </p:spPr>
        <p:txBody>
          <a:bodyPr wrap="square" lIns="0" tIns="0" rIns="0" bIns="0" rtlCol="0" anchor="b"/>
          <a:lstStyle/>
          <a:p>
            <a:pPr marL="0" indent="0">
              <a:buNone/>
            </a:pPr>
            <a:r>
              <a:rPr lang="en-US" sz="900" i="1" dirty="0">
                <a:solidFill>
                  <a:srgbClr val="5E6964"/>
                </a:solidFill>
                <a:latin typeface="Calibri" pitchFamily="34" charset="0"/>
                <a:ea typeface="Calibri" pitchFamily="34" charset="-122"/>
                <a:cs typeface="Calibri" pitchFamily="34" charset="-120"/>
              </a:rPr>
              <a:t>Sources: Apache Spark documentation (cluster mode overview); Zaharia et al., Communications of the ACM, 2016.</a:t>
            </a:r>
            <a:endParaRPr lang="en-US" sz="90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DISTRIBUTED PROCESSING</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Spark in practice: a connectivity indicator</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61020" y="315468"/>
            <a:ext cx="118872" cy="118872"/>
          </a:xfrm>
          <a:prstGeom prst="ellipse">
            <a:avLst/>
          </a:prstGeom>
          <a:solidFill>
            <a:srgbClr val="0E7C86"/>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AfDB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17</a:t>
            </a:r>
            <a:endParaRPr lang="en-US" sz="850" dirty="0"/>
          </a:p>
        </p:txBody>
      </p:sp>
      <p:sp>
        <p:nvSpPr>
          <p:cNvPr id="17" name="Shape 14"/>
          <p:cNvSpPr/>
          <p:nvPr/>
        </p:nvSpPr>
        <p:spPr>
          <a:xfrm>
            <a:off x="457200" y="1280160"/>
            <a:ext cx="5212080" cy="3200400"/>
          </a:xfrm>
          <a:prstGeom prst="roundRect">
            <a:avLst>
              <a:gd name="adj" fmla="val 2286"/>
            </a:avLst>
          </a:prstGeom>
          <a:solidFill>
            <a:srgbClr val="F4F7F5"/>
          </a:solidFill>
          <a:ln w="9525">
            <a:solidFill>
              <a:srgbClr val="D5DED9"/>
            </a:solidFill>
            <a:prstDash val="solid"/>
          </a:ln>
        </p:spPr>
      </p:sp>
      <p:sp>
        <p:nvSpPr>
          <p:cNvPr id="18" name="Text 15"/>
          <p:cNvSpPr txBox="1"/>
          <p:nvPr/>
        </p:nvSpPr>
        <p:spPr>
          <a:xfrm>
            <a:off x="594360" y="1371600"/>
            <a:ext cx="4937760" cy="201168"/>
          </a:xfrm>
          <a:prstGeom prst="rect">
            <a:avLst/>
          </a:prstGeom>
          <a:noFill/>
          <a:ln/>
        </p:spPr>
        <p:txBody>
          <a:bodyPr wrap="square" lIns="0" tIns="0" rIns="0" bIns="0" rtlCol="0" anchor="t"/>
          <a:lstStyle/>
          <a:p>
            <a:pPr marL="0" indent="0">
              <a:buNone/>
            </a:pPr>
            <a:r>
              <a:rPr lang="en-US" sz="900" b="1" kern="0" spc="100" dirty="0">
                <a:solidFill>
                  <a:srgbClr val="00704A"/>
                </a:solidFill>
                <a:latin typeface="Calibri" pitchFamily="34" charset="0"/>
                <a:ea typeface="Calibri" pitchFamily="34" charset="-122"/>
                <a:cs typeface="Calibri" pitchFamily="34" charset="-120"/>
              </a:rPr>
              <a:t>PYSPARK</a:t>
            </a:r>
            <a:endParaRPr lang="en-US" sz="900" dirty="0"/>
          </a:p>
        </p:txBody>
      </p:sp>
      <p:sp>
        <p:nvSpPr>
          <p:cNvPr id="19" name="Text 16"/>
          <p:cNvSpPr txBox="1"/>
          <p:nvPr/>
        </p:nvSpPr>
        <p:spPr>
          <a:xfrm>
            <a:off x="594360" y="1609344"/>
            <a:ext cx="4937760" cy="2798064"/>
          </a:xfrm>
          <a:prstGeom prst="rect">
            <a:avLst/>
          </a:prstGeom>
          <a:noFill/>
          <a:ln/>
        </p:spPr>
        <p:txBody>
          <a:bodyPr wrap="square" lIns="0" tIns="0" rIns="0" bIns="0" rtlCol="0" anchor="t"/>
          <a:lstStyle/>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from pyspark.sql import SparkSession, functions as F</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spark = SparkSession.builder.appName("connectivity").getOrCreate()</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a:t>
            </a:r>
            <a:endParaRPr lang="en-US" sz="850" dirty="0"/>
          </a:p>
          <a:p>
            <a:pPr marL="0" indent="0">
              <a:lnSpc>
                <a:spcPct val="105000"/>
              </a:lnSpc>
              <a:buNone/>
            </a:pPr>
            <a:r>
              <a:rPr lang="en-US" sz="850" i="1" dirty="0">
                <a:solidFill>
                  <a:srgbClr val="00704A"/>
                </a:solidFill>
                <a:latin typeface="Courier New" pitchFamily="34" charset="0"/>
                <a:ea typeface="Courier New" pitchFamily="34" charset="-122"/>
                <a:cs typeface="Courier New" pitchFamily="34" charset="-120"/>
              </a:rPr>
              <a:t># 1. Read validated tiles (silver): already joined to admin units</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tiles = spark.read.parquet("s3://nso-lake/silver/ookla_admin/")</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a:t>
            </a:r>
            <a:endParaRPr lang="en-US" sz="850" dirty="0"/>
          </a:p>
          <a:p>
            <a:pPr marL="0" indent="0">
              <a:lnSpc>
                <a:spcPct val="105000"/>
              </a:lnSpc>
              <a:buNone/>
            </a:pPr>
            <a:r>
              <a:rPr lang="en-US" sz="850" i="1" dirty="0">
                <a:solidFill>
                  <a:srgbClr val="00704A"/>
                </a:solidFill>
                <a:latin typeface="Courier New" pitchFamily="34" charset="0"/>
                <a:ea typeface="Courier New" pitchFamily="34" charset="-122"/>
                <a:cs typeface="Courier New" pitchFamily="34" charset="-120"/>
              </a:rPr>
              <a:t># 2. Tests-weighted mean speed + coverage diagnostics</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kpi = (tiles</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.filter(F.col("tests") &gt; 0)</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.groupBy("country", "admin1", "year", "quarter")</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.agg((F.sum(F.col("avg_d_kbps") * F.col("tests"))</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 F.sum("tests")).alias("dl_kbps_weighted"),</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F.sum("tests").alias("n_tests"),</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F.countDistinct("quadkey").alias("n_tiles")))</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a:t>
            </a:r>
            <a:endParaRPr lang="en-US" sz="850" dirty="0"/>
          </a:p>
          <a:p>
            <a:pPr marL="0" indent="0">
              <a:lnSpc>
                <a:spcPct val="105000"/>
              </a:lnSpc>
              <a:buNone/>
            </a:pPr>
            <a:r>
              <a:rPr lang="en-US" sz="850" i="1" dirty="0">
                <a:solidFill>
                  <a:srgbClr val="00704A"/>
                </a:solidFill>
                <a:latin typeface="Courier New" pitchFamily="34" charset="0"/>
                <a:ea typeface="Courier New" pitchFamily="34" charset="-122"/>
                <a:cs typeface="Courier New" pitchFamily="34" charset="-120"/>
              </a:rPr>
              <a:t># 3. Publish to the gold zone, one folder per quarter</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kpi.write.mode("overwrite") \</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.partitionBy("year", "quarter") \</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.parquet("s3://nso-lake/gold/connectivity/")</a:t>
            </a:r>
            <a:endParaRPr lang="en-US" sz="850" dirty="0"/>
          </a:p>
        </p:txBody>
      </p:sp>
      <p:sp>
        <p:nvSpPr>
          <p:cNvPr id="20" name="Shape 17"/>
          <p:cNvSpPr/>
          <p:nvPr/>
        </p:nvSpPr>
        <p:spPr>
          <a:xfrm>
            <a:off x="5897880" y="1280160"/>
            <a:ext cx="2788920" cy="969264"/>
          </a:xfrm>
          <a:prstGeom prst="roundRect">
            <a:avLst>
              <a:gd name="adj" fmla="val 7547"/>
            </a:avLst>
          </a:prstGeom>
          <a:solidFill>
            <a:srgbClr val="E8F5EF"/>
          </a:solidFill>
          <a:ln w="15875">
            <a:solidFill>
              <a:srgbClr val="0E7C86"/>
            </a:solidFill>
            <a:prstDash val="solid"/>
          </a:ln>
        </p:spPr>
      </p:sp>
      <p:sp>
        <p:nvSpPr>
          <p:cNvPr id="21" name="Text 18"/>
          <p:cNvSpPr txBox="1"/>
          <p:nvPr/>
        </p:nvSpPr>
        <p:spPr>
          <a:xfrm>
            <a:off x="6035040" y="1371600"/>
            <a:ext cx="2514600" cy="228600"/>
          </a:xfrm>
          <a:prstGeom prst="rect">
            <a:avLst/>
          </a:prstGeom>
          <a:noFill/>
          <a:ln/>
        </p:spPr>
        <p:txBody>
          <a:bodyPr wrap="square" lIns="0" tIns="0" rIns="0" bIns="0" rtlCol="0" anchor="t"/>
          <a:lstStyle/>
          <a:p>
            <a:pPr marL="0" indent="0">
              <a:buNone/>
            </a:pPr>
            <a:r>
              <a:rPr lang="en-US" sz="1200" b="1" dirty="0">
                <a:solidFill>
                  <a:srgbClr val="0E7C86"/>
                </a:solidFill>
                <a:latin typeface="Calibri" pitchFamily="34" charset="0"/>
                <a:ea typeface="Calibri" pitchFamily="34" charset="-122"/>
                <a:cs typeface="Calibri" pitchFamily="34" charset="-120"/>
              </a:rPr>
              <a:t>Identical at any scale</a:t>
            </a:r>
            <a:endParaRPr lang="en-US" sz="1200" dirty="0"/>
          </a:p>
        </p:txBody>
      </p:sp>
      <p:sp>
        <p:nvSpPr>
          <p:cNvPr id="22" name="Text 19"/>
          <p:cNvSpPr txBox="1"/>
          <p:nvPr/>
        </p:nvSpPr>
        <p:spPr>
          <a:xfrm>
            <a:off x="6035040" y="1609344"/>
            <a:ext cx="2514600" cy="603504"/>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Same script on a laptop sample (local mode) or a full continental history. Only the cluster size changes.</a:t>
            </a:r>
            <a:endParaRPr lang="en-US" sz="950" dirty="0"/>
          </a:p>
        </p:txBody>
      </p:sp>
      <p:sp>
        <p:nvSpPr>
          <p:cNvPr id="23" name="Shape 20"/>
          <p:cNvSpPr/>
          <p:nvPr/>
        </p:nvSpPr>
        <p:spPr>
          <a:xfrm>
            <a:off x="5897880" y="2359152"/>
            <a:ext cx="2788920" cy="969264"/>
          </a:xfrm>
          <a:prstGeom prst="roundRect">
            <a:avLst>
              <a:gd name="adj" fmla="val 7547"/>
            </a:avLst>
          </a:prstGeom>
          <a:solidFill>
            <a:srgbClr val="F4F7F5"/>
          </a:solidFill>
          <a:ln w="9525">
            <a:solidFill>
              <a:srgbClr val="D5DED9"/>
            </a:solidFill>
            <a:prstDash val="solid"/>
          </a:ln>
        </p:spPr>
      </p:sp>
      <p:sp>
        <p:nvSpPr>
          <p:cNvPr id="24" name="Text 21"/>
          <p:cNvSpPr txBox="1"/>
          <p:nvPr/>
        </p:nvSpPr>
        <p:spPr>
          <a:xfrm>
            <a:off x="6035040" y="2450592"/>
            <a:ext cx="2514600" cy="228600"/>
          </a:xfrm>
          <a:prstGeom prst="rect">
            <a:avLst/>
          </a:prstGeom>
          <a:noFill/>
          <a:ln/>
        </p:spPr>
        <p:txBody>
          <a:bodyPr wrap="square" lIns="0" tIns="0" rIns="0" bIns="0" rtlCol="0" anchor="t"/>
          <a:lstStyle/>
          <a:p>
            <a:pPr marL="0" indent="0">
              <a:buNone/>
            </a:pPr>
            <a:r>
              <a:rPr lang="en-US" sz="1200" b="1" dirty="0">
                <a:solidFill>
                  <a:srgbClr val="0E7C86"/>
                </a:solidFill>
                <a:latin typeface="Calibri" pitchFamily="34" charset="0"/>
                <a:ea typeface="Calibri" pitchFamily="34" charset="-122"/>
                <a:cs typeface="Calibri" pitchFamily="34" charset="-120"/>
              </a:rPr>
              <a:t>Statistics first</a:t>
            </a:r>
            <a:endParaRPr lang="en-US" sz="1200" dirty="0"/>
          </a:p>
        </p:txBody>
      </p:sp>
      <p:sp>
        <p:nvSpPr>
          <p:cNvPr id="25" name="Text 22"/>
          <p:cNvSpPr txBox="1"/>
          <p:nvPr/>
        </p:nvSpPr>
        <p:spPr>
          <a:xfrm>
            <a:off x="6035040" y="2688336"/>
            <a:ext cx="2514600" cy="603504"/>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n_tests and n_tiles travel with the estimate, so thin regional figures can be flagged before publication.</a:t>
            </a:r>
            <a:endParaRPr lang="en-US" sz="950" dirty="0"/>
          </a:p>
        </p:txBody>
      </p:sp>
      <p:sp>
        <p:nvSpPr>
          <p:cNvPr id="26" name="Shape 23"/>
          <p:cNvSpPr/>
          <p:nvPr/>
        </p:nvSpPr>
        <p:spPr>
          <a:xfrm>
            <a:off x="5897880" y="3438144"/>
            <a:ext cx="2788920" cy="969264"/>
          </a:xfrm>
          <a:prstGeom prst="roundRect">
            <a:avLst>
              <a:gd name="adj" fmla="val 7547"/>
            </a:avLst>
          </a:prstGeom>
          <a:solidFill>
            <a:srgbClr val="F4F7F5"/>
          </a:solidFill>
          <a:ln w="9525">
            <a:solidFill>
              <a:srgbClr val="D5DED9"/>
            </a:solidFill>
            <a:prstDash val="solid"/>
          </a:ln>
        </p:spPr>
      </p:sp>
      <p:sp>
        <p:nvSpPr>
          <p:cNvPr id="27" name="Text 24"/>
          <p:cNvSpPr txBox="1"/>
          <p:nvPr/>
        </p:nvSpPr>
        <p:spPr>
          <a:xfrm>
            <a:off x="6035040" y="3529584"/>
            <a:ext cx="2514600" cy="228600"/>
          </a:xfrm>
          <a:prstGeom prst="rect">
            <a:avLst/>
          </a:prstGeom>
          <a:noFill/>
          <a:ln/>
        </p:spPr>
        <p:txBody>
          <a:bodyPr wrap="square" lIns="0" tIns="0" rIns="0" bIns="0" rtlCol="0" anchor="t"/>
          <a:lstStyle/>
          <a:p>
            <a:pPr marL="0" indent="0">
              <a:buNone/>
            </a:pPr>
            <a:r>
              <a:rPr lang="en-US" sz="1200" b="1" dirty="0">
                <a:solidFill>
                  <a:srgbClr val="0E7C86"/>
                </a:solidFill>
                <a:latin typeface="Calibri" pitchFamily="34" charset="0"/>
                <a:ea typeface="Calibri" pitchFamily="34" charset="-122"/>
                <a:cs typeface="Calibri" pitchFamily="34" charset="-120"/>
              </a:rPr>
              <a:t>Familiar grammar</a:t>
            </a:r>
            <a:endParaRPr lang="en-US" sz="1200" dirty="0"/>
          </a:p>
        </p:txBody>
      </p:sp>
      <p:sp>
        <p:nvSpPr>
          <p:cNvPr id="28" name="Text 25"/>
          <p:cNvSpPr txBox="1"/>
          <p:nvPr/>
        </p:nvSpPr>
        <p:spPr>
          <a:xfrm>
            <a:off x="6035040" y="3767328"/>
            <a:ext cx="2514600" cy="603504"/>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Filter, group, aggregate, write — the same verbs as SQL, R dplyr or pandas.</a:t>
            </a:r>
            <a:endParaRPr lang="en-US" sz="950" dirty="0"/>
          </a:p>
        </p:txBody>
      </p:sp>
      <p:sp>
        <p:nvSpPr>
          <p:cNvPr id="29" name="Text 26"/>
          <p:cNvSpPr txBox="1"/>
          <p:nvPr/>
        </p:nvSpPr>
        <p:spPr>
          <a:xfrm>
            <a:off x="457200" y="4590288"/>
            <a:ext cx="7498080" cy="201168"/>
          </a:xfrm>
          <a:prstGeom prst="rect">
            <a:avLst/>
          </a:prstGeom>
          <a:noFill/>
          <a:ln/>
        </p:spPr>
        <p:txBody>
          <a:bodyPr wrap="square" lIns="0" tIns="0" rIns="0" bIns="0" rtlCol="0" anchor="b"/>
          <a:lstStyle/>
          <a:p>
            <a:pPr marL="0" indent="0">
              <a:buNone/>
            </a:pPr>
            <a:r>
              <a:rPr lang="en-US" sz="900" i="1" dirty="0">
                <a:solidFill>
                  <a:srgbClr val="5E6964"/>
                </a:solidFill>
                <a:latin typeface="Calibri" pitchFamily="34" charset="0"/>
                <a:ea typeface="Calibri" pitchFamily="34" charset="-122"/>
                <a:cs typeface="Calibri" pitchFamily="34" charset="-120"/>
              </a:rPr>
              <a:t>Column names follow the Ookla Open Data schema; paths and table names are illustrative.</a:t>
            </a:r>
            <a:endParaRPr lang="en-US" sz="9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DISTRIBUTED PROCESSING</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Batch or streaming: choosing the time model</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61020" y="315468"/>
            <a:ext cx="118872" cy="118872"/>
          </a:xfrm>
          <a:prstGeom prst="ellipse">
            <a:avLst/>
          </a:prstGeom>
          <a:solidFill>
            <a:srgbClr val="0E7C86"/>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AfDB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18</a:t>
            </a:r>
            <a:endParaRPr lang="en-US" sz="850" dirty="0"/>
          </a:p>
        </p:txBody>
      </p:sp>
      <p:sp>
        <p:nvSpPr>
          <p:cNvPr id="17" name="Shape 14"/>
          <p:cNvSpPr/>
          <p:nvPr/>
        </p:nvSpPr>
        <p:spPr>
          <a:xfrm>
            <a:off x="457200" y="1280160"/>
            <a:ext cx="2606040" cy="2331720"/>
          </a:xfrm>
          <a:prstGeom prst="roundRect">
            <a:avLst>
              <a:gd name="adj" fmla="val 3137"/>
            </a:avLst>
          </a:prstGeom>
          <a:solidFill>
            <a:srgbClr val="F4F7F5"/>
          </a:solidFill>
          <a:ln w="9525">
            <a:solidFill>
              <a:srgbClr val="D5DED9"/>
            </a:solidFill>
            <a:prstDash val="solid"/>
          </a:ln>
        </p:spPr>
      </p:sp>
      <p:sp>
        <p:nvSpPr>
          <p:cNvPr id="18" name="Shape 15"/>
          <p:cNvSpPr/>
          <p:nvPr/>
        </p:nvSpPr>
        <p:spPr>
          <a:xfrm>
            <a:off x="594360" y="1389888"/>
            <a:ext cx="438912" cy="438912"/>
          </a:xfrm>
          <a:prstGeom prst="ellipse">
            <a:avLst/>
          </a:prstGeom>
          <a:solidFill>
            <a:srgbClr val="0E7C86">
              <a:alpha val="22000"/>
            </a:srgbClr>
          </a:solidFill>
          <a:ln/>
        </p:spPr>
      </p:sp>
      <p:pic>
        <p:nvPicPr>
          <p:cNvPr id="19" name="Image 0" descr="preencoded.png"/>
          <p:cNvPicPr>
            <a:picLocks noChangeAspect="1"/>
          </p:cNvPicPr>
          <p:nvPr/>
        </p:nvPicPr>
        <p:blipFill>
          <a:blip r:embed="rId3"/>
          <a:stretch>
            <a:fillRect/>
          </a:stretch>
        </p:blipFill>
        <p:spPr>
          <a:xfrm>
            <a:off x="704088" y="1499616"/>
            <a:ext cx="219456" cy="219456"/>
          </a:xfrm>
          <a:prstGeom prst="rect">
            <a:avLst/>
          </a:prstGeom>
        </p:spPr>
      </p:pic>
      <p:sp>
        <p:nvSpPr>
          <p:cNvPr id="20" name="Text 16"/>
          <p:cNvSpPr txBox="1"/>
          <p:nvPr/>
        </p:nvSpPr>
        <p:spPr>
          <a:xfrm>
            <a:off x="1115568" y="1371600"/>
            <a:ext cx="1828800" cy="274320"/>
          </a:xfrm>
          <a:prstGeom prst="rect">
            <a:avLst/>
          </a:prstGeom>
          <a:noFill/>
          <a:ln/>
        </p:spPr>
        <p:txBody>
          <a:bodyPr wrap="square" lIns="0" tIns="0" rIns="0" bIns="0" rtlCol="0" anchor="t"/>
          <a:lstStyle/>
          <a:p>
            <a:pPr marL="0" indent="0">
              <a:buNone/>
            </a:pPr>
            <a:r>
              <a:rPr lang="en-US" sz="1500" b="1" dirty="0">
                <a:solidFill>
                  <a:srgbClr val="231F20"/>
                </a:solidFill>
                <a:latin typeface="Calibri" pitchFamily="34" charset="0"/>
                <a:ea typeface="Calibri" pitchFamily="34" charset="-122"/>
                <a:cs typeface="Calibri" pitchFamily="34" charset="-120"/>
              </a:rPr>
              <a:t>Batch</a:t>
            </a:r>
            <a:endParaRPr lang="en-US" sz="1500" dirty="0"/>
          </a:p>
        </p:txBody>
      </p:sp>
      <p:sp>
        <p:nvSpPr>
          <p:cNvPr id="21" name="Text 17"/>
          <p:cNvSpPr txBox="1"/>
          <p:nvPr/>
        </p:nvSpPr>
        <p:spPr>
          <a:xfrm>
            <a:off x="1115568" y="1645920"/>
            <a:ext cx="1828800" cy="22860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Bounded data, processed on a schedule</a:t>
            </a:r>
            <a:endParaRPr lang="en-US" sz="900" dirty="0"/>
          </a:p>
        </p:txBody>
      </p:sp>
      <p:sp>
        <p:nvSpPr>
          <p:cNvPr id="22" name="Text 18"/>
          <p:cNvSpPr txBox="1"/>
          <p:nvPr/>
        </p:nvSpPr>
        <p:spPr>
          <a:xfrm>
            <a:off x="594360" y="2011680"/>
            <a:ext cx="2377440" cy="155448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231F20"/>
                </a:solidFill>
                <a:latin typeface="Calibri" pitchFamily="34" charset="0"/>
                <a:ea typeface="Calibri" pitchFamily="34" charset="-122"/>
                <a:cs typeface="Calibri" pitchFamily="34" charset="-120"/>
              </a:rPr>
              <a:t>Latency: hours to days</a:t>
            </a:r>
            <a:endParaRPr lang="en-US" sz="1000" dirty="0"/>
          </a:p>
          <a:p>
            <a:pPr marL="342900" indent="-342900">
              <a:spcAft>
                <a:spcPts val="400"/>
              </a:spcAft>
              <a:buSzPct val="100000"/>
              <a:buChar char="•"/>
            </a:pPr>
            <a:r>
              <a:rPr lang="en-US" sz="1000" dirty="0">
                <a:solidFill>
                  <a:srgbClr val="231F20"/>
                </a:solidFill>
                <a:latin typeface="Calibri" pitchFamily="34" charset="0"/>
                <a:ea typeface="Calibri" pitchFamily="34" charset="-122"/>
                <a:cs typeface="Calibri" pitchFamily="34" charset="-120"/>
              </a:rPr>
              <a:t>Simple to reason about and to re-run</a:t>
            </a:r>
            <a:endParaRPr lang="en-US" sz="1000" dirty="0"/>
          </a:p>
          <a:p>
            <a:pPr marL="342900" indent="-342900">
              <a:spcAft>
                <a:spcPts val="400"/>
              </a:spcAft>
              <a:buSzPct val="100000"/>
              <a:buChar char="•"/>
            </a:pPr>
            <a:r>
              <a:rPr lang="en-US" sz="1000" dirty="0">
                <a:solidFill>
                  <a:srgbClr val="231F20"/>
                </a:solidFill>
                <a:latin typeface="Calibri" pitchFamily="34" charset="0"/>
                <a:ea typeface="Calibri" pitchFamily="34" charset="-122"/>
                <a:cs typeface="Calibri" pitchFamily="34" charset="-120"/>
              </a:rPr>
              <a:t>Natural fit for monthly, quarterly and annual statistics</a:t>
            </a:r>
            <a:endParaRPr lang="en-US" sz="1000" dirty="0"/>
          </a:p>
          <a:p>
            <a:pPr marL="342900" indent="-342900">
              <a:spcAft>
                <a:spcPts val="400"/>
              </a:spcAft>
              <a:buSzPct val="100000"/>
              <a:buChar char="•"/>
            </a:pPr>
            <a:r>
              <a:rPr lang="en-US" sz="1000" dirty="0">
                <a:solidFill>
                  <a:srgbClr val="231F20"/>
                </a:solidFill>
                <a:latin typeface="Calibri" pitchFamily="34" charset="0"/>
                <a:ea typeface="Calibri" pitchFamily="34" charset="-122"/>
                <a:cs typeface="Calibri" pitchFamily="34" charset="-120"/>
              </a:rPr>
              <a:t>Tools: Spark, DuckDB, dbt, SQL warehouses</a:t>
            </a:r>
            <a:endParaRPr lang="en-US" sz="1000" dirty="0"/>
          </a:p>
        </p:txBody>
      </p:sp>
      <p:sp>
        <p:nvSpPr>
          <p:cNvPr id="23" name="Shape 19"/>
          <p:cNvSpPr/>
          <p:nvPr/>
        </p:nvSpPr>
        <p:spPr>
          <a:xfrm>
            <a:off x="3246120" y="1280160"/>
            <a:ext cx="2606040" cy="2331720"/>
          </a:xfrm>
          <a:prstGeom prst="roundRect">
            <a:avLst>
              <a:gd name="adj" fmla="val 3137"/>
            </a:avLst>
          </a:prstGeom>
          <a:solidFill>
            <a:srgbClr val="E8F5EF"/>
          </a:solidFill>
          <a:ln w="15875">
            <a:solidFill>
              <a:srgbClr val="0E7C86"/>
            </a:solidFill>
            <a:prstDash val="solid"/>
          </a:ln>
        </p:spPr>
      </p:sp>
      <p:sp>
        <p:nvSpPr>
          <p:cNvPr id="24" name="Shape 20"/>
          <p:cNvSpPr/>
          <p:nvPr/>
        </p:nvSpPr>
        <p:spPr>
          <a:xfrm>
            <a:off x="3383280" y="1389888"/>
            <a:ext cx="438912" cy="438912"/>
          </a:xfrm>
          <a:prstGeom prst="ellipse">
            <a:avLst/>
          </a:prstGeom>
          <a:solidFill>
            <a:srgbClr val="0E7C86">
              <a:alpha val="22000"/>
            </a:srgbClr>
          </a:solidFill>
          <a:ln/>
        </p:spPr>
      </p:sp>
      <p:pic>
        <p:nvPicPr>
          <p:cNvPr id="25" name="Image 1" descr="preencoded.png"/>
          <p:cNvPicPr>
            <a:picLocks noChangeAspect="1"/>
          </p:cNvPicPr>
          <p:nvPr/>
        </p:nvPicPr>
        <p:blipFill>
          <a:blip r:embed="rId4"/>
          <a:stretch>
            <a:fillRect/>
          </a:stretch>
        </p:blipFill>
        <p:spPr>
          <a:xfrm>
            <a:off x="3493008" y="1499616"/>
            <a:ext cx="219456" cy="219456"/>
          </a:xfrm>
          <a:prstGeom prst="rect">
            <a:avLst/>
          </a:prstGeom>
        </p:spPr>
      </p:pic>
      <p:sp>
        <p:nvSpPr>
          <p:cNvPr id="26" name="Text 21"/>
          <p:cNvSpPr txBox="1"/>
          <p:nvPr/>
        </p:nvSpPr>
        <p:spPr>
          <a:xfrm>
            <a:off x="3904488" y="1371600"/>
            <a:ext cx="1828800" cy="274320"/>
          </a:xfrm>
          <a:prstGeom prst="rect">
            <a:avLst/>
          </a:prstGeom>
          <a:noFill/>
          <a:ln/>
        </p:spPr>
        <p:txBody>
          <a:bodyPr wrap="square" lIns="0" tIns="0" rIns="0" bIns="0" rtlCol="0" anchor="t"/>
          <a:lstStyle/>
          <a:p>
            <a:pPr marL="0" indent="0">
              <a:buNone/>
            </a:pPr>
            <a:r>
              <a:rPr lang="en-US" sz="1500" b="1" dirty="0">
                <a:solidFill>
                  <a:srgbClr val="231F20"/>
                </a:solidFill>
                <a:latin typeface="Calibri" pitchFamily="34" charset="0"/>
                <a:ea typeface="Calibri" pitchFamily="34" charset="-122"/>
                <a:cs typeface="Calibri" pitchFamily="34" charset="-120"/>
              </a:rPr>
              <a:t>Streaming</a:t>
            </a:r>
            <a:endParaRPr lang="en-US" sz="1500" dirty="0"/>
          </a:p>
        </p:txBody>
      </p:sp>
      <p:sp>
        <p:nvSpPr>
          <p:cNvPr id="27" name="Text 22"/>
          <p:cNvSpPr txBox="1"/>
          <p:nvPr/>
        </p:nvSpPr>
        <p:spPr>
          <a:xfrm>
            <a:off x="3904488" y="1645920"/>
            <a:ext cx="1828800" cy="22860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Unbounded data, processed continuously</a:t>
            </a:r>
            <a:endParaRPr lang="en-US" sz="900" dirty="0"/>
          </a:p>
        </p:txBody>
      </p:sp>
      <p:sp>
        <p:nvSpPr>
          <p:cNvPr id="28" name="Text 23"/>
          <p:cNvSpPr txBox="1"/>
          <p:nvPr/>
        </p:nvSpPr>
        <p:spPr>
          <a:xfrm>
            <a:off x="3383280" y="2011680"/>
            <a:ext cx="2377440" cy="155448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231F20"/>
                </a:solidFill>
                <a:latin typeface="Calibri" pitchFamily="34" charset="0"/>
                <a:ea typeface="Calibri" pitchFamily="34" charset="-122"/>
                <a:cs typeface="Calibri" pitchFamily="34" charset="-120"/>
              </a:rPr>
              <a:t>Latency: seconds</a:t>
            </a:r>
            <a:endParaRPr lang="en-US" sz="1000" dirty="0"/>
          </a:p>
          <a:p>
            <a:pPr marL="342900" indent="-342900">
              <a:spcAft>
                <a:spcPts val="400"/>
              </a:spcAft>
              <a:buSzPct val="100000"/>
              <a:buChar char="•"/>
            </a:pPr>
            <a:r>
              <a:rPr lang="en-US" sz="1000" dirty="0">
                <a:solidFill>
                  <a:srgbClr val="231F20"/>
                </a:solidFill>
                <a:latin typeface="Calibri" pitchFamily="34" charset="0"/>
                <a:ea typeface="Calibri" pitchFamily="34" charset="-122"/>
                <a:cs typeface="Calibri" pitchFamily="34" charset="-120"/>
              </a:rPr>
              <a:t>Needs windows, watermarks and event-time logic</a:t>
            </a:r>
            <a:endParaRPr lang="en-US" sz="1000" dirty="0"/>
          </a:p>
          <a:p>
            <a:pPr marL="342900" indent="-342900">
              <a:spcAft>
                <a:spcPts val="400"/>
              </a:spcAft>
              <a:buSzPct val="100000"/>
              <a:buChar char="•"/>
            </a:pPr>
            <a:r>
              <a:rPr lang="en-US" sz="1000" dirty="0">
                <a:solidFill>
                  <a:srgbClr val="231F20"/>
                </a:solidFill>
                <a:latin typeface="Calibri" pitchFamily="34" charset="0"/>
                <a:ea typeface="Calibri" pitchFamily="34" charset="-122"/>
                <a:cs typeface="Calibri" pitchFamily="34" charset="-120"/>
              </a:rPr>
              <a:t>Fit for nowcasting, monitoring, web price collection</a:t>
            </a:r>
            <a:endParaRPr lang="en-US" sz="1000" dirty="0"/>
          </a:p>
          <a:p>
            <a:pPr marL="342900" indent="-342900">
              <a:spcAft>
                <a:spcPts val="400"/>
              </a:spcAft>
              <a:buSzPct val="100000"/>
              <a:buChar char="•"/>
            </a:pPr>
            <a:r>
              <a:rPr lang="en-US" sz="1000" dirty="0">
                <a:solidFill>
                  <a:srgbClr val="231F20"/>
                </a:solidFill>
                <a:latin typeface="Calibri" pitchFamily="34" charset="0"/>
                <a:ea typeface="Calibri" pitchFamily="34" charset="-122"/>
                <a:cs typeface="Calibri" pitchFamily="34" charset="-120"/>
              </a:rPr>
              <a:t>Tools: Apache Kafka, Apache Flink, Spark Structured Streaming</a:t>
            </a:r>
            <a:endParaRPr lang="en-US" sz="1000" dirty="0"/>
          </a:p>
        </p:txBody>
      </p:sp>
      <p:sp>
        <p:nvSpPr>
          <p:cNvPr id="29" name="Shape 24"/>
          <p:cNvSpPr/>
          <p:nvPr/>
        </p:nvSpPr>
        <p:spPr>
          <a:xfrm>
            <a:off x="6126480" y="1280160"/>
            <a:ext cx="2560320" cy="2331720"/>
          </a:xfrm>
          <a:prstGeom prst="roundRect">
            <a:avLst>
              <a:gd name="adj" fmla="val 3137"/>
            </a:avLst>
          </a:prstGeom>
          <a:solidFill>
            <a:srgbClr val="FFFFFF"/>
          </a:solidFill>
          <a:ln w="9525">
            <a:solidFill>
              <a:srgbClr val="D5DED9"/>
            </a:solidFill>
            <a:prstDash val="solid"/>
          </a:ln>
        </p:spPr>
      </p:sp>
      <p:sp>
        <p:nvSpPr>
          <p:cNvPr id="30" name="Text 25"/>
          <p:cNvSpPr txBox="1"/>
          <p:nvPr/>
        </p:nvSpPr>
        <p:spPr>
          <a:xfrm>
            <a:off x="6217920" y="1353312"/>
            <a:ext cx="2377440" cy="228600"/>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Tumbling windows (5 min)</a:t>
            </a:r>
            <a:endParaRPr lang="en-US" sz="1100" dirty="0"/>
          </a:p>
        </p:txBody>
      </p:sp>
      <p:sp>
        <p:nvSpPr>
          <p:cNvPr id="31" name="Shape 26"/>
          <p:cNvSpPr/>
          <p:nvPr/>
        </p:nvSpPr>
        <p:spPr>
          <a:xfrm>
            <a:off x="6263640" y="2926080"/>
            <a:ext cx="2286000" cy="91"/>
          </a:xfrm>
          <a:prstGeom prst="line">
            <a:avLst/>
          </a:prstGeom>
          <a:noFill/>
          <a:ln w="12700">
            <a:solidFill>
              <a:srgbClr val="5E6964"/>
            </a:solidFill>
            <a:prstDash val="solid"/>
            <a:tailEnd type="triangle"/>
          </a:ln>
        </p:spPr>
      </p:sp>
      <p:sp>
        <p:nvSpPr>
          <p:cNvPr id="32" name="Text 27"/>
          <p:cNvSpPr txBox="1"/>
          <p:nvPr/>
        </p:nvSpPr>
        <p:spPr>
          <a:xfrm>
            <a:off x="7498080" y="2971800"/>
            <a:ext cx="1097280" cy="182880"/>
          </a:xfrm>
          <a:prstGeom prst="rect">
            <a:avLst/>
          </a:prstGeom>
          <a:noFill/>
          <a:ln/>
        </p:spPr>
        <p:txBody>
          <a:bodyPr wrap="square" lIns="0" tIns="0" rIns="0" bIns="0" rtlCol="0" anchor="t"/>
          <a:lstStyle/>
          <a:p>
            <a:pPr marL="0" indent="0" algn="r">
              <a:buNone/>
            </a:pPr>
            <a:r>
              <a:rPr lang="en-US" sz="800" i="1" dirty="0">
                <a:solidFill>
                  <a:srgbClr val="5E6964"/>
                </a:solidFill>
                <a:latin typeface="Calibri" pitchFamily="34" charset="0"/>
                <a:ea typeface="Calibri" pitchFamily="34" charset="-122"/>
                <a:cs typeface="Calibri" pitchFamily="34" charset="-120"/>
              </a:rPr>
              <a:t>event time →</a:t>
            </a:r>
            <a:endParaRPr lang="en-US" sz="800" dirty="0"/>
          </a:p>
        </p:txBody>
      </p:sp>
      <p:sp>
        <p:nvSpPr>
          <p:cNvPr id="33" name="Shape 28"/>
          <p:cNvSpPr/>
          <p:nvPr/>
        </p:nvSpPr>
        <p:spPr>
          <a:xfrm>
            <a:off x="6309360" y="1691640"/>
            <a:ext cx="676656" cy="1188720"/>
          </a:xfrm>
          <a:prstGeom prst="roundRect">
            <a:avLst>
              <a:gd name="adj" fmla="val 5405"/>
            </a:avLst>
          </a:prstGeom>
          <a:solidFill>
            <a:srgbClr val="0E7C86">
              <a:alpha val="12000"/>
            </a:srgbClr>
          </a:solidFill>
          <a:ln w="9525">
            <a:solidFill>
              <a:srgbClr val="0E7C86"/>
            </a:solidFill>
            <a:prstDash val="solid"/>
          </a:ln>
        </p:spPr>
      </p:sp>
      <p:sp>
        <p:nvSpPr>
          <p:cNvPr id="34" name="Text 29"/>
          <p:cNvSpPr txBox="1"/>
          <p:nvPr/>
        </p:nvSpPr>
        <p:spPr>
          <a:xfrm>
            <a:off x="6309360" y="1719072"/>
            <a:ext cx="676656" cy="182880"/>
          </a:xfrm>
          <a:prstGeom prst="rect">
            <a:avLst/>
          </a:prstGeom>
          <a:noFill/>
          <a:ln/>
        </p:spPr>
        <p:txBody>
          <a:bodyPr wrap="square" lIns="0" tIns="0" rIns="0" bIns="0" rtlCol="0" anchor="t"/>
          <a:lstStyle/>
          <a:p>
            <a:pPr marL="0" indent="0" algn="ctr">
              <a:buNone/>
            </a:pPr>
            <a:r>
              <a:rPr lang="en-US" sz="900" b="1" dirty="0">
                <a:solidFill>
                  <a:srgbClr val="0E7C86"/>
                </a:solidFill>
                <a:latin typeface="Calibri" pitchFamily="34" charset="0"/>
                <a:ea typeface="Calibri" pitchFamily="34" charset="-122"/>
                <a:cs typeface="Calibri" pitchFamily="34" charset="-120"/>
              </a:rPr>
              <a:t>W1</a:t>
            </a:r>
            <a:endParaRPr lang="en-US" sz="900" dirty="0"/>
          </a:p>
        </p:txBody>
      </p:sp>
      <p:sp>
        <p:nvSpPr>
          <p:cNvPr id="35" name="Shape 30"/>
          <p:cNvSpPr/>
          <p:nvPr/>
        </p:nvSpPr>
        <p:spPr>
          <a:xfrm>
            <a:off x="7040880" y="1691640"/>
            <a:ext cx="676656" cy="1188720"/>
          </a:xfrm>
          <a:prstGeom prst="roundRect">
            <a:avLst>
              <a:gd name="adj" fmla="val 5405"/>
            </a:avLst>
          </a:prstGeom>
          <a:solidFill>
            <a:srgbClr val="00A86A">
              <a:alpha val="12000"/>
            </a:srgbClr>
          </a:solidFill>
          <a:ln w="9525">
            <a:solidFill>
              <a:srgbClr val="00A86A"/>
            </a:solidFill>
            <a:prstDash val="solid"/>
          </a:ln>
        </p:spPr>
      </p:sp>
      <p:sp>
        <p:nvSpPr>
          <p:cNvPr id="36" name="Text 31"/>
          <p:cNvSpPr txBox="1"/>
          <p:nvPr/>
        </p:nvSpPr>
        <p:spPr>
          <a:xfrm>
            <a:off x="7040880" y="1719072"/>
            <a:ext cx="676656" cy="182880"/>
          </a:xfrm>
          <a:prstGeom prst="rect">
            <a:avLst/>
          </a:prstGeom>
          <a:noFill/>
          <a:ln/>
        </p:spPr>
        <p:txBody>
          <a:bodyPr wrap="square" lIns="0" tIns="0" rIns="0" bIns="0" rtlCol="0" anchor="t"/>
          <a:lstStyle/>
          <a:p>
            <a:pPr marL="0" indent="0" algn="ctr">
              <a:buNone/>
            </a:pPr>
            <a:r>
              <a:rPr lang="en-US" sz="900" b="1" dirty="0">
                <a:solidFill>
                  <a:srgbClr val="00A86A"/>
                </a:solidFill>
                <a:latin typeface="Calibri" pitchFamily="34" charset="0"/>
                <a:ea typeface="Calibri" pitchFamily="34" charset="-122"/>
                <a:cs typeface="Calibri" pitchFamily="34" charset="-120"/>
              </a:rPr>
              <a:t>W2</a:t>
            </a:r>
            <a:endParaRPr lang="en-US" sz="900" dirty="0"/>
          </a:p>
        </p:txBody>
      </p:sp>
      <p:sp>
        <p:nvSpPr>
          <p:cNvPr id="37" name="Shape 32"/>
          <p:cNvSpPr/>
          <p:nvPr/>
        </p:nvSpPr>
        <p:spPr>
          <a:xfrm>
            <a:off x="7772400" y="1691640"/>
            <a:ext cx="676656" cy="1188720"/>
          </a:xfrm>
          <a:prstGeom prst="roundRect">
            <a:avLst>
              <a:gd name="adj" fmla="val 5405"/>
            </a:avLst>
          </a:prstGeom>
          <a:solidFill>
            <a:srgbClr val="00704A">
              <a:alpha val="12000"/>
            </a:srgbClr>
          </a:solidFill>
          <a:ln w="9525">
            <a:solidFill>
              <a:srgbClr val="00704A"/>
            </a:solidFill>
            <a:prstDash val="solid"/>
          </a:ln>
        </p:spPr>
      </p:sp>
      <p:sp>
        <p:nvSpPr>
          <p:cNvPr id="38" name="Text 33"/>
          <p:cNvSpPr txBox="1"/>
          <p:nvPr/>
        </p:nvSpPr>
        <p:spPr>
          <a:xfrm>
            <a:off x="7772400" y="1719072"/>
            <a:ext cx="676656" cy="182880"/>
          </a:xfrm>
          <a:prstGeom prst="rect">
            <a:avLst/>
          </a:prstGeom>
          <a:noFill/>
          <a:ln/>
        </p:spPr>
        <p:txBody>
          <a:bodyPr wrap="square" lIns="0" tIns="0" rIns="0" bIns="0" rtlCol="0" anchor="t"/>
          <a:lstStyle/>
          <a:p>
            <a:pPr marL="0" indent="0" algn="ctr">
              <a:buNone/>
            </a:pPr>
            <a:r>
              <a:rPr lang="en-US" sz="900" b="1" dirty="0">
                <a:solidFill>
                  <a:srgbClr val="00704A"/>
                </a:solidFill>
                <a:latin typeface="Calibri" pitchFamily="34" charset="0"/>
                <a:ea typeface="Calibri" pitchFamily="34" charset="-122"/>
                <a:cs typeface="Calibri" pitchFamily="34" charset="-120"/>
              </a:rPr>
              <a:t>W3</a:t>
            </a:r>
            <a:endParaRPr lang="en-US" sz="900" dirty="0"/>
          </a:p>
        </p:txBody>
      </p:sp>
      <p:sp>
        <p:nvSpPr>
          <p:cNvPr id="39" name="Shape 34"/>
          <p:cNvSpPr/>
          <p:nvPr/>
        </p:nvSpPr>
        <p:spPr>
          <a:xfrm>
            <a:off x="6446520" y="2468880"/>
            <a:ext cx="109728" cy="109728"/>
          </a:xfrm>
          <a:prstGeom prst="ellipse">
            <a:avLst/>
          </a:prstGeom>
          <a:solidFill>
            <a:srgbClr val="0E7C86"/>
          </a:solidFill>
          <a:ln/>
        </p:spPr>
      </p:sp>
      <p:sp>
        <p:nvSpPr>
          <p:cNvPr id="40" name="Shape 35"/>
          <p:cNvSpPr/>
          <p:nvPr/>
        </p:nvSpPr>
        <p:spPr>
          <a:xfrm>
            <a:off x="6583680" y="2240280"/>
            <a:ext cx="109728" cy="109728"/>
          </a:xfrm>
          <a:prstGeom prst="ellipse">
            <a:avLst/>
          </a:prstGeom>
          <a:solidFill>
            <a:srgbClr val="0E7C86"/>
          </a:solidFill>
          <a:ln/>
        </p:spPr>
      </p:sp>
      <p:sp>
        <p:nvSpPr>
          <p:cNvPr id="41" name="Shape 36"/>
          <p:cNvSpPr/>
          <p:nvPr/>
        </p:nvSpPr>
        <p:spPr>
          <a:xfrm>
            <a:off x="6812280" y="2697480"/>
            <a:ext cx="109728" cy="109728"/>
          </a:xfrm>
          <a:prstGeom prst="ellipse">
            <a:avLst/>
          </a:prstGeom>
          <a:solidFill>
            <a:srgbClr val="0E7C86"/>
          </a:solidFill>
          <a:ln/>
        </p:spPr>
      </p:sp>
      <p:sp>
        <p:nvSpPr>
          <p:cNvPr id="42" name="Shape 37"/>
          <p:cNvSpPr/>
          <p:nvPr/>
        </p:nvSpPr>
        <p:spPr>
          <a:xfrm>
            <a:off x="7178040" y="2377440"/>
            <a:ext cx="109728" cy="109728"/>
          </a:xfrm>
          <a:prstGeom prst="ellipse">
            <a:avLst/>
          </a:prstGeom>
          <a:solidFill>
            <a:srgbClr val="00A86A"/>
          </a:solidFill>
          <a:ln/>
        </p:spPr>
      </p:sp>
      <p:sp>
        <p:nvSpPr>
          <p:cNvPr id="43" name="Shape 38"/>
          <p:cNvSpPr/>
          <p:nvPr/>
        </p:nvSpPr>
        <p:spPr>
          <a:xfrm>
            <a:off x="7406640" y="2606040"/>
            <a:ext cx="109728" cy="109728"/>
          </a:xfrm>
          <a:prstGeom prst="ellipse">
            <a:avLst/>
          </a:prstGeom>
          <a:solidFill>
            <a:srgbClr val="00A86A"/>
          </a:solidFill>
          <a:ln/>
        </p:spPr>
      </p:sp>
      <p:sp>
        <p:nvSpPr>
          <p:cNvPr id="44" name="Shape 39"/>
          <p:cNvSpPr/>
          <p:nvPr/>
        </p:nvSpPr>
        <p:spPr>
          <a:xfrm>
            <a:off x="7589520" y="2286000"/>
            <a:ext cx="109728" cy="109728"/>
          </a:xfrm>
          <a:prstGeom prst="ellipse">
            <a:avLst/>
          </a:prstGeom>
          <a:solidFill>
            <a:srgbClr val="00A86A"/>
          </a:solidFill>
          <a:ln/>
        </p:spPr>
      </p:sp>
      <p:sp>
        <p:nvSpPr>
          <p:cNvPr id="45" name="Shape 40"/>
          <p:cNvSpPr/>
          <p:nvPr/>
        </p:nvSpPr>
        <p:spPr>
          <a:xfrm>
            <a:off x="8001000" y="2514600"/>
            <a:ext cx="109728" cy="109728"/>
          </a:xfrm>
          <a:prstGeom prst="ellipse">
            <a:avLst/>
          </a:prstGeom>
          <a:solidFill>
            <a:srgbClr val="00704A"/>
          </a:solidFill>
          <a:ln/>
        </p:spPr>
      </p:sp>
      <p:sp>
        <p:nvSpPr>
          <p:cNvPr id="46" name="Shape 41"/>
          <p:cNvSpPr/>
          <p:nvPr/>
        </p:nvSpPr>
        <p:spPr>
          <a:xfrm>
            <a:off x="8229600" y="2331720"/>
            <a:ext cx="109728" cy="109728"/>
          </a:xfrm>
          <a:prstGeom prst="ellipse">
            <a:avLst/>
          </a:prstGeom>
          <a:solidFill>
            <a:srgbClr val="00704A"/>
          </a:solidFill>
          <a:ln/>
        </p:spPr>
      </p:sp>
      <p:sp>
        <p:nvSpPr>
          <p:cNvPr id="47" name="Text 42"/>
          <p:cNvSpPr txBox="1"/>
          <p:nvPr/>
        </p:nvSpPr>
        <p:spPr>
          <a:xfrm>
            <a:off x="6263640" y="3182112"/>
            <a:ext cx="2286000" cy="384048"/>
          </a:xfrm>
          <a:prstGeom prst="rect">
            <a:avLst/>
          </a:prstGeom>
          <a:noFill/>
          <a:ln/>
        </p:spPr>
        <p:txBody>
          <a:bodyPr wrap="square" lIns="0" tIns="0" rIns="0" bIns="0" rtlCol="0" anchor="t"/>
          <a:lstStyle/>
          <a:p>
            <a:pPr marL="0" indent="0" algn="ctr">
              <a:buNone/>
            </a:pPr>
            <a:r>
              <a:rPr lang="en-US" sz="850" dirty="0">
                <a:solidFill>
                  <a:srgbClr val="5E6964"/>
                </a:solidFill>
                <a:latin typeface="Calibri" pitchFamily="34" charset="0"/>
                <a:ea typeface="Calibri" pitchFamily="34" charset="-122"/>
                <a:cs typeface="Calibri" pitchFamily="34" charset="-120"/>
              </a:rPr>
              <a:t>Each event belongs to exactly one window; each window yields one aggregate.</a:t>
            </a:r>
            <a:endParaRPr lang="en-US" sz="850" dirty="0"/>
          </a:p>
        </p:txBody>
      </p:sp>
      <p:sp>
        <p:nvSpPr>
          <p:cNvPr id="48" name="Shape 43"/>
          <p:cNvSpPr/>
          <p:nvPr/>
        </p:nvSpPr>
        <p:spPr>
          <a:xfrm>
            <a:off x="457200" y="3767328"/>
            <a:ext cx="8229600" cy="731520"/>
          </a:xfrm>
          <a:prstGeom prst="roundRect">
            <a:avLst>
              <a:gd name="adj" fmla="val 10000"/>
            </a:avLst>
          </a:prstGeom>
          <a:solidFill>
            <a:srgbClr val="E8F5EF"/>
          </a:solidFill>
          <a:ln w="15875">
            <a:solidFill>
              <a:srgbClr val="0E7C86"/>
            </a:solidFill>
            <a:prstDash val="solid"/>
          </a:ln>
        </p:spPr>
      </p:sp>
      <p:pic>
        <p:nvPicPr>
          <p:cNvPr id="49" name="Image 2" descr="preencoded.png"/>
          <p:cNvPicPr>
            <a:picLocks noChangeAspect="1"/>
          </p:cNvPicPr>
          <p:nvPr/>
        </p:nvPicPr>
        <p:blipFill>
          <a:blip r:embed="rId5"/>
          <a:stretch>
            <a:fillRect/>
          </a:stretch>
        </p:blipFill>
        <p:spPr>
          <a:xfrm>
            <a:off x="621792" y="3959352"/>
            <a:ext cx="347472" cy="347472"/>
          </a:xfrm>
          <a:prstGeom prst="rect">
            <a:avLst/>
          </a:prstGeom>
        </p:spPr>
      </p:pic>
      <p:sp>
        <p:nvSpPr>
          <p:cNvPr id="50" name="Text 44"/>
          <p:cNvSpPr txBox="1"/>
          <p:nvPr/>
        </p:nvSpPr>
        <p:spPr>
          <a:xfrm>
            <a:off x="1143000" y="3767328"/>
            <a:ext cx="7406640" cy="731520"/>
          </a:xfrm>
          <a:prstGeom prst="rect">
            <a:avLst/>
          </a:prstGeom>
          <a:noFill/>
          <a:ln/>
        </p:spPr>
        <p:txBody>
          <a:bodyPr wrap="square" lIns="0" tIns="0" rIns="0" bIns="0" rtlCol="0" anchor="ctr"/>
          <a:lstStyle/>
          <a:p>
            <a:pPr marL="0" indent="0">
              <a:buNone/>
            </a:pPr>
            <a:r>
              <a:rPr lang="en-US" sz="1100" b="1" dirty="0">
                <a:solidFill>
                  <a:srgbClr val="0E7C86"/>
                </a:solidFill>
                <a:latin typeface="Calibri" pitchFamily="34" charset="0"/>
                <a:ea typeface="Calibri" pitchFamily="34" charset="-122"/>
                <a:cs typeface="Calibri" pitchFamily="34" charset="-120"/>
              </a:rPr>
              <a:t>The one question to ask: </a:t>
            </a:r>
            <a:r>
              <a:rPr lang="en-US" sz="1100" dirty="0">
                <a:solidFill>
                  <a:srgbClr val="231F20"/>
                </a:solidFill>
                <a:latin typeface="Calibri" pitchFamily="34" charset="0"/>
                <a:ea typeface="Calibri" pitchFamily="34" charset="-122"/>
                <a:cs typeface="Calibri" pitchFamily="34" charset="-120"/>
              </a:rPr>
              <a:t>does any decision change if the number arrives one hour later? If not, choose batch — it is cheaper, simpler and easier to audit. Quarterly Ookla indicators and monthly NTL composites are batch problems.</a:t>
            </a:r>
            <a:endParaRPr lang="en-US" sz="11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DISTRIBUTED PROCESSING</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Right-size the engine: the single-node renaissance</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61020" y="315468"/>
            <a:ext cx="118872" cy="118872"/>
          </a:xfrm>
          <a:prstGeom prst="ellipse">
            <a:avLst/>
          </a:prstGeom>
          <a:solidFill>
            <a:srgbClr val="0E7C86"/>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AfDB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19</a:t>
            </a:r>
            <a:endParaRPr lang="en-US" sz="850" dirty="0"/>
          </a:p>
        </p:txBody>
      </p:sp>
      <p:sp>
        <p:nvSpPr>
          <p:cNvPr id="17" name="Shape 14"/>
          <p:cNvSpPr/>
          <p:nvPr/>
        </p:nvSpPr>
        <p:spPr>
          <a:xfrm>
            <a:off x="457200" y="1280160"/>
            <a:ext cx="4206240" cy="585216"/>
          </a:xfrm>
          <a:prstGeom prst="roundRect">
            <a:avLst>
              <a:gd name="adj" fmla="val 12500"/>
            </a:avLst>
          </a:prstGeom>
          <a:solidFill>
            <a:srgbClr val="FFFFFF"/>
          </a:solidFill>
          <a:ln w="15875">
            <a:solidFill>
              <a:srgbClr val="A9B5B0"/>
            </a:solidFill>
            <a:prstDash val="solid"/>
          </a:ln>
        </p:spPr>
      </p:sp>
      <p:sp>
        <p:nvSpPr>
          <p:cNvPr id="18" name="Shape 15"/>
          <p:cNvSpPr/>
          <p:nvPr/>
        </p:nvSpPr>
        <p:spPr>
          <a:xfrm>
            <a:off x="548640" y="1362456"/>
            <a:ext cx="420624" cy="420624"/>
          </a:xfrm>
          <a:prstGeom prst="ellipse">
            <a:avLst/>
          </a:prstGeom>
          <a:solidFill>
            <a:srgbClr val="5E6964">
              <a:alpha val="22000"/>
            </a:srgbClr>
          </a:solidFill>
          <a:ln/>
        </p:spPr>
      </p:sp>
      <p:pic>
        <p:nvPicPr>
          <p:cNvPr id="19" name="Image 0" descr="preencoded.png"/>
          <p:cNvPicPr>
            <a:picLocks noChangeAspect="1"/>
          </p:cNvPicPr>
          <p:nvPr/>
        </p:nvPicPr>
        <p:blipFill>
          <a:blip r:embed="rId3"/>
          <a:stretch>
            <a:fillRect/>
          </a:stretch>
        </p:blipFill>
        <p:spPr>
          <a:xfrm>
            <a:off x="653796" y="1467612"/>
            <a:ext cx="210312" cy="210312"/>
          </a:xfrm>
          <a:prstGeom prst="rect">
            <a:avLst/>
          </a:prstGeom>
        </p:spPr>
      </p:pic>
      <p:sp>
        <p:nvSpPr>
          <p:cNvPr id="20" name="Text 16"/>
          <p:cNvSpPr txBox="1"/>
          <p:nvPr/>
        </p:nvSpPr>
        <p:spPr>
          <a:xfrm>
            <a:off x="1078992" y="1353312"/>
            <a:ext cx="3474720" cy="237744"/>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Laptop in-memory</a:t>
            </a:r>
            <a:endParaRPr lang="en-US" sz="1200" dirty="0"/>
          </a:p>
        </p:txBody>
      </p:sp>
      <p:sp>
        <p:nvSpPr>
          <p:cNvPr id="21" name="Text 17"/>
          <p:cNvSpPr txBox="1"/>
          <p:nvPr/>
        </p:nvSpPr>
        <p:spPr>
          <a:xfrm>
            <a:off x="1078992" y="1609344"/>
            <a:ext cx="3474720" cy="237744"/>
          </a:xfrm>
          <a:prstGeom prst="rect">
            <a:avLst/>
          </a:prstGeom>
          <a:noFill/>
          <a:ln/>
        </p:spPr>
        <p:txBody>
          <a:bodyPr wrap="square" lIns="0" tIns="0" rIns="0" bIns="0" rtlCol="0" anchor="t"/>
          <a:lstStyle/>
          <a:p>
            <a:pPr marL="0" indent="0">
              <a:buNone/>
            </a:pPr>
            <a:r>
              <a:rPr lang="en-US" sz="1000" b="1" dirty="0">
                <a:solidFill>
                  <a:srgbClr val="5E6964"/>
                </a:solidFill>
                <a:latin typeface="Calibri" pitchFamily="34" charset="0"/>
                <a:ea typeface="Calibri" pitchFamily="34" charset="-122"/>
                <a:cs typeface="Calibri" pitchFamily="34" charset="-120"/>
              </a:rPr>
              <a:t>Up to a few GB</a:t>
            </a:r>
            <a:r>
              <a:rPr lang="en-US" sz="1000" dirty="0">
                <a:solidFill>
                  <a:srgbClr val="5E6964"/>
                </a:solidFill>
                <a:latin typeface="Calibri" pitchFamily="34" charset="0"/>
                <a:ea typeface="Calibri" pitchFamily="34" charset="-122"/>
                <a:cs typeface="Calibri" pitchFamily="34" charset="-120"/>
              </a:rPr>
              <a:t>  ·  pandas · R data.frame</a:t>
            </a:r>
            <a:endParaRPr lang="en-US" sz="1000" dirty="0"/>
          </a:p>
        </p:txBody>
      </p:sp>
      <p:sp>
        <p:nvSpPr>
          <p:cNvPr id="22" name="Shape 18"/>
          <p:cNvSpPr/>
          <p:nvPr/>
        </p:nvSpPr>
        <p:spPr>
          <a:xfrm>
            <a:off x="685800" y="1938528"/>
            <a:ext cx="3977640" cy="585216"/>
          </a:xfrm>
          <a:prstGeom prst="roundRect">
            <a:avLst>
              <a:gd name="adj" fmla="val 12500"/>
            </a:avLst>
          </a:prstGeom>
          <a:solidFill>
            <a:srgbClr val="FFFFFF"/>
          </a:solidFill>
          <a:ln w="15875">
            <a:solidFill>
              <a:srgbClr val="00A86A"/>
            </a:solidFill>
            <a:prstDash val="solid"/>
          </a:ln>
        </p:spPr>
      </p:sp>
      <p:sp>
        <p:nvSpPr>
          <p:cNvPr id="23" name="Shape 19"/>
          <p:cNvSpPr/>
          <p:nvPr/>
        </p:nvSpPr>
        <p:spPr>
          <a:xfrm>
            <a:off x="777240" y="2020824"/>
            <a:ext cx="420624" cy="420624"/>
          </a:xfrm>
          <a:prstGeom prst="ellipse">
            <a:avLst/>
          </a:prstGeom>
          <a:solidFill>
            <a:srgbClr val="00A86A">
              <a:alpha val="22000"/>
            </a:srgbClr>
          </a:solidFill>
          <a:ln/>
        </p:spPr>
      </p:sp>
      <p:pic>
        <p:nvPicPr>
          <p:cNvPr id="24" name="Image 1" descr="preencoded.png"/>
          <p:cNvPicPr>
            <a:picLocks noChangeAspect="1"/>
          </p:cNvPicPr>
          <p:nvPr/>
        </p:nvPicPr>
        <p:blipFill>
          <a:blip r:embed="rId4"/>
          <a:stretch>
            <a:fillRect/>
          </a:stretch>
        </p:blipFill>
        <p:spPr>
          <a:xfrm>
            <a:off x="882396" y="2125980"/>
            <a:ext cx="210312" cy="210312"/>
          </a:xfrm>
          <a:prstGeom prst="rect">
            <a:avLst/>
          </a:prstGeom>
        </p:spPr>
      </p:pic>
      <p:sp>
        <p:nvSpPr>
          <p:cNvPr id="25" name="Text 20"/>
          <p:cNvSpPr txBox="1"/>
          <p:nvPr/>
        </p:nvSpPr>
        <p:spPr>
          <a:xfrm>
            <a:off x="1307592" y="2011680"/>
            <a:ext cx="3246120" cy="237744"/>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Single node, columnar</a:t>
            </a:r>
            <a:endParaRPr lang="en-US" sz="1200" dirty="0"/>
          </a:p>
        </p:txBody>
      </p:sp>
      <p:sp>
        <p:nvSpPr>
          <p:cNvPr id="26" name="Text 21"/>
          <p:cNvSpPr txBox="1"/>
          <p:nvPr/>
        </p:nvSpPr>
        <p:spPr>
          <a:xfrm>
            <a:off x="1307592" y="2267712"/>
            <a:ext cx="3246120" cy="237744"/>
          </a:xfrm>
          <a:prstGeom prst="rect">
            <a:avLst/>
          </a:prstGeom>
          <a:noFill/>
          <a:ln/>
        </p:spPr>
        <p:txBody>
          <a:bodyPr wrap="square" lIns="0" tIns="0" rIns="0" bIns="0" rtlCol="0" anchor="t"/>
          <a:lstStyle/>
          <a:p>
            <a:pPr marL="0" indent="0">
              <a:buNone/>
            </a:pPr>
            <a:r>
              <a:rPr lang="en-US" sz="1000" b="1" dirty="0">
                <a:solidFill>
                  <a:srgbClr val="00A86A"/>
                </a:solidFill>
                <a:latin typeface="Calibri" pitchFamily="34" charset="0"/>
                <a:ea typeface="Calibri" pitchFamily="34" charset="-122"/>
                <a:cs typeface="Calibri" pitchFamily="34" charset="-120"/>
              </a:rPr>
              <a:t>Up to hundreds of GB</a:t>
            </a:r>
            <a:r>
              <a:rPr lang="en-US" sz="1000" dirty="0">
                <a:solidFill>
                  <a:srgbClr val="5E6964"/>
                </a:solidFill>
                <a:latin typeface="Calibri" pitchFamily="34" charset="0"/>
                <a:ea typeface="Calibri" pitchFamily="34" charset="-122"/>
                <a:cs typeface="Calibri" pitchFamily="34" charset="-120"/>
              </a:rPr>
              <a:t>  ·  DuckDB · Polars · Apache Arrow</a:t>
            </a:r>
            <a:endParaRPr lang="en-US" sz="1000" dirty="0"/>
          </a:p>
        </p:txBody>
      </p:sp>
      <p:sp>
        <p:nvSpPr>
          <p:cNvPr id="27" name="Shape 22"/>
          <p:cNvSpPr/>
          <p:nvPr/>
        </p:nvSpPr>
        <p:spPr>
          <a:xfrm>
            <a:off x="914400" y="2596896"/>
            <a:ext cx="3749040" cy="585216"/>
          </a:xfrm>
          <a:prstGeom prst="roundRect">
            <a:avLst>
              <a:gd name="adj" fmla="val 12500"/>
            </a:avLst>
          </a:prstGeom>
          <a:solidFill>
            <a:srgbClr val="FFFFFF"/>
          </a:solidFill>
          <a:ln w="15875">
            <a:solidFill>
              <a:srgbClr val="0E7C86"/>
            </a:solidFill>
            <a:prstDash val="solid"/>
          </a:ln>
        </p:spPr>
      </p:sp>
      <p:sp>
        <p:nvSpPr>
          <p:cNvPr id="28" name="Shape 23"/>
          <p:cNvSpPr/>
          <p:nvPr/>
        </p:nvSpPr>
        <p:spPr>
          <a:xfrm>
            <a:off x="1005840" y="2679192"/>
            <a:ext cx="420624" cy="420624"/>
          </a:xfrm>
          <a:prstGeom prst="ellipse">
            <a:avLst/>
          </a:prstGeom>
          <a:solidFill>
            <a:srgbClr val="0E7C86">
              <a:alpha val="22000"/>
            </a:srgbClr>
          </a:solidFill>
          <a:ln/>
        </p:spPr>
      </p:sp>
      <p:pic>
        <p:nvPicPr>
          <p:cNvPr id="29" name="Image 2" descr="preencoded.png"/>
          <p:cNvPicPr>
            <a:picLocks noChangeAspect="1"/>
          </p:cNvPicPr>
          <p:nvPr/>
        </p:nvPicPr>
        <p:blipFill>
          <a:blip r:embed="rId5"/>
          <a:stretch>
            <a:fillRect/>
          </a:stretch>
        </p:blipFill>
        <p:spPr>
          <a:xfrm>
            <a:off x="1110996" y="2784348"/>
            <a:ext cx="210312" cy="210312"/>
          </a:xfrm>
          <a:prstGeom prst="rect">
            <a:avLst/>
          </a:prstGeom>
        </p:spPr>
      </p:pic>
      <p:sp>
        <p:nvSpPr>
          <p:cNvPr id="30" name="Text 24"/>
          <p:cNvSpPr txBox="1"/>
          <p:nvPr/>
        </p:nvSpPr>
        <p:spPr>
          <a:xfrm>
            <a:off x="1536192" y="2670048"/>
            <a:ext cx="3017520" cy="237744"/>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Cluster or cloud warehouse</a:t>
            </a:r>
            <a:endParaRPr lang="en-US" sz="1200" dirty="0"/>
          </a:p>
        </p:txBody>
      </p:sp>
      <p:sp>
        <p:nvSpPr>
          <p:cNvPr id="31" name="Text 25"/>
          <p:cNvSpPr txBox="1"/>
          <p:nvPr/>
        </p:nvSpPr>
        <p:spPr>
          <a:xfrm>
            <a:off x="1536192" y="2926080"/>
            <a:ext cx="3017520" cy="237744"/>
          </a:xfrm>
          <a:prstGeom prst="rect">
            <a:avLst/>
          </a:prstGeom>
          <a:noFill/>
          <a:ln/>
        </p:spPr>
        <p:txBody>
          <a:bodyPr wrap="square" lIns="0" tIns="0" rIns="0" bIns="0" rtlCol="0" anchor="t"/>
          <a:lstStyle/>
          <a:p>
            <a:pPr marL="0" indent="0">
              <a:buNone/>
            </a:pPr>
            <a:r>
              <a:rPr lang="en-US" sz="1000" b="1" dirty="0">
                <a:solidFill>
                  <a:srgbClr val="0E7C86"/>
                </a:solidFill>
                <a:latin typeface="Calibri" pitchFamily="34" charset="0"/>
                <a:ea typeface="Calibri" pitchFamily="34" charset="-122"/>
                <a:cs typeface="Calibri" pitchFamily="34" charset="-120"/>
              </a:rPr>
              <a:t>Terabytes, many users</a:t>
            </a:r>
            <a:r>
              <a:rPr lang="en-US" sz="1000" dirty="0">
                <a:solidFill>
                  <a:srgbClr val="5E6964"/>
                </a:solidFill>
                <a:latin typeface="Calibri" pitchFamily="34" charset="0"/>
                <a:ea typeface="Calibri" pitchFamily="34" charset="-122"/>
                <a:cs typeface="Calibri" pitchFamily="34" charset="-120"/>
              </a:rPr>
              <a:t>  ·  Spark · Trino · BigQuery</a:t>
            </a:r>
            <a:endParaRPr lang="en-US" sz="1000" dirty="0"/>
          </a:p>
        </p:txBody>
      </p:sp>
      <p:sp>
        <p:nvSpPr>
          <p:cNvPr id="32" name="Shape 26"/>
          <p:cNvSpPr/>
          <p:nvPr/>
        </p:nvSpPr>
        <p:spPr>
          <a:xfrm>
            <a:off x="1143000" y="3255264"/>
            <a:ext cx="3520440" cy="585216"/>
          </a:xfrm>
          <a:prstGeom prst="roundRect">
            <a:avLst>
              <a:gd name="adj" fmla="val 12500"/>
            </a:avLst>
          </a:prstGeom>
          <a:solidFill>
            <a:srgbClr val="FFFFFF"/>
          </a:solidFill>
          <a:ln w="15875">
            <a:solidFill>
              <a:srgbClr val="00704A"/>
            </a:solidFill>
            <a:prstDash val="solid"/>
          </a:ln>
        </p:spPr>
      </p:sp>
      <p:sp>
        <p:nvSpPr>
          <p:cNvPr id="33" name="Shape 27"/>
          <p:cNvSpPr/>
          <p:nvPr/>
        </p:nvSpPr>
        <p:spPr>
          <a:xfrm>
            <a:off x="1234440" y="3337560"/>
            <a:ext cx="420624" cy="420624"/>
          </a:xfrm>
          <a:prstGeom prst="ellipse">
            <a:avLst/>
          </a:prstGeom>
          <a:solidFill>
            <a:srgbClr val="00704A">
              <a:alpha val="22000"/>
            </a:srgbClr>
          </a:solidFill>
          <a:ln/>
        </p:spPr>
      </p:sp>
      <p:pic>
        <p:nvPicPr>
          <p:cNvPr id="34" name="Image 3" descr="preencoded.png"/>
          <p:cNvPicPr>
            <a:picLocks noChangeAspect="1"/>
          </p:cNvPicPr>
          <p:nvPr/>
        </p:nvPicPr>
        <p:blipFill>
          <a:blip r:embed="rId6"/>
          <a:stretch>
            <a:fillRect/>
          </a:stretch>
        </p:blipFill>
        <p:spPr>
          <a:xfrm>
            <a:off x="1339596" y="3442716"/>
            <a:ext cx="210312" cy="210312"/>
          </a:xfrm>
          <a:prstGeom prst="rect">
            <a:avLst/>
          </a:prstGeom>
        </p:spPr>
      </p:pic>
      <p:sp>
        <p:nvSpPr>
          <p:cNvPr id="35" name="Text 28"/>
          <p:cNvSpPr txBox="1"/>
          <p:nvPr/>
        </p:nvSpPr>
        <p:spPr>
          <a:xfrm>
            <a:off x="1764792" y="3328416"/>
            <a:ext cx="2788920" cy="237744"/>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Streaming platform</a:t>
            </a:r>
            <a:endParaRPr lang="en-US" sz="1200" dirty="0"/>
          </a:p>
        </p:txBody>
      </p:sp>
      <p:sp>
        <p:nvSpPr>
          <p:cNvPr id="36" name="Text 29"/>
          <p:cNvSpPr txBox="1"/>
          <p:nvPr/>
        </p:nvSpPr>
        <p:spPr>
          <a:xfrm>
            <a:off x="1764792" y="3584448"/>
            <a:ext cx="2788920" cy="237744"/>
          </a:xfrm>
          <a:prstGeom prst="rect">
            <a:avLst/>
          </a:prstGeom>
          <a:noFill/>
          <a:ln/>
        </p:spPr>
        <p:txBody>
          <a:bodyPr wrap="square" lIns="0" tIns="0" rIns="0" bIns="0" rtlCol="0" anchor="t"/>
          <a:lstStyle/>
          <a:p>
            <a:pPr marL="0" indent="0">
              <a:buNone/>
            </a:pPr>
            <a:r>
              <a:rPr lang="en-US" sz="1000" b="1" dirty="0">
                <a:solidFill>
                  <a:srgbClr val="00704A"/>
                </a:solidFill>
                <a:latin typeface="Calibri" pitchFamily="34" charset="0"/>
                <a:ea typeface="Calibri" pitchFamily="34" charset="-122"/>
                <a:cs typeface="Calibri" pitchFamily="34" charset="-120"/>
              </a:rPr>
              <a:t>Continuous flows</a:t>
            </a:r>
            <a:r>
              <a:rPr lang="en-US" sz="1000" dirty="0">
                <a:solidFill>
                  <a:srgbClr val="5E6964"/>
                </a:solidFill>
                <a:latin typeface="Calibri" pitchFamily="34" charset="0"/>
                <a:ea typeface="Calibri" pitchFamily="34" charset="-122"/>
                <a:cs typeface="Calibri" pitchFamily="34" charset="-120"/>
              </a:rPr>
              <a:t>  ·  Kafka + Flink</a:t>
            </a:r>
            <a:endParaRPr lang="en-US" sz="1000" dirty="0"/>
          </a:p>
        </p:txBody>
      </p:sp>
      <p:sp>
        <p:nvSpPr>
          <p:cNvPr id="37" name="Shape 30"/>
          <p:cNvSpPr/>
          <p:nvPr/>
        </p:nvSpPr>
        <p:spPr>
          <a:xfrm>
            <a:off x="5074920" y="1280160"/>
            <a:ext cx="3611880" cy="2103120"/>
          </a:xfrm>
          <a:prstGeom prst="roundRect">
            <a:avLst>
              <a:gd name="adj" fmla="val 3478"/>
            </a:avLst>
          </a:prstGeom>
          <a:solidFill>
            <a:srgbClr val="F4F7F5"/>
          </a:solidFill>
          <a:ln w="9525">
            <a:solidFill>
              <a:srgbClr val="D5DED9"/>
            </a:solidFill>
            <a:prstDash val="solid"/>
          </a:ln>
        </p:spPr>
      </p:sp>
      <p:sp>
        <p:nvSpPr>
          <p:cNvPr id="38" name="Text 31"/>
          <p:cNvSpPr txBox="1"/>
          <p:nvPr/>
        </p:nvSpPr>
        <p:spPr>
          <a:xfrm>
            <a:off x="5212080" y="1371600"/>
            <a:ext cx="3337560" cy="201168"/>
          </a:xfrm>
          <a:prstGeom prst="rect">
            <a:avLst/>
          </a:prstGeom>
          <a:noFill/>
          <a:ln/>
        </p:spPr>
        <p:txBody>
          <a:bodyPr wrap="square" lIns="0" tIns="0" rIns="0" bIns="0" rtlCol="0" anchor="t"/>
          <a:lstStyle/>
          <a:p>
            <a:pPr marL="0" indent="0">
              <a:buNone/>
            </a:pPr>
            <a:r>
              <a:rPr lang="en-US" sz="900" b="1" kern="0" spc="100" dirty="0">
                <a:solidFill>
                  <a:srgbClr val="00704A"/>
                </a:solidFill>
                <a:latin typeface="Calibri" pitchFamily="34" charset="0"/>
                <a:ea typeface="Calibri" pitchFamily="34" charset="-122"/>
                <a:cs typeface="Calibri" pitchFamily="34" charset="-120"/>
              </a:rPr>
              <a:t>DUCKDB SQL</a:t>
            </a:r>
            <a:endParaRPr lang="en-US" sz="900" dirty="0"/>
          </a:p>
        </p:txBody>
      </p:sp>
      <p:sp>
        <p:nvSpPr>
          <p:cNvPr id="39" name="Text 32"/>
          <p:cNvSpPr txBox="1"/>
          <p:nvPr/>
        </p:nvSpPr>
        <p:spPr>
          <a:xfrm>
            <a:off x="5212080" y="1609344"/>
            <a:ext cx="3337560" cy="1700784"/>
          </a:xfrm>
          <a:prstGeom prst="rect">
            <a:avLst/>
          </a:prstGeom>
          <a:noFill/>
          <a:ln/>
        </p:spPr>
        <p:txBody>
          <a:bodyPr wrap="square" lIns="0" tIns="0" rIns="0" bIns="0" rtlCol="0" anchor="t"/>
          <a:lstStyle/>
          <a:p>
            <a:pPr marL="0" indent="0">
              <a:lnSpc>
                <a:spcPct val="105000"/>
              </a:lnSpc>
              <a:buNone/>
            </a:pPr>
            <a:r>
              <a:rPr lang="en-US" sz="900" i="1" dirty="0">
                <a:solidFill>
                  <a:srgbClr val="00704A"/>
                </a:solidFill>
                <a:latin typeface="Courier New" pitchFamily="34" charset="0"/>
                <a:ea typeface="Courier New" pitchFamily="34" charset="-122"/>
                <a:cs typeface="Courier New" pitchFamily="34" charset="-120"/>
              </a:rPr>
              <a:t>-- DuckDB: query Ookla in place, no cluster</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INSTALL httpfs; LOAD httpfs;</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SET s3_region = 'us-west-2';</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SELECT count(*) AS tiles,</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       sum(tests) AS tests</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FROM read_parquet('s3://ookla-open-data/</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  parquet/performance/type=mobile/</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  year=2025/quarter=4/*.parquet');</a:t>
            </a:r>
            <a:endParaRPr lang="en-US" sz="900" dirty="0"/>
          </a:p>
        </p:txBody>
      </p:sp>
      <p:sp>
        <p:nvSpPr>
          <p:cNvPr id="40" name="Text 33"/>
          <p:cNvSpPr txBox="1"/>
          <p:nvPr/>
        </p:nvSpPr>
        <p:spPr>
          <a:xfrm>
            <a:off x="5074920" y="3456432"/>
            <a:ext cx="3611880" cy="201168"/>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Only the columns the query needs are read over the network.</a:t>
            </a:r>
            <a:endParaRPr lang="en-US" sz="900" dirty="0"/>
          </a:p>
        </p:txBody>
      </p:sp>
      <p:sp>
        <p:nvSpPr>
          <p:cNvPr id="41" name="Shape 34"/>
          <p:cNvSpPr/>
          <p:nvPr/>
        </p:nvSpPr>
        <p:spPr>
          <a:xfrm>
            <a:off x="457200" y="3931920"/>
            <a:ext cx="8229600" cy="566928"/>
          </a:xfrm>
          <a:prstGeom prst="roundRect">
            <a:avLst>
              <a:gd name="adj" fmla="val 12903"/>
            </a:avLst>
          </a:prstGeom>
          <a:solidFill>
            <a:srgbClr val="D49A00">
              <a:alpha val="13000"/>
            </a:srgbClr>
          </a:solidFill>
          <a:ln w="12700">
            <a:solidFill>
              <a:srgbClr val="D49A00"/>
            </a:solidFill>
            <a:prstDash val="solid"/>
          </a:ln>
        </p:spPr>
      </p:sp>
      <p:pic>
        <p:nvPicPr>
          <p:cNvPr id="42" name="Image 4" descr="preencoded.png"/>
          <p:cNvPicPr>
            <a:picLocks noChangeAspect="1"/>
          </p:cNvPicPr>
          <p:nvPr/>
        </p:nvPicPr>
        <p:blipFill>
          <a:blip r:embed="rId7"/>
          <a:stretch>
            <a:fillRect/>
          </a:stretch>
        </p:blipFill>
        <p:spPr>
          <a:xfrm>
            <a:off x="594360" y="4105656"/>
            <a:ext cx="219456" cy="219456"/>
          </a:xfrm>
          <a:prstGeom prst="rect">
            <a:avLst/>
          </a:prstGeom>
        </p:spPr>
      </p:pic>
      <p:sp>
        <p:nvSpPr>
          <p:cNvPr id="43" name="Text 35"/>
          <p:cNvSpPr txBox="1"/>
          <p:nvPr/>
        </p:nvSpPr>
        <p:spPr>
          <a:xfrm>
            <a:off x="932688" y="3931920"/>
            <a:ext cx="7616952" cy="56692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The most expensive mistake: </a:t>
            </a:r>
            <a:r>
              <a:rPr lang="en-US" sz="1100" dirty="0">
                <a:solidFill>
                  <a:srgbClr val="231F20"/>
                </a:solidFill>
                <a:latin typeface="Calibri" pitchFamily="34" charset="0"/>
                <a:ea typeface="Calibri" pitchFamily="34" charset="-122"/>
                <a:cs typeface="Calibri" pitchFamily="34" charset="-120"/>
              </a:rPr>
              <a:t>running and maintaining a cluster for data that fits on one machine. Measure first, then scale out.</a:t>
            </a:r>
            <a:endParaRPr lang="en-US" sz="1100" dirty="0"/>
          </a:p>
        </p:txBody>
      </p:sp>
      <p:sp>
        <p:nvSpPr>
          <p:cNvPr id="44" name="Text 36"/>
          <p:cNvSpPr txBox="1"/>
          <p:nvPr/>
        </p:nvSpPr>
        <p:spPr>
          <a:xfrm>
            <a:off x="457200" y="4590288"/>
            <a:ext cx="7498080" cy="201168"/>
          </a:xfrm>
          <a:prstGeom prst="rect">
            <a:avLst/>
          </a:prstGeom>
          <a:noFill/>
          <a:ln/>
        </p:spPr>
        <p:txBody>
          <a:bodyPr wrap="square" lIns="0" tIns="0" rIns="0" bIns="0" rtlCol="0" anchor="b"/>
          <a:lstStyle/>
          <a:p>
            <a:pPr marL="0" indent="0">
              <a:buNone/>
            </a:pPr>
            <a:r>
              <a:rPr lang="en-US" sz="900" i="1" dirty="0">
                <a:solidFill>
                  <a:srgbClr val="5E6964"/>
                </a:solidFill>
                <a:latin typeface="Calibri" pitchFamily="34" charset="0"/>
                <a:ea typeface="Calibri" pitchFamily="34" charset="-122"/>
                <a:cs typeface="Calibri" pitchFamily="34" charset="-120"/>
              </a:rPr>
              <a:t>Thresholds are rules of thumb. Sources: DuckDB documentation (httpfs, read_parquet); Ookla bucket region per AWS Open Data Registry.</a:t>
            </a:r>
            <a:endParaRPr lang="en-US" sz="9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82128" y="329184"/>
            <a:ext cx="91440" cy="91440"/>
          </a:xfrm>
          <a:prstGeom prst="ellipse">
            <a:avLst/>
          </a:prstGeom>
          <a:solidFill>
            <a:srgbClr val="FFFFFF">
              <a:alpha val="40000"/>
            </a:srgbClr>
          </a:solidFill>
          <a:ln/>
        </p:spPr>
      </p:sp>
      <p:sp>
        <p:nvSpPr>
          <p:cNvPr id="3" name="Shape 1"/>
          <p:cNvSpPr/>
          <p:nvPr/>
        </p:nvSpPr>
        <p:spPr>
          <a:xfrm>
            <a:off x="8028432" y="329184"/>
            <a:ext cx="91440" cy="91440"/>
          </a:xfrm>
          <a:prstGeom prst="ellipse">
            <a:avLst/>
          </a:prstGeom>
          <a:solidFill>
            <a:srgbClr val="FFFFFF">
              <a:alpha val="40000"/>
            </a:srgbClr>
          </a:solidFill>
          <a:ln/>
        </p:spPr>
      </p:sp>
      <p:sp>
        <p:nvSpPr>
          <p:cNvPr id="4" name="Shape 2"/>
          <p:cNvSpPr/>
          <p:nvPr/>
        </p:nvSpPr>
        <p:spPr>
          <a:xfrm>
            <a:off x="8174736" y="329184"/>
            <a:ext cx="91440" cy="91440"/>
          </a:xfrm>
          <a:prstGeom prst="ellipse">
            <a:avLst/>
          </a:prstGeom>
          <a:solidFill>
            <a:srgbClr val="FFFFFF">
              <a:alpha val="40000"/>
            </a:srgbClr>
          </a:solidFill>
          <a:ln/>
        </p:spPr>
      </p:sp>
      <p:sp>
        <p:nvSpPr>
          <p:cNvPr id="5" name="Shape 3"/>
          <p:cNvSpPr/>
          <p:nvPr/>
        </p:nvSpPr>
        <p:spPr>
          <a:xfrm>
            <a:off x="8307324" y="315468"/>
            <a:ext cx="118872" cy="118872"/>
          </a:xfrm>
          <a:prstGeom prst="ellipse">
            <a:avLst/>
          </a:prstGeom>
          <a:solidFill>
            <a:srgbClr val="F5C242"/>
          </a:solidFill>
          <a:ln/>
        </p:spPr>
      </p:sp>
      <p:sp>
        <p:nvSpPr>
          <p:cNvPr id="6" name="Shape 4"/>
          <p:cNvSpPr/>
          <p:nvPr/>
        </p:nvSpPr>
        <p:spPr>
          <a:xfrm>
            <a:off x="8467344" y="329184"/>
            <a:ext cx="91440" cy="91440"/>
          </a:xfrm>
          <a:prstGeom prst="ellipse">
            <a:avLst/>
          </a:prstGeom>
          <a:solidFill>
            <a:srgbClr val="FFFFFF">
              <a:alpha val="40000"/>
            </a:srgbClr>
          </a:solidFill>
          <a:ln/>
        </p:spPr>
      </p:sp>
      <p:sp>
        <p:nvSpPr>
          <p:cNvPr id="7" name="Shape 5"/>
          <p:cNvSpPr/>
          <p:nvPr/>
        </p:nvSpPr>
        <p:spPr>
          <a:xfrm>
            <a:off x="8613648" y="329184"/>
            <a:ext cx="91440" cy="91440"/>
          </a:xfrm>
          <a:prstGeom prst="ellipse">
            <a:avLst/>
          </a:prstGeom>
          <a:solidFill>
            <a:srgbClr val="FFFFFF">
              <a:alpha val="40000"/>
            </a:srgbClr>
          </a:solidFill>
          <a:ln/>
        </p:spPr>
      </p:sp>
      <p:sp>
        <p:nvSpPr>
          <p:cNvPr id="8" name="Text 6"/>
          <p:cNvSpPr txBox="1"/>
          <p:nvPr/>
        </p:nvSpPr>
        <p:spPr>
          <a:xfrm>
            <a:off x="548640" y="914400"/>
            <a:ext cx="45720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04 OF 06</a:t>
            </a:r>
            <a:endParaRPr lang="en-US" sz="1050" dirty="0"/>
          </a:p>
        </p:txBody>
      </p:sp>
      <p:sp>
        <p:nvSpPr>
          <p:cNvPr id="9" name="Text 7"/>
          <p:cNvSpPr txBox="1"/>
          <p:nvPr/>
        </p:nvSpPr>
        <p:spPr>
          <a:xfrm>
            <a:off x="502920" y="1097280"/>
            <a:ext cx="2743200" cy="1234440"/>
          </a:xfrm>
          <a:prstGeom prst="rect">
            <a:avLst/>
          </a:prstGeom>
          <a:noFill/>
          <a:ln/>
        </p:spPr>
        <p:txBody>
          <a:bodyPr wrap="square" lIns="0" tIns="0" rIns="0" bIns="0" rtlCol="0" anchor="t"/>
          <a:lstStyle/>
          <a:p>
            <a:pPr marL="0" indent="0">
              <a:buNone/>
            </a:pPr>
            <a:r>
              <a:rPr lang="en-US" sz="9600" b="1" dirty="0">
                <a:solidFill>
                  <a:srgbClr val="F5C242"/>
                </a:solidFill>
                <a:latin typeface="Calibri" pitchFamily="34" charset="0"/>
                <a:ea typeface="Calibri" pitchFamily="34" charset="-122"/>
                <a:cs typeface="Calibri" pitchFamily="34" charset="-120"/>
              </a:rPr>
              <a:t>04</a:t>
            </a:r>
            <a:endParaRPr lang="en-US" sz="9600" dirty="0"/>
          </a:p>
        </p:txBody>
      </p:sp>
      <p:sp>
        <p:nvSpPr>
          <p:cNvPr id="10" name="Text 8"/>
          <p:cNvSpPr txBox="1"/>
          <p:nvPr/>
        </p:nvSpPr>
        <p:spPr>
          <a:xfrm>
            <a:off x="548640" y="2487168"/>
            <a:ext cx="5120640" cy="68580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Indexing &amp; search</a:t>
            </a:r>
            <a:endParaRPr lang="en-US" sz="4000" dirty="0"/>
          </a:p>
        </p:txBody>
      </p:sp>
      <p:sp>
        <p:nvSpPr>
          <p:cNvPr id="11" name="Text 9"/>
          <p:cNvSpPr txBox="1"/>
          <p:nvPr/>
        </p:nvSpPr>
        <p:spPr>
          <a:xfrm>
            <a:off x="548640" y="3246120"/>
            <a:ext cx="4937760" cy="73152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Why can a search engine answer in milliseconds what a full scan needs minutes to find?</a:t>
            </a:r>
            <a:endParaRPr lang="en-US" sz="1800" dirty="0"/>
          </a:p>
        </p:txBody>
      </p:sp>
      <p:sp>
        <p:nvSpPr>
          <p:cNvPr id="12" name="Shape 10"/>
          <p:cNvSpPr/>
          <p:nvPr/>
        </p:nvSpPr>
        <p:spPr>
          <a:xfrm>
            <a:off x="5989320" y="1143000"/>
            <a:ext cx="2651760" cy="2651760"/>
          </a:xfrm>
          <a:prstGeom prst="ellipse">
            <a:avLst/>
          </a:prstGeom>
          <a:solidFill>
            <a:srgbClr val="FFFFFF">
              <a:alpha val="10000"/>
            </a:srgbClr>
          </a:solidFill>
          <a:ln/>
        </p:spPr>
      </p:sp>
      <p:sp>
        <p:nvSpPr>
          <p:cNvPr id="13" name="Shape 11"/>
          <p:cNvSpPr/>
          <p:nvPr/>
        </p:nvSpPr>
        <p:spPr>
          <a:xfrm>
            <a:off x="6355080" y="1508760"/>
            <a:ext cx="1920240" cy="1920240"/>
          </a:xfrm>
          <a:prstGeom prst="ellipse">
            <a:avLst/>
          </a:prstGeom>
          <a:solidFill>
            <a:srgbClr val="FFFFFF">
              <a:alpha val="15000"/>
            </a:srgbClr>
          </a:solidFill>
          <a:ln/>
        </p:spPr>
      </p:sp>
      <p:sp>
        <p:nvSpPr>
          <p:cNvPr id="14" name="Shape 12"/>
          <p:cNvSpPr/>
          <p:nvPr/>
        </p:nvSpPr>
        <p:spPr>
          <a:xfrm>
            <a:off x="6720840" y="1874520"/>
            <a:ext cx="1188720" cy="1188720"/>
          </a:xfrm>
          <a:prstGeom prst="ellipse">
            <a:avLst/>
          </a:prstGeom>
          <a:solidFill>
            <a:srgbClr val="FFFFFF"/>
          </a:solidFill>
          <a:ln/>
        </p:spPr>
      </p:sp>
      <p:pic>
        <p:nvPicPr>
          <p:cNvPr id="15" name="Image 0" descr="preencoded.png"/>
          <p:cNvPicPr>
            <a:picLocks noChangeAspect="1"/>
          </p:cNvPicPr>
          <p:nvPr/>
        </p:nvPicPr>
        <p:blipFill>
          <a:blip r:embed="rId4"/>
          <a:stretch>
            <a:fillRect/>
          </a:stretch>
        </p:blipFill>
        <p:spPr>
          <a:xfrm>
            <a:off x="7022592" y="2176272"/>
            <a:ext cx="585216" cy="585216"/>
          </a:xfrm>
          <a:prstGeom prst="rect">
            <a:avLst/>
          </a:prstGeom>
        </p:spPr>
      </p:pic>
      <p:sp>
        <p:nvSpPr>
          <p:cNvPr id="16" name="Text 13"/>
          <p:cNvSpPr txBox="1"/>
          <p:nvPr/>
        </p:nvSpPr>
        <p:spPr>
          <a:xfrm>
            <a:off x="548640" y="4754880"/>
            <a:ext cx="5486400" cy="182880"/>
          </a:xfrm>
          <a:prstGeom prst="rect">
            <a:avLst/>
          </a:prstGeom>
          <a:noFill/>
          <a:ln/>
        </p:spPr>
        <p:txBody>
          <a:bodyPr wrap="square" lIns="0" tIns="0" rIns="0" bIns="0" rtlCol="0" anchor="t"/>
          <a:lstStyle/>
          <a:p>
            <a:pPr marL="0" indent="0">
              <a:buNone/>
            </a:pPr>
            <a:r>
              <a:rPr lang="en-US" sz="850" dirty="0">
                <a:solidFill>
                  <a:srgbClr val="E6F6EE"/>
                </a:solidFill>
                <a:latin typeface="Calibri" pitchFamily="34" charset="0"/>
                <a:ea typeface="Calibri" pitchFamily="34" charset="-122"/>
                <a:cs typeface="Calibri" pitchFamily="34" charset="-120"/>
              </a:rPr>
              <a:t>Engines of Scale · Big Data Technologies for Statistical Systems · AfDB – DI4A</a:t>
            </a:r>
            <a:endParaRPr lang="en-US" sz="85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INDEXING &amp; SEARCH</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From scanning to indexing</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07324" y="315468"/>
            <a:ext cx="118872" cy="118872"/>
          </a:xfrm>
          <a:prstGeom prst="ellipse">
            <a:avLst/>
          </a:prstGeom>
          <a:solidFill>
            <a:srgbClr val="D49A00"/>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AfDB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21</a:t>
            </a:r>
            <a:endParaRPr lang="en-US" sz="850" dirty="0"/>
          </a:p>
        </p:txBody>
      </p:sp>
      <p:sp>
        <p:nvSpPr>
          <p:cNvPr id="17" name="Shape 14"/>
          <p:cNvSpPr/>
          <p:nvPr/>
        </p:nvSpPr>
        <p:spPr>
          <a:xfrm>
            <a:off x="457200" y="1280160"/>
            <a:ext cx="3931920" cy="2331720"/>
          </a:xfrm>
          <a:prstGeom prst="roundRect">
            <a:avLst>
              <a:gd name="adj" fmla="val 3137"/>
            </a:avLst>
          </a:prstGeom>
          <a:solidFill>
            <a:srgbClr val="F4F7F5"/>
          </a:solidFill>
          <a:ln w="9525">
            <a:solidFill>
              <a:srgbClr val="D5DED9"/>
            </a:solidFill>
            <a:prstDash val="solid"/>
          </a:ln>
        </p:spPr>
      </p:sp>
      <p:sp>
        <p:nvSpPr>
          <p:cNvPr id="18" name="Shape 15"/>
          <p:cNvSpPr/>
          <p:nvPr/>
        </p:nvSpPr>
        <p:spPr>
          <a:xfrm>
            <a:off x="594360" y="1389888"/>
            <a:ext cx="420624" cy="420624"/>
          </a:xfrm>
          <a:prstGeom prst="ellipse">
            <a:avLst/>
          </a:prstGeom>
          <a:solidFill>
            <a:srgbClr val="5E6964">
              <a:alpha val="22000"/>
            </a:srgbClr>
          </a:solidFill>
          <a:ln/>
        </p:spPr>
      </p:sp>
      <p:pic>
        <p:nvPicPr>
          <p:cNvPr id="19" name="Image 0" descr="preencoded.png"/>
          <p:cNvPicPr>
            <a:picLocks noChangeAspect="1"/>
          </p:cNvPicPr>
          <p:nvPr/>
        </p:nvPicPr>
        <p:blipFill>
          <a:blip r:embed="rId3"/>
          <a:stretch>
            <a:fillRect/>
          </a:stretch>
        </p:blipFill>
        <p:spPr>
          <a:xfrm>
            <a:off x="699516" y="1495044"/>
            <a:ext cx="210312" cy="210312"/>
          </a:xfrm>
          <a:prstGeom prst="rect">
            <a:avLst/>
          </a:prstGeom>
        </p:spPr>
      </p:pic>
      <p:sp>
        <p:nvSpPr>
          <p:cNvPr id="20" name="Text 16"/>
          <p:cNvSpPr txBox="1"/>
          <p:nvPr/>
        </p:nvSpPr>
        <p:spPr>
          <a:xfrm>
            <a:off x="1143000" y="1389888"/>
            <a:ext cx="2743200" cy="256032"/>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Full scan</a:t>
            </a:r>
            <a:endParaRPr lang="en-US" sz="1400" dirty="0"/>
          </a:p>
        </p:txBody>
      </p:sp>
      <p:sp>
        <p:nvSpPr>
          <p:cNvPr id="21" name="Text 17"/>
          <p:cNvSpPr txBox="1"/>
          <p:nvPr/>
        </p:nvSpPr>
        <p:spPr>
          <a:xfrm>
            <a:off x="1143000" y="1645920"/>
            <a:ext cx="3108960" cy="20116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Read every record, test each one</a:t>
            </a:r>
            <a:endParaRPr lang="en-US" sz="950" dirty="0"/>
          </a:p>
        </p:txBody>
      </p:sp>
      <p:sp>
        <p:nvSpPr>
          <p:cNvPr id="22" name="Shape 18"/>
          <p:cNvSpPr/>
          <p:nvPr/>
        </p:nvSpPr>
        <p:spPr>
          <a:xfrm>
            <a:off x="640080" y="1993392"/>
            <a:ext cx="2103120" cy="155448"/>
          </a:xfrm>
          <a:prstGeom prst="roundRect">
            <a:avLst>
              <a:gd name="adj" fmla="val 11765"/>
            </a:avLst>
          </a:prstGeom>
          <a:solidFill>
            <a:srgbClr val="FFFFFF"/>
          </a:solidFill>
          <a:ln w="9525">
            <a:solidFill>
              <a:srgbClr val="D5DED9"/>
            </a:solidFill>
            <a:prstDash val="solid"/>
          </a:ln>
        </p:spPr>
      </p:sp>
      <p:pic>
        <p:nvPicPr>
          <p:cNvPr id="23" name="Image 1" descr="preencoded.png"/>
          <p:cNvPicPr>
            <a:picLocks noChangeAspect="1"/>
          </p:cNvPicPr>
          <p:nvPr/>
        </p:nvPicPr>
        <p:blipFill>
          <a:blip r:embed="rId4"/>
          <a:stretch>
            <a:fillRect/>
          </a:stretch>
        </p:blipFill>
        <p:spPr>
          <a:xfrm>
            <a:off x="2816352" y="1993392"/>
            <a:ext cx="137160" cy="137160"/>
          </a:xfrm>
          <a:prstGeom prst="rect">
            <a:avLst/>
          </a:prstGeom>
        </p:spPr>
      </p:pic>
      <p:sp>
        <p:nvSpPr>
          <p:cNvPr id="24" name="Shape 19"/>
          <p:cNvSpPr/>
          <p:nvPr/>
        </p:nvSpPr>
        <p:spPr>
          <a:xfrm>
            <a:off x="640080" y="2194560"/>
            <a:ext cx="2103120" cy="155448"/>
          </a:xfrm>
          <a:prstGeom prst="roundRect">
            <a:avLst>
              <a:gd name="adj" fmla="val 11765"/>
            </a:avLst>
          </a:prstGeom>
          <a:solidFill>
            <a:srgbClr val="D49A00">
              <a:alpha val="40000"/>
            </a:srgbClr>
          </a:solidFill>
          <a:ln w="9525">
            <a:solidFill>
              <a:srgbClr val="D5DED9"/>
            </a:solidFill>
            <a:prstDash val="solid"/>
          </a:ln>
        </p:spPr>
      </p:sp>
      <p:pic>
        <p:nvPicPr>
          <p:cNvPr id="25" name="Image 2" descr="preencoded.png"/>
          <p:cNvPicPr>
            <a:picLocks noChangeAspect="1"/>
          </p:cNvPicPr>
          <p:nvPr/>
        </p:nvPicPr>
        <p:blipFill>
          <a:blip r:embed="rId4"/>
          <a:stretch>
            <a:fillRect/>
          </a:stretch>
        </p:blipFill>
        <p:spPr>
          <a:xfrm>
            <a:off x="2816352" y="2194560"/>
            <a:ext cx="137160" cy="137160"/>
          </a:xfrm>
          <a:prstGeom prst="rect">
            <a:avLst/>
          </a:prstGeom>
        </p:spPr>
      </p:pic>
      <p:sp>
        <p:nvSpPr>
          <p:cNvPr id="26" name="Shape 20"/>
          <p:cNvSpPr/>
          <p:nvPr/>
        </p:nvSpPr>
        <p:spPr>
          <a:xfrm>
            <a:off x="640080" y="2395728"/>
            <a:ext cx="2103120" cy="155448"/>
          </a:xfrm>
          <a:prstGeom prst="roundRect">
            <a:avLst>
              <a:gd name="adj" fmla="val 11765"/>
            </a:avLst>
          </a:prstGeom>
          <a:solidFill>
            <a:srgbClr val="FFFFFF"/>
          </a:solidFill>
          <a:ln w="9525">
            <a:solidFill>
              <a:srgbClr val="D5DED9"/>
            </a:solidFill>
            <a:prstDash val="solid"/>
          </a:ln>
        </p:spPr>
      </p:sp>
      <p:pic>
        <p:nvPicPr>
          <p:cNvPr id="27" name="Image 3" descr="preencoded.png"/>
          <p:cNvPicPr>
            <a:picLocks noChangeAspect="1"/>
          </p:cNvPicPr>
          <p:nvPr/>
        </p:nvPicPr>
        <p:blipFill>
          <a:blip r:embed="rId4"/>
          <a:stretch>
            <a:fillRect/>
          </a:stretch>
        </p:blipFill>
        <p:spPr>
          <a:xfrm>
            <a:off x="2816352" y="2395728"/>
            <a:ext cx="137160" cy="137160"/>
          </a:xfrm>
          <a:prstGeom prst="rect">
            <a:avLst/>
          </a:prstGeom>
        </p:spPr>
      </p:pic>
      <p:sp>
        <p:nvSpPr>
          <p:cNvPr id="28" name="Shape 21"/>
          <p:cNvSpPr/>
          <p:nvPr/>
        </p:nvSpPr>
        <p:spPr>
          <a:xfrm>
            <a:off x="640080" y="2596896"/>
            <a:ext cx="2103120" cy="155448"/>
          </a:xfrm>
          <a:prstGeom prst="roundRect">
            <a:avLst>
              <a:gd name="adj" fmla="val 11765"/>
            </a:avLst>
          </a:prstGeom>
          <a:solidFill>
            <a:srgbClr val="FFFFFF"/>
          </a:solidFill>
          <a:ln w="9525">
            <a:solidFill>
              <a:srgbClr val="D5DED9"/>
            </a:solidFill>
            <a:prstDash val="solid"/>
          </a:ln>
        </p:spPr>
      </p:sp>
      <p:pic>
        <p:nvPicPr>
          <p:cNvPr id="29" name="Image 4" descr="preencoded.png"/>
          <p:cNvPicPr>
            <a:picLocks noChangeAspect="1"/>
          </p:cNvPicPr>
          <p:nvPr/>
        </p:nvPicPr>
        <p:blipFill>
          <a:blip r:embed="rId4"/>
          <a:stretch>
            <a:fillRect/>
          </a:stretch>
        </p:blipFill>
        <p:spPr>
          <a:xfrm>
            <a:off x="2816352" y="2596896"/>
            <a:ext cx="137160" cy="137160"/>
          </a:xfrm>
          <a:prstGeom prst="rect">
            <a:avLst/>
          </a:prstGeom>
        </p:spPr>
      </p:pic>
      <p:sp>
        <p:nvSpPr>
          <p:cNvPr id="30" name="Shape 22"/>
          <p:cNvSpPr/>
          <p:nvPr/>
        </p:nvSpPr>
        <p:spPr>
          <a:xfrm>
            <a:off x="640080" y="2798064"/>
            <a:ext cx="2103120" cy="155448"/>
          </a:xfrm>
          <a:prstGeom prst="roundRect">
            <a:avLst>
              <a:gd name="adj" fmla="val 11765"/>
            </a:avLst>
          </a:prstGeom>
          <a:solidFill>
            <a:srgbClr val="D49A00">
              <a:alpha val="40000"/>
            </a:srgbClr>
          </a:solidFill>
          <a:ln w="9525">
            <a:solidFill>
              <a:srgbClr val="D5DED9"/>
            </a:solidFill>
            <a:prstDash val="solid"/>
          </a:ln>
        </p:spPr>
      </p:sp>
      <p:pic>
        <p:nvPicPr>
          <p:cNvPr id="31" name="Image 5" descr="preencoded.png"/>
          <p:cNvPicPr>
            <a:picLocks noChangeAspect="1"/>
          </p:cNvPicPr>
          <p:nvPr/>
        </p:nvPicPr>
        <p:blipFill>
          <a:blip r:embed="rId4"/>
          <a:stretch>
            <a:fillRect/>
          </a:stretch>
        </p:blipFill>
        <p:spPr>
          <a:xfrm>
            <a:off x="2816352" y="2798064"/>
            <a:ext cx="137160" cy="137160"/>
          </a:xfrm>
          <a:prstGeom prst="rect">
            <a:avLst/>
          </a:prstGeom>
        </p:spPr>
      </p:pic>
      <p:sp>
        <p:nvSpPr>
          <p:cNvPr id="32" name="Shape 23"/>
          <p:cNvSpPr/>
          <p:nvPr/>
        </p:nvSpPr>
        <p:spPr>
          <a:xfrm>
            <a:off x="640080" y="2999232"/>
            <a:ext cx="2103120" cy="155448"/>
          </a:xfrm>
          <a:prstGeom prst="roundRect">
            <a:avLst>
              <a:gd name="adj" fmla="val 11765"/>
            </a:avLst>
          </a:prstGeom>
          <a:solidFill>
            <a:srgbClr val="FFFFFF"/>
          </a:solidFill>
          <a:ln w="9525">
            <a:solidFill>
              <a:srgbClr val="D5DED9"/>
            </a:solidFill>
            <a:prstDash val="solid"/>
          </a:ln>
        </p:spPr>
      </p:sp>
      <p:pic>
        <p:nvPicPr>
          <p:cNvPr id="33" name="Image 6" descr="preencoded.png"/>
          <p:cNvPicPr>
            <a:picLocks noChangeAspect="1"/>
          </p:cNvPicPr>
          <p:nvPr/>
        </p:nvPicPr>
        <p:blipFill>
          <a:blip r:embed="rId4"/>
          <a:stretch>
            <a:fillRect/>
          </a:stretch>
        </p:blipFill>
        <p:spPr>
          <a:xfrm>
            <a:off x="2816352" y="2999232"/>
            <a:ext cx="137160" cy="137160"/>
          </a:xfrm>
          <a:prstGeom prst="rect">
            <a:avLst/>
          </a:prstGeom>
        </p:spPr>
      </p:pic>
      <p:sp>
        <p:nvSpPr>
          <p:cNvPr id="34" name="Shape 24"/>
          <p:cNvSpPr/>
          <p:nvPr/>
        </p:nvSpPr>
        <p:spPr>
          <a:xfrm>
            <a:off x="640080" y="3200400"/>
            <a:ext cx="2103120" cy="155448"/>
          </a:xfrm>
          <a:prstGeom prst="roundRect">
            <a:avLst>
              <a:gd name="adj" fmla="val 11765"/>
            </a:avLst>
          </a:prstGeom>
          <a:solidFill>
            <a:srgbClr val="FFFFFF"/>
          </a:solidFill>
          <a:ln w="9525">
            <a:solidFill>
              <a:srgbClr val="D5DED9"/>
            </a:solidFill>
            <a:prstDash val="solid"/>
          </a:ln>
        </p:spPr>
      </p:sp>
      <p:pic>
        <p:nvPicPr>
          <p:cNvPr id="35" name="Image 7" descr="preencoded.png"/>
          <p:cNvPicPr>
            <a:picLocks noChangeAspect="1"/>
          </p:cNvPicPr>
          <p:nvPr/>
        </p:nvPicPr>
        <p:blipFill>
          <a:blip r:embed="rId4"/>
          <a:stretch>
            <a:fillRect/>
          </a:stretch>
        </p:blipFill>
        <p:spPr>
          <a:xfrm>
            <a:off x="2816352" y="3200400"/>
            <a:ext cx="137160" cy="137160"/>
          </a:xfrm>
          <a:prstGeom prst="rect">
            <a:avLst/>
          </a:prstGeom>
        </p:spPr>
      </p:pic>
      <p:sp>
        <p:nvSpPr>
          <p:cNvPr id="36" name="Text 25"/>
          <p:cNvSpPr txBox="1"/>
          <p:nvPr/>
        </p:nvSpPr>
        <p:spPr>
          <a:xfrm>
            <a:off x="3063240" y="2103120"/>
            <a:ext cx="1234440" cy="1188720"/>
          </a:xfrm>
          <a:prstGeom prst="rect">
            <a:avLst/>
          </a:prstGeom>
          <a:noFill/>
          <a:ln/>
        </p:spPr>
        <p:txBody>
          <a:bodyPr wrap="square" lIns="0" tIns="0" rIns="0" bIns="0" rtlCol="0" anchor="ctr"/>
          <a:lstStyle/>
          <a:p>
            <a:pPr marL="0" indent="0">
              <a:buNone/>
            </a:pPr>
            <a:r>
              <a:rPr lang="en-US" sz="950" i="1" dirty="0">
                <a:solidFill>
                  <a:srgbClr val="5E6964"/>
                </a:solidFill>
                <a:latin typeface="Calibri" pitchFamily="34" charset="0"/>
                <a:ea typeface="Calibri" pitchFamily="34" charset="-122"/>
                <a:cs typeface="Calibri" pitchFamily="34" charset="-120"/>
              </a:rPr>
              <a:t>Work grows with data size: 10× the tiles, ~10× the time.</a:t>
            </a:r>
            <a:endParaRPr lang="en-US" sz="950" dirty="0"/>
          </a:p>
        </p:txBody>
      </p:sp>
      <p:sp>
        <p:nvSpPr>
          <p:cNvPr id="37" name="Shape 26"/>
          <p:cNvSpPr/>
          <p:nvPr/>
        </p:nvSpPr>
        <p:spPr>
          <a:xfrm>
            <a:off x="4754880" y="1280160"/>
            <a:ext cx="3931920" cy="2331720"/>
          </a:xfrm>
          <a:prstGeom prst="roundRect">
            <a:avLst>
              <a:gd name="adj" fmla="val 3137"/>
            </a:avLst>
          </a:prstGeom>
          <a:solidFill>
            <a:srgbClr val="E8F5EF"/>
          </a:solidFill>
          <a:ln w="15875">
            <a:solidFill>
              <a:srgbClr val="D49A00"/>
            </a:solidFill>
            <a:prstDash val="solid"/>
          </a:ln>
        </p:spPr>
      </p:sp>
      <p:sp>
        <p:nvSpPr>
          <p:cNvPr id="38" name="Shape 27"/>
          <p:cNvSpPr/>
          <p:nvPr/>
        </p:nvSpPr>
        <p:spPr>
          <a:xfrm>
            <a:off x="4892040" y="1389888"/>
            <a:ext cx="420624" cy="420624"/>
          </a:xfrm>
          <a:prstGeom prst="ellipse">
            <a:avLst/>
          </a:prstGeom>
          <a:solidFill>
            <a:srgbClr val="D49A00">
              <a:alpha val="22000"/>
            </a:srgbClr>
          </a:solidFill>
          <a:ln/>
        </p:spPr>
      </p:sp>
      <p:pic>
        <p:nvPicPr>
          <p:cNvPr id="39" name="Image 8" descr="preencoded.png"/>
          <p:cNvPicPr>
            <a:picLocks noChangeAspect="1"/>
          </p:cNvPicPr>
          <p:nvPr/>
        </p:nvPicPr>
        <p:blipFill>
          <a:blip r:embed="rId5"/>
          <a:stretch>
            <a:fillRect/>
          </a:stretch>
        </p:blipFill>
        <p:spPr>
          <a:xfrm>
            <a:off x="4997196" y="1495044"/>
            <a:ext cx="210312" cy="210312"/>
          </a:xfrm>
          <a:prstGeom prst="rect">
            <a:avLst/>
          </a:prstGeom>
        </p:spPr>
      </p:pic>
      <p:sp>
        <p:nvSpPr>
          <p:cNvPr id="40" name="Text 28"/>
          <p:cNvSpPr txBox="1"/>
          <p:nvPr/>
        </p:nvSpPr>
        <p:spPr>
          <a:xfrm>
            <a:off x="5440680" y="1389888"/>
            <a:ext cx="2743200" cy="256032"/>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Inverted index</a:t>
            </a:r>
            <a:endParaRPr lang="en-US" sz="1400" dirty="0"/>
          </a:p>
        </p:txBody>
      </p:sp>
      <p:sp>
        <p:nvSpPr>
          <p:cNvPr id="41" name="Text 29"/>
          <p:cNvSpPr txBox="1"/>
          <p:nvPr/>
        </p:nvSpPr>
        <p:spPr>
          <a:xfrm>
            <a:off x="5440680" y="1645920"/>
            <a:ext cx="3108960" cy="20116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Look up the value, jump to the records</a:t>
            </a:r>
            <a:endParaRPr lang="en-US" sz="950" dirty="0"/>
          </a:p>
        </p:txBody>
      </p:sp>
      <p:sp>
        <p:nvSpPr>
          <p:cNvPr id="42" name="Shape 30"/>
          <p:cNvSpPr/>
          <p:nvPr/>
        </p:nvSpPr>
        <p:spPr>
          <a:xfrm>
            <a:off x="4919472" y="2011680"/>
            <a:ext cx="1737360" cy="347472"/>
          </a:xfrm>
          <a:prstGeom prst="roundRect">
            <a:avLst>
              <a:gd name="adj" fmla="val 10526"/>
            </a:avLst>
          </a:prstGeom>
          <a:solidFill>
            <a:srgbClr val="FFFFFF"/>
          </a:solidFill>
          <a:ln w="9525">
            <a:solidFill>
              <a:srgbClr val="D49A00"/>
            </a:solidFill>
            <a:prstDash val="solid"/>
          </a:ln>
        </p:spPr>
      </p:sp>
      <p:sp>
        <p:nvSpPr>
          <p:cNvPr id="43" name="Text 31"/>
          <p:cNvSpPr txBox="1"/>
          <p:nvPr/>
        </p:nvSpPr>
        <p:spPr>
          <a:xfrm>
            <a:off x="4956048" y="2011680"/>
            <a:ext cx="1664208" cy="347472"/>
          </a:xfrm>
          <a:prstGeom prst="rect">
            <a:avLst/>
          </a:prstGeom>
          <a:noFill/>
          <a:ln/>
        </p:spPr>
        <p:txBody>
          <a:bodyPr wrap="square" lIns="0" tIns="0" rIns="0" bIns="0" rtlCol="0" anchor="ctr"/>
          <a:lstStyle/>
          <a:p>
            <a:pPr marL="0" indent="0" algn="ctr">
              <a:buNone/>
            </a:pPr>
            <a:r>
              <a:rPr lang="en-US" sz="800" dirty="0">
                <a:solidFill>
                  <a:srgbClr val="231F20"/>
                </a:solidFill>
                <a:latin typeface="Courier New" pitchFamily="34" charset="0"/>
                <a:ea typeface="Courier New" pitchFamily="34" charset="-122"/>
                <a:cs typeface="Courier New" pitchFamily="34" charset="-120"/>
              </a:rPr>
              <a:t>admin1 = "Kigali"</a:t>
            </a:r>
            <a:endParaRPr lang="en-US" sz="800" dirty="0"/>
          </a:p>
        </p:txBody>
      </p:sp>
      <p:sp>
        <p:nvSpPr>
          <p:cNvPr id="44" name="Text 32"/>
          <p:cNvSpPr txBox="1"/>
          <p:nvPr/>
        </p:nvSpPr>
        <p:spPr>
          <a:xfrm>
            <a:off x="6748272" y="2011680"/>
            <a:ext cx="1828800" cy="347472"/>
          </a:xfrm>
          <a:prstGeom prst="rect">
            <a:avLst/>
          </a:prstGeom>
          <a:noFill/>
          <a:ln/>
        </p:spPr>
        <p:txBody>
          <a:bodyPr wrap="square" lIns="0" tIns="0" rIns="0" bIns="0" rtlCol="0" anchor="ctr"/>
          <a:lstStyle/>
          <a:p>
            <a:pPr marL="0" indent="0">
              <a:buNone/>
            </a:pPr>
            <a:r>
              <a:rPr lang="en-US" sz="850" dirty="0">
                <a:solidFill>
                  <a:srgbClr val="00704A"/>
                </a:solidFill>
                <a:latin typeface="Courier New" pitchFamily="34" charset="0"/>
                <a:ea typeface="Courier New" pitchFamily="34" charset="-122"/>
                <a:cs typeface="Courier New" pitchFamily="34" charset="-120"/>
              </a:rPr>
              <a:t>→ doc 2, 5, 9, 14…</a:t>
            </a:r>
            <a:endParaRPr lang="en-US" sz="850" dirty="0"/>
          </a:p>
        </p:txBody>
      </p:sp>
      <p:sp>
        <p:nvSpPr>
          <p:cNvPr id="45" name="Shape 33"/>
          <p:cNvSpPr/>
          <p:nvPr/>
        </p:nvSpPr>
        <p:spPr>
          <a:xfrm>
            <a:off x="4919472" y="2468880"/>
            <a:ext cx="1737360" cy="347472"/>
          </a:xfrm>
          <a:prstGeom prst="roundRect">
            <a:avLst>
              <a:gd name="adj" fmla="val 10526"/>
            </a:avLst>
          </a:prstGeom>
          <a:solidFill>
            <a:srgbClr val="FFFFFF"/>
          </a:solidFill>
          <a:ln w="9525">
            <a:solidFill>
              <a:srgbClr val="D49A00"/>
            </a:solidFill>
            <a:prstDash val="solid"/>
          </a:ln>
        </p:spPr>
      </p:sp>
      <p:sp>
        <p:nvSpPr>
          <p:cNvPr id="46" name="Text 34"/>
          <p:cNvSpPr txBox="1"/>
          <p:nvPr/>
        </p:nvSpPr>
        <p:spPr>
          <a:xfrm>
            <a:off x="4956048" y="2468880"/>
            <a:ext cx="1664208" cy="347472"/>
          </a:xfrm>
          <a:prstGeom prst="rect">
            <a:avLst/>
          </a:prstGeom>
          <a:noFill/>
          <a:ln/>
        </p:spPr>
        <p:txBody>
          <a:bodyPr wrap="square" lIns="0" tIns="0" rIns="0" bIns="0" rtlCol="0" anchor="ctr"/>
          <a:lstStyle/>
          <a:p>
            <a:pPr marL="0" indent="0" algn="ctr">
              <a:buNone/>
            </a:pPr>
            <a:r>
              <a:rPr lang="en-US" sz="800" dirty="0">
                <a:solidFill>
                  <a:srgbClr val="231F20"/>
                </a:solidFill>
                <a:latin typeface="Courier New" pitchFamily="34" charset="0"/>
                <a:ea typeface="Courier New" pitchFamily="34" charset="-122"/>
                <a:cs typeface="Courier New" pitchFamily="34" charset="-120"/>
              </a:rPr>
              <a:t>admin1 = "Huye"</a:t>
            </a:r>
            <a:endParaRPr lang="en-US" sz="800" dirty="0"/>
          </a:p>
        </p:txBody>
      </p:sp>
      <p:sp>
        <p:nvSpPr>
          <p:cNvPr id="47" name="Text 35"/>
          <p:cNvSpPr txBox="1"/>
          <p:nvPr/>
        </p:nvSpPr>
        <p:spPr>
          <a:xfrm>
            <a:off x="6748272" y="2468880"/>
            <a:ext cx="1828800" cy="347472"/>
          </a:xfrm>
          <a:prstGeom prst="rect">
            <a:avLst/>
          </a:prstGeom>
          <a:noFill/>
          <a:ln/>
        </p:spPr>
        <p:txBody>
          <a:bodyPr wrap="square" lIns="0" tIns="0" rIns="0" bIns="0" rtlCol="0" anchor="ctr"/>
          <a:lstStyle/>
          <a:p>
            <a:pPr marL="0" indent="0">
              <a:buNone/>
            </a:pPr>
            <a:r>
              <a:rPr lang="en-US" sz="850" dirty="0">
                <a:solidFill>
                  <a:srgbClr val="00704A"/>
                </a:solidFill>
                <a:latin typeface="Courier New" pitchFamily="34" charset="0"/>
                <a:ea typeface="Courier New" pitchFamily="34" charset="-122"/>
                <a:cs typeface="Courier New" pitchFamily="34" charset="-120"/>
              </a:rPr>
              <a:t>→ doc 1, 7, 11…</a:t>
            </a:r>
            <a:endParaRPr lang="en-US" sz="850" dirty="0"/>
          </a:p>
        </p:txBody>
      </p:sp>
      <p:sp>
        <p:nvSpPr>
          <p:cNvPr id="48" name="Shape 36"/>
          <p:cNvSpPr/>
          <p:nvPr/>
        </p:nvSpPr>
        <p:spPr>
          <a:xfrm>
            <a:off x="4919472" y="2926080"/>
            <a:ext cx="1737360" cy="347472"/>
          </a:xfrm>
          <a:prstGeom prst="roundRect">
            <a:avLst>
              <a:gd name="adj" fmla="val 10526"/>
            </a:avLst>
          </a:prstGeom>
          <a:solidFill>
            <a:srgbClr val="FFFFFF"/>
          </a:solidFill>
          <a:ln w="9525">
            <a:solidFill>
              <a:srgbClr val="D49A00"/>
            </a:solidFill>
            <a:prstDash val="solid"/>
          </a:ln>
        </p:spPr>
      </p:sp>
      <p:sp>
        <p:nvSpPr>
          <p:cNvPr id="49" name="Text 37"/>
          <p:cNvSpPr txBox="1"/>
          <p:nvPr/>
        </p:nvSpPr>
        <p:spPr>
          <a:xfrm>
            <a:off x="4956048" y="2926080"/>
            <a:ext cx="1664208" cy="347472"/>
          </a:xfrm>
          <a:prstGeom prst="rect">
            <a:avLst/>
          </a:prstGeom>
          <a:noFill/>
          <a:ln/>
        </p:spPr>
        <p:txBody>
          <a:bodyPr wrap="square" lIns="0" tIns="0" rIns="0" bIns="0" rtlCol="0" anchor="ctr"/>
          <a:lstStyle/>
          <a:p>
            <a:pPr marL="0" indent="0" algn="ctr">
              <a:buNone/>
            </a:pPr>
            <a:r>
              <a:rPr lang="en-US" sz="800" dirty="0">
                <a:solidFill>
                  <a:srgbClr val="231F20"/>
                </a:solidFill>
                <a:latin typeface="Courier New" pitchFamily="34" charset="0"/>
                <a:ea typeface="Courier New" pitchFamily="34" charset="-122"/>
                <a:cs typeface="Courier New" pitchFamily="34" charset="-120"/>
              </a:rPr>
              <a:t>quarter = 2025-Q4</a:t>
            </a:r>
            <a:endParaRPr lang="en-US" sz="800" dirty="0"/>
          </a:p>
        </p:txBody>
      </p:sp>
      <p:sp>
        <p:nvSpPr>
          <p:cNvPr id="50" name="Text 38"/>
          <p:cNvSpPr txBox="1"/>
          <p:nvPr/>
        </p:nvSpPr>
        <p:spPr>
          <a:xfrm>
            <a:off x="6748272" y="2926080"/>
            <a:ext cx="1828800" cy="347472"/>
          </a:xfrm>
          <a:prstGeom prst="rect">
            <a:avLst/>
          </a:prstGeom>
          <a:noFill/>
          <a:ln/>
        </p:spPr>
        <p:txBody>
          <a:bodyPr wrap="square" lIns="0" tIns="0" rIns="0" bIns="0" rtlCol="0" anchor="ctr"/>
          <a:lstStyle/>
          <a:p>
            <a:pPr marL="0" indent="0">
              <a:buNone/>
            </a:pPr>
            <a:r>
              <a:rPr lang="en-US" sz="850" dirty="0">
                <a:solidFill>
                  <a:srgbClr val="00704A"/>
                </a:solidFill>
                <a:latin typeface="Courier New" pitchFamily="34" charset="0"/>
                <a:ea typeface="Courier New" pitchFamily="34" charset="-122"/>
                <a:cs typeface="Courier New" pitchFamily="34" charset="-120"/>
              </a:rPr>
              <a:t>→ doc 5, 7, 9…</a:t>
            </a:r>
            <a:endParaRPr lang="en-US" sz="850" dirty="0"/>
          </a:p>
        </p:txBody>
      </p:sp>
      <p:sp>
        <p:nvSpPr>
          <p:cNvPr id="51" name="Shape 39"/>
          <p:cNvSpPr/>
          <p:nvPr/>
        </p:nvSpPr>
        <p:spPr>
          <a:xfrm>
            <a:off x="457200" y="3767328"/>
            <a:ext cx="2624328" cy="731520"/>
          </a:xfrm>
          <a:prstGeom prst="roundRect">
            <a:avLst>
              <a:gd name="adj" fmla="val 10000"/>
            </a:avLst>
          </a:prstGeom>
          <a:solidFill>
            <a:srgbClr val="FFFFFF"/>
          </a:solidFill>
          <a:ln w="12700">
            <a:solidFill>
              <a:srgbClr val="D49A00"/>
            </a:solidFill>
            <a:prstDash val="solid"/>
          </a:ln>
        </p:spPr>
      </p:sp>
      <p:sp>
        <p:nvSpPr>
          <p:cNvPr id="52" name="Text 40"/>
          <p:cNvSpPr txBox="1"/>
          <p:nvPr/>
        </p:nvSpPr>
        <p:spPr>
          <a:xfrm>
            <a:off x="594360" y="3822192"/>
            <a:ext cx="2377440" cy="228600"/>
          </a:xfrm>
          <a:prstGeom prst="rect">
            <a:avLst/>
          </a:prstGeom>
          <a:noFill/>
          <a:ln/>
        </p:spPr>
        <p:txBody>
          <a:bodyPr wrap="square" lIns="0" tIns="0" rIns="0" bIns="0" rtlCol="0" anchor="t"/>
          <a:lstStyle/>
          <a:p>
            <a:pPr marL="0" indent="0">
              <a:buNone/>
            </a:pPr>
            <a:r>
              <a:rPr lang="en-US" sz="1200" b="1" dirty="0">
                <a:solidFill>
                  <a:srgbClr val="D49A00"/>
                </a:solidFill>
                <a:latin typeface="Calibri" pitchFamily="34" charset="0"/>
                <a:ea typeface="Calibri" pitchFamily="34" charset="-122"/>
                <a:cs typeface="Calibri" pitchFamily="34" charset="-120"/>
              </a:rPr>
              <a:t>B-tree</a:t>
            </a:r>
            <a:endParaRPr lang="en-US" sz="1200" dirty="0"/>
          </a:p>
        </p:txBody>
      </p:sp>
      <p:sp>
        <p:nvSpPr>
          <p:cNvPr id="53" name="Text 41"/>
          <p:cNvSpPr txBox="1"/>
          <p:nvPr/>
        </p:nvSpPr>
        <p:spPr>
          <a:xfrm>
            <a:off x="594360" y="4059936"/>
            <a:ext cx="2377440" cy="384048"/>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Relational databases — ranges and sorting</a:t>
            </a:r>
            <a:endParaRPr lang="en-US" sz="950" dirty="0"/>
          </a:p>
        </p:txBody>
      </p:sp>
      <p:sp>
        <p:nvSpPr>
          <p:cNvPr id="54" name="Shape 42"/>
          <p:cNvSpPr/>
          <p:nvPr/>
        </p:nvSpPr>
        <p:spPr>
          <a:xfrm>
            <a:off x="3264408" y="3767328"/>
            <a:ext cx="2624328" cy="731520"/>
          </a:xfrm>
          <a:prstGeom prst="roundRect">
            <a:avLst>
              <a:gd name="adj" fmla="val 10000"/>
            </a:avLst>
          </a:prstGeom>
          <a:solidFill>
            <a:srgbClr val="FFFFFF"/>
          </a:solidFill>
          <a:ln w="12700">
            <a:solidFill>
              <a:srgbClr val="D49A00"/>
            </a:solidFill>
            <a:prstDash val="solid"/>
          </a:ln>
        </p:spPr>
      </p:sp>
      <p:sp>
        <p:nvSpPr>
          <p:cNvPr id="55" name="Text 43"/>
          <p:cNvSpPr txBox="1"/>
          <p:nvPr/>
        </p:nvSpPr>
        <p:spPr>
          <a:xfrm>
            <a:off x="3401568" y="3822192"/>
            <a:ext cx="2377440" cy="228600"/>
          </a:xfrm>
          <a:prstGeom prst="rect">
            <a:avLst/>
          </a:prstGeom>
          <a:noFill/>
          <a:ln/>
        </p:spPr>
        <p:txBody>
          <a:bodyPr wrap="square" lIns="0" tIns="0" rIns="0" bIns="0" rtlCol="0" anchor="t"/>
          <a:lstStyle/>
          <a:p>
            <a:pPr marL="0" indent="0">
              <a:buNone/>
            </a:pPr>
            <a:r>
              <a:rPr lang="en-US" sz="1200" b="1" dirty="0">
                <a:solidFill>
                  <a:srgbClr val="D49A00"/>
                </a:solidFill>
                <a:latin typeface="Calibri" pitchFamily="34" charset="0"/>
                <a:ea typeface="Calibri" pitchFamily="34" charset="-122"/>
                <a:cs typeface="Calibri" pitchFamily="34" charset="-120"/>
              </a:rPr>
              <a:t>Inverted index</a:t>
            </a:r>
            <a:endParaRPr lang="en-US" sz="1200" dirty="0"/>
          </a:p>
        </p:txBody>
      </p:sp>
      <p:sp>
        <p:nvSpPr>
          <p:cNvPr id="56" name="Text 44"/>
          <p:cNvSpPr txBox="1"/>
          <p:nvPr/>
        </p:nvSpPr>
        <p:spPr>
          <a:xfrm>
            <a:off x="3401568" y="4059936"/>
            <a:ext cx="2377440" cy="384048"/>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Search engines — terms, keywords, filters</a:t>
            </a:r>
            <a:endParaRPr lang="en-US" sz="950" dirty="0"/>
          </a:p>
        </p:txBody>
      </p:sp>
      <p:sp>
        <p:nvSpPr>
          <p:cNvPr id="57" name="Shape 45"/>
          <p:cNvSpPr/>
          <p:nvPr/>
        </p:nvSpPr>
        <p:spPr>
          <a:xfrm>
            <a:off x="6071616" y="3767328"/>
            <a:ext cx="2624328" cy="731520"/>
          </a:xfrm>
          <a:prstGeom prst="roundRect">
            <a:avLst>
              <a:gd name="adj" fmla="val 10000"/>
            </a:avLst>
          </a:prstGeom>
          <a:solidFill>
            <a:srgbClr val="FFFFFF"/>
          </a:solidFill>
          <a:ln w="12700">
            <a:solidFill>
              <a:srgbClr val="D49A00"/>
            </a:solidFill>
            <a:prstDash val="solid"/>
          </a:ln>
        </p:spPr>
      </p:sp>
      <p:sp>
        <p:nvSpPr>
          <p:cNvPr id="58" name="Text 46"/>
          <p:cNvSpPr txBox="1"/>
          <p:nvPr/>
        </p:nvSpPr>
        <p:spPr>
          <a:xfrm>
            <a:off x="6208776" y="3822192"/>
            <a:ext cx="2377440" cy="228600"/>
          </a:xfrm>
          <a:prstGeom prst="rect">
            <a:avLst/>
          </a:prstGeom>
          <a:noFill/>
          <a:ln/>
        </p:spPr>
        <p:txBody>
          <a:bodyPr wrap="square" lIns="0" tIns="0" rIns="0" bIns="0" rtlCol="0" anchor="t"/>
          <a:lstStyle/>
          <a:p>
            <a:pPr marL="0" indent="0">
              <a:buNone/>
            </a:pPr>
            <a:r>
              <a:rPr lang="en-US" sz="1200" b="1" dirty="0">
                <a:solidFill>
                  <a:srgbClr val="D49A00"/>
                </a:solidFill>
                <a:latin typeface="Calibri" pitchFamily="34" charset="0"/>
                <a:ea typeface="Calibri" pitchFamily="34" charset="-122"/>
                <a:cs typeface="Calibri" pitchFamily="34" charset="-120"/>
              </a:rPr>
              <a:t>Spatial index</a:t>
            </a:r>
            <a:endParaRPr lang="en-US" sz="1200" dirty="0"/>
          </a:p>
        </p:txBody>
      </p:sp>
      <p:sp>
        <p:nvSpPr>
          <p:cNvPr id="59" name="Text 47"/>
          <p:cNvSpPr txBox="1"/>
          <p:nvPr/>
        </p:nvSpPr>
        <p:spPr>
          <a:xfrm>
            <a:off x="6208776" y="4059936"/>
            <a:ext cx="2377440" cy="384048"/>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Quadkey, geohash, BKD tree — "what is near / inside"</a:t>
            </a:r>
            <a:endParaRPr lang="en-US" sz="950" dirty="0"/>
          </a:p>
        </p:txBody>
      </p:sp>
      <p:sp>
        <p:nvSpPr>
          <p:cNvPr id="60" name="Text 48"/>
          <p:cNvSpPr txBox="1"/>
          <p:nvPr/>
        </p:nvSpPr>
        <p:spPr>
          <a:xfrm>
            <a:off x="457200" y="4590288"/>
            <a:ext cx="7498080" cy="201168"/>
          </a:xfrm>
          <a:prstGeom prst="rect">
            <a:avLst/>
          </a:prstGeom>
          <a:noFill/>
          <a:ln/>
        </p:spPr>
        <p:txBody>
          <a:bodyPr wrap="square" lIns="0" tIns="0" rIns="0" bIns="0" rtlCol="0" anchor="b"/>
          <a:lstStyle/>
          <a:p>
            <a:pPr marL="0" indent="0">
              <a:buNone/>
            </a:pPr>
            <a:r>
              <a:rPr lang="en-US" sz="900" i="1" dirty="0">
                <a:solidFill>
                  <a:srgbClr val="5E6964"/>
                </a:solidFill>
                <a:latin typeface="Calibri" pitchFamily="34" charset="0"/>
                <a:ea typeface="Calibri" pitchFamily="34" charset="-122"/>
                <a:cs typeface="Calibri" pitchFamily="34" charset="-120"/>
              </a:rPr>
              <a:t>An index trades write-time work and disk space for read-time speed. Document IDs are illustrative.</a:t>
            </a:r>
            <a:endParaRPr lang="en-US" sz="90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INDEXING &amp; SEARCH</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The quadkey: a spatial index you already hold</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07324" y="315468"/>
            <a:ext cx="118872" cy="118872"/>
          </a:xfrm>
          <a:prstGeom prst="ellipse">
            <a:avLst/>
          </a:prstGeom>
          <a:solidFill>
            <a:srgbClr val="D49A00"/>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AfDB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22</a:t>
            </a:r>
            <a:endParaRPr lang="en-US" sz="850" dirty="0"/>
          </a:p>
        </p:txBody>
      </p:sp>
      <p:sp>
        <p:nvSpPr>
          <p:cNvPr id="17" name="Shape 14"/>
          <p:cNvSpPr/>
          <p:nvPr/>
        </p:nvSpPr>
        <p:spPr>
          <a:xfrm>
            <a:off x="548640" y="1325880"/>
            <a:ext cx="1508760" cy="1508760"/>
          </a:xfrm>
          <a:prstGeom prst="roundRect">
            <a:avLst>
              <a:gd name="adj" fmla="val 606"/>
            </a:avLst>
          </a:prstGeom>
          <a:solidFill>
            <a:srgbClr val="D49A00">
              <a:alpha val="25000"/>
            </a:srgbClr>
          </a:solidFill>
          <a:ln w="19050">
            <a:solidFill>
              <a:srgbClr val="FFFFFF"/>
            </a:solidFill>
            <a:prstDash val="solid"/>
          </a:ln>
        </p:spPr>
      </p:sp>
      <p:sp>
        <p:nvSpPr>
          <p:cNvPr id="18" name="Text 15"/>
          <p:cNvSpPr txBox="1"/>
          <p:nvPr/>
        </p:nvSpPr>
        <p:spPr>
          <a:xfrm>
            <a:off x="548640" y="1325880"/>
            <a:ext cx="1508760" cy="1508760"/>
          </a:xfrm>
          <a:prstGeom prst="rect">
            <a:avLst/>
          </a:prstGeom>
          <a:noFill/>
          <a:ln/>
        </p:spPr>
        <p:txBody>
          <a:bodyPr wrap="square" lIns="0" tIns="0" rIns="0" bIns="0" rtlCol="0" anchor="ctr"/>
          <a:lstStyle/>
          <a:p>
            <a:pPr marL="0" indent="0" algn="ctr">
              <a:buNone/>
            </a:pPr>
            <a:r>
              <a:rPr lang="en-US" sz="2000" b="1" dirty="0">
                <a:solidFill>
                  <a:srgbClr val="231F20"/>
                </a:solidFill>
                <a:latin typeface="Calibri" pitchFamily="34" charset="0"/>
                <a:ea typeface="Calibri" pitchFamily="34" charset="-122"/>
                <a:cs typeface="Calibri" pitchFamily="34" charset="-120"/>
              </a:rPr>
              <a:t>0</a:t>
            </a:r>
            <a:endParaRPr lang="en-US" sz="2000" dirty="0"/>
          </a:p>
        </p:txBody>
      </p:sp>
      <p:sp>
        <p:nvSpPr>
          <p:cNvPr id="19" name="Shape 16"/>
          <p:cNvSpPr/>
          <p:nvPr/>
        </p:nvSpPr>
        <p:spPr>
          <a:xfrm>
            <a:off x="2057400" y="1325880"/>
            <a:ext cx="1508760" cy="1508760"/>
          </a:xfrm>
          <a:prstGeom prst="roundRect">
            <a:avLst>
              <a:gd name="adj" fmla="val 606"/>
            </a:avLst>
          </a:prstGeom>
          <a:solidFill>
            <a:srgbClr val="D49A00">
              <a:alpha val="25000"/>
            </a:srgbClr>
          </a:solidFill>
          <a:ln w="19050">
            <a:solidFill>
              <a:srgbClr val="FFFFFF"/>
            </a:solidFill>
            <a:prstDash val="solid"/>
          </a:ln>
        </p:spPr>
      </p:sp>
      <p:sp>
        <p:nvSpPr>
          <p:cNvPr id="20" name="Text 17"/>
          <p:cNvSpPr txBox="1"/>
          <p:nvPr/>
        </p:nvSpPr>
        <p:spPr>
          <a:xfrm>
            <a:off x="2057400" y="1325880"/>
            <a:ext cx="1508760" cy="1508760"/>
          </a:xfrm>
          <a:prstGeom prst="rect">
            <a:avLst/>
          </a:prstGeom>
          <a:noFill/>
          <a:ln/>
        </p:spPr>
        <p:txBody>
          <a:bodyPr wrap="square" lIns="0" tIns="0" rIns="0" bIns="0" rtlCol="0" anchor="ctr"/>
          <a:lstStyle/>
          <a:p>
            <a:pPr marL="0" indent="0" algn="ctr">
              <a:buNone/>
            </a:pPr>
            <a:r>
              <a:rPr lang="en-US" sz="2000" b="1" dirty="0">
                <a:solidFill>
                  <a:srgbClr val="231F20"/>
                </a:solidFill>
                <a:latin typeface="Calibri" pitchFamily="34" charset="0"/>
                <a:ea typeface="Calibri" pitchFamily="34" charset="-122"/>
                <a:cs typeface="Calibri" pitchFamily="34" charset="-120"/>
              </a:rPr>
              <a:t>1</a:t>
            </a:r>
            <a:endParaRPr lang="en-US" sz="2000" dirty="0"/>
          </a:p>
        </p:txBody>
      </p:sp>
      <p:sp>
        <p:nvSpPr>
          <p:cNvPr id="21" name="Shape 18"/>
          <p:cNvSpPr/>
          <p:nvPr/>
        </p:nvSpPr>
        <p:spPr>
          <a:xfrm>
            <a:off x="2057400" y="2834640"/>
            <a:ext cx="1508760" cy="1508760"/>
          </a:xfrm>
          <a:prstGeom prst="roundRect">
            <a:avLst>
              <a:gd name="adj" fmla="val 606"/>
            </a:avLst>
          </a:prstGeom>
          <a:solidFill>
            <a:srgbClr val="D49A00">
              <a:alpha val="25000"/>
            </a:srgbClr>
          </a:solidFill>
          <a:ln w="19050">
            <a:solidFill>
              <a:srgbClr val="FFFFFF"/>
            </a:solidFill>
            <a:prstDash val="solid"/>
          </a:ln>
        </p:spPr>
      </p:sp>
      <p:sp>
        <p:nvSpPr>
          <p:cNvPr id="22" name="Text 19"/>
          <p:cNvSpPr txBox="1"/>
          <p:nvPr/>
        </p:nvSpPr>
        <p:spPr>
          <a:xfrm>
            <a:off x="2057400" y="2834640"/>
            <a:ext cx="1508760" cy="1508760"/>
          </a:xfrm>
          <a:prstGeom prst="rect">
            <a:avLst/>
          </a:prstGeom>
          <a:noFill/>
          <a:ln/>
        </p:spPr>
        <p:txBody>
          <a:bodyPr wrap="square" lIns="0" tIns="0" rIns="0" bIns="0" rtlCol="0" anchor="ctr"/>
          <a:lstStyle/>
          <a:p>
            <a:pPr marL="0" indent="0" algn="ctr">
              <a:buNone/>
            </a:pPr>
            <a:r>
              <a:rPr lang="en-US" sz="2000" b="1" dirty="0">
                <a:solidFill>
                  <a:srgbClr val="231F20"/>
                </a:solidFill>
                <a:latin typeface="Calibri" pitchFamily="34" charset="0"/>
                <a:ea typeface="Calibri" pitchFamily="34" charset="-122"/>
                <a:cs typeface="Calibri" pitchFamily="34" charset="-120"/>
              </a:rPr>
              <a:t>3</a:t>
            </a:r>
            <a:endParaRPr lang="en-US" sz="2000" dirty="0"/>
          </a:p>
        </p:txBody>
      </p:sp>
      <p:sp>
        <p:nvSpPr>
          <p:cNvPr id="23" name="Shape 20"/>
          <p:cNvSpPr/>
          <p:nvPr/>
        </p:nvSpPr>
        <p:spPr>
          <a:xfrm>
            <a:off x="548640" y="2834640"/>
            <a:ext cx="754380" cy="754380"/>
          </a:xfrm>
          <a:prstGeom prst="roundRect">
            <a:avLst>
              <a:gd name="adj" fmla="val 1212"/>
            </a:avLst>
          </a:prstGeom>
          <a:solidFill>
            <a:srgbClr val="D49A00">
              <a:alpha val="55000"/>
            </a:srgbClr>
          </a:solidFill>
          <a:ln w="19050">
            <a:solidFill>
              <a:srgbClr val="FFFFFF"/>
            </a:solidFill>
            <a:prstDash val="solid"/>
          </a:ln>
        </p:spPr>
      </p:sp>
      <p:sp>
        <p:nvSpPr>
          <p:cNvPr id="24" name="Text 21"/>
          <p:cNvSpPr txBox="1"/>
          <p:nvPr/>
        </p:nvSpPr>
        <p:spPr>
          <a:xfrm>
            <a:off x="548640" y="2834640"/>
            <a:ext cx="754380" cy="7543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20</a:t>
            </a:r>
            <a:endParaRPr lang="en-US" sz="1300" dirty="0"/>
          </a:p>
        </p:txBody>
      </p:sp>
      <p:sp>
        <p:nvSpPr>
          <p:cNvPr id="25" name="Shape 22"/>
          <p:cNvSpPr/>
          <p:nvPr/>
        </p:nvSpPr>
        <p:spPr>
          <a:xfrm>
            <a:off x="1303020" y="2834640"/>
            <a:ext cx="754380" cy="754380"/>
          </a:xfrm>
          <a:prstGeom prst="roundRect">
            <a:avLst>
              <a:gd name="adj" fmla="val 1212"/>
            </a:avLst>
          </a:prstGeom>
          <a:solidFill>
            <a:srgbClr val="D49A00">
              <a:alpha val="55000"/>
            </a:srgbClr>
          </a:solidFill>
          <a:ln w="19050">
            <a:solidFill>
              <a:srgbClr val="FFFFFF"/>
            </a:solidFill>
            <a:prstDash val="solid"/>
          </a:ln>
        </p:spPr>
      </p:sp>
      <p:sp>
        <p:nvSpPr>
          <p:cNvPr id="26" name="Text 23"/>
          <p:cNvSpPr txBox="1"/>
          <p:nvPr/>
        </p:nvSpPr>
        <p:spPr>
          <a:xfrm>
            <a:off x="1303020" y="2834640"/>
            <a:ext cx="754380" cy="7543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21</a:t>
            </a:r>
            <a:endParaRPr lang="en-US" sz="1300" dirty="0"/>
          </a:p>
        </p:txBody>
      </p:sp>
      <p:sp>
        <p:nvSpPr>
          <p:cNvPr id="27" name="Shape 24"/>
          <p:cNvSpPr/>
          <p:nvPr/>
        </p:nvSpPr>
        <p:spPr>
          <a:xfrm>
            <a:off x="1303020" y="3589020"/>
            <a:ext cx="754380" cy="754380"/>
          </a:xfrm>
          <a:prstGeom prst="roundRect">
            <a:avLst>
              <a:gd name="adj" fmla="val 1212"/>
            </a:avLst>
          </a:prstGeom>
          <a:solidFill>
            <a:srgbClr val="D49A00">
              <a:alpha val="55000"/>
            </a:srgbClr>
          </a:solidFill>
          <a:ln w="19050">
            <a:solidFill>
              <a:srgbClr val="FFFFFF"/>
            </a:solidFill>
            <a:prstDash val="solid"/>
          </a:ln>
        </p:spPr>
      </p:sp>
      <p:sp>
        <p:nvSpPr>
          <p:cNvPr id="28" name="Text 25"/>
          <p:cNvSpPr txBox="1"/>
          <p:nvPr/>
        </p:nvSpPr>
        <p:spPr>
          <a:xfrm>
            <a:off x="1303020" y="3589020"/>
            <a:ext cx="754380" cy="7543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23</a:t>
            </a:r>
            <a:endParaRPr lang="en-US" sz="1300" dirty="0"/>
          </a:p>
        </p:txBody>
      </p:sp>
      <p:sp>
        <p:nvSpPr>
          <p:cNvPr id="29" name="Shape 26"/>
          <p:cNvSpPr/>
          <p:nvPr/>
        </p:nvSpPr>
        <p:spPr>
          <a:xfrm>
            <a:off x="548640" y="3589020"/>
            <a:ext cx="377190" cy="377190"/>
          </a:xfrm>
          <a:prstGeom prst="roundRect">
            <a:avLst>
              <a:gd name="adj" fmla="val 2424"/>
            </a:avLst>
          </a:prstGeom>
          <a:solidFill>
            <a:srgbClr val="D49A00"/>
          </a:solidFill>
          <a:ln w="19050">
            <a:solidFill>
              <a:srgbClr val="FFFFFF"/>
            </a:solidFill>
            <a:prstDash val="solid"/>
          </a:ln>
        </p:spPr>
      </p:sp>
      <p:sp>
        <p:nvSpPr>
          <p:cNvPr id="30" name="Text 27"/>
          <p:cNvSpPr txBox="1"/>
          <p:nvPr/>
        </p:nvSpPr>
        <p:spPr>
          <a:xfrm>
            <a:off x="548640" y="3589020"/>
            <a:ext cx="377190" cy="37719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220</a:t>
            </a:r>
            <a:endParaRPr lang="en-US" sz="900" dirty="0"/>
          </a:p>
        </p:txBody>
      </p:sp>
      <p:sp>
        <p:nvSpPr>
          <p:cNvPr id="31" name="Shape 28"/>
          <p:cNvSpPr/>
          <p:nvPr/>
        </p:nvSpPr>
        <p:spPr>
          <a:xfrm>
            <a:off x="925830" y="3589020"/>
            <a:ext cx="377190" cy="377190"/>
          </a:xfrm>
          <a:prstGeom prst="roundRect">
            <a:avLst>
              <a:gd name="adj" fmla="val 2424"/>
            </a:avLst>
          </a:prstGeom>
          <a:solidFill>
            <a:srgbClr val="D49A00"/>
          </a:solidFill>
          <a:ln w="19050">
            <a:solidFill>
              <a:srgbClr val="FFFFFF"/>
            </a:solidFill>
            <a:prstDash val="solid"/>
          </a:ln>
        </p:spPr>
      </p:sp>
      <p:sp>
        <p:nvSpPr>
          <p:cNvPr id="32" name="Text 29"/>
          <p:cNvSpPr txBox="1"/>
          <p:nvPr/>
        </p:nvSpPr>
        <p:spPr>
          <a:xfrm>
            <a:off x="925830" y="3589020"/>
            <a:ext cx="377190" cy="37719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221</a:t>
            </a:r>
            <a:endParaRPr lang="en-US" sz="900" dirty="0"/>
          </a:p>
        </p:txBody>
      </p:sp>
      <p:sp>
        <p:nvSpPr>
          <p:cNvPr id="33" name="Shape 30"/>
          <p:cNvSpPr/>
          <p:nvPr/>
        </p:nvSpPr>
        <p:spPr>
          <a:xfrm>
            <a:off x="548640" y="3966210"/>
            <a:ext cx="377190" cy="377190"/>
          </a:xfrm>
          <a:prstGeom prst="roundRect">
            <a:avLst>
              <a:gd name="adj" fmla="val 2424"/>
            </a:avLst>
          </a:prstGeom>
          <a:solidFill>
            <a:srgbClr val="D49A00"/>
          </a:solidFill>
          <a:ln w="19050">
            <a:solidFill>
              <a:srgbClr val="FFFFFF"/>
            </a:solidFill>
            <a:prstDash val="solid"/>
          </a:ln>
        </p:spPr>
      </p:sp>
      <p:sp>
        <p:nvSpPr>
          <p:cNvPr id="34" name="Text 31"/>
          <p:cNvSpPr txBox="1"/>
          <p:nvPr/>
        </p:nvSpPr>
        <p:spPr>
          <a:xfrm>
            <a:off x="548640" y="3966210"/>
            <a:ext cx="377190" cy="37719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222</a:t>
            </a:r>
            <a:endParaRPr lang="en-US" sz="900" dirty="0"/>
          </a:p>
        </p:txBody>
      </p:sp>
      <p:sp>
        <p:nvSpPr>
          <p:cNvPr id="35" name="Shape 32"/>
          <p:cNvSpPr/>
          <p:nvPr/>
        </p:nvSpPr>
        <p:spPr>
          <a:xfrm>
            <a:off x="925830" y="3966210"/>
            <a:ext cx="377190" cy="377190"/>
          </a:xfrm>
          <a:prstGeom prst="roundRect">
            <a:avLst>
              <a:gd name="adj" fmla="val 2424"/>
            </a:avLst>
          </a:prstGeom>
          <a:solidFill>
            <a:srgbClr val="D49A00"/>
          </a:solidFill>
          <a:ln w="19050">
            <a:solidFill>
              <a:srgbClr val="FFFFFF"/>
            </a:solidFill>
            <a:prstDash val="solid"/>
          </a:ln>
        </p:spPr>
      </p:sp>
      <p:sp>
        <p:nvSpPr>
          <p:cNvPr id="36" name="Text 33"/>
          <p:cNvSpPr txBox="1"/>
          <p:nvPr/>
        </p:nvSpPr>
        <p:spPr>
          <a:xfrm>
            <a:off x="925830" y="3966210"/>
            <a:ext cx="377190" cy="37719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223</a:t>
            </a:r>
            <a:endParaRPr lang="en-US" sz="900" dirty="0"/>
          </a:p>
        </p:txBody>
      </p:sp>
      <p:sp>
        <p:nvSpPr>
          <p:cNvPr id="37" name="Text 34"/>
          <p:cNvSpPr txBox="1"/>
          <p:nvPr/>
        </p:nvSpPr>
        <p:spPr>
          <a:xfrm>
            <a:off x="548640" y="4416552"/>
            <a:ext cx="3017520" cy="201168"/>
          </a:xfrm>
          <a:prstGeom prst="rect">
            <a:avLst/>
          </a:prstGeom>
          <a:noFill/>
          <a:ln/>
        </p:spPr>
        <p:txBody>
          <a:bodyPr wrap="square" lIns="0" tIns="0" rIns="0" bIns="0" rtlCol="0" anchor="t"/>
          <a:lstStyle/>
          <a:p>
            <a:pPr marL="0" indent="0" algn="ctr">
              <a:buNone/>
            </a:pPr>
            <a:r>
              <a:rPr lang="en-US" sz="950" i="1" dirty="0">
                <a:solidFill>
                  <a:srgbClr val="5E6964"/>
                </a:solidFill>
                <a:latin typeface="Calibri" pitchFamily="34" charset="0"/>
                <a:ea typeface="Calibri" pitchFamily="34" charset="-122"/>
                <a:cs typeface="Calibri" pitchFamily="34" charset="-120"/>
              </a:rPr>
              <a:t>Each level adds one digit (0–3)</a:t>
            </a:r>
            <a:endParaRPr lang="en-US" sz="950" dirty="0"/>
          </a:p>
        </p:txBody>
      </p:sp>
      <p:sp>
        <p:nvSpPr>
          <p:cNvPr id="38" name="Shape 35"/>
          <p:cNvSpPr/>
          <p:nvPr/>
        </p:nvSpPr>
        <p:spPr>
          <a:xfrm>
            <a:off x="4023360" y="1280160"/>
            <a:ext cx="4663440" cy="722376"/>
          </a:xfrm>
          <a:prstGeom prst="roundRect">
            <a:avLst>
              <a:gd name="adj" fmla="val 10127"/>
            </a:avLst>
          </a:prstGeom>
          <a:solidFill>
            <a:srgbClr val="F4F7F5"/>
          </a:solidFill>
          <a:ln w="9525">
            <a:solidFill>
              <a:srgbClr val="D5DED9"/>
            </a:solidFill>
            <a:prstDash val="solid"/>
          </a:ln>
        </p:spPr>
      </p:sp>
      <p:sp>
        <p:nvSpPr>
          <p:cNvPr id="39" name="Text 36"/>
          <p:cNvSpPr txBox="1"/>
          <p:nvPr/>
        </p:nvSpPr>
        <p:spPr>
          <a:xfrm>
            <a:off x="4187952" y="1353312"/>
            <a:ext cx="4389120" cy="237744"/>
          </a:xfrm>
          <a:prstGeom prst="rect">
            <a:avLst/>
          </a:prstGeom>
          <a:noFill/>
          <a:ln/>
        </p:spPr>
        <p:txBody>
          <a:bodyPr wrap="square" lIns="0" tIns="0" rIns="0" bIns="0" rtlCol="0" anchor="t"/>
          <a:lstStyle/>
          <a:p>
            <a:pPr marL="0" indent="0">
              <a:buNone/>
            </a:pPr>
            <a:r>
              <a:rPr lang="en-US" sz="1250" b="1" dirty="0">
                <a:solidFill>
                  <a:srgbClr val="D49A00"/>
                </a:solidFill>
                <a:latin typeface="Calibri" pitchFamily="34" charset="0"/>
                <a:ea typeface="Calibri" pitchFamily="34" charset="-122"/>
                <a:cs typeface="Calibri" pitchFamily="34" charset="-120"/>
              </a:rPr>
              <a:t>16 digits</a:t>
            </a:r>
            <a:endParaRPr lang="en-US" sz="1250" dirty="0"/>
          </a:p>
        </p:txBody>
      </p:sp>
      <p:sp>
        <p:nvSpPr>
          <p:cNvPr id="40" name="Text 37"/>
          <p:cNvSpPr txBox="1"/>
          <p:nvPr/>
        </p:nvSpPr>
        <p:spPr>
          <a:xfrm>
            <a:off x="4187952" y="1609344"/>
            <a:ext cx="4389120" cy="36576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A zoom-16 quadkey ≈ one 611 m Ookla tile</a:t>
            </a:r>
            <a:endParaRPr lang="en-US" sz="1000" dirty="0"/>
          </a:p>
        </p:txBody>
      </p:sp>
      <p:sp>
        <p:nvSpPr>
          <p:cNvPr id="41" name="Shape 38"/>
          <p:cNvSpPr/>
          <p:nvPr/>
        </p:nvSpPr>
        <p:spPr>
          <a:xfrm>
            <a:off x="4023360" y="2093976"/>
            <a:ext cx="4663440" cy="722376"/>
          </a:xfrm>
          <a:prstGeom prst="roundRect">
            <a:avLst>
              <a:gd name="adj" fmla="val 10127"/>
            </a:avLst>
          </a:prstGeom>
          <a:solidFill>
            <a:srgbClr val="E8F5EF"/>
          </a:solidFill>
          <a:ln w="15875">
            <a:solidFill>
              <a:srgbClr val="00704A"/>
            </a:solidFill>
            <a:prstDash val="solid"/>
          </a:ln>
        </p:spPr>
      </p:sp>
      <p:sp>
        <p:nvSpPr>
          <p:cNvPr id="42" name="Text 39"/>
          <p:cNvSpPr txBox="1"/>
          <p:nvPr/>
        </p:nvSpPr>
        <p:spPr>
          <a:xfrm>
            <a:off x="4187952" y="2167128"/>
            <a:ext cx="4389120" cy="237744"/>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Prefix = neighbourhood</a:t>
            </a:r>
            <a:endParaRPr lang="en-US" sz="1250" dirty="0"/>
          </a:p>
        </p:txBody>
      </p:sp>
      <p:sp>
        <p:nvSpPr>
          <p:cNvPr id="43" name="Text 40"/>
          <p:cNvSpPr txBox="1"/>
          <p:nvPr/>
        </p:nvSpPr>
        <p:spPr>
          <a:xfrm>
            <a:off x="4187952" y="2423160"/>
            <a:ext cx="4389120" cy="36576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Keep the first 12 digits to aggregate into ≈ 9.8 km cells — no GIS function needed</a:t>
            </a:r>
            <a:endParaRPr lang="en-US" sz="1000" dirty="0"/>
          </a:p>
        </p:txBody>
      </p:sp>
      <p:sp>
        <p:nvSpPr>
          <p:cNvPr id="44" name="Shape 41"/>
          <p:cNvSpPr/>
          <p:nvPr/>
        </p:nvSpPr>
        <p:spPr>
          <a:xfrm>
            <a:off x="4023360" y="2907792"/>
            <a:ext cx="4663440" cy="722376"/>
          </a:xfrm>
          <a:prstGeom prst="roundRect">
            <a:avLst>
              <a:gd name="adj" fmla="val 10127"/>
            </a:avLst>
          </a:prstGeom>
          <a:solidFill>
            <a:srgbClr val="F4F7F5"/>
          </a:solidFill>
          <a:ln w="9525">
            <a:solidFill>
              <a:srgbClr val="D5DED9"/>
            </a:solidFill>
            <a:prstDash val="solid"/>
          </a:ln>
        </p:spPr>
      </p:sp>
      <p:sp>
        <p:nvSpPr>
          <p:cNvPr id="45" name="Text 42"/>
          <p:cNvSpPr txBox="1"/>
          <p:nvPr/>
        </p:nvSpPr>
        <p:spPr>
          <a:xfrm>
            <a:off x="4187952" y="2980944"/>
            <a:ext cx="4389120" cy="237744"/>
          </a:xfrm>
          <a:prstGeom prst="rect">
            <a:avLst/>
          </a:prstGeom>
          <a:noFill/>
          <a:ln/>
        </p:spPr>
        <p:txBody>
          <a:bodyPr wrap="square" lIns="0" tIns="0" rIns="0" bIns="0" rtlCol="0" anchor="t"/>
          <a:lstStyle/>
          <a:p>
            <a:pPr marL="0" indent="0">
              <a:buNone/>
            </a:pPr>
            <a:r>
              <a:rPr lang="en-US" sz="1250" b="1" dirty="0">
                <a:solidFill>
                  <a:srgbClr val="0E7C86"/>
                </a:solidFill>
                <a:latin typeface="Calibri" pitchFamily="34" charset="0"/>
                <a:ea typeface="Calibri" pitchFamily="34" charset="-122"/>
                <a:cs typeface="Calibri" pitchFamily="34" charset="-120"/>
              </a:rPr>
              <a:t>Stable identifier</a:t>
            </a:r>
            <a:endParaRPr lang="en-US" sz="1250" dirty="0"/>
          </a:p>
        </p:txBody>
      </p:sp>
      <p:sp>
        <p:nvSpPr>
          <p:cNvPr id="46" name="Text 43"/>
          <p:cNvSpPr txBox="1"/>
          <p:nvPr/>
        </p:nvSpPr>
        <p:spPr>
          <a:xfrm>
            <a:off x="4187952" y="3236976"/>
            <a:ext cx="4389120" cy="36576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Join the same tile across quarters (2019 → today) on quadkey alone</a:t>
            </a:r>
            <a:endParaRPr lang="en-US" sz="1000" dirty="0"/>
          </a:p>
        </p:txBody>
      </p:sp>
      <p:sp>
        <p:nvSpPr>
          <p:cNvPr id="47" name="Shape 44"/>
          <p:cNvSpPr/>
          <p:nvPr/>
        </p:nvSpPr>
        <p:spPr>
          <a:xfrm>
            <a:off x="4023360" y="3721608"/>
            <a:ext cx="4663440" cy="722376"/>
          </a:xfrm>
          <a:prstGeom prst="roundRect">
            <a:avLst>
              <a:gd name="adj" fmla="val 10127"/>
            </a:avLst>
          </a:prstGeom>
          <a:solidFill>
            <a:srgbClr val="F4F7F5"/>
          </a:solidFill>
          <a:ln w="9525">
            <a:solidFill>
              <a:srgbClr val="D5DED9"/>
            </a:solidFill>
            <a:prstDash val="solid"/>
          </a:ln>
        </p:spPr>
      </p:sp>
      <p:sp>
        <p:nvSpPr>
          <p:cNvPr id="48" name="Text 45"/>
          <p:cNvSpPr txBox="1"/>
          <p:nvPr/>
        </p:nvSpPr>
        <p:spPr>
          <a:xfrm>
            <a:off x="4187952" y="3794760"/>
            <a:ext cx="4389120" cy="237744"/>
          </a:xfrm>
          <a:prstGeom prst="rect">
            <a:avLst/>
          </a:prstGeom>
          <a:noFill/>
          <a:ln/>
        </p:spPr>
        <p:txBody>
          <a:bodyPr wrap="square" lIns="0" tIns="0" rIns="0" bIns="0" rtlCol="0" anchor="t"/>
          <a:lstStyle/>
          <a:p>
            <a:pPr marL="0" indent="0">
              <a:buNone/>
            </a:pPr>
            <a:r>
              <a:rPr lang="en-US" sz="1250" b="1" dirty="0">
                <a:solidFill>
                  <a:srgbClr val="C4621D"/>
                </a:solidFill>
                <a:latin typeface="Calibri" pitchFamily="34" charset="0"/>
                <a:ea typeface="Calibri" pitchFamily="34" charset="-122"/>
                <a:cs typeface="Calibri" pitchFamily="34" charset="-120"/>
              </a:rPr>
              <a:t>True shapes → geo_shape</a:t>
            </a:r>
            <a:endParaRPr lang="en-US" sz="1250" dirty="0"/>
          </a:p>
        </p:txBody>
      </p:sp>
      <p:sp>
        <p:nvSpPr>
          <p:cNvPr id="49" name="Text 46"/>
          <p:cNvSpPr txBox="1"/>
          <p:nvPr/>
        </p:nvSpPr>
        <p:spPr>
          <a:xfrm>
            <a:off x="4187952" y="4050792"/>
            <a:ext cx="4389120" cy="36576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Tile polygon vs district boundary: Elasticsearch indexes shapes in a BKD tree</a:t>
            </a:r>
            <a:endParaRPr lang="en-US" sz="1000" dirty="0"/>
          </a:p>
        </p:txBody>
      </p:sp>
      <p:sp>
        <p:nvSpPr>
          <p:cNvPr id="50" name="Text 47"/>
          <p:cNvSpPr txBox="1"/>
          <p:nvPr/>
        </p:nvSpPr>
        <p:spPr>
          <a:xfrm>
            <a:off x="457200" y="4590288"/>
            <a:ext cx="7498080" cy="201168"/>
          </a:xfrm>
          <a:prstGeom prst="rect">
            <a:avLst/>
          </a:prstGeom>
          <a:noFill/>
          <a:ln/>
        </p:spPr>
        <p:txBody>
          <a:bodyPr wrap="square" lIns="0" tIns="0" rIns="0" bIns="0" rtlCol="0" anchor="b"/>
          <a:lstStyle/>
          <a:p>
            <a:pPr marL="0" indent="0">
              <a:buNone/>
            </a:pPr>
            <a:r>
              <a:rPr lang="en-US" sz="900" i="1" dirty="0">
                <a:solidFill>
                  <a:srgbClr val="5E6964"/>
                </a:solidFill>
                <a:latin typeface="Calibri" pitchFamily="34" charset="0"/>
                <a:ea typeface="Calibri" pitchFamily="34" charset="-122"/>
                <a:cs typeface="Calibri" pitchFamily="34" charset="-120"/>
              </a:rPr>
              <a:t>Sources: Ookla Open Data README; Bing Maps tile system; Elasticsearch geo_shape documentation. Tile width = 40,075 km ÷ 2^zoom.</a:t>
            </a:r>
            <a:endParaRPr lang="en-US" sz="90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INDEXING &amp; SEARCH</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Elasticsearch anatomy in one picture</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07324" y="315468"/>
            <a:ext cx="118872" cy="118872"/>
          </a:xfrm>
          <a:prstGeom prst="ellipse">
            <a:avLst/>
          </a:prstGeom>
          <a:solidFill>
            <a:srgbClr val="D49A00"/>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AfDB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23</a:t>
            </a:r>
            <a:endParaRPr lang="en-US" sz="850" dirty="0"/>
          </a:p>
        </p:txBody>
      </p:sp>
      <p:sp>
        <p:nvSpPr>
          <p:cNvPr id="17" name="Shape 14"/>
          <p:cNvSpPr/>
          <p:nvPr/>
        </p:nvSpPr>
        <p:spPr>
          <a:xfrm>
            <a:off x="457200" y="1280160"/>
            <a:ext cx="4846320" cy="3200400"/>
          </a:xfrm>
          <a:prstGeom prst="roundRect">
            <a:avLst>
              <a:gd name="adj" fmla="val 2286"/>
            </a:avLst>
          </a:prstGeom>
          <a:solidFill>
            <a:srgbClr val="FFFFFF"/>
          </a:solidFill>
          <a:ln w="15875">
            <a:solidFill>
              <a:srgbClr val="D49A00"/>
            </a:solidFill>
            <a:prstDash val="solid"/>
          </a:ln>
        </p:spPr>
      </p:sp>
      <p:sp>
        <p:nvSpPr>
          <p:cNvPr id="18" name="Text 15"/>
          <p:cNvSpPr txBox="1"/>
          <p:nvPr/>
        </p:nvSpPr>
        <p:spPr>
          <a:xfrm>
            <a:off x="594360" y="1344168"/>
            <a:ext cx="1828800" cy="228600"/>
          </a:xfrm>
          <a:prstGeom prst="rect">
            <a:avLst/>
          </a:prstGeom>
          <a:noFill/>
          <a:ln/>
        </p:spPr>
        <p:txBody>
          <a:bodyPr wrap="square" lIns="0" tIns="0" rIns="0" bIns="0" rtlCol="0" anchor="t"/>
          <a:lstStyle/>
          <a:p>
            <a:pPr marL="0" indent="0">
              <a:buNone/>
            </a:pPr>
            <a:r>
              <a:rPr lang="en-US" sz="1200" b="1" dirty="0">
                <a:solidFill>
                  <a:srgbClr val="D49A00"/>
                </a:solidFill>
                <a:latin typeface="Calibri" pitchFamily="34" charset="0"/>
                <a:ea typeface="Calibri" pitchFamily="34" charset="-122"/>
                <a:cs typeface="Calibri" pitchFamily="34" charset="-120"/>
              </a:rPr>
              <a:t>Cluster</a:t>
            </a:r>
            <a:endParaRPr lang="en-US" sz="1200" dirty="0"/>
          </a:p>
        </p:txBody>
      </p:sp>
      <p:sp>
        <p:nvSpPr>
          <p:cNvPr id="19" name="Text 16"/>
          <p:cNvSpPr txBox="1"/>
          <p:nvPr/>
        </p:nvSpPr>
        <p:spPr>
          <a:xfrm>
            <a:off x="1463040" y="1362456"/>
            <a:ext cx="3749040" cy="201168"/>
          </a:xfrm>
          <a:prstGeom prst="rect">
            <a:avLst/>
          </a:prstGeom>
          <a:noFill/>
          <a:ln/>
        </p:spPr>
        <p:txBody>
          <a:bodyPr wrap="square" lIns="0" tIns="0" rIns="0" bIns="0" rtlCol="0" anchor="t"/>
          <a:lstStyle/>
          <a:p>
            <a:pPr marL="0" indent="0" algn="r">
              <a:buNone/>
            </a:pPr>
            <a:r>
              <a:rPr lang="en-US" sz="900" i="1" dirty="0">
                <a:solidFill>
                  <a:srgbClr val="5E6964"/>
                </a:solidFill>
                <a:latin typeface="Calibri" pitchFamily="34" charset="0"/>
                <a:ea typeface="Calibri" pitchFamily="34" charset="-122"/>
                <a:cs typeface="Calibri" pitchFamily="34" charset="-120"/>
              </a:rPr>
              <a:t>index: ookla-tiles  ·  3 primary shards (P) + 1 replica each (R)</a:t>
            </a:r>
            <a:endParaRPr lang="en-US" sz="900" dirty="0"/>
          </a:p>
        </p:txBody>
      </p:sp>
      <p:sp>
        <p:nvSpPr>
          <p:cNvPr id="20" name="Shape 17"/>
          <p:cNvSpPr/>
          <p:nvPr/>
        </p:nvSpPr>
        <p:spPr>
          <a:xfrm>
            <a:off x="640080" y="1691640"/>
            <a:ext cx="1417320" cy="2057400"/>
          </a:xfrm>
          <a:prstGeom prst="roundRect">
            <a:avLst>
              <a:gd name="adj" fmla="val 5161"/>
            </a:avLst>
          </a:prstGeom>
          <a:solidFill>
            <a:srgbClr val="F4F7F5"/>
          </a:solidFill>
          <a:ln w="9525">
            <a:solidFill>
              <a:srgbClr val="D5DED9"/>
            </a:solidFill>
            <a:prstDash val="solid"/>
          </a:ln>
        </p:spPr>
      </p:sp>
      <p:pic>
        <p:nvPicPr>
          <p:cNvPr id="21" name="Image 0" descr="preencoded.png"/>
          <p:cNvPicPr>
            <a:picLocks noChangeAspect="1"/>
          </p:cNvPicPr>
          <p:nvPr/>
        </p:nvPicPr>
        <p:blipFill>
          <a:blip r:embed="rId3"/>
          <a:stretch>
            <a:fillRect/>
          </a:stretch>
        </p:blipFill>
        <p:spPr>
          <a:xfrm>
            <a:off x="1207008" y="1783080"/>
            <a:ext cx="274320" cy="274320"/>
          </a:xfrm>
          <a:prstGeom prst="rect">
            <a:avLst/>
          </a:prstGeom>
        </p:spPr>
      </p:pic>
      <p:sp>
        <p:nvSpPr>
          <p:cNvPr id="22" name="Text 18"/>
          <p:cNvSpPr txBox="1"/>
          <p:nvPr/>
        </p:nvSpPr>
        <p:spPr>
          <a:xfrm>
            <a:off x="640080" y="2084832"/>
            <a:ext cx="1417320" cy="201168"/>
          </a:xfrm>
          <a:prstGeom prst="rect">
            <a:avLst/>
          </a:prstGeom>
          <a:noFill/>
          <a:ln/>
        </p:spPr>
        <p:txBody>
          <a:bodyPr wrap="square" lIns="0" tIns="0" rIns="0" bIns="0" rtlCol="0" anchor="t"/>
          <a:lstStyle/>
          <a:p>
            <a:pPr marL="0" indent="0" algn="ctr">
              <a:buNone/>
            </a:pPr>
            <a:r>
              <a:rPr lang="en-US" sz="1000" b="1" dirty="0">
                <a:solidFill>
                  <a:srgbClr val="231F20"/>
                </a:solidFill>
                <a:latin typeface="Calibri" pitchFamily="34" charset="0"/>
                <a:ea typeface="Calibri" pitchFamily="34" charset="-122"/>
                <a:cs typeface="Calibri" pitchFamily="34" charset="-120"/>
              </a:rPr>
              <a:t>Node 1</a:t>
            </a:r>
            <a:endParaRPr lang="en-US" sz="1000" dirty="0"/>
          </a:p>
        </p:txBody>
      </p:sp>
      <p:sp>
        <p:nvSpPr>
          <p:cNvPr id="23" name="Shape 19"/>
          <p:cNvSpPr/>
          <p:nvPr/>
        </p:nvSpPr>
        <p:spPr>
          <a:xfrm>
            <a:off x="777240" y="2377440"/>
            <a:ext cx="1143000" cy="512064"/>
          </a:xfrm>
          <a:prstGeom prst="roundRect">
            <a:avLst>
              <a:gd name="adj" fmla="val 8929"/>
            </a:avLst>
          </a:prstGeom>
          <a:solidFill>
            <a:srgbClr val="D49A00"/>
          </a:solidFill>
          <a:ln w="15875">
            <a:solidFill>
              <a:srgbClr val="D49A00"/>
            </a:solidFill>
            <a:prstDash val="solid"/>
          </a:ln>
        </p:spPr>
      </p:sp>
      <p:sp>
        <p:nvSpPr>
          <p:cNvPr id="24" name="Text 20"/>
          <p:cNvSpPr txBox="1"/>
          <p:nvPr/>
        </p:nvSpPr>
        <p:spPr>
          <a:xfrm>
            <a:off x="777240" y="2377440"/>
            <a:ext cx="1143000"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P0</a:t>
            </a:r>
            <a:endParaRPr lang="en-US" sz="1300" dirty="0"/>
          </a:p>
          <a:p>
            <a:pPr marL="0" indent="0" algn="ctr">
              <a:buNone/>
            </a:pPr>
            <a:r>
              <a:rPr lang="en-US" sz="800" dirty="0">
                <a:solidFill>
                  <a:srgbClr val="FFFFFF"/>
                </a:solidFill>
                <a:latin typeface="Calibri" pitchFamily="34" charset="0"/>
                <a:ea typeface="Calibri" pitchFamily="34" charset="-122"/>
                <a:cs typeface="Calibri" pitchFamily="34" charset="-120"/>
              </a:rPr>
              <a:t>primary</a:t>
            </a:r>
            <a:endParaRPr lang="en-US" sz="1300" dirty="0"/>
          </a:p>
        </p:txBody>
      </p:sp>
      <p:sp>
        <p:nvSpPr>
          <p:cNvPr id="25" name="Shape 21"/>
          <p:cNvSpPr/>
          <p:nvPr/>
        </p:nvSpPr>
        <p:spPr>
          <a:xfrm>
            <a:off x="777240" y="3017520"/>
            <a:ext cx="1143000" cy="512064"/>
          </a:xfrm>
          <a:prstGeom prst="roundRect">
            <a:avLst>
              <a:gd name="adj" fmla="val 8929"/>
            </a:avLst>
          </a:prstGeom>
          <a:solidFill>
            <a:srgbClr val="FFFFFF"/>
          </a:solidFill>
          <a:ln w="15875">
            <a:solidFill>
              <a:srgbClr val="D49A00"/>
            </a:solidFill>
            <a:prstDash val="solid"/>
          </a:ln>
        </p:spPr>
      </p:sp>
      <p:sp>
        <p:nvSpPr>
          <p:cNvPr id="26" name="Text 22"/>
          <p:cNvSpPr txBox="1"/>
          <p:nvPr/>
        </p:nvSpPr>
        <p:spPr>
          <a:xfrm>
            <a:off x="777240" y="3017520"/>
            <a:ext cx="1143000" cy="512064"/>
          </a:xfrm>
          <a:prstGeom prst="rect">
            <a:avLst/>
          </a:prstGeom>
          <a:noFill/>
          <a:ln/>
        </p:spPr>
        <p:txBody>
          <a:bodyPr wrap="square" lIns="0" tIns="0" rIns="0" bIns="0" rtlCol="0" anchor="ctr"/>
          <a:lstStyle/>
          <a:p>
            <a:pPr marL="0" indent="0" algn="ctr">
              <a:buNone/>
            </a:pPr>
            <a:r>
              <a:rPr lang="en-US" sz="1300" b="1" dirty="0">
                <a:solidFill>
                  <a:srgbClr val="D49A00"/>
                </a:solidFill>
                <a:latin typeface="Calibri" pitchFamily="34" charset="0"/>
                <a:ea typeface="Calibri" pitchFamily="34" charset="-122"/>
                <a:cs typeface="Calibri" pitchFamily="34" charset="-120"/>
              </a:rPr>
              <a:t>R1</a:t>
            </a:r>
            <a:endParaRPr lang="en-US" sz="1300" dirty="0"/>
          </a:p>
          <a:p>
            <a:pPr marL="0" indent="0" algn="ctr">
              <a:buNone/>
            </a:pPr>
            <a:r>
              <a:rPr lang="en-US" sz="800" dirty="0">
                <a:solidFill>
                  <a:srgbClr val="D49A00"/>
                </a:solidFill>
                <a:latin typeface="Calibri" pitchFamily="34" charset="0"/>
                <a:ea typeface="Calibri" pitchFamily="34" charset="-122"/>
                <a:cs typeface="Calibri" pitchFamily="34" charset="-120"/>
              </a:rPr>
              <a:t>replica</a:t>
            </a:r>
            <a:endParaRPr lang="en-US" sz="1300" dirty="0"/>
          </a:p>
        </p:txBody>
      </p:sp>
      <p:sp>
        <p:nvSpPr>
          <p:cNvPr id="27" name="Shape 23"/>
          <p:cNvSpPr/>
          <p:nvPr/>
        </p:nvSpPr>
        <p:spPr>
          <a:xfrm>
            <a:off x="2212848" y="1691640"/>
            <a:ext cx="1417320" cy="2057400"/>
          </a:xfrm>
          <a:prstGeom prst="roundRect">
            <a:avLst>
              <a:gd name="adj" fmla="val 5161"/>
            </a:avLst>
          </a:prstGeom>
          <a:solidFill>
            <a:srgbClr val="F4F7F5"/>
          </a:solidFill>
          <a:ln w="9525">
            <a:solidFill>
              <a:srgbClr val="D5DED9"/>
            </a:solidFill>
            <a:prstDash val="solid"/>
          </a:ln>
        </p:spPr>
      </p:sp>
      <p:pic>
        <p:nvPicPr>
          <p:cNvPr id="28" name="Image 1" descr="preencoded.png"/>
          <p:cNvPicPr>
            <a:picLocks noChangeAspect="1"/>
          </p:cNvPicPr>
          <p:nvPr/>
        </p:nvPicPr>
        <p:blipFill>
          <a:blip r:embed="rId3"/>
          <a:stretch>
            <a:fillRect/>
          </a:stretch>
        </p:blipFill>
        <p:spPr>
          <a:xfrm>
            <a:off x="2779776" y="1783080"/>
            <a:ext cx="274320" cy="274320"/>
          </a:xfrm>
          <a:prstGeom prst="rect">
            <a:avLst/>
          </a:prstGeom>
        </p:spPr>
      </p:pic>
      <p:sp>
        <p:nvSpPr>
          <p:cNvPr id="29" name="Text 24"/>
          <p:cNvSpPr txBox="1"/>
          <p:nvPr/>
        </p:nvSpPr>
        <p:spPr>
          <a:xfrm>
            <a:off x="2212848" y="2084832"/>
            <a:ext cx="1417320" cy="201168"/>
          </a:xfrm>
          <a:prstGeom prst="rect">
            <a:avLst/>
          </a:prstGeom>
          <a:noFill/>
          <a:ln/>
        </p:spPr>
        <p:txBody>
          <a:bodyPr wrap="square" lIns="0" tIns="0" rIns="0" bIns="0" rtlCol="0" anchor="t"/>
          <a:lstStyle/>
          <a:p>
            <a:pPr marL="0" indent="0" algn="ctr">
              <a:buNone/>
            </a:pPr>
            <a:r>
              <a:rPr lang="en-US" sz="1000" b="1" dirty="0">
                <a:solidFill>
                  <a:srgbClr val="231F20"/>
                </a:solidFill>
                <a:latin typeface="Calibri" pitchFamily="34" charset="0"/>
                <a:ea typeface="Calibri" pitchFamily="34" charset="-122"/>
                <a:cs typeface="Calibri" pitchFamily="34" charset="-120"/>
              </a:rPr>
              <a:t>Node 2</a:t>
            </a:r>
            <a:endParaRPr lang="en-US" sz="1000" dirty="0"/>
          </a:p>
        </p:txBody>
      </p:sp>
      <p:sp>
        <p:nvSpPr>
          <p:cNvPr id="30" name="Shape 25"/>
          <p:cNvSpPr/>
          <p:nvPr/>
        </p:nvSpPr>
        <p:spPr>
          <a:xfrm>
            <a:off x="2350008" y="2377440"/>
            <a:ext cx="1143000" cy="512064"/>
          </a:xfrm>
          <a:prstGeom prst="roundRect">
            <a:avLst>
              <a:gd name="adj" fmla="val 8929"/>
            </a:avLst>
          </a:prstGeom>
          <a:solidFill>
            <a:srgbClr val="D49A00"/>
          </a:solidFill>
          <a:ln w="15875">
            <a:solidFill>
              <a:srgbClr val="D49A00"/>
            </a:solidFill>
            <a:prstDash val="solid"/>
          </a:ln>
        </p:spPr>
      </p:sp>
      <p:sp>
        <p:nvSpPr>
          <p:cNvPr id="31" name="Text 26"/>
          <p:cNvSpPr txBox="1"/>
          <p:nvPr/>
        </p:nvSpPr>
        <p:spPr>
          <a:xfrm>
            <a:off x="2350008" y="2377440"/>
            <a:ext cx="1143000"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P1</a:t>
            </a:r>
            <a:endParaRPr lang="en-US" sz="1300" dirty="0"/>
          </a:p>
          <a:p>
            <a:pPr marL="0" indent="0" algn="ctr">
              <a:buNone/>
            </a:pPr>
            <a:r>
              <a:rPr lang="en-US" sz="800" dirty="0">
                <a:solidFill>
                  <a:srgbClr val="FFFFFF"/>
                </a:solidFill>
                <a:latin typeface="Calibri" pitchFamily="34" charset="0"/>
                <a:ea typeface="Calibri" pitchFamily="34" charset="-122"/>
                <a:cs typeface="Calibri" pitchFamily="34" charset="-120"/>
              </a:rPr>
              <a:t>primary</a:t>
            </a:r>
            <a:endParaRPr lang="en-US" sz="1300" dirty="0"/>
          </a:p>
        </p:txBody>
      </p:sp>
      <p:sp>
        <p:nvSpPr>
          <p:cNvPr id="32" name="Shape 27"/>
          <p:cNvSpPr/>
          <p:nvPr/>
        </p:nvSpPr>
        <p:spPr>
          <a:xfrm>
            <a:off x="2350008" y="3017520"/>
            <a:ext cx="1143000" cy="512064"/>
          </a:xfrm>
          <a:prstGeom prst="roundRect">
            <a:avLst>
              <a:gd name="adj" fmla="val 8929"/>
            </a:avLst>
          </a:prstGeom>
          <a:solidFill>
            <a:srgbClr val="FFFFFF"/>
          </a:solidFill>
          <a:ln w="15875">
            <a:solidFill>
              <a:srgbClr val="D49A00"/>
            </a:solidFill>
            <a:prstDash val="solid"/>
          </a:ln>
        </p:spPr>
      </p:sp>
      <p:sp>
        <p:nvSpPr>
          <p:cNvPr id="33" name="Text 28"/>
          <p:cNvSpPr txBox="1"/>
          <p:nvPr/>
        </p:nvSpPr>
        <p:spPr>
          <a:xfrm>
            <a:off x="2350008" y="3017520"/>
            <a:ext cx="1143000" cy="512064"/>
          </a:xfrm>
          <a:prstGeom prst="rect">
            <a:avLst/>
          </a:prstGeom>
          <a:noFill/>
          <a:ln/>
        </p:spPr>
        <p:txBody>
          <a:bodyPr wrap="square" lIns="0" tIns="0" rIns="0" bIns="0" rtlCol="0" anchor="ctr"/>
          <a:lstStyle/>
          <a:p>
            <a:pPr marL="0" indent="0" algn="ctr">
              <a:buNone/>
            </a:pPr>
            <a:r>
              <a:rPr lang="en-US" sz="1300" b="1" dirty="0">
                <a:solidFill>
                  <a:srgbClr val="D49A00"/>
                </a:solidFill>
                <a:latin typeface="Calibri" pitchFamily="34" charset="0"/>
                <a:ea typeface="Calibri" pitchFamily="34" charset="-122"/>
                <a:cs typeface="Calibri" pitchFamily="34" charset="-120"/>
              </a:rPr>
              <a:t>R2</a:t>
            </a:r>
            <a:endParaRPr lang="en-US" sz="1300" dirty="0"/>
          </a:p>
          <a:p>
            <a:pPr marL="0" indent="0" algn="ctr">
              <a:buNone/>
            </a:pPr>
            <a:r>
              <a:rPr lang="en-US" sz="800" dirty="0">
                <a:solidFill>
                  <a:srgbClr val="D49A00"/>
                </a:solidFill>
                <a:latin typeface="Calibri" pitchFamily="34" charset="0"/>
                <a:ea typeface="Calibri" pitchFamily="34" charset="-122"/>
                <a:cs typeface="Calibri" pitchFamily="34" charset="-120"/>
              </a:rPr>
              <a:t>replica</a:t>
            </a:r>
            <a:endParaRPr lang="en-US" sz="1300" dirty="0"/>
          </a:p>
        </p:txBody>
      </p:sp>
      <p:sp>
        <p:nvSpPr>
          <p:cNvPr id="34" name="Shape 29"/>
          <p:cNvSpPr/>
          <p:nvPr/>
        </p:nvSpPr>
        <p:spPr>
          <a:xfrm>
            <a:off x="3785616" y="1691640"/>
            <a:ext cx="1417320" cy="2057400"/>
          </a:xfrm>
          <a:prstGeom prst="roundRect">
            <a:avLst>
              <a:gd name="adj" fmla="val 5161"/>
            </a:avLst>
          </a:prstGeom>
          <a:solidFill>
            <a:srgbClr val="F4F7F5"/>
          </a:solidFill>
          <a:ln w="9525">
            <a:solidFill>
              <a:srgbClr val="D5DED9"/>
            </a:solidFill>
            <a:prstDash val="solid"/>
          </a:ln>
        </p:spPr>
      </p:sp>
      <p:pic>
        <p:nvPicPr>
          <p:cNvPr id="35" name="Image 2" descr="preencoded.png"/>
          <p:cNvPicPr>
            <a:picLocks noChangeAspect="1"/>
          </p:cNvPicPr>
          <p:nvPr/>
        </p:nvPicPr>
        <p:blipFill>
          <a:blip r:embed="rId3"/>
          <a:stretch>
            <a:fillRect/>
          </a:stretch>
        </p:blipFill>
        <p:spPr>
          <a:xfrm>
            <a:off x="4352544" y="1783080"/>
            <a:ext cx="274320" cy="274320"/>
          </a:xfrm>
          <a:prstGeom prst="rect">
            <a:avLst/>
          </a:prstGeom>
        </p:spPr>
      </p:pic>
      <p:sp>
        <p:nvSpPr>
          <p:cNvPr id="36" name="Text 30"/>
          <p:cNvSpPr txBox="1"/>
          <p:nvPr/>
        </p:nvSpPr>
        <p:spPr>
          <a:xfrm>
            <a:off x="3785616" y="2084832"/>
            <a:ext cx="1417320" cy="201168"/>
          </a:xfrm>
          <a:prstGeom prst="rect">
            <a:avLst/>
          </a:prstGeom>
          <a:noFill/>
          <a:ln/>
        </p:spPr>
        <p:txBody>
          <a:bodyPr wrap="square" lIns="0" tIns="0" rIns="0" bIns="0" rtlCol="0" anchor="t"/>
          <a:lstStyle/>
          <a:p>
            <a:pPr marL="0" indent="0" algn="ctr">
              <a:buNone/>
            </a:pPr>
            <a:r>
              <a:rPr lang="en-US" sz="1000" b="1" dirty="0">
                <a:solidFill>
                  <a:srgbClr val="231F20"/>
                </a:solidFill>
                <a:latin typeface="Calibri" pitchFamily="34" charset="0"/>
                <a:ea typeface="Calibri" pitchFamily="34" charset="-122"/>
                <a:cs typeface="Calibri" pitchFamily="34" charset="-120"/>
              </a:rPr>
              <a:t>Node 3</a:t>
            </a:r>
            <a:endParaRPr lang="en-US" sz="1000" dirty="0"/>
          </a:p>
        </p:txBody>
      </p:sp>
      <p:sp>
        <p:nvSpPr>
          <p:cNvPr id="37" name="Shape 31"/>
          <p:cNvSpPr/>
          <p:nvPr/>
        </p:nvSpPr>
        <p:spPr>
          <a:xfrm>
            <a:off x="3922776" y="2377440"/>
            <a:ext cx="1143000" cy="512064"/>
          </a:xfrm>
          <a:prstGeom prst="roundRect">
            <a:avLst>
              <a:gd name="adj" fmla="val 8929"/>
            </a:avLst>
          </a:prstGeom>
          <a:solidFill>
            <a:srgbClr val="D49A00"/>
          </a:solidFill>
          <a:ln w="15875">
            <a:solidFill>
              <a:srgbClr val="D49A00"/>
            </a:solidFill>
            <a:prstDash val="solid"/>
          </a:ln>
        </p:spPr>
      </p:sp>
      <p:sp>
        <p:nvSpPr>
          <p:cNvPr id="38" name="Text 32"/>
          <p:cNvSpPr txBox="1"/>
          <p:nvPr/>
        </p:nvSpPr>
        <p:spPr>
          <a:xfrm>
            <a:off x="3922776" y="2377440"/>
            <a:ext cx="1143000"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P2</a:t>
            </a:r>
            <a:endParaRPr lang="en-US" sz="1300" dirty="0"/>
          </a:p>
          <a:p>
            <a:pPr marL="0" indent="0" algn="ctr">
              <a:buNone/>
            </a:pPr>
            <a:r>
              <a:rPr lang="en-US" sz="800" dirty="0">
                <a:solidFill>
                  <a:srgbClr val="FFFFFF"/>
                </a:solidFill>
                <a:latin typeface="Calibri" pitchFamily="34" charset="0"/>
                <a:ea typeface="Calibri" pitchFamily="34" charset="-122"/>
                <a:cs typeface="Calibri" pitchFamily="34" charset="-120"/>
              </a:rPr>
              <a:t>primary</a:t>
            </a:r>
            <a:endParaRPr lang="en-US" sz="1300" dirty="0"/>
          </a:p>
        </p:txBody>
      </p:sp>
      <p:sp>
        <p:nvSpPr>
          <p:cNvPr id="39" name="Shape 33"/>
          <p:cNvSpPr/>
          <p:nvPr/>
        </p:nvSpPr>
        <p:spPr>
          <a:xfrm>
            <a:off x="3922776" y="3017520"/>
            <a:ext cx="1143000" cy="512064"/>
          </a:xfrm>
          <a:prstGeom prst="roundRect">
            <a:avLst>
              <a:gd name="adj" fmla="val 8929"/>
            </a:avLst>
          </a:prstGeom>
          <a:solidFill>
            <a:srgbClr val="FFFFFF"/>
          </a:solidFill>
          <a:ln w="15875">
            <a:solidFill>
              <a:srgbClr val="D49A00"/>
            </a:solidFill>
            <a:prstDash val="solid"/>
          </a:ln>
        </p:spPr>
      </p:sp>
      <p:sp>
        <p:nvSpPr>
          <p:cNvPr id="40" name="Text 34"/>
          <p:cNvSpPr txBox="1"/>
          <p:nvPr/>
        </p:nvSpPr>
        <p:spPr>
          <a:xfrm>
            <a:off x="3922776" y="3017520"/>
            <a:ext cx="1143000" cy="512064"/>
          </a:xfrm>
          <a:prstGeom prst="rect">
            <a:avLst/>
          </a:prstGeom>
          <a:noFill/>
          <a:ln/>
        </p:spPr>
        <p:txBody>
          <a:bodyPr wrap="square" lIns="0" tIns="0" rIns="0" bIns="0" rtlCol="0" anchor="ctr"/>
          <a:lstStyle/>
          <a:p>
            <a:pPr marL="0" indent="0" algn="ctr">
              <a:buNone/>
            </a:pPr>
            <a:r>
              <a:rPr lang="en-US" sz="1300" b="1" dirty="0">
                <a:solidFill>
                  <a:srgbClr val="D49A00"/>
                </a:solidFill>
                <a:latin typeface="Calibri" pitchFamily="34" charset="0"/>
                <a:ea typeface="Calibri" pitchFamily="34" charset="-122"/>
                <a:cs typeface="Calibri" pitchFamily="34" charset="-120"/>
              </a:rPr>
              <a:t>R0</a:t>
            </a:r>
            <a:endParaRPr lang="en-US" sz="1300" dirty="0"/>
          </a:p>
          <a:p>
            <a:pPr marL="0" indent="0" algn="ctr">
              <a:buNone/>
            </a:pPr>
            <a:r>
              <a:rPr lang="en-US" sz="800" dirty="0">
                <a:solidFill>
                  <a:srgbClr val="D49A00"/>
                </a:solidFill>
                <a:latin typeface="Calibri" pitchFamily="34" charset="0"/>
                <a:ea typeface="Calibri" pitchFamily="34" charset="-122"/>
                <a:cs typeface="Calibri" pitchFamily="34" charset="-120"/>
              </a:rPr>
              <a:t>replica</a:t>
            </a:r>
            <a:endParaRPr lang="en-US" sz="1300" dirty="0"/>
          </a:p>
        </p:txBody>
      </p:sp>
      <p:sp>
        <p:nvSpPr>
          <p:cNvPr id="41" name="Text 35"/>
          <p:cNvSpPr txBox="1"/>
          <p:nvPr/>
        </p:nvSpPr>
        <p:spPr>
          <a:xfrm>
            <a:off x="640080" y="3840480"/>
            <a:ext cx="4480560" cy="548640"/>
          </a:xfrm>
          <a:prstGeom prst="rect">
            <a:avLst/>
          </a:prstGeom>
          <a:noFill/>
          <a:ln/>
        </p:spPr>
        <p:txBody>
          <a:bodyPr wrap="square" lIns="0" tIns="0" rIns="0" bIns="0" rtlCol="0" anchor="t"/>
          <a:lstStyle/>
          <a:p>
            <a:pPr marL="0" indent="0">
              <a:buNone/>
            </a:pPr>
            <a:r>
              <a:rPr lang="en-US" sz="950" i="1" dirty="0">
                <a:solidFill>
                  <a:srgbClr val="5E6964"/>
                </a:solidFill>
                <a:latin typeface="Calibri" pitchFamily="34" charset="0"/>
                <a:ea typeface="Calibri" pitchFamily="34" charset="-122"/>
                <a:cs typeface="Calibri" pitchFamily="34" charset="-120"/>
              </a:rPr>
              <a:t>A replica never sits on the same node as its primary: lose any node, keep all data — and replicas also serve queries.</a:t>
            </a:r>
            <a:endParaRPr lang="en-US" sz="950" dirty="0"/>
          </a:p>
        </p:txBody>
      </p:sp>
      <p:sp>
        <p:nvSpPr>
          <p:cNvPr id="42" name="Text 36"/>
          <p:cNvSpPr txBox="1"/>
          <p:nvPr/>
        </p:nvSpPr>
        <p:spPr>
          <a:xfrm>
            <a:off x="5532120" y="1280160"/>
            <a:ext cx="310896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If you think in SQL…</a:t>
            </a:r>
            <a:endParaRPr lang="en-US" sz="1300" dirty="0"/>
          </a:p>
        </p:txBody>
      </p:sp>
      <p:sp>
        <p:nvSpPr>
          <p:cNvPr id="43" name="Shape 37"/>
          <p:cNvSpPr/>
          <p:nvPr/>
        </p:nvSpPr>
        <p:spPr>
          <a:xfrm>
            <a:off x="5532120" y="1627632"/>
            <a:ext cx="3154680" cy="402336"/>
          </a:xfrm>
          <a:prstGeom prst="roundRect">
            <a:avLst>
              <a:gd name="adj" fmla="val 18182"/>
            </a:avLst>
          </a:prstGeom>
          <a:solidFill>
            <a:srgbClr val="F4F7F5"/>
          </a:solidFill>
          <a:ln w="9525">
            <a:solidFill>
              <a:srgbClr val="D5DED9"/>
            </a:solidFill>
            <a:prstDash val="solid"/>
          </a:ln>
        </p:spPr>
      </p:sp>
      <p:sp>
        <p:nvSpPr>
          <p:cNvPr id="44" name="Text 38"/>
          <p:cNvSpPr txBox="1"/>
          <p:nvPr/>
        </p:nvSpPr>
        <p:spPr>
          <a:xfrm>
            <a:off x="5623560" y="1627632"/>
            <a:ext cx="960120" cy="402336"/>
          </a:xfrm>
          <a:prstGeom prst="rect">
            <a:avLst/>
          </a:prstGeom>
          <a:noFill/>
          <a:ln/>
        </p:spPr>
        <p:txBody>
          <a:bodyPr wrap="square" lIns="0" tIns="0" rIns="0" bIns="0" rtlCol="0" anchor="ctr"/>
          <a:lstStyle/>
          <a:p>
            <a:pPr marL="0" indent="0">
              <a:buNone/>
            </a:pPr>
            <a:r>
              <a:rPr lang="en-US" sz="1050" b="1" dirty="0">
                <a:solidFill>
                  <a:srgbClr val="5E6964"/>
                </a:solidFill>
                <a:latin typeface="Calibri" pitchFamily="34" charset="0"/>
                <a:ea typeface="Calibri" pitchFamily="34" charset="-122"/>
                <a:cs typeface="Calibri" pitchFamily="34" charset="-120"/>
              </a:rPr>
              <a:t>Table</a:t>
            </a:r>
            <a:endParaRPr lang="en-US" sz="1050" dirty="0"/>
          </a:p>
        </p:txBody>
      </p:sp>
      <p:sp>
        <p:nvSpPr>
          <p:cNvPr id="45" name="Text 39"/>
          <p:cNvSpPr txBox="1"/>
          <p:nvPr/>
        </p:nvSpPr>
        <p:spPr>
          <a:xfrm>
            <a:off x="6510528" y="1627632"/>
            <a:ext cx="182880" cy="402336"/>
          </a:xfrm>
          <a:prstGeom prst="rect">
            <a:avLst/>
          </a:prstGeom>
          <a:noFill/>
          <a:ln/>
        </p:spPr>
        <p:txBody>
          <a:bodyPr wrap="square" lIns="0" tIns="0" rIns="0" bIns="0" rtlCol="0" anchor="ctr"/>
          <a:lstStyle/>
          <a:p>
            <a:pPr marL="0" indent="0">
              <a:buNone/>
            </a:pPr>
            <a:r>
              <a:rPr lang="en-US" sz="1100" b="1" dirty="0">
                <a:solidFill>
                  <a:srgbClr val="D49A00"/>
                </a:solidFill>
                <a:latin typeface="Calibri" pitchFamily="34" charset="0"/>
                <a:ea typeface="Calibri" pitchFamily="34" charset="-122"/>
                <a:cs typeface="Calibri" pitchFamily="34" charset="-120"/>
              </a:rPr>
              <a:t>→</a:t>
            </a:r>
            <a:endParaRPr lang="en-US" sz="1100" dirty="0"/>
          </a:p>
        </p:txBody>
      </p:sp>
      <p:sp>
        <p:nvSpPr>
          <p:cNvPr id="46" name="Text 40"/>
          <p:cNvSpPr txBox="1"/>
          <p:nvPr/>
        </p:nvSpPr>
        <p:spPr>
          <a:xfrm>
            <a:off x="6720840" y="1627632"/>
            <a:ext cx="1920240" cy="402336"/>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Index</a:t>
            </a:r>
            <a:endParaRPr lang="en-US" sz="1000" dirty="0"/>
          </a:p>
        </p:txBody>
      </p:sp>
      <p:sp>
        <p:nvSpPr>
          <p:cNvPr id="47" name="Shape 41"/>
          <p:cNvSpPr/>
          <p:nvPr/>
        </p:nvSpPr>
        <p:spPr>
          <a:xfrm>
            <a:off x="5532120" y="2103120"/>
            <a:ext cx="3154680" cy="402336"/>
          </a:xfrm>
          <a:prstGeom prst="roundRect">
            <a:avLst>
              <a:gd name="adj" fmla="val 18182"/>
            </a:avLst>
          </a:prstGeom>
          <a:solidFill>
            <a:srgbClr val="FFFFFF"/>
          </a:solidFill>
          <a:ln w="9525">
            <a:solidFill>
              <a:srgbClr val="D5DED9"/>
            </a:solidFill>
            <a:prstDash val="solid"/>
          </a:ln>
        </p:spPr>
      </p:sp>
      <p:sp>
        <p:nvSpPr>
          <p:cNvPr id="48" name="Text 42"/>
          <p:cNvSpPr txBox="1"/>
          <p:nvPr/>
        </p:nvSpPr>
        <p:spPr>
          <a:xfrm>
            <a:off x="5623560" y="2103120"/>
            <a:ext cx="960120" cy="402336"/>
          </a:xfrm>
          <a:prstGeom prst="rect">
            <a:avLst/>
          </a:prstGeom>
          <a:noFill/>
          <a:ln/>
        </p:spPr>
        <p:txBody>
          <a:bodyPr wrap="square" lIns="0" tIns="0" rIns="0" bIns="0" rtlCol="0" anchor="ctr"/>
          <a:lstStyle/>
          <a:p>
            <a:pPr marL="0" indent="0">
              <a:buNone/>
            </a:pPr>
            <a:r>
              <a:rPr lang="en-US" sz="1050" b="1" dirty="0">
                <a:solidFill>
                  <a:srgbClr val="5E6964"/>
                </a:solidFill>
                <a:latin typeface="Calibri" pitchFamily="34" charset="0"/>
                <a:ea typeface="Calibri" pitchFamily="34" charset="-122"/>
                <a:cs typeface="Calibri" pitchFamily="34" charset="-120"/>
              </a:rPr>
              <a:t>Row</a:t>
            </a:r>
            <a:endParaRPr lang="en-US" sz="1050" dirty="0"/>
          </a:p>
        </p:txBody>
      </p:sp>
      <p:sp>
        <p:nvSpPr>
          <p:cNvPr id="49" name="Text 43"/>
          <p:cNvSpPr txBox="1"/>
          <p:nvPr/>
        </p:nvSpPr>
        <p:spPr>
          <a:xfrm>
            <a:off x="6510528" y="2103120"/>
            <a:ext cx="182880" cy="402336"/>
          </a:xfrm>
          <a:prstGeom prst="rect">
            <a:avLst/>
          </a:prstGeom>
          <a:noFill/>
          <a:ln/>
        </p:spPr>
        <p:txBody>
          <a:bodyPr wrap="square" lIns="0" tIns="0" rIns="0" bIns="0" rtlCol="0" anchor="ctr"/>
          <a:lstStyle/>
          <a:p>
            <a:pPr marL="0" indent="0">
              <a:buNone/>
            </a:pPr>
            <a:r>
              <a:rPr lang="en-US" sz="1100" b="1" dirty="0">
                <a:solidFill>
                  <a:srgbClr val="D49A00"/>
                </a:solidFill>
                <a:latin typeface="Calibri" pitchFamily="34" charset="0"/>
                <a:ea typeface="Calibri" pitchFamily="34" charset="-122"/>
                <a:cs typeface="Calibri" pitchFamily="34" charset="-120"/>
              </a:rPr>
              <a:t>→</a:t>
            </a:r>
            <a:endParaRPr lang="en-US" sz="1100" dirty="0"/>
          </a:p>
        </p:txBody>
      </p:sp>
      <p:sp>
        <p:nvSpPr>
          <p:cNvPr id="50" name="Text 44"/>
          <p:cNvSpPr txBox="1"/>
          <p:nvPr/>
        </p:nvSpPr>
        <p:spPr>
          <a:xfrm>
            <a:off x="6720840" y="2103120"/>
            <a:ext cx="1920240" cy="402336"/>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Document (JSON)</a:t>
            </a:r>
            <a:endParaRPr lang="en-US" sz="1000" dirty="0"/>
          </a:p>
        </p:txBody>
      </p:sp>
      <p:sp>
        <p:nvSpPr>
          <p:cNvPr id="51" name="Shape 45"/>
          <p:cNvSpPr/>
          <p:nvPr/>
        </p:nvSpPr>
        <p:spPr>
          <a:xfrm>
            <a:off x="5532120" y="2578608"/>
            <a:ext cx="3154680" cy="402336"/>
          </a:xfrm>
          <a:prstGeom prst="roundRect">
            <a:avLst>
              <a:gd name="adj" fmla="val 18182"/>
            </a:avLst>
          </a:prstGeom>
          <a:solidFill>
            <a:srgbClr val="F4F7F5"/>
          </a:solidFill>
          <a:ln w="9525">
            <a:solidFill>
              <a:srgbClr val="D5DED9"/>
            </a:solidFill>
            <a:prstDash val="solid"/>
          </a:ln>
        </p:spPr>
      </p:sp>
      <p:sp>
        <p:nvSpPr>
          <p:cNvPr id="52" name="Text 46"/>
          <p:cNvSpPr txBox="1"/>
          <p:nvPr/>
        </p:nvSpPr>
        <p:spPr>
          <a:xfrm>
            <a:off x="5623560" y="2578608"/>
            <a:ext cx="960120" cy="402336"/>
          </a:xfrm>
          <a:prstGeom prst="rect">
            <a:avLst/>
          </a:prstGeom>
          <a:noFill/>
          <a:ln/>
        </p:spPr>
        <p:txBody>
          <a:bodyPr wrap="square" lIns="0" tIns="0" rIns="0" bIns="0" rtlCol="0" anchor="ctr"/>
          <a:lstStyle/>
          <a:p>
            <a:pPr marL="0" indent="0">
              <a:buNone/>
            </a:pPr>
            <a:r>
              <a:rPr lang="en-US" sz="1050" b="1" dirty="0">
                <a:solidFill>
                  <a:srgbClr val="5E6964"/>
                </a:solidFill>
                <a:latin typeface="Calibri" pitchFamily="34" charset="0"/>
                <a:ea typeface="Calibri" pitchFamily="34" charset="-122"/>
                <a:cs typeface="Calibri" pitchFamily="34" charset="-120"/>
              </a:rPr>
              <a:t>Schema</a:t>
            </a:r>
            <a:endParaRPr lang="en-US" sz="1050" dirty="0"/>
          </a:p>
        </p:txBody>
      </p:sp>
      <p:sp>
        <p:nvSpPr>
          <p:cNvPr id="53" name="Text 47"/>
          <p:cNvSpPr txBox="1"/>
          <p:nvPr/>
        </p:nvSpPr>
        <p:spPr>
          <a:xfrm>
            <a:off x="6510528" y="2578608"/>
            <a:ext cx="182880" cy="402336"/>
          </a:xfrm>
          <a:prstGeom prst="rect">
            <a:avLst/>
          </a:prstGeom>
          <a:noFill/>
          <a:ln/>
        </p:spPr>
        <p:txBody>
          <a:bodyPr wrap="square" lIns="0" tIns="0" rIns="0" bIns="0" rtlCol="0" anchor="ctr"/>
          <a:lstStyle/>
          <a:p>
            <a:pPr marL="0" indent="0">
              <a:buNone/>
            </a:pPr>
            <a:r>
              <a:rPr lang="en-US" sz="1100" b="1" dirty="0">
                <a:solidFill>
                  <a:srgbClr val="D49A00"/>
                </a:solidFill>
                <a:latin typeface="Calibri" pitchFamily="34" charset="0"/>
                <a:ea typeface="Calibri" pitchFamily="34" charset="-122"/>
                <a:cs typeface="Calibri" pitchFamily="34" charset="-120"/>
              </a:rPr>
              <a:t>→</a:t>
            </a:r>
            <a:endParaRPr lang="en-US" sz="1100" dirty="0"/>
          </a:p>
        </p:txBody>
      </p:sp>
      <p:sp>
        <p:nvSpPr>
          <p:cNvPr id="54" name="Text 48"/>
          <p:cNvSpPr txBox="1"/>
          <p:nvPr/>
        </p:nvSpPr>
        <p:spPr>
          <a:xfrm>
            <a:off x="6720840" y="2578608"/>
            <a:ext cx="1920240" cy="402336"/>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Mapping</a:t>
            </a:r>
            <a:endParaRPr lang="en-US" sz="1000" dirty="0"/>
          </a:p>
        </p:txBody>
      </p:sp>
      <p:sp>
        <p:nvSpPr>
          <p:cNvPr id="55" name="Shape 49"/>
          <p:cNvSpPr/>
          <p:nvPr/>
        </p:nvSpPr>
        <p:spPr>
          <a:xfrm>
            <a:off x="5532120" y="3054096"/>
            <a:ext cx="3154680" cy="402336"/>
          </a:xfrm>
          <a:prstGeom prst="roundRect">
            <a:avLst>
              <a:gd name="adj" fmla="val 18182"/>
            </a:avLst>
          </a:prstGeom>
          <a:solidFill>
            <a:srgbClr val="FFFFFF"/>
          </a:solidFill>
          <a:ln w="9525">
            <a:solidFill>
              <a:srgbClr val="D5DED9"/>
            </a:solidFill>
            <a:prstDash val="solid"/>
          </a:ln>
        </p:spPr>
      </p:sp>
      <p:sp>
        <p:nvSpPr>
          <p:cNvPr id="56" name="Text 50"/>
          <p:cNvSpPr txBox="1"/>
          <p:nvPr/>
        </p:nvSpPr>
        <p:spPr>
          <a:xfrm>
            <a:off x="5623560" y="3054096"/>
            <a:ext cx="960120" cy="402336"/>
          </a:xfrm>
          <a:prstGeom prst="rect">
            <a:avLst/>
          </a:prstGeom>
          <a:noFill/>
          <a:ln/>
        </p:spPr>
        <p:txBody>
          <a:bodyPr wrap="square" lIns="0" tIns="0" rIns="0" bIns="0" rtlCol="0" anchor="ctr"/>
          <a:lstStyle/>
          <a:p>
            <a:pPr marL="0" indent="0">
              <a:buNone/>
            </a:pPr>
            <a:r>
              <a:rPr lang="en-US" sz="1050" b="1" dirty="0">
                <a:solidFill>
                  <a:srgbClr val="5E6964"/>
                </a:solidFill>
                <a:latin typeface="Calibri" pitchFamily="34" charset="0"/>
                <a:ea typeface="Calibri" pitchFamily="34" charset="-122"/>
                <a:cs typeface="Calibri" pitchFamily="34" charset="-120"/>
              </a:rPr>
              <a:t>Column type</a:t>
            </a:r>
            <a:endParaRPr lang="en-US" sz="1050" dirty="0"/>
          </a:p>
        </p:txBody>
      </p:sp>
      <p:sp>
        <p:nvSpPr>
          <p:cNvPr id="57" name="Text 51"/>
          <p:cNvSpPr txBox="1"/>
          <p:nvPr/>
        </p:nvSpPr>
        <p:spPr>
          <a:xfrm>
            <a:off x="6510528" y="3054096"/>
            <a:ext cx="182880" cy="402336"/>
          </a:xfrm>
          <a:prstGeom prst="rect">
            <a:avLst/>
          </a:prstGeom>
          <a:noFill/>
          <a:ln/>
        </p:spPr>
        <p:txBody>
          <a:bodyPr wrap="square" lIns="0" tIns="0" rIns="0" bIns="0" rtlCol="0" anchor="ctr"/>
          <a:lstStyle/>
          <a:p>
            <a:pPr marL="0" indent="0">
              <a:buNone/>
            </a:pPr>
            <a:r>
              <a:rPr lang="en-US" sz="1100" b="1" dirty="0">
                <a:solidFill>
                  <a:srgbClr val="D49A00"/>
                </a:solidFill>
                <a:latin typeface="Calibri" pitchFamily="34" charset="0"/>
                <a:ea typeface="Calibri" pitchFamily="34" charset="-122"/>
                <a:cs typeface="Calibri" pitchFamily="34" charset="-120"/>
              </a:rPr>
              <a:t>→</a:t>
            </a:r>
            <a:endParaRPr lang="en-US" sz="1100" dirty="0"/>
          </a:p>
        </p:txBody>
      </p:sp>
      <p:sp>
        <p:nvSpPr>
          <p:cNvPr id="58" name="Text 52"/>
          <p:cNvSpPr txBox="1"/>
          <p:nvPr/>
        </p:nvSpPr>
        <p:spPr>
          <a:xfrm>
            <a:off x="6720840" y="3054096"/>
            <a:ext cx="1920240" cy="402336"/>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Field type: keyword, integer, geo_shape…</a:t>
            </a:r>
            <a:endParaRPr lang="en-US" sz="1000" dirty="0"/>
          </a:p>
        </p:txBody>
      </p:sp>
      <p:sp>
        <p:nvSpPr>
          <p:cNvPr id="59" name="Shape 53"/>
          <p:cNvSpPr/>
          <p:nvPr/>
        </p:nvSpPr>
        <p:spPr>
          <a:xfrm>
            <a:off x="5532120" y="3529584"/>
            <a:ext cx="3154680" cy="402336"/>
          </a:xfrm>
          <a:prstGeom prst="roundRect">
            <a:avLst>
              <a:gd name="adj" fmla="val 18182"/>
            </a:avLst>
          </a:prstGeom>
          <a:solidFill>
            <a:srgbClr val="F4F7F5"/>
          </a:solidFill>
          <a:ln w="9525">
            <a:solidFill>
              <a:srgbClr val="D5DED9"/>
            </a:solidFill>
            <a:prstDash val="solid"/>
          </a:ln>
        </p:spPr>
      </p:sp>
      <p:sp>
        <p:nvSpPr>
          <p:cNvPr id="60" name="Text 54"/>
          <p:cNvSpPr txBox="1"/>
          <p:nvPr/>
        </p:nvSpPr>
        <p:spPr>
          <a:xfrm>
            <a:off x="5623560" y="3529584"/>
            <a:ext cx="960120" cy="402336"/>
          </a:xfrm>
          <a:prstGeom prst="rect">
            <a:avLst/>
          </a:prstGeom>
          <a:noFill/>
          <a:ln/>
        </p:spPr>
        <p:txBody>
          <a:bodyPr wrap="square" lIns="0" tIns="0" rIns="0" bIns="0" rtlCol="0" anchor="ctr"/>
          <a:lstStyle/>
          <a:p>
            <a:pPr marL="0" indent="0">
              <a:buNone/>
            </a:pPr>
            <a:r>
              <a:rPr lang="en-US" sz="1050" b="1" dirty="0">
                <a:solidFill>
                  <a:srgbClr val="5E6964"/>
                </a:solidFill>
                <a:latin typeface="Calibri" pitchFamily="34" charset="0"/>
                <a:ea typeface="Calibri" pitchFamily="34" charset="-122"/>
                <a:cs typeface="Calibri" pitchFamily="34" charset="-120"/>
              </a:rPr>
              <a:t>WHERE</a:t>
            </a:r>
            <a:endParaRPr lang="en-US" sz="1050" dirty="0"/>
          </a:p>
        </p:txBody>
      </p:sp>
      <p:sp>
        <p:nvSpPr>
          <p:cNvPr id="61" name="Text 55"/>
          <p:cNvSpPr txBox="1"/>
          <p:nvPr/>
        </p:nvSpPr>
        <p:spPr>
          <a:xfrm>
            <a:off x="6510528" y="3529584"/>
            <a:ext cx="182880" cy="402336"/>
          </a:xfrm>
          <a:prstGeom prst="rect">
            <a:avLst/>
          </a:prstGeom>
          <a:noFill/>
          <a:ln/>
        </p:spPr>
        <p:txBody>
          <a:bodyPr wrap="square" lIns="0" tIns="0" rIns="0" bIns="0" rtlCol="0" anchor="ctr"/>
          <a:lstStyle/>
          <a:p>
            <a:pPr marL="0" indent="0">
              <a:buNone/>
            </a:pPr>
            <a:r>
              <a:rPr lang="en-US" sz="1100" b="1" dirty="0">
                <a:solidFill>
                  <a:srgbClr val="D49A00"/>
                </a:solidFill>
                <a:latin typeface="Calibri" pitchFamily="34" charset="0"/>
                <a:ea typeface="Calibri" pitchFamily="34" charset="-122"/>
                <a:cs typeface="Calibri" pitchFamily="34" charset="-120"/>
              </a:rPr>
              <a:t>→</a:t>
            </a:r>
            <a:endParaRPr lang="en-US" sz="1100" dirty="0"/>
          </a:p>
        </p:txBody>
      </p:sp>
      <p:sp>
        <p:nvSpPr>
          <p:cNvPr id="62" name="Text 56"/>
          <p:cNvSpPr txBox="1"/>
          <p:nvPr/>
        </p:nvSpPr>
        <p:spPr>
          <a:xfrm>
            <a:off x="6720840" y="3529584"/>
            <a:ext cx="1920240" cy="402336"/>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Query (bool, term, range, geo_shape)</a:t>
            </a:r>
            <a:endParaRPr lang="en-US" sz="1000" dirty="0"/>
          </a:p>
        </p:txBody>
      </p:sp>
      <p:sp>
        <p:nvSpPr>
          <p:cNvPr id="63" name="Shape 57"/>
          <p:cNvSpPr/>
          <p:nvPr/>
        </p:nvSpPr>
        <p:spPr>
          <a:xfrm>
            <a:off x="5532120" y="4005072"/>
            <a:ext cx="3154680" cy="402336"/>
          </a:xfrm>
          <a:prstGeom prst="roundRect">
            <a:avLst>
              <a:gd name="adj" fmla="val 18182"/>
            </a:avLst>
          </a:prstGeom>
          <a:solidFill>
            <a:srgbClr val="FFFFFF"/>
          </a:solidFill>
          <a:ln w="9525">
            <a:solidFill>
              <a:srgbClr val="D5DED9"/>
            </a:solidFill>
            <a:prstDash val="solid"/>
          </a:ln>
        </p:spPr>
      </p:sp>
      <p:sp>
        <p:nvSpPr>
          <p:cNvPr id="64" name="Text 58"/>
          <p:cNvSpPr txBox="1"/>
          <p:nvPr/>
        </p:nvSpPr>
        <p:spPr>
          <a:xfrm>
            <a:off x="5623560" y="4005072"/>
            <a:ext cx="960120" cy="402336"/>
          </a:xfrm>
          <a:prstGeom prst="rect">
            <a:avLst/>
          </a:prstGeom>
          <a:noFill/>
          <a:ln/>
        </p:spPr>
        <p:txBody>
          <a:bodyPr wrap="square" lIns="0" tIns="0" rIns="0" bIns="0" rtlCol="0" anchor="ctr"/>
          <a:lstStyle/>
          <a:p>
            <a:pPr marL="0" indent="0">
              <a:buNone/>
            </a:pPr>
            <a:r>
              <a:rPr lang="en-US" sz="1050" b="1" dirty="0">
                <a:solidFill>
                  <a:srgbClr val="5E6964"/>
                </a:solidFill>
                <a:latin typeface="Calibri" pitchFamily="34" charset="0"/>
                <a:ea typeface="Calibri" pitchFamily="34" charset="-122"/>
                <a:cs typeface="Calibri" pitchFamily="34" charset="-120"/>
              </a:rPr>
              <a:t>GROUP BY</a:t>
            </a:r>
            <a:endParaRPr lang="en-US" sz="1050" dirty="0"/>
          </a:p>
        </p:txBody>
      </p:sp>
      <p:sp>
        <p:nvSpPr>
          <p:cNvPr id="65" name="Text 59"/>
          <p:cNvSpPr txBox="1"/>
          <p:nvPr/>
        </p:nvSpPr>
        <p:spPr>
          <a:xfrm>
            <a:off x="6510528" y="4005072"/>
            <a:ext cx="182880" cy="402336"/>
          </a:xfrm>
          <a:prstGeom prst="rect">
            <a:avLst/>
          </a:prstGeom>
          <a:noFill/>
          <a:ln/>
        </p:spPr>
        <p:txBody>
          <a:bodyPr wrap="square" lIns="0" tIns="0" rIns="0" bIns="0" rtlCol="0" anchor="ctr"/>
          <a:lstStyle/>
          <a:p>
            <a:pPr marL="0" indent="0">
              <a:buNone/>
            </a:pPr>
            <a:r>
              <a:rPr lang="en-US" sz="1100" b="1" dirty="0">
                <a:solidFill>
                  <a:srgbClr val="D49A00"/>
                </a:solidFill>
                <a:latin typeface="Calibri" pitchFamily="34" charset="0"/>
                <a:ea typeface="Calibri" pitchFamily="34" charset="-122"/>
                <a:cs typeface="Calibri" pitchFamily="34" charset="-120"/>
              </a:rPr>
              <a:t>→</a:t>
            </a:r>
            <a:endParaRPr lang="en-US" sz="1100" dirty="0"/>
          </a:p>
        </p:txBody>
      </p:sp>
      <p:sp>
        <p:nvSpPr>
          <p:cNvPr id="66" name="Text 60"/>
          <p:cNvSpPr txBox="1"/>
          <p:nvPr/>
        </p:nvSpPr>
        <p:spPr>
          <a:xfrm>
            <a:off x="6720840" y="4005072"/>
            <a:ext cx="1920240" cy="402336"/>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Aggregation (terms, weighted_avg…)</a:t>
            </a:r>
            <a:endParaRPr lang="en-US" sz="1000" dirty="0"/>
          </a:p>
        </p:txBody>
      </p:sp>
      <p:sp>
        <p:nvSpPr>
          <p:cNvPr id="67" name="Text 61"/>
          <p:cNvSpPr txBox="1"/>
          <p:nvPr/>
        </p:nvSpPr>
        <p:spPr>
          <a:xfrm>
            <a:off x="457200" y="4590288"/>
            <a:ext cx="7498080" cy="201168"/>
          </a:xfrm>
          <a:prstGeom prst="rect">
            <a:avLst/>
          </a:prstGeom>
          <a:noFill/>
          <a:ln/>
        </p:spPr>
        <p:txBody>
          <a:bodyPr wrap="square" lIns="0" tIns="0" rIns="0" bIns="0" rtlCol="0" anchor="b"/>
          <a:lstStyle/>
          <a:p>
            <a:pPr marL="0" indent="0">
              <a:buNone/>
            </a:pPr>
            <a:r>
              <a:rPr lang="en-US" sz="900" i="1" dirty="0">
                <a:solidFill>
                  <a:srgbClr val="5E6964"/>
                </a:solidFill>
                <a:latin typeface="Calibri" pitchFamily="34" charset="0"/>
                <a:ea typeface="Calibri" pitchFamily="34" charset="-122"/>
                <a:cs typeface="Calibri" pitchFamily="34" charset="-120"/>
              </a:rPr>
              <a:t>Source: Elasticsearch Reference (clusters, indices, shards and mappings).</a:t>
            </a:r>
            <a:endParaRPr lang="en-US" sz="90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INDEXING &amp; SEARCH</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Mapping and query: what you will type in the lab</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07324" y="315468"/>
            <a:ext cx="118872" cy="118872"/>
          </a:xfrm>
          <a:prstGeom prst="ellipse">
            <a:avLst/>
          </a:prstGeom>
          <a:solidFill>
            <a:srgbClr val="D49A00"/>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AfDB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24</a:t>
            </a:r>
            <a:endParaRPr lang="en-US" sz="850" dirty="0"/>
          </a:p>
        </p:txBody>
      </p:sp>
      <p:sp>
        <p:nvSpPr>
          <p:cNvPr id="17" name="Shape 14"/>
          <p:cNvSpPr/>
          <p:nvPr/>
        </p:nvSpPr>
        <p:spPr>
          <a:xfrm>
            <a:off x="457200" y="1280160"/>
            <a:ext cx="3474720" cy="3200400"/>
          </a:xfrm>
          <a:prstGeom prst="roundRect">
            <a:avLst>
              <a:gd name="adj" fmla="val 2286"/>
            </a:avLst>
          </a:prstGeom>
          <a:solidFill>
            <a:srgbClr val="F4F7F5"/>
          </a:solidFill>
          <a:ln w="9525">
            <a:solidFill>
              <a:srgbClr val="D5DED9"/>
            </a:solidFill>
            <a:prstDash val="solid"/>
          </a:ln>
        </p:spPr>
      </p:sp>
      <p:sp>
        <p:nvSpPr>
          <p:cNvPr id="18" name="Text 15"/>
          <p:cNvSpPr txBox="1"/>
          <p:nvPr/>
        </p:nvSpPr>
        <p:spPr>
          <a:xfrm>
            <a:off x="594360" y="1371600"/>
            <a:ext cx="3200400" cy="201168"/>
          </a:xfrm>
          <a:prstGeom prst="rect">
            <a:avLst/>
          </a:prstGeom>
          <a:noFill/>
          <a:ln/>
        </p:spPr>
        <p:txBody>
          <a:bodyPr wrap="square" lIns="0" tIns="0" rIns="0" bIns="0" rtlCol="0" anchor="t"/>
          <a:lstStyle/>
          <a:p>
            <a:pPr marL="0" indent="0">
              <a:buNone/>
            </a:pPr>
            <a:r>
              <a:rPr lang="en-US" sz="900" b="1" kern="0" spc="100" dirty="0">
                <a:solidFill>
                  <a:srgbClr val="00704A"/>
                </a:solidFill>
                <a:latin typeface="Calibri" pitchFamily="34" charset="0"/>
                <a:ea typeface="Calibri" pitchFamily="34" charset="-122"/>
                <a:cs typeface="Calibri" pitchFamily="34" charset="-120"/>
              </a:rPr>
              <a:t>1 · MAPPING — THE SCHEMA</a:t>
            </a:r>
            <a:endParaRPr lang="en-US" sz="900" dirty="0"/>
          </a:p>
        </p:txBody>
      </p:sp>
      <p:sp>
        <p:nvSpPr>
          <p:cNvPr id="19" name="Text 16"/>
          <p:cNvSpPr txBox="1"/>
          <p:nvPr/>
        </p:nvSpPr>
        <p:spPr>
          <a:xfrm>
            <a:off x="594360" y="1609344"/>
            <a:ext cx="3200400" cy="2798064"/>
          </a:xfrm>
          <a:prstGeom prst="rect">
            <a:avLst/>
          </a:prstGeom>
          <a:noFill/>
          <a:ln/>
        </p:spPr>
        <p:txBody>
          <a:bodyPr wrap="square" lIns="0" tIns="0" rIns="0" bIns="0" rtlCol="0" anchor="t"/>
          <a:lstStyle/>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PUT ookla-tiles</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 "mappings": { "properties": {</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  "quadkey":    { "type": "keyword" },</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  "admin1":     { "type": "keyword" },</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  "quarter":    { "type": "date" },</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  "avg_d_kbps": { "type": "integer" },</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  "tests":      { "type": "integer" },</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  "devices":    { "type": "integer" },</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  "tile":       { "type": "geo_shape" }</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 </a:t>
            </a:r>
            <a:endParaRPr lang="en-US" sz="950" dirty="0"/>
          </a:p>
          <a:p>
            <a:pPr marL="0" indent="0">
              <a:lnSpc>
                <a:spcPct val="105000"/>
              </a:lnSpc>
              <a:buNone/>
            </a:pPr>
            <a:r>
              <a:rPr lang="en-US" sz="950" i="1" dirty="0">
                <a:solidFill>
                  <a:srgbClr val="00704A"/>
                </a:solidFill>
                <a:latin typeface="Courier New" pitchFamily="34" charset="0"/>
                <a:ea typeface="Courier New" pitchFamily="34" charset="-122"/>
                <a:cs typeface="Courier New" pitchFamily="34" charset="-120"/>
              </a:rPr>
              <a:t>// keyword  = exact value: filter, group</a:t>
            </a:r>
            <a:endParaRPr lang="en-US" sz="950" dirty="0"/>
          </a:p>
          <a:p>
            <a:pPr marL="0" indent="0">
              <a:lnSpc>
                <a:spcPct val="105000"/>
              </a:lnSpc>
              <a:buNone/>
            </a:pPr>
            <a:r>
              <a:rPr lang="en-US" sz="950" i="1" dirty="0">
                <a:solidFill>
                  <a:srgbClr val="00704A"/>
                </a:solidFill>
                <a:latin typeface="Courier New" pitchFamily="34" charset="0"/>
                <a:ea typeface="Courier New" pitchFamily="34" charset="-122"/>
                <a:cs typeface="Courier New" pitchFamily="34" charset="-120"/>
              </a:rPr>
              <a:t>// geo_shape = the real tile polygon</a:t>
            </a:r>
            <a:endParaRPr lang="en-US" sz="950" dirty="0"/>
          </a:p>
        </p:txBody>
      </p:sp>
      <p:sp>
        <p:nvSpPr>
          <p:cNvPr id="20" name="Shape 17"/>
          <p:cNvSpPr/>
          <p:nvPr/>
        </p:nvSpPr>
        <p:spPr>
          <a:xfrm>
            <a:off x="4114800" y="1280160"/>
            <a:ext cx="4572000" cy="3200400"/>
          </a:xfrm>
          <a:prstGeom prst="roundRect">
            <a:avLst>
              <a:gd name="adj" fmla="val 2286"/>
            </a:avLst>
          </a:prstGeom>
          <a:solidFill>
            <a:srgbClr val="F4F7F5"/>
          </a:solidFill>
          <a:ln w="9525">
            <a:solidFill>
              <a:srgbClr val="D5DED9"/>
            </a:solidFill>
            <a:prstDash val="solid"/>
          </a:ln>
        </p:spPr>
      </p:sp>
      <p:sp>
        <p:nvSpPr>
          <p:cNvPr id="21" name="Text 18"/>
          <p:cNvSpPr txBox="1"/>
          <p:nvPr/>
        </p:nvSpPr>
        <p:spPr>
          <a:xfrm>
            <a:off x="4251960" y="1371600"/>
            <a:ext cx="4297680" cy="201168"/>
          </a:xfrm>
          <a:prstGeom prst="rect">
            <a:avLst/>
          </a:prstGeom>
          <a:noFill/>
          <a:ln/>
        </p:spPr>
        <p:txBody>
          <a:bodyPr wrap="square" lIns="0" tIns="0" rIns="0" bIns="0" rtlCol="0" anchor="t"/>
          <a:lstStyle/>
          <a:p>
            <a:pPr marL="0" indent="0">
              <a:buNone/>
            </a:pPr>
            <a:r>
              <a:rPr lang="en-US" sz="900" b="1" kern="0" spc="100" dirty="0">
                <a:solidFill>
                  <a:srgbClr val="00704A"/>
                </a:solidFill>
                <a:latin typeface="Calibri" pitchFamily="34" charset="0"/>
                <a:ea typeface="Calibri" pitchFamily="34" charset="-122"/>
                <a:cs typeface="Calibri" pitchFamily="34" charset="-120"/>
              </a:rPr>
              <a:t>2 · QUERY + AGGREGATION — BY REGION</a:t>
            </a:r>
            <a:endParaRPr lang="en-US" sz="900" dirty="0"/>
          </a:p>
        </p:txBody>
      </p:sp>
      <p:sp>
        <p:nvSpPr>
          <p:cNvPr id="22" name="Text 19"/>
          <p:cNvSpPr txBox="1"/>
          <p:nvPr/>
        </p:nvSpPr>
        <p:spPr>
          <a:xfrm>
            <a:off x="4251960" y="1609344"/>
            <a:ext cx="4297680" cy="2798064"/>
          </a:xfrm>
          <a:prstGeom prst="rect">
            <a:avLst/>
          </a:prstGeom>
          <a:noFill/>
          <a:ln/>
        </p:spPr>
        <p:txBody>
          <a:bodyPr wrap="square" lIns="0" tIns="0" rIns="0" bIns="0" rtlCol="0" anchor="t"/>
          <a:lstStyle/>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GET ookla-tiles/_search</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 "size": 0,</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  "query": { "geo_shape": { "tile": {</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    "shape": { "type": "envelope",</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      "coordinates": [[28.8, -1.0], [30.9, -2.9]] },</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    "relation": "intersects" }}},</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  "aggs": { "by_region": {</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    "terms": { "field": "admin1" },</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    "aggs": { "dl_weighted": { "weighted_avg": {</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      "value":  { "field": "avg_d_kbps" },</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      "weight": { "field": "tests" } }}}}}}</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 </a:t>
            </a:r>
            <a:endParaRPr lang="en-US" sz="950" dirty="0"/>
          </a:p>
          <a:p>
            <a:pPr marL="0" indent="0">
              <a:lnSpc>
                <a:spcPct val="105000"/>
              </a:lnSpc>
              <a:buNone/>
            </a:pPr>
            <a:r>
              <a:rPr lang="en-US" sz="950" i="1" dirty="0">
                <a:solidFill>
                  <a:srgbClr val="00704A"/>
                </a:solidFill>
                <a:latin typeface="Courier New" pitchFamily="34" charset="0"/>
                <a:ea typeface="Courier New" pitchFamily="34" charset="-122"/>
                <a:cs typeface="Courier New" pitchFamily="34" charset="-120"/>
              </a:rPr>
              <a:t>// size 0 = return only the aggregation</a:t>
            </a:r>
            <a:endParaRPr lang="en-US" sz="950" dirty="0"/>
          </a:p>
          <a:p>
            <a:pPr marL="0" indent="0">
              <a:lnSpc>
                <a:spcPct val="105000"/>
              </a:lnSpc>
              <a:buNone/>
            </a:pPr>
            <a:r>
              <a:rPr lang="en-US" sz="950" i="1" dirty="0">
                <a:solidFill>
                  <a:srgbClr val="00704A"/>
                </a:solidFill>
                <a:latin typeface="Courier New" pitchFamily="34" charset="0"/>
                <a:ea typeface="Courier New" pitchFamily="34" charset="-122"/>
                <a:cs typeface="Courier New" pitchFamily="34" charset="-120"/>
              </a:rPr>
              <a:t>// envelope = [top-left], [bottom-right], lon first</a:t>
            </a:r>
            <a:endParaRPr lang="en-US" sz="950" dirty="0"/>
          </a:p>
        </p:txBody>
      </p:sp>
      <p:sp>
        <p:nvSpPr>
          <p:cNvPr id="23" name="Text 20"/>
          <p:cNvSpPr txBox="1"/>
          <p:nvPr/>
        </p:nvSpPr>
        <p:spPr>
          <a:xfrm>
            <a:off x="457200" y="4590288"/>
            <a:ext cx="7498080" cy="201168"/>
          </a:xfrm>
          <a:prstGeom prst="rect">
            <a:avLst/>
          </a:prstGeom>
          <a:noFill/>
          <a:ln/>
        </p:spPr>
        <p:txBody>
          <a:bodyPr wrap="square" lIns="0" tIns="0" rIns="0" bIns="0" rtlCol="0" anchor="b"/>
          <a:lstStyle/>
          <a:p>
            <a:pPr marL="0" indent="0">
              <a:buNone/>
            </a:pPr>
            <a:r>
              <a:rPr lang="en-US" sz="900" i="1" dirty="0">
                <a:solidFill>
                  <a:srgbClr val="5E6964"/>
                </a:solidFill>
                <a:latin typeface="Calibri" pitchFamily="34" charset="0"/>
                <a:ea typeface="Calibri" pitchFamily="34" charset="-122"/>
                <a:cs typeface="Calibri" pitchFamily="34" charset="-120"/>
              </a:rPr>
              <a:t>Sources: Elasticsearch Reference (geo_shape query, weighted_avg aggregation). Bounding box approximates Rwanda; the lab cluster mapping may differ.</a:t>
            </a:r>
            <a:endParaRPr lang="en-US" sz="90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INDEXING &amp; SEARCH</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When is a search engine worth the extra complexity?</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07324" y="315468"/>
            <a:ext cx="118872" cy="118872"/>
          </a:xfrm>
          <a:prstGeom prst="ellipse">
            <a:avLst/>
          </a:prstGeom>
          <a:solidFill>
            <a:srgbClr val="D49A00"/>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AfDB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25</a:t>
            </a:r>
            <a:endParaRPr lang="en-US" sz="850" dirty="0"/>
          </a:p>
        </p:txBody>
      </p:sp>
      <p:sp>
        <p:nvSpPr>
          <p:cNvPr id="17" name="Shape 14"/>
          <p:cNvSpPr/>
          <p:nvPr/>
        </p:nvSpPr>
        <p:spPr>
          <a:xfrm>
            <a:off x="2103120" y="1261872"/>
            <a:ext cx="2103120" cy="384048"/>
          </a:xfrm>
          <a:prstGeom prst="roundRect">
            <a:avLst>
              <a:gd name="adj" fmla="val 19048"/>
            </a:avLst>
          </a:prstGeom>
          <a:solidFill>
            <a:srgbClr val="F4F7F5"/>
          </a:solidFill>
          <a:ln w="9525">
            <a:solidFill>
              <a:srgbClr val="D5DED9"/>
            </a:solidFill>
            <a:prstDash val="solid"/>
          </a:ln>
        </p:spPr>
      </p:sp>
      <p:sp>
        <p:nvSpPr>
          <p:cNvPr id="18" name="Text 15"/>
          <p:cNvSpPr txBox="1"/>
          <p:nvPr/>
        </p:nvSpPr>
        <p:spPr>
          <a:xfrm>
            <a:off x="2103120" y="1261872"/>
            <a:ext cx="2103120" cy="384048"/>
          </a:xfrm>
          <a:prstGeom prst="rect">
            <a:avLst/>
          </a:prstGeom>
          <a:noFill/>
          <a:ln/>
        </p:spPr>
        <p:txBody>
          <a:bodyPr wrap="square" lIns="0" tIns="0" rIns="0" bIns="0" rtlCol="0" anchor="ctr"/>
          <a:lstStyle/>
          <a:p>
            <a:pPr marL="0" indent="0" algn="ctr">
              <a:buNone/>
            </a:pPr>
            <a:r>
              <a:rPr lang="en-US" sz="1200" b="1" dirty="0">
                <a:solidFill>
                  <a:srgbClr val="231F20"/>
                </a:solidFill>
                <a:latin typeface="Calibri" pitchFamily="34" charset="0"/>
                <a:ea typeface="Calibri" pitchFamily="34" charset="-122"/>
                <a:cs typeface="Calibri" pitchFamily="34" charset="-120"/>
              </a:rPr>
              <a:t>pandas</a:t>
            </a:r>
            <a:endParaRPr lang="en-US" sz="1200" dirty="0"/>
          </a:p>
        </p:txBody>
      </p:sp>
      <p:sp>
        <p:nvSpPr>
          <p:cNvPr id="19" name="Shape 16"/>
          <p:cNvSpPr/>
          <p:nvPr/>
        </p:nvSpPr>
        <p:spPr>
          <a:xfrm>
            <a:off x="4297680" y="1261872"/>
            <a:ext cx="2103120" cy="384048"/>
          </a:xfrm>
          <a:prstGeom prst="roundRect">
            <a:avLst>
              <a:gd name="adj" fmla="val 19048"/>
            </a:avLst>
          </a:prstGeom>
          <a:solidFill>
            <a:srgbClr val="F4F7F5"/>
          </a:solidFill>
          <a:ln w="9525">
            <a:solidFill>
              <a:srgbClr val="D5DED9"/>
            </a:solidFill>
            <a:prstDash val="solid"/>
          </a:ln>
        </p:spPr>
      </p:sp>
      <p:sp>
        <p:nvSpPr>
          <p:cNvPr id="20" name="Text 17"/>
          <p:cNvSpPr txBox="1"/>
          <p:nvPr/>
        </p:nvSpPr>
        <p:spPr>
          <a:xfrm>
            <a:off x="4297680" y="1261872"/>
            <a:ext cx="2103120" cy="384048"/>
          </a:xfrm>
          <a:prstGeom prst="rect">
            <a:avLst/>
          </a:prstGeom>
          <a:noFill/>
          <a:ln/>
        </p:spPr>
        <p:txBody>
          <a:bodyPr wrap="square" lIns="0" tIns="0" rIns="0" bIns="0" rtlCol="0" anchor="ctr"/>
          <a:lstStyle/>
          <a:p>
            <a:pPr marL="0" indent="0" algn="ctr">
              <a:buNone/>
            </a:pPr>
            <a:r>
              <a:rPr lang="en-US" sz="1200" b="1" dirty="0">
                <a:solidFill>
                  <a:srgbClr val="231F20"/>
                </a:solidFill>
                <a:latin typeface="Calibri" pitchFamily="34" charset="0"/>
                <a:ea typeface="Calibri" pitchFamily="34" charset="-122"/>
                <a:cs typeface="Calibri" pitchFamily="34" charset="-120"/>
              </a:rPr>
              <a:t>DuckDB on Parquet</a:t>
            </a:r>
            <a:endParaRPr lang="en-US" sz="1200" dirty="0"/>
          </a:p>
        </p:txBody>
      </p:sp>
      <p:sp>
        <p:nvSpPr>
          <p:cNvPr id="21" name="Shape 18"/>
          <p:cNvSpPr/>
          <p:nvPr/>
        </p:nvSpPr>
        <p:spPr>
          <a:xfrm>
            <a:off x="6492240" y="1261872"/>
            <a:ext cx="2194560" cy="384048"/>
          </a:xfrm>
          <a:prstGeom prst="roundRect">
            <a:avLst>
              <a:gd name="adj" fmla="val 19048"/>
            </a:avLst>
          </a:prstGeom>
          <a:solidFill>
            <a:srgbClr val="D49A00"/>
          </a:solidFill>
          <a:ln w="9525">
            <a:solidFill>
              <a:srgbClr val="D49A00"/>
            </a:solidFill>
            <a:prstDash val="solid"/>
          </a:ln>
        </p:spPr>
      </p:sp>
      <p:sp>
        <p:nvSpPr>
          <p:cNvPr id="22" name="Text 19"/>
          <p:cNvSpPr txBox="1"/>
          <p:nvPr/>
        </p:nvSpPr>
        <p:spPr>
          <a:xfrm>
            <a:off x="6492240" y="1261872"/>
            <a:ext cx="219456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Elasticsearch</a:t>
            </a:r>
            <a:endParaRPr lang="en-US" sz="1200" dirty="0"/>
          </a:p>
        </p:txBody>
      </p:sp>
      <p:sp>
        <p:nvSpPr>
          <p:cNvPr id="23" name="Shape 20"/>
          <p:cNvSpPr/>
          <p:nvPr/>
        </p:nvSpPr>
        <p:spPr>
          <a:xfrm>
            <a:off x="457200" y="1719072"/>
            <a:ext cx="1554480" cy="402336"/>
          </a:xfrm>
          <a:prstGeom prst="roundRect">
            <a:avLst>
              <a:gd name="adj" fmla="val 9091"/>
            </a:avLst>
          </a:prstGeom>
          <a:solidFill>
            <a:srgbClr val="FFFFFF"/>
          </a:solidFill>
          <a:ln w="9525">
            <a:solidFill>
              <a:srgbClr val="D5DED9"/>
            </a:solidFill>
            <a:prstDash val="solid"/>
          </a:ln>
        </p:spPr>
      </p:sp>
      <p:sp>
        <p:nvSpPr>
          <p:cNvPr id="24" name="Text 21"/>
          <p:cNvSpPr txBox="1"/>
          <p:nvPr/>
        </p:nvSpPr>
        <p:spPr>
          <a:xfrm>
            <a:off x="548640" y="1719072"/>
            <a:ext cx="1371600" cy="402336"/>
          </a:xfrm>
          <a:prstGeom prst="rect">
            <a:avLst/>
          </a:prstGeom>
          <a:noFill/>
          <a:ln/>
        </p:spPr>
        <p:txBody>
          <a:bodyPr wrap="square" lIns="0" tIns="0" rIns="0" bIns="0" rtlCol="0" anchor="ctr"/>
          <a:lstStyle/>
          <a:p>
            <a:pPr marL="0" indent="0">
              <a:buNone/>
            </a:pPr>
            <a:r>
              <a:rPr lang="en-US" sz="1000" b="1" dirty="0">
                <a:solidFill>
                  <a:srgbClr val="5E6964"/>
                </a:solidFill>
                <a:latin typeface="Calibri" pitchFamily="34" charset="0"/>
                <a:ea typeface="Calibri" pitchFamily="34" charset="-122"/>
                <a:cs typeface="Calibri" pitchFamily="34" charset="-120"/>
              </a:rPr>
              <a:t>Best for</a:t>
            </a:r>
            <a:endParaRPr lang="en-US" sz="1000" dirty="0"/>
          </a:p>
        </p:txBody>
      </p:sp>
      <p:sp>
        <p:nvSpPr>
          <p:cNvPr id="25" name="Shape 22"/>
          <p:cNvSpPr/>
          <p:nvPr/>
        </p:nvSpPr>
        <p:spPr>
          <a:xfrm>
            <a:off x="2103120" y="1719072"/>
            <a:ext cx="2103120" cy="402336"/>
          </a:xfrm>
          <a:prstGeom prst="roundRect">
            <a:avLst>
              <a:gd name="adj" fmla="val 9091"/>
            </a:avLst>
          </a:prstGeom>
          <a:solidFill>
            <a:srgbClr val="FFFFFF"/>
          </a:solidFill>
          <a:ln w="9525">
            <a:solidFill>
              <a:srgbClr val="D5DED9"/>
            </a:solidFill>
            <a:prstDash val="solid"/>
          </a:ln>
        </p:spPr>
      </p:sp>
      <p:sp>
        <p:nvSpPr>
          <p:cNvPr id="26" name="Text 23"/>
          <p:cNvSpPr txBox="1"/>
          <p:nvPr/>
        </p:nvSpPr>
        <p:spPr>
          <a:xfrm>
            <a:off x="2194560" y="1719072"/>
            <a:ext cx="1920240" cy="40233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One analyst, exploratory work</a:t>
            </a:r>
            <a:endParaRPr lang="en-US" sz="950" dirty="0"/>
          </a:p>
        </p:txBody>
      </p:sp>
      <p:sp>
        <p:nvSpPr>
          <p:cNvPr id="27" name="Shape 24"/>
          <p:cNvSpPr/>
          <p:nvPr/>
        </p:nvSpPr>
        <p:spPr>
          <a:xfrm>
            <a:off x="4297680" y="1719072"/>
            <a:ext cx="2103120" cy="402336"/>
          </a:xfrm>
          <a:prstGeom prst="roundRect">
            <a:avLst>
              <a:gd name="adj" fmla="val 9091"/>
            </a:avLst>
          </a:prstGeom>
          <a:solidFill>
            <a:srgbClr val="FFFFFF"/>
          </a:solidFill>
          <a:ln w="9525">
            <a:solidFill>
              <a:srgbClr val="D5DED9"/>
            </a:solidFill>
            <a:prstDash val="solid"/>
          </a:ln>
        </p:spPr>
      </p:sp>
      <p:sp>
        <p:nvSpPr>
          <p:cNvPr id="28" name="Text 25"/>
          <p:cNvSpPr txBox="1"/>
          <p:nvPr/>
        </p:nvSpPr>
        <p:spPr>
          <a:xfrm>
            <a:off x="4389120" y="1719072"/>
            <a:ext cx="1920240" cy="40233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Heavy analytical SQL on one machine</a:t>
            </a:r>
            <a:endParaRPr lang="en-US" sz="950" dirty="0"/>
          </a:p>
        </p:txBody>
      </p:sp>
      <p:sp>
        <p:nvSpPr>
          <p:cNvPr id="29" name="Shape 26"/>
          <p:cNvSpPr/>
          <p:nvPr/>
        </p:nvSpPr>
        <p:spPr>
          <a:xfrm>
            <a:off x="6492240" y="1719072"/>
            <a:ext cx="2194560" cy="402336"/>
          </a:xfrm>
          <a:prstGeom prst="roundRect">
            <a:avLst>
              <a:gd name="adj" fmla="val 9091"/>
            </a:avLst>
          </a:prstGeom>
          <a:solidFill>
            <a:srgbClr val="E8F5EF"/>
          </a:solidFill>
          <a:ln w="12700">
            <a:solidFill>
              <a:srgbClr val="D49A00"/>
            </a:solidFill>
            <a:prstDash val="solid"/>
          </a:ln>
        </p:spPr>
      </p:sp>
      <p:sp>
        <p:nvSpPr>
          <p:cNvPr id="30" name="Text 27"/>
          <p:cNvSpPr txBox="1"/>
          <p:nvPr/>
        </p:nvSpPr>
        <p:spPr>
          <a:xfrm>
            <a:off x="6583680" y="1719072"/>
            <a:ext cx="2011680" cy="40233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Many users, interactive filters and maps</a:t>
            </a:r>
            <a:endParaRPr lang="en-US" sz="950" dirty="0"/>
          </a:p>
        </p:txBody>
      </p:sp>
      <p:sp>
        <p:nvSpPr>
          <p:cNvPr id="31" name="Shape 28"/>
          <p:cNvSpPr/>
          <p:nvPr/>
        </p:nvSpPr>
        <p:spPr>
          <a:xfrm>
            <a:off x="457200" y="2176272"/>
            <a:ext cx="1554480" cy="402336"/>
          </a:xfrm>
          <a:prstGeom prst="roundRect">
            <a:avLst>
              <a:gd name="adj" fmla="val 9091"/>
            </a:avLst>
          </a:prstGeom>
          <a:solidFill>
            <a:srgbClr val="FFFFFF"/>
          </a:solidFill>
          <a:ln w="9525">
            <a:solidFill>
              <a:srgbClr val="D5DED9"/>
            </a:solidFill>
            <a:prstDash val="solid"/>
          </a:ln>
        </p:spPr>
      </p:sp>
      <p:sp>
        <p:nvSpPr>
          <p:cNvPr id="32" name="Text 29"/>
          <p:cNvSpPr txBox="1"/>
          <p:nvPr/>
        </p:nvSpPr>
        <p:spPr>
          <a:xfrm>
            <a:off x="548640" y="2176272"/>
            <a:ext cx="1371600" cy="402336"/>
          </a:xfrm>
          <a:prstGeom prst="rect">
            <a:avLst/>
          </a:prstGeom>
          <a:noFill/>
          <a:ln/>
        </p:spPr>
        <p:txBody>
          <a:bodyPr wrap="square" lIns="0" tIns="0" rIns="0" bIns="0" rtlCol="0" anchor="ctr"/>
          <a:lstStyle/>
          <a:p>
            <a:pPr marL="0" indent="0">
              <a:buNone/>
            </a:pPr>
            <a:r>
              <a:rPr lang="en-US" sz="1000" b="1" dirty="0">
                <a:solidFill>
                  <a:srgbClr val="5E6964"/>
                </a:solidFill>
                <a:latin typeface="Calibri" pitchFamily="34" charset="0"/>
                <a:ea typeface="Calibri" pitchFamily="34" charset="-122"/>
                <a:cs typeface="Calibri" pitchFamily="34" charset="-120"/>
              </a:rPr>
              <a:t>Memory</a:t>
            </a:r>
            <a:endParaRPr lang="en-US" sz="1000" dirty="0"/>
          </a:p>
        </p:txBody>
      </p:sp>
      <p:sp>
        <p:nvSpPr>
          <p:cNvPr id="33" name="Shape 30"/>
          <p:cNvSpPr/>
          <p:nvPr/>
        </p:nvSpPr>
        <p:spPr>
          <a:xfrm>
            <a:off x="2103120" y="2176272"/>
            <a:ext cx="2103120" cy="402336"/>
          </a:xfrm>
          <a:prstGeom prst="roundRect">
            <a:avLst>
              <a:gd name="adj" fmla="val 9091"/>
            </a:avLst>
          </a:prstGeom>
          <a:solidFill>
            <a:srgbClr val="FFFFFF"/>
          </a:solidFill>
          <a:ln w="9525">
            <a:solidFill>
              <a:srgbClr val="D5DED9"/>
            </a:solidFill>
            <a:prstDash val="solid"/>
          </a:ln>
        </p:spPr>
      </p:sp>
      <p:sp>
        <p:nvSpPr>
          <p:cNvPr id="34" name="Text 31"/>
          <p:cNvSpPr txBox="1"/>
          <p:nvPr/>
        </p:nvSpPr>
        <p:spPr>
          <a:xfrm>
            <a:off x="2194560" y="2176272"/>
            <a:ext cx="1920240" cy="40233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Whole dataset in RAM</a:t>
            </a:r>
            <a:endParaRPr lang="en-US" sz="950" dirty="0"/>
          </a:p>
        </p:txBody>
      </p:sp>
      <p:sp>
        <p:nvSpPr>
          <p:cNvPr id="35" name="Shape 32"/>
          <p:cNvSpPr/>
          <p:nvPr/>
        </p:nvSpPr>
        <p:spPr>
          <a:xfrm>
            <a:off x="4297680" y="2176272"/>
            <a:ext cx="2103120" cy="402336"/>
          </a:xfrm>
          <a:prstGeom prst="roundRect">
            <a:avLst>
              <a:gd name="adj" fmla="val 9091"/>
            </a:avLst>
          </a:prstGeom>
          <a:solidFill>
            <a:srgbClr val="FFFFFF"/>
          </a:solidFill>
          <a:ln w="9525">
            <a:solidFill>
              <a:srgbClr val="D5DED9"/>
            </a:solidFill>
            <a:prstDash val="solid"/>
          </a:ln>
        </p:spPr>
      </p:sp>
      <p:sp>
        <p:nvSpPr>
          <p:cNvPr id="36" name="Text 33"/>
          <p:cNvSpPr txBox="1"/>
          <p:nvPr/>
        </p:nvSpPr>
        <p:spPr>
          <a:xfrm>
            <a:off x="4389120" y="2176272"/>
            <a:ext cx="1920240" cy="40233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Streams columns; can spill to disk</a:t>
            </a:r>
            <a:endParaRPr lang="en-US" sz="950" dirty="0"/>
          </a:p>
        </p:txBody>
      </p:sp>
      <p:sp>
        <p:nvSpPr>
          <p:cNvPr id="37" name="Shape 34"/>
          <p:cNvSpPr/>
          <p:nvPr/>
        </p:nvSpPr>
        <p:spPr>
          <a:xfrm>
            <a:off x="6492240" y="2176272"/>
            <a:ext cx="2194560" cy="402336"/>
          </a:xfrm>
          <a:prstGeom prst="roundRect">
            <a:avLst>
              <a:gd name="adj" fmla="val 9091"/>
            </a:avLst>
          </a:prstGeom>
          <a:solidFill>
            <a:srgbClr val="E8F5EF"/>
          </a:solidFill>
          <a:ln w="12700">
            <a:solidFill>
              <a:srgbClr val="D49A00"/>
            </a:solidFill>
            <a:prstDash val="solid"/>
          </a:ln>
        </p:spPr>
      </p:sp>
      <p:sp>
        <p:nvSpPr>
          <p:cNvPr id="38" name="Text 35"/>
          <p:cNvSpPr txBox="1"/>
          <p:nvPr/>
        </p:nvSpPr>
        <p:spPr>
          <a:xfrm>
            <a:off x="6583680" y="2176272"/>
            <a:ext cx="2011680" cy="40233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Distributed across nodes</a:t>
            </a:r>
            <a:endParaRPr lang="en-US" sz="950" dirty="0"/>
          </a:p>
        </p:txBody>
      </p:sp>
      <p:sp>
        <p:nvSpPr>
          <p:cNvPr id="39" name="Shape 36"/>
          <p:cNvSpPr/>
          <p:nvPr/>
        </p:nvSpPr>
        <p:spPr>
          <a:xfrm>
            <a:off x="457200" y="2633472"/>
            <a:ext cx="1554480" cy="402336"/>
          </a:xfrm>
          <a:prstGeom prst="roundRect">
            <a:avLst>
              <a:gd name="adj" fmla="val 9091"/>
            </a:avLst>
          </a:prstGeom>
          <a:solidFill>
            <a:srgbClr val="FFFFFF"/>
          </a:solidFill>
          <a:ln w="9525">
            <a:solidFill>
              <a:srgbClr val="D5DED9"/>
            </a:solidFill>
            <a:prstDash val="solid"/>
          </a:ln>
        </p:spPr>
      </p:sp>
      <p:sp>
        <p:nvSpPr>
          <p:cNvPr id="40" name="Text 37"/>
          <p:cNvSpPr txBox="1"/>
          <p:nvPr/>
        </p:nvSpPr>
        <p:spPr>
          <a:xfrm>
            <a:off x="548640" y="2633472"/>
            <a:ext cx="1371600" cy="402336"/>
          </a:xfrm>
          <a:prstGeom prst="rect">
            <a:avLst/>
          </a:prstGeom>
          <a:noFill/>
          <a:ln/>
        </p:spPr>
        <p:txBody>
          <a:bodyPr wrap="square" lIns="0" tIns="0" rIns="0" bIns="0" rtlCol="0" anchor="ctr"/>
          <a:lstStyle/>
          <a:p>
            <a:pPr marL="0" indent="0">
              <a:buNone/>
            </a:pPr>
            <a:r>
              <a:rPr lang="en-US" sz="1000" b="1" dirty="0">
                <a:solidFill>
                  <a:srgbClr val="5E6964"/>
                </a:solidFill>
                <a:latin typeface="Calibri" pitchFamily="34" charset="0"/>
                <a:ea typeface="Calibri" pitchFamily="34" charset="-122"/>
                <a:cs typeface="Calibri" pitchFamily="34" charset="-120"/>
              </a:rPr>
              <a:t>Geo &amp; text</a:t>
            </a:r>
            <a:endParaRPr lang="en-US" sz="1000" dirty="0"/>
          </a:p>
        </p:txBody>
      </p:sp>
      <p:sp>
        <p:nvSpPr>
          <p:cNvPr id="41" name="Shape 38"/>
          <p:cNvSpPr/>
          <p:nvPr/>
        </p:nvSpPr>
        <p:spPr>
          <a:xfrm>
            <a:off x="2103120" y="2633472"/>
            <a:ext cx="2103120" cy="402336"/>
          </a:xfrm>
          <a:prstGeom prst="roundRect">
            <a:avLst>
              <a:gd name="adj" fmla="val 9091"/>
            </a:avLst>
          </a:prstGeom>
          <a:solidFill>
            <a:srgbClr val="FFFFFF"/>
          </a:solidFill>
          <a:ln w="9525">
            <a:solidFill>
              <a:srgbClr val="D5DED9"/>
            </a:solidFill>
            <a:prstDash val="solid"/>
          </a:ln>
        </p:spPr>
      </p:sp>
      <p:sp>
        <p:nvSpPr>
          <p:cNvPr id="42" name="Text 39"/>
          <p:cNvSpPr txBox="1"/>
          <p:nvPr/>
        </p:nvSpPr>
        <p:spPr>
          <a:xfrm>
            <a:off x="2194560" y="2633472"/>
            <a:ext cx="1920240" cy="40233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Via GeoPandas, in memory</a:t>
            </a:r>
            <a:endParaRPr lang="en-US" sz="950" dirty="0"/>
          </a:p>
        </p:txBody>
      </p:sp>
      <p:sp>
        <p:nvSpPr>
          <p:cNvPr id="43" name="Shape 40"/>
          <p:cNvSpPr/>
          <p:nvPr/>
        </p:nvSpPr>
        <p:spPr>
          <a:xfrm>
            <a:off x="4297680" y="2633472"/>
            <a:ext cx="2103120" cy="402336"/>
          </a:xfrm>
          <a:prstGeom prst="roundRect">
            <a:avLst>
              <a:gd name="adj" fmla="val 9091"/>
            </a:avLst>
          </a:prstGeom>
          <a:solidFill>
            <a:srgbClr val="FFFFFF"/>
          </a:solidFill>
          <a:ln w="9525">
            <a:solidFill>
              <a:srgbClr val="D5DED9"/>
            </a:solidFill>
            <a:prstDash val="solid"/>
          </a:ln>
        </p:spPr>
      </p:sp>
      <p:sp>
        <p:nvSpPr>
          <p:cNvPr id="44" name="Text 41"/>
          <p:cNvSpPr txBox="1"/>
          <p:nvPr/>
        </p:nvSpPr>
        <p:spPr>
          <a:xfrm>
            <a:off x="4389120" y="2633472"/>
            <a:ext cx="1920240" cy="40233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Spatial extension</a:t>
            </a:r>
            <a:endParaRPr lang="en-US" sz="950" dirty="0"/>
          </a:p>
        </p:txBody>
      </p:sp>
      <p:sp>
        <p:nvSpPr>
          <p:cNvPr id="45" name="Shape 42"/>
          <p:cNvSpPr/>
          <p:nvPr/>
        </p:nvSpPr>
        <p:spPr>
          <a:xfrm>
            <a:off x="6492240" y="2633472"/>
            <a:ext cx="2194560" cy="402336"/>
          </a:xfrm>
          <a:prstGeom prst="roundRect">
            <a:avLst>
              <a:gd name="adj" fmla="val 9091"/>
            </a:avLst>
          </a:prstGeom>
          <a:solidFill>
            <a:srgbClr val="E8F5EF"/>
          </a:solidFill>
          <a:ln w="12700">
            <a:solidFill>
              <a:srgbClr val="D49A00"/>
            </a:solidFill>
            <a:prstDash val="solid"/>
          </a:ln>
        </p:spPr>
      </p:sp>
      <p:sp>
        <p:nvSpPr>
          <p:cNvPr id="46" name="Text 43"/>
          <p:cNvSpPr txBox="1"/>
          <p:nvPr/>
        </p:nvSpPr>
        <p:spPr>
          <a:xfrm>
            <a:off x="6583680" y="2633472"/>
            <a:ext cx="2011680" cy="40233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Native geo_shape and full-text</a:t>
            </a:r>
            <a:endParaRPr lang="en-US" sz="950" dirty="0"/>
          </a:p>
        </p:txBody>
      </p:sp>
      <p:sp>
        <p:nvSpPr>
          <p:cNvPr id="47" name="Shape 44"/>
          <p:cNvSpPr/>
          <p:nvPr/>
        </p:nvSpPr>
        <p:spPr>
          <a:xfrm>
            <a:off x="457200" y="3090672"/>
            <a:ext cx="1554480" cy="402336"/>
          </a:xfrm>
          <a:prstGeom prst="roundRect">
            <a:avLst>
              <a:gd name="adj" fmla="val 9091"/>
            </a:avLst>
          </a:prstGeom>
          <a:solidFill>
            <a:srgbClr val="FFFFFF"/>
          </a:solidFill>
          <a:ln w="9525">
            <a:solidFill>
              <a:srgbClr val="D5DED9"/>
            </a:solidFill>
            <a:prstDash val="solid"/>
          </a:ln>
        </p:spPr>
      </p:sp>
      <p:sp>
        <p:nvSpPr>
          <p:cNvPr id="48" name="Text 45"/>
          <p:cNvSpPr txBox="1"/>
          <p:nvPr/>
        </p:nvSpPr>
        <p:spPr>
          <a:xfrm>
            <a:off x="548640" y="3090672"/>
            <a:ext cx="1371600" cy="402336"/>
          </a:xfrm>
          <a:prstGeom prst="rect">
            <a:avLst/>
          </a:prstGeom>
          <a:noFill/>
          <a:ln/>
        </p:spPr>
        <p:txBody>
          <a:bodyPr wrap="square" lIns="0" tIns="0" rIns="0" bIns="0" rtlCol="0" anchor="ctr"/>
          <a:lstStyle/>
          <a:p>
            <a:pPr marL="0" indent="0">
              <a:buNone/>
            </a:pPr>
            <a:r>
              <a:rPr lang="en-US" sz="1000" b="1" dirty="0">
                <a:solidFill>
                  <a:srgbClr val="5E6964"/>
                </a:solidFill>
                <a:latin typeface="Calibri" pitchFamily="34" charset="0"/>
                <a:ea typeface="Calibri" pitchFamily="34" charset="-122"/>
                <a:cs typeface="Calibri" pitchFamily="34" charset="-120"/>
              </a:rPr>
              <a:t>Interactive latency</a:t>
            </a:r>
            <a:endParaRPr lang="en-US" sz="1000" dirty="0"/>
          </a:p>
        </p:txBody>
      </p:sp>
      <p:sp>
        <p:nvSpPr>
          <p:cNvPr id="49" name="Shape 46"/>
          <p:cNvSpPr/>
          <p:nvPr/>
        </p:nvSpPr>
        <p:spPr>
          <a:xfrm>
            <a:off x="2103120" y="3090672"/>
            <a:ext cx="2103120" cy="402336"/>
          </a:xfrm>
          <a:prstGeom prst="roundRect">
            <a:avLst>
              <a:gd name="adj" fmla="val 9091"/>
            </a:avLst>
          </a:prstGeom>
          <a:solidFill>
            <a:srgbClr val="FFFFFF"/>
          </a:solidFill>
          <a:ln w="9525">
            <a:solidFill>
              <a:srgbClr val="D5DED9"/>
            </a:solidFill>
            <a:prstDash val="solid"/>
          </a:ln>
        </p:spPr>
      </p:sp>
      <p:sp>
        <p:nvSpPr>
          <p:cNvPr id="50" name="Text 47"/>
          <p:cNvSpPr txBox="1"/>
          <p:nvPr/>
        </p:nvSpPr>
        <p:spPr>
          <a:xfrm>
            <a:off x="2194560" y="3090672"/>
            <a:ext cx="1920240" cy="40233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Fine while data is small</a:t>
            </a:r>
            <a:endParaRPr lang="en-US" sz="950" dirty="0"/>
          </a:p>
        </p:txBody>
      </p:sp>
      <p:sp>
        <p:nvSpPr>
          <p:cNvPr id="51" name="Shape 48"/>
          <p:cNvSpPr/>
          <p:nvPr/>
        </p:nvSpPr>
        <p:spPr>
          <a:xfrm>
            <a:off x="4297680" y="3090672"/>
            <a:ext cx="2103120" cy="402336"/>
          </a:xfrm>
          <a:prstGeom prst="roundRect">
            <a:avLst>
              <a:gd name="adj" fmla="val 9091"/>
            </a:avLst>
          </a:prstGeom>
          <a:solidFill>
            <a:srgbClr val="FFFFFF"/>
          </a:solidFill>
          <a:ln w="9525">
            <a:solidFill>
              <a:srgbClr val="D5DED9"/>
            </a:solidFill>
            <a:prstDash val="solid"/>
          </a:ln>
        </p:spPr>
      </p:sp>
      <p:sp>
        <p:nvSpPr>
          <p:cNvPr id="52" name="Text 49"/>
          <p:cNvSpPr txBox="1"/>
          <p:nvPr/>
        </p:nvSpPr>
        <p:spPr>
          <a:xfrm>
            <a:off x="4389120" y="3090672"/>
            <a:ext cx="1920240" cy="40233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Fast for scans and joins</a:t>
            </a:r>
            <a:endParaRPr lang="en-US" sz="950" dirty="0"/>
          </a:p>
        </p:txBody>
      </p:sp>
      <p:sp>
        <p:nvSpPr>
          <p:cNvPr id="53" name="Shape 50"/>
          <p:cNvSpPr/>
          <p:nvPr/>
        </p:nvSpPr>
        <p:spPr>
          <a:xfrm>
            <a:off x="6492240" y="3090672"/>
            <a:ext cx="2194560" cy="402336"/>
          </a:xfrm>
          <a:prstGeom prst="roundRect">
            <a:avLst>
              <a:gd name="adj" fmla="val 9091"/>
            </a:avLst>
          </a:prstGeom>
          <a:solidFill>
            <a:srgbClr val="E8F5EF"/>
          </a:solidFill>
          <a:ln w="12700">
            <a:solidFill>
              <a:srgbClr val="D49A00"/>
            </a:solidFill>
            <a:prstDash val="solid"/>
          </a:ln>
        </p:spPr>
      </p:sp>
      <p:sp>
        <p:nvSpPr>
          <p:cNvPr id="54" name="Text 51"/>
          <p:cNvSpPr txBox="1"/>
          <p:nvPr/>
        </p:nvSpPr>
        <p:spPr>
          <a:xfrm>
            <a:off x="6583680" y="3090672"/>
            <a:ext cx="2011680" cy="40233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Designed for sub-second queries</a:t>
            </a:r>
            <a:endParaRPr lang="en-US" sz="950" dirty="0"/>
          </a:p>
        </p:txBody>
      </p:sp>
      <p:sp>
        <p:nvSpPr>
          <p:cNvPr id="55" name="Shape 52"/>
          <p:cNvSpPr/>
          <p:nvPr/>
        </p:nvSpPr>
        <p:spPr>
          <a:xfrm>
            <a:off x="457200" y="3547872"/>
            <a:ext cx="1554480" cy="402336"/>
          </a:xfrm>
          <a:prstGeom prst="roundRect">
            <a:avLst>
              <a:gd name="adj" fmla="val 9091"/>
            </a:avLst>
          </a:prstGeom>
          <a:solidFill>
            <a:srgbClr val="FFFFFF"/>
          </a:solidFill>
          <a:ln w="9525">
            <a:solidFill>
              <a:srgbClr val="D5DED9"/>
            </a:solidFill>
            <a:prstDash val="solid"/>
          </a:ln>
        </p:spPr>
      </p:sp>
      <p:sp>
        <p:nvSpPr>
          <p:cNvPr id="56" name="Text 53"/>
          <p:cNvSpPr txBox="1"/>
          <p:nvPr/>
        </p:nvSpPr>
        <p:spPr>
          <a:xfrm>
            <a:off x="548640" y="3547872"/>
            <a:ext cx="1371600" cy="402336"/>
          </a:xfrm>
          <a:prstGeom prst="rect">
            <a:avLst/>
          </a:prstGeom>
          <a:noFill/>
          <a:ln/>
        </p:spPr>
        <p:txBody>
          <a:bodyPr wrap="square" lIns="0" tIns="0" rIns="0" bIns="0" rtlCol="0" anchor="ctr"/>
          <a:lstStyle/>
          <a:p>
            <a:pPr marL="0" indent="0">
              <a:buNone/>
            </a:pPr>
            <a:r>
              <a:rPr lang="en-US" sz="1000" b="1" dirty="0">
                <a:solidFill>
                  <a:srgbClr val="5E6964"/>
                </a:solidFill>
                <a:latin typeface="Calibri" pitchFamily="34" charset="0"/>
                <a:ea typeface="Calibri" pitchFamily="34" charset="-122"/>
                <a:cs typeface="Calibri" pitchFamily="34" charset="-120"/>
              </a:rPr>
              <a:t>Operating cost</a:t>
            </a:r>
            <a:endParaRPr lang="en-US" sz="1000" dirty="0"/>
          </a:p>
        </p:txBody>
      </p:sp>
      <p:sp>
        <p:nvSpPr>
          <p:cNvPr id="57" name="Shape 54"/>
          <p:cNvSpPr/>
          <p:nvPr/>
        </p:nvSpPr>
        <p:spPr>
          <a:xfrm>
            <a:off x="2103120" y="3547872"/>
            <a:ext cx="2103120" cy="402336"/>
          </a:xfrm>
          <a:prstGeom prst="roundRect">
            <a:avLst>
              <a:gd name="adj" fmla="val 9091"/>
            </a:avLst>
          </a:prstGeom>
          <a:solidFill>
            <a:srgbClr val="FFFFFF"/>
          </a:solidFill>
          <a:ln w="9525">
            <a:solidFill>
              <a:srgbClr val="D5DED9"/>
            </a:solidFill>
            <a:prstDash val="solid"/>
          </a:ln>
        </p:spPr>
      </p:sp>
      <p:sp>
        <p:nvSpPr>
          <p:cNvPr id="58" name="Text 55"/>
          <p:cNvSpPr txBox="1"/>
          <p:nvPr/>
        </p:nvSpPr>
        <p:spPr>
          <a:xfrm>
            <a:off x="2194560" y="3547872"/>
            <a:ext cx="1920240" cy="40233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None</a:t>
            </a:r>
            <a:endParaRPr lang="en-US" sz="950" dirty="0"/>
          </a:p>
        </p:txBody>
      </p:sp>
      <p:sp>
        <p:nvSpPr>
          <p:cNvPr id="59" name="Shape 56"/>
          <p:cNvSpPr/>
          <p:nvPr/>
        </p:nvSpPr>
        <p:spPr>
          <a:xfrm>
            <a:off x="4297680" y="3547872"/>
            <a:ext cx="2103120" cy="402336"/>
          </a:xfrm>
          <a:prstGeom prst="roundRect">
            <a:avLst>
              <a:gd name="adj" fmla="val 9091"/>
            </a:avLst>
          </a:prstGeom>
          <a:solidFill>
            <a:srgbClr val="FFFFFF"/>
          </a:solidFill>
          <a:ln w="9525">
            <a:solidFill>
              <a:srgbClr val="D5DED9"/>
            </a:solidFill>
            <a:prstDash val="solid"/>
          </a:ln>
        </p:spPr>
      </p:sp>
      <p:sp>
        <p:nvSpPr>
          <p:cNvPr id="60" name="Text 57"/>
          <p:cNvSpPr txBox="1"/>
          <p:nvPr/>
        </p:nvSpPr>
        <p:spPr>
          <a:xfrm>
            <a:off x="4389120" y="3547872"/>
            <a:ext cx="1920240" cy="40233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Very low</a:t>
            </a:r>
            <a:endParaRPr lang="en-US" sz="950" dirty="0"/>
          </a:p>
        </p:txBody>
      </p:sp>
      <p:sp>
        <p:nvSpPr>
          <p:cNvPr id="61" name="Shape 58"/>
          <p:cNvSpPr/>
          <p:nvPr/>
        </p:nvSpPr>
        <p:spPr>
          <a:xfrm>
            <a:off x="6492240" y="3547872"/>
            <a:ext cx="2194560" cy="402336"/>
          </a:xfrm>
          <a:prstGeom prst="roundRect">
            <a:avLst>
              <a:gd name="adj" fmla="val 9091"/>
            </a:avLst>
          </a:prstGeom>
          <a:solidFill>
            <a:srgbClr val="E8F5EF"/>
          </a:solidFill>
          <a:ln w="12700">
            <a:solidFill>
              <a:srgbClr val="D49A00"/>
            </a:solidFill>
            <a:prstDash val="solid"/>
          </a:ln>
        </p:spPr>
      </p:sp>
      <p:sp>
        <p:nvSpPr>
          <p:cNvPr id="62" name="Text 59"/>
          <p:cNvSpPr txBox="1"/>
          <p:nvPr/>
        </p:nvSpPr>
        <p:spPr>
          <a:xfrm>
            <a:off x="6583680" y="3547872"/>
            <a:ext cx="2011680" cy="40233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A cluster to run, secure and monitor</a:t>
            </a:r>
            <a:endParaRPr lang="en-US" sz="950" dirty="0"/>
          </a:p>
        </p:txBody>
      </p:sp>
      <p:sp>
        <p:nvSpPr>
          <p:cNvPr id="63" name="Shape 60"/>
          <p:cNvSpPr/>
          <p:nvPr/>
        </p:nvSpPr>
        <p:spPr>
          <a:xfrm>
            <a:off x="457200" y="4023360"/>
            <a:ext cx="8229600" cy="475488"/>
          </a:xfrm>
          <a:prstGeom prst="roundRect">
            <a:avLst>
              <a:gd name="adj" fmla="val 15385"/>
            </a:avLst>
          </a:prstGeom>
          <a:solidFill>
            <a:srgbClr val="D49A00">
              <a:alpha val="13000"/>
            </a:srgbClr>
          </a:solidFill>
          <a:ln w="12700">
            <a:solidFill>
              <a:srgbClr val="D49A00"/>
            </a:solidFill>
            <a:prstDash val="solid"/>
          </a:ln>
        </p:spPr>
      </p:sp>
      <p:pic>
        <p:nvPicPr>
          <p:cNvPr id="64" name="Image 0" descr="preencoded.png"/>
          <p:cNvPicPr>
            <a:picLocks noChangeAspect="1"/>
          </p:cNvPicPr>
          <p:nvPr/>
        </p:nvPicPr>
        <p:blipFill>
          <a:blip r:embed="rId3"/>
          <a:stretch>
            <a:fillRect/>
          </a:stretch>
        </p:blipFill>
        <p:spPr>
          <a:xfrm>
            <a:off x="594360" y="4151376"/>
            <a:ext cx="219456" cy="219456"/>
          </a:xfrm>
          <a:prstGeom prst="rect">
            <a:avLst/>
          </a:prstGeom>
        </p:spPr>
      </p:pic>
      <p:sp>
        <p:nvSpPr>
          <p:cNvPr id="65" name="Text 61"/>
          <p:cNvSpPr txBox="1"/>
          <p:nvPr/>
        </p:nvSpPr>
        <p:spPr>
          <a:xfrm>
            <a:off x="932688" y="4023360"/>
            <a:ext cx="7616952" cy="47548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A search engine is an index, not a system of record. </a:t>
            </a:r>
            <a:r>
              <a:rPr lang="en-US" sz="1050" dirty="0">
                <a:solidFill>
                  <a:srgbClr val="231F20"/>
                </a:solidFill>
                <a:latin typeface="Calibri" pitchFamily="34" charset="0"/>
                <a:ea typeface="Calibri" pitchFamily="34" charset="-122"/>
                <a:cs typeface="Calibri" pitchFamily="34" charset="-120"/>
              </a:rPr>
              <a:t>Keep the lakehouse as the source of truth and rebuild the index from it.</a:t>
            </a:r>
            <a:endParaRPr lang="en-US" sz="1050" dirty="0"/>
          </a:p>
        </p:txBody>
      </p:sp>
      <p:sp>
        <p:nvSpPr>
          <p:cNvPr id="66" name="Text 62"/>
          <p:cNvSpPr txBox="1"/>
          <p:nvPr/>
        </p:nvSpPr>
        <p:spPr>
          <a:xfrm>
            <a:off x="457200" y="4590288"/>
            <a:ext cx="7498080" cy="201168"/>
          </a:xfrm>
          <a:prstGeom prst="rect">
            <a:avLst/>
          </a:prstGeom>
          <a:noFill/>
          <a:ln/>
        </p:spPr>
        <p:txBody>
          <a:bodyPr wrap="square" lIns="0" tIns="0" rIns="0" bIns="0" rtlCol="0" anchor="b"/>
          <a:lstStyle/>
          <a:p>
            <a:pPr marL="0" indent="0">
              <a:buNone/>
            </a:pPr>
            <a:r>
              <a:rPr lang="en-US" sz="900" i="1" dirty="0">
                <a:solidFill>
                  <a:srgbClr val="5E6964"/>
                </a:solidFill>
                <a:latin typeface="Calibri" pitchFamily="34" charset="0"/>
                <a:ea typeface="Calibri" pitchFamily="34" charset="-122"/>
                <a:cs typeface="Calibri" pitchFamily="34" charset="-120"/>
              </a:rPr>
              <a:t>Qualitative comparison — Lab part 2 asks you to measure query time and memory footprint yourself.</a:t>
            </a:r>
            <a:endParaRPr lang="en-US" sz="90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82128" y="329184"/>
            <a:ext cx="91440" cy="91440"/>
          </a:xfrm>
          <a:prstGeom prst="ellipse">
            <a:avLst/>
          </a:prstGeom>
          <a:solidFill>
            <a:srgbClr val="FFFFFF">
              <a:alpha val="40000"/>
            </a:srgbClr>
          </a:solidFill>
          <a:ln/>
        </p:spPr>
      </p:sp>
      <p:sp>
        <p:nvSpPr>
          <p:cNvPr id="3" name="Shape 1"/>
          <p:cNvSpPr/>
          <p:nvPr/>
        </p:nvSpPr>
        <p:spPr>
          <a:xfrm>
            <a:off x="8028432" y="329184"/>
            <a:ext cx="91440" cy="91440"/>
          </a:xfrm>
          <a:prstGeom prst="ellipse">
            <a:avLst/>
          </a:prstGeom>
          <a:solidFill>
            <a:srgbClr val="FFFFFF">
              <a:alpha val="40000"/>
            </a:srgbClr>
          </a:solidFill>
          <a:ln/>
        </p:spPr>
      </p:sp>
      <p:sp>
        <p:nvSpPr>
          <p:cNvPr id="4" name="Shape 2"/>
          <p:cNvSpPr/>
          <p:nvPr/>
        </p:nvSpPr>
        <p:spPr>
          <a:xfrm>
            <a:off x="8174736" y="329184"/>
            <a:ext cx="91440" cy="91440"/>
          </a:xfrm>
          <a:prstGeom prst="ellipse">
            <a:avLst/>
          </a:prstGeom>
          <a:solidFill>
            <a:srgbClr val="FFFFFF">
              <a:alpha val="40000"/>
            </a:srgbClr>
          </a:solidFill>
          <a:ln/>
        </p:spPr>
      </p:sp>
      <p:sp>
        <p:nvSpPr>
          <p:cNvPr id="5" name="Shape 3"/>
          <p:cNvSpPr/>
          <p:nvPr/>
        </p:nvSpPr>
        <p:spPr>
          <a:xfrm>
            <a:off x="8321040" y="329184"/>
            <a:ext cx="91440" cy="91440"/>
          </a:xfrm>
          <a:prstGeom prst="ellipse">
            <a:avLst/>
          </a:prstGeom>
          <a:solidFill>
            <a:srgbClr val="FFFFFF">
              <a:alpha val="40000"/>
            </a:srgbClr>
          </a:solidFill>
          <a:ln/>
        </p:spPr>
      </p:sp>
      <p:sp>
        <p:nvSpPr>
          <p:cNvPr id="6" name="Shape 4"/>
          <p:cNvSpPr/>
          <p:nvPr/>
        </p:nvSpPr>
        <p:spPr>
          <a:xfrm>
            <a:off x="8453628" y="315468"/>
            <a:ext cx="118872" cy="118872"/>
          </a:xfrm>
          <a:prstGeom prst="ellipse">
            <a:avLst/>
          </a:prstGeom>
          <a:solidFill>
            <a:srgbClr val="F5C242"/>
          </a:solidFill>
          <a:ln/>
        </p:spPr>
      </p:sp>
      <p:sp>
        <p:nvSpPr>
          <p:cNvPr id="7" name="Shape 5"/>
          <p:cNvSpPr/>
          <p:nvPr/>
        </p:nvSpPr>
        <p:spPr>
          <a:xfrm>
            <a:off x="8613648" y="329184"/>
            <a:ext cx="91440" cy="91440"/>
          </a:xfrm>
          <a:prstGeom prst="ellipse">
            <a:avLst/>
          </a:prstGeom>
          <a:solidFill>
            <a:srgbClr val="FFFFFF">
              <a:alpha val="40000"/>
            </a:srgbClr>
          </a:solidFill>
          <a:ln/>
        </p:spPr>
      </p:sp>
      <p:sp>
        <p:nvSpPr>
          <p:cNvPr id="8" name="Text 6"/>
          <p:cNvSpPr txBox="1"/>
          <p:nvPr/>
        </p:nvSpPr>
        <p:spPr>
          <a:xfrm>
            <a:off x="548640" y="914400"/>
            <a:ext cx="45720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05 OF 06</a:t>
            </a:r>
            <a:endParaRPr lang="en-US" sz="1050" dirty="0"/>
          </a:p>
        </p:txBody>
      </p:sp>
      <p:sp>
        <p:nvSpPr>
          <p:cNvPr id="9" name="Text 7"/>
          <p:cNvSpPr txBox="1"/>
          <p:nvPr/>
        </p:nvSpPr>
        <p:spPr>
          <a:xfrm>
            <a:off x="502920" y="1097280"/>
            <a:ext cx="2743200" cy="1234440"/>
          </a:xfrm>
          <a:prstGeom prst="rect">
            <a:avLst/>
          </a:prstGeom>
          <a:noFill/>
          <a:ln/>
        </p:spPr>
        <p:txBody>
          <a:bodyPr wrap="square" lIns="0" tIns="0" rIns="0" bIns="0" rtlCol="0" anchor="t"/>
          <a:lstStyle/>
          <a:p>
            <a:pPr marL="0" indent="0">
              <a:buNone/>
            </a:pPr>
            <a:r>
              <a:rPr lang="en-US" sz="9600" b="1" dirty="0">
                <a:solidFill>
                  <a:srgbClr val="F5C242"/>
                </a:solidFill>
                <a:latin typeface="Calibri" pitchFamily="34" charset="0"/>
                <a:ea typeface="Calibri" pitchFamily="34" charset="-122"/>
                <a:cs typeface="Calibri" pitchFamily="34" charset="-120"/>
              </a:rPr>
              <a:t>05</a:t>
            </a:r>
            <a:endParaRPr lang="en-US" sz="9600" dirty="0"/>
          </a:p>
        </p:txBody>
      </p:sp>
      <p:sp>
        <p:nvSpPr>
          <p:cNvPr id="10" name="Text 8"/>
          <p:cNvSpPr txBox="1"/>
          <p:nvPr/>
        </p:nvSpPr>
        <p:spPr>
          <a:xfrm>
            <a:off x="548640" y="2487168"/>
            <a:ext cx="5120640" cy="68580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Orchestration</a:t>
            </a:r>
            <a:endParaRPr lang="en-US" sz="4000" dirty="0"/>
          </a:p>
        </p:txBody>
      </p:sp>
      <p:sp>
        <p:nvSpPr>
          <p:cNvPr id="11" name="Text 9"/>
          <p:cNvSpPr txBox="1"/>
          <p:nvPr/>
        </p:nvSpPr>
        <p:spPr>
          <a:xfrm>
            <a:off x="548640" y="3246120"/>
            <a:ext cx="4937760" cy="73152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Who runs the pipeline at 2 a.m. — and what happens when a step fails?</a:t>
            </a:r>
            <a:endParaRPr lang="en-US" sz="1800" dirty="0"/>
          </a:p>
        </p:txBody>
      </p:sp>
      <p:sp>
        <p:nvSpPr>
          <p:cNvPr id="12" name="Shape 10"/>
          <p:cNvSpPr/>
          <p:nvPr/>
        </p:nvSpPr>
        <p:spPr>
          <a:xfrm>
            <a:off x="5989320" y="1143000"/>
            <a:ext cx="2651760" cy="2651760"/>
          </a:xfrm>
          <a:prstGeom prst="ellipse">
            <a:avLst/>
          </a:prstGeom>
          <a:solidFill>
            <a:srgbClr val="FFFFFF">
              <a:alpha val="10000"/>
            </a:srgbClr>
          </a:solidFill>
          <a:ln/>
        </p:spPr>
      </p:sp>
      <p:sp>
        <p:nvSpPr>
          <p:cNvPr id="13" name="Shape 11"/>
          <p:cNvSpPr/>
          <p:nvPr/>
        </p:nvSpPr>
        <p:spPr>
          <a:xfrm>
            <a:off x="6355080" y="1508760"/>
            <a:ext cx="1920240" cy="1920240"/>
          </a:xfrm>
          <a:prstGeom prst="ellipse">
            <a:avLst/>
          </a:prstGeom>
          <a:solidFill>
            <a:srgbClr val="FFFFFF">
              <a:alpha val="15000"/>
            </a:srgbClr>
          </a:solidFill>
          <a:ln/>
        </p:spPr>
      </p:sp>
      <p:sp>
        <p:nvSpPr>
          <p:cNvPr id="14" name="Shape 12"/>
          <p:cNvSpPr/>
          <p:nvPr/>
        </p:nvSpPr>
        <p:spPr>
          <a:xfrm>
            <a:off x="6720840" y="1874520"/>
            <a:ext cx="1188720" cy="1188720"/>
          </a:xfrm>
          <a:prstGeom prst="ellipse">
            <a:avLst/>
          </a:prstGeom>
          <a:solidFill>
            <a:srgbClr val="FFFFFF"/>
          </a:solidFill>
          <a:ln/>
        </p:spPr>
      </p:sp>
      <p:pic>
        <p:nvPicPr>
          <p:cNvPr id="15" name="Image 0" descr="preencoded.png"/>
          <p:cNvPicPr>
            <a:picLocks noChangeAspect="1"/>
          </p:cNvPicPr>
          <p:nvPr/>
        </p:nvPicPr>
        <p:blipFill>
          <a:blip r:embed="rId4"/>
          <a:stretch>
            <a:fillRect/>
          </a:stretch>
        </p:blipFill>
        <p:spPr>
          <a:xfrm>
            <a:off x="7022592" y="2176272"/>
            <a:ext cx="585216" cy="585216"/>
          </a:xfrm>
          <a:prstGeom prst="rect">
            <a:avLst/>
          </a:prstGeom>
        </p:spPr>
      </p:pic>
      <p:sp>
        <p:nvSpPr>
          <p:cNvPr id="16" name="Text 13"/>
          <p:cNvSpPr txBox="1"/>
          <p:nvPr/>
        </p:nvSpPr>
        <p:spPr>
          <a:xfrm>
            <a:off x="548640" y="4754880"/>
            <a:ext cx="5486400" cy="182880"/>
          </a:xfrm>
          <a:prstGeom prst="rect">
            <a:avLst/>
          </a:prstGeom>
          <a:noFill/>
          <a:ln/>
        </p:spPr>
        <p:txBody>
          <a:bodyPr wrap="square" lIns="0" tIns="0" rIns="0" bIns="0" rtlCol="0" anchor="t"/>
          <a:lstStyle/>
          <a:p>
            <a:pPr marL="0" indent="0">
              <a:buNone/>
            </a:pPr>
            <a:r>
              <a:rPr lang="en-US" sz="850" dirty="0">
                <a:solidFill>
                  <a:srgbClr val="E6F6EE"/>
                </a:solidFill>
                <a:latin typeface="Calibri" pitchFamily="34" charset="0"/>
                <a:ea typeface="Calibri" pitchFamily="34" charset="-122"/>
                <a:cs typeface="Calibri" pitchFamily="34" charset="-120"/>
              </a:rPr>
              <a:t>Engines of Scale · Big Data Technologies for Statistical Systems · AfDB – DI4A</a:t>
            </a:r>
            <a:endParaRPr lang="en-US" sz="850"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ORCHESTRATION</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A pipeline is a graph of tasks</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53628" y="315468"/>
            <a:ext cx="118872" cy="118872"/>
          </a:xfrm>
          <a:prstGeom prst="ellipse">
            <a:avLst/>
          </a:prstGeom>
          <a:solidFill>
            <a:srgbClr val="C4621D"/>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AfDB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27</a:t>
            </a:r>
            <a:endParaRPr lang="en-US" sz="850" dirty="0"/>
          </a:p>
        </p:txBody>
      </p:sp>
      <p:sp>
        <p:nvSpPr>
          <p:cNvPr id="17" name="Shape 14"/>
          <p:cNvSpPr/>
          <p:nvPr/>
        </p:nvSpPr>
        <p:spPr>
          <a:xfrm>
            <a:off x="457200" y="1261872"/>
            <a:ext cx="8229600" cy="2286000"/>
          </a:xfrm>
          <a:prstGeom prst="roundRect">
            <a:avLst>
              <a:gd name="adj" fmla="val 3200"/>
            </a:avLst>
          </a:prstGeom>
          <a:solidFill>
            <a:srgbClr val="FFFFFF"/>
          </a:solidFill>
          <a:ln w="9525">
            <a:solidFill>
              <a:srgbClr val="D5DED9"/>
            </a:solidFill>
            <a:prstDash val="solid"/>
          </a:ln>
        </p:spPr>
      </p:sp>
      <p:sp>
        <p:nvSpPr>
          <p:cNvPr id="18" name="Shape 15"/>
          <p:cNvSpPr/>
          <p:nvPr/>
        </p:nvSpPr>
        <p:spPr>
          <a:xfrm>
            <a:off x="640080" y="1463040"/>
            <a:ext cx="1325880" cy="566928"/>
          </a:xfrm>
          <a:prstGeom prst="roundRect">
            <a:avLst>
              <a:gd name="adj" fmla="val 12903"/>
            </a:avLst>
          </a:prstGeom>
          <a:solidFill>
            <a:srgbClr val="FFFFFF"/>
          </a:solidFill>
          <a:ln w="15875">
            <a:solidFill>
              <a:srgbClr val="C4621D"/>
            </a:solidFill>
            <a:prstDash val="solid"/>
          </a:ln>
        </p:spPr>
      </p:sp>
      <p:sp>
        <p:nvSpPr>
          <p:cNvPr id="19" name="Text 16"/>
          <p:cNvSpPr txBox="1"/>
          <p:nvPr/>
        </p:nvSpPr>
        <p:spPr>
          <a:xfrm>
            <a:off x="685800" y="1517904"/>
            <a:ext cx="1234440" cy="256032"/>
          </a:xfrm>
          <a:prstGeom prst="rect">
            <a:avLst/>
          </a:prstGeom>
          <a:noFill/>
          <a:ln/>
        </p:spPr>
        <p:txBody>
          <a:bodyPr wrap="square" lIns="0" tIns="0" rIns="0" bIns="0" rtlCol="0" anchor="t"/>
          <a:lstStyle/>
          <a:p>
            <a:pPr marL="0" indent="0" algn="ctr">
              <a:buNone/>
            </a:pPr>
            <a:r>
              <a:rPr lang="en-US" sz="1050" b="1" dirty="0">
                <a:solidFill>
                  <a:srgbClr val="231F20"/>
                </a:solidFill>
                <a:latin typeface="Calibri" pitchFamily="34" charset="0"/>
                <a:ea typeface="Calibri" pitchFamily="34" charset="-122"/>
                <a:cs typeface="Calibri" pitchFamily="34" charset="-120"/>
              </a:rPr>
              <a:t>Download Ookla</a:t>
            </a:r>
            <a:endParaRPr lang="en-US" sz="1050" dirty="0"/>
          </a:p>
        </p:txBody>
      </p:sp>
      <p:sp>
        <p:nvSpPr>
          <p:cNvPr id="20" name="Text 17"/>
          <p:cNvSpPr txBox="1"/>
          <p:nvPr/>
        </p:nvSpPr>
        <p:spPr>
          <a:xfrm>
            <a:off x="685800" y="1764792"/>
            <a:ext cx="1234440" cy="219456"/>
          </a:xfrm>
          <a:prstGeom prst="rect">
            <a:avLst/>
          </a:prstGeom>
          <a:noFill/>
          <a:ln/>
        </p:spPr>
        <p:txBody>
          <a:bodyPr wrap="square" lIns="0" tIns="0" rIns="0" bIns="0" rtlCol="0" anchor="t"/>
          <a:lstStyle/>
          <a:p>
            <a:pPr marL="0" indent="0" algn="ctr">
              <a:buNone/>
            </a:pPr>
            <a:r>
              <a:rPr lang="en-US" sz="850" dirty="0">
                <a:solidFill>
                  <a:srgbClr val="5E6964"/>
                </a:solidFill>
                <a:latin typeface="Calibri" pitchFamily="34" charset="0"/>
                <a:ea typeface="Calibri" pitchFamily="34" charset="-122"/>
                <a:cs typeface="Calibri" pitchFamily="34" charset="-120"/>
              </a:rPr>
              <a:t>quarterly Parquet</a:t>
            </a:r>
            <a:endParaRPr lang="en-US" sz="850" dirty="0"/>
          </a:p>
        </p:txBody>
      </p:sp>
      <p:sp>
        <p:nvSpPr>
          <p:cNvPr id="21" name="Shape 18"/>
          <p:cNvSpPr/>
          <p:nvPr/>
        </p:nvSpPr>
        <p:spPr>
          <a:xfrm>
            <a:off x="2194560" y="1463040"/>
            <a:ext cx="1325880" cy="566928"/>
          </a:xfrm>
          <a:prstGeom prst="roundRect">
            <a:avLst>
              <a:gd name="adj" fmla="val 12903"/>
            </a:avLst>
          </a:prstGeom>
          <a:solidFill>
            <a:srgbClr val="FFFFFF"/>
          </a:solidFill>
          <a:ln w="15875">
            <a:solidFill>
              <a:srgbClr val="C4621D"/>
            </a:solidFill>
            <a:prstDash val="solid"/>
          </a:ln>
        </p:spPr>
      </p:sp>
      <p:sp>
        <p:nvSpPr>
          <p:cNvPr id="22" name="Text 19"/>
          <p:cNvSpPr txBox="1"/>
          <p:nvPr/>
        </p:nvSpPr>
        <p:spPr>
          <a:xfrm>
            <a:off x="2240280" y="1517904"/>
            <a:ext cx="1234440" cy="256032"/>
          </a:xfrm>
          <a:prstGeom prst="rect">
            <a:avLst/>
          </a:prstGeom>
          <a:noFill/>
          <a:ln/>
        </p:spPr>
        <p:txBody>
          <a:bodyPr wrap="square" lIns="0" tIns="0" rIns="0" bIns="0" rtlCol="0" anchor="t"/>
          <a:lstStyle/>
          <a:p>
            <a:pPr marL="0" indent="0" algn="ctr">
              <a:buNone/>
            </a:pPr>
            <a:r>
              <a:rPr lang="en-US" sz="1050" b="1" dirty="0">
                <a:solidFill>
                  <a:srgbClr val="231F20"/>
                </a:solidFill>
                <a:latin typeface="Calibri" pitchFamily="34" charset="0"/>
                <a:ea typeface="Calibri" pitchFamily="34" charset="-122"/>
                <a:cs typeface="Calibri" pitchFamily="34" charset="-120"/>
              </a:rPr>
              <a:t>Validate</a:t>
            </a:r>
            <a:endParaRPr lang="en-US" sz="1050" dirty="0"/>
          </a:p>
        </p:txBody>
      </p:sp>
      <p:sp>
        <p:nvSpPr>
          <p:cNvPr id="23" name="Text 20"/>
          <p:cNvSpPr txBox="1"/>
          <p:nvPr/>
        </p:nvSpPr>
        <p:spPr>
          <a:xfrm>
            <a:off x="2240280" y="1764792"/>
            <a:ext cx="1234440" cy="219456"/>
          </a:xfrm>
          <a:prstGeom prst="rect">
            <a:avLst/>
          </a:prstGeom>
          <a:noFill/>
          <a:ln/>
        </p:spPr>
        <p:txBody>
          <a:bodyPr wrap="square" lIns="0" tIns="0" rIns="0" bIns="0" rtlCol="0" anchor="t"/>
          <a:lstStyle/>
          <a:p>
            <a:pPr marL="0" indent="0" algn="ctr">
              <a:buNone/>
            </a:pPr>
            <a:r>
              <a:rPr lang="en-US" sz="850" dirty="0">
                <a:solidFill>
                  <a:srgbClr val="5E6964"/>
                </a:solidFill>
                <a:latin typeface="Calibri" pitchFamily="34" charset="0"/>
                <a:ea typeface="Calibri" pitchFamily="34" charset="-122"/>
                <a:cs typeface="Calibri" pitchFamily="34" charset="-120"/>
              </a:rPr>
              <a:t>schema · counts</a:t>
            </a:r>
            <a:endParaRPr lang="en-US" sz="850" dirty="0"/>
          </a:p>
        </p:txBody>
      </p:sp>
      <p:sp>
        <p:nvSpPr>
          <p:cNvPr id="24" name="Shape 21"/>
          <p:cNvSpPr/>
          <p:nvPr/>
        </p:nvSpPr>
        <p:spPr>
          <a:xfrm>
            <a:off x="640080" y="2697480"/>
            <a:ext cx="1325880" cy="566928"/>
          </a:xfrm>
          <a:prstGeom prst="roundRect">
            <a:avLst>
              <a:gd name="adj" fmla="val 12903"/>
            </a:avLst>
          </a:prstGeom>
          <a:solidFill>
            <a:srgbClr val="FFFFFF"/>
          </a:solidFill>
          <a:ln w="15875">
            <a:solidFill>
              <a:srgbClr val="C4621D"/>
            </a:solidFill>
            <a:prstDash val="solid"/>
          </a:ln>
        </p:spPr>
      </p:sp>
      <p:sp>
        <p:nvSpPr>
          <p:cNvPr id="25" name="Text 22"/>
          <p:cNvSpPr txBox="1"/>
          <p:nvPr/>
        </p:nvSpPr>
        <p:spPr>
          <a:xfrm>
            <a:off x="685800" y="2752344"/>
            <a:ext cx="1234440" cy="256032"/>
          </a:xfrm>
          <a:prstGeom prst="rect">
            <a:avLst/>
          </a:prstGeom>
          <a:noFill/>
          <a:ln/>
        </p:spPr>
        <p:txBody>
          <a:bodyPr wrap="square" lIns="0" tIns="0" rIns="0" bIns="0" rtlCol="0" anchor="t"/>
          <a:lstStyle/>
          <a:p>
            <a:pPr marL="0" indent="0" algn="ctr">
              <a:buNone/>
            </a:pPr>
            <a:r>
              <a:rPr lang="en-US" sz="1050" b="1" dirty="0">
                <a:solidFill>
                  <a:srgbClr val="231F20"/>
                </a:solidFill>
                <a:latin typeface="Calibri" pitchFamily="34" charset="0"/>
                <a:ea typeface="Calibri" pitchFamily="34" charset="-122"/>
                <a:cs typeface="Calibri" pitchFamily="34" charset="-120"/>
              </a:rPr>
              <a:t>Download WorldPop</a:t>
            </a:r>
            <a:endParaRPr lang="en-US" sz="1050" dirty="0"/>
          </a:p>
        </p:txBody>
      </p:sp>
      <p:sp>
        <p:nvSpPr>
          <p:cNvPr id="26" name="Text 23"/>
          <p:cNvSpPr txBox="1"/>
          <p:nvPr/>
        </p:nvSpPr>
        <p:spPr>
          <a:xfrm>
            <a:off x="685800" y="2999232"/>
            <a:ext cx="1234440" cy="219456"/>
          </a:xfrm>
          <a:prstGeom prst="rect">
            <a:avLst/>
          </a:prstGeom>
          <a:noFill/>
          <a:ln/>
        </p:spPr>
        <p:txBody>
          <a:bodyPr wrap="square" lIns="0" tIns="0" rIns="0" bIns="0" rtlCol="0" anchor="t"/>
          <a:lstStyle/>
          <a:p>
            <a:pPr marL="0" indent="0" algn="ctr">
              <a:buNone/>
            </a:pPr>
            <a:r>
              <a:rPr lang="en-US" sz="850" dirty="0">
                <a:solidFill>
                  <a:srgbClr val="5E6964"/>
                </a:solidFill>
                <a:latin typeface="Calibri" pitchFamily="34" charset="0"/>
                <a:ea typeface="Calibri" pitchFamily="34" charset="-122"/>
                <a:cs typeface="Calibri" pitchFamily="34" charset="-120"/>
              </a:rPr>
              <a:t>yearly GeoTIFF</a:t>
            </a:r>
            <a:endParaRPr lang="en-US" sz="850" dirty="0"/>
          </a:p>
        </p:txBody>
      </p:sp>
      <p:sp>
        <p:nvSpPr>
          <p:cNvPr id="27" name="Shape 24"/>
          <p:cNvSpPr/>
          <p:nvPr/>
        </p:nvSpPr>
        <p:spPr>
          <a:xfrm>
            <a:off x="2194560" y="2697480"/>
            <a:ext cx="1325880" cy="566928"/>
          </a:xfrm>
          <a:prstGeom prst="roundRect">
            <a:avLst>
              <a:gd name="adj" fmla="val 12903"/>
            </a:avLst>
          </a:prstGeom>
          <a:solidFill>
            <a:srgbClr val="FFFFFF"/>
          </a:solidFill>
          <a:ln w="15875">
            <a:solidFill>
              <a:srgbClr val="C4621D"/>
            </a:solidFill>
            <a:prstDash val="solid"/>
          </a:ln>
        </p:spPr>
      </p:sp>
      <p:sp>
        <p:nvSpPr>
          <p:cNvPr id="28" name="Text 25"/>
          <p:cNvSpPr txBox="1"/>
          <p:nvPr/>
        </p:nvSpPr>
        <p:spPr>
          <a:xfrm>
            <a:off x="2240280" y="2752344"/>
            <a:ext cx="1234440" cy="256032"/>
          </a:xfrm>
          <a:prstGeom prst="rect">
            <a:avLst/>
          </a:prstGeom>
          <a:noFill/>
          <a:ln/>
        </p:spPr>
        <p:txBody>
          <a:bodyPr wrap="square" lIns="0" tIns="0" rIns="0" bIns="0" rtlCol="0" anchor="t"/>
          <a:lstStyle/>
          <a:p>
            <a:pPr marL="0" indent="0" algn="ctr">
              <a:buNone/>
            </a:pPr>
            <a:r>
              <a:rPr lang="en-US" sz="1050" b="1" dirty="0">
                <a:solidFill>
                  <a:srgbClr val="231F20"/>
                </a:solidFill>
                <a:latin typeface="Calibri" pitchFamily="34" charset="0"/>
                <a:ea typeface="Calibri" pitchFamily="34" charset="-122"/>
                <a:cs typeface="Calibri" pitchFamily="34" charset="-120"/>
              </a:rPr>
              <a:t>Population / tile</a:t>
            </a:r>
            <a:endParaRPr lang="en-US" sz="1050" dirty="0"/>
          </a:p>
        </p:txBody>
      </p:sp>
      <p:sp>
        <p:nvSpPr>
          <p:cNvPr id="29" name="Text 26"/>
          <p:cNvSpPr txBox="1"/>
          <p:nvPr/>
        </p:nvSpPr>
        <p:spPr>
          <a:xfrm>
            <a:off x="2240280" y="2999232"/>
            <a:ext cx="1234440" cy="219456"/>
          </a:xfrm>
          <a:prstGeom prst="rect">
            <a:avLst/>
          </a:prstGeom>
          <a:noFill/>
          <a:ln/>
        </p:spPr>
        <p:txBody>
          <a:bodyPr wrap="square" lIns="0" tIns="0" rIns="0" bIns="0" rtlCol="0" anchor="t"/>
          <a:lstStyle/>
          <a:p>
            <a:pPr marL="0" indent="0" algn="ctr">
              <a:buNone/>
            </a:pPr>
            <a:r>
              <a:rPr lang="en-US" sz="850" dirty="0">
                <a:solidFill>
                  <a:srgbClr val="5E6964"/>
                </a:solidFill>
                <a:latin typeface="Calibri" pitchFamily="34" charset="0"/>
                <a:ea typeface="Calibri" pitchFamily="34" charset="-122"/>
                <a:cs typeface="Calibri" pitchFamily="34" charset="-120"/>
              </a:rPr>
              <a:t>zonal sum</a:t>
            </a:r>
            <a:endParaRPr lang="en-US" sz="850" dirty="0"/>
          </a:p>
        </p:txBody>
      </p:sp>
      <p:sp>
        <p:nvSpPr>
          <p:cNvPr id="30" name="Shape 27"/>
          <p:cNvSpPr/>
          <p:nvPr/>
        </p:nvSpPr>
        <p:spPr>
          <a:xfrm>
            <a:off x="3794760" y="2075688"/>
            <a:ext cx="1325880" cy="566928"/>
          </a:xfrm>
          <a:prstGeom prst="roundRect">
            <a:avLst>
              <a:gd name="adj" fmla="val 12903"/>
            </a:avLst>
          </a:prstGeom>
          <a:solidFill>
            <a:srgbClr val="E8F5EF"/>
          </a:solidFill>
          <a:ln w="15875">
            <a:solidFill>
              <a:srgbClr val="C4621D"/>
            </a:solidFill>
            <a:prstDash val="solid"/>
          </a:ln>
        </p:spPr>
      </p:sp>
      <p:sp>
        <p:nvSpPr>
          <p:cNvPr id="31" name="Text 28"/>
          <p:cNvSpPr txBox="1"/>
          <p:nvPr/>
        </p:nvSpPr>
        <p:spPr>
          <a:xfrm>
            <a:off x="3840480" y="2130552"/>
            <a:ext cx="1234440" cy="256032"/>
          </a:xfrm>
          <a:prstGeom prst="rect">
            <a:avLst/>
          </a:prstGeom>
          <a:noFill/>
          <a:ln/>
        </p:spPr>
        <p:txBody>
          <a:bodyPr wrap="square" lIns="0" tIns="0" rIns="0" bIns="0" rtlCol="0" anchor="t"/>
          <a:lstStyle/>
          <a:p>
            <a:pPr marL="0" indent="0" algn="ctr">
              <a:buNone/>
            </a:pPr>
            <a:r>
              <a:rPr lang="en-US" sz="1050" b="1" dirty="0">
                <a:solidFill>
                  <a:srgbClr val="231F20"/>
                </a:solidFill>
                <a:latin typeface="Calibri" pitchFamily="34" charset="0"/>
                <a:ea typeface="Calibri" pitchFamily="34" charset="-122"/>
                <a:cs typeface="Calibri" pitchFamily="34" charset="-120"/>
              </a:rPr>
              <a:t>Join admin units</a:t>
            </a:r>
            <a:endParaRPr lang="en-US" sz="1050" dirty="0"/>
          </a:p>
        </p:txBody>
      </p:sp>
      <p:sp>
        <p:nvSpPr>
          <p:cNvPr id="32" name="Text 29"/>
          <p:cNvSpPr txBox="1"/>
          <p:nvPr/>
        </p:nvSpPr>
        <p:spPr>
          <a:xfrm>
            <a:off x="3840480" y="2377440"/>
            <a:ext cx="1234440" cy="219456"/>
          </a:xfrm>
          <a:prstGeom prst="rect">
            <a:avLst/>
          </a:prstGeom>
          <a:noFill/>
          <a:ln/>
        </p:spPr>
        <p:txBody>
          <a:bodyPr wrap="square" lIns="0" tIns="0" rIns="0" bIns="0" rtlCol="0" anchor="t"/>
          <a:lstStyle/>
          <a:p>
            <a:pPr marL="0" indent="0" algn="ctr">
              <a:buNone/>
            </a:pPr>
            <a:r>
              <a:rPr lang="en-US" sz="850" dirty="0">
                <a:solidFill>
                  <a:srgbClr val="5E6964"/>
                </a:solidFill>
                <a:latin typeface="Calibri" pitchFamily="34" charset="0"/>
                <a:ea typeface="Calibri" pitchFamily="34" charset="-122"/>
                <a:cs typeface="Calibri" pitchFamily="34" charset="-120"/>
              </a:rPr>
              <a:t>silver table</a:t>
            </a:r>
            <a:endParaRPr lang="en-US" sz="850" dirty="0"/>
          </a:p>
        </p:txBody>
      </p:sp>
      <p:sp>
        <p:nvSpPr>
          <p:cNvPr id="33" name="Shape 30"/>
          <p:cNvSpPr/>
          <p:nvPr/>
        </p:nvSpPr>
        <p:spPr>
          <a:xfrm>
            <a:off x="5394960" y="2075688"/>
            <a:ext cx="1325880" cy="566928"/>
          </a:xfrm>
          <a:prstGeom prst="roundRect">
            <a:avLst>
              <a:gd name="adj" fmla="val 12903"/>
            </a:avLst>
          </a:prstGeom>
          <a:solidFill>
            <a:srgbClr val="E8F5EF"/>
          </a:solidFill>
          <a:ln w="15875">
            <a:solidFill>
              <a:srgbClr val="C4621D"/>
            </a:solidFill>
            <a:prstDash val="solid"/>
          </a:ln>
        </p:spPr>
      </p:sp>
      <p:sp>
        <p:nvSpPr>
          <p:cNvPr id="34" name="Text 31"/>
          <p:cNvSpPr txBox="1"/>
          <p:nvPr/>
        </p:nvSpPr>
        <p:spPr>
          <a:xfrm>
            <a:off x="5440680" y="2130552"/>
            <a:ext cx="1234440" cy="256032"/>
          </a:xfrm>
          <a:prstGeom prst="rect">
            <a:avLst/>
          </a:prstGeom>
          <a:noFill/>
          <a:ln/>
        </p:spPr>
        <p:txBody>
          <a:bodyPr wrap="square" lIns="0" tIns="0" rIns="0" bIns="0" rtlCol="0" anchor="t"/>
          <a:lstStyle/>
          <a:p>
            <a:pPr marL="0" indent="0" algn="ctr">
              <a:buNone/>
            </a:pPr>
            <a:r>
              <a:rPr lang="en-US" sz="1050" b="1" dirty="0">
                <a:solidFill>
                  <a:srgbClr val="231F20"/>
                </a:solidFill>
                <a:latin typeface="Calibri" pitchFamily="34" charset="0"/>
                <a:ea typeface="Calibri" pitchFamily="34" charset="-122"/>
                <a:cs typeface="Calibri" pitchFamily="34" charset="-120"/>
              </a:rPr>
              <a:t>Indicators</a:t>
            </a:r>
            <a:endParaRPr lang="en-US" sz="1050" dirty="0"/>
          </a:p>
        </p:txBody>
      </p:sp>
      <p:sp>
        <p:nvSpPr>
          <p:cNvPr id="35" name="Text 32"/>
          <p:cNvSpPr txBox="1"/>
          <p:nvPr/>
        </p:nvSpPr>
        <p:spPr>
          <a:xfrm>
            <a:off x="5440680" y="2377440"/>
            <a:ext cx="1234440" cy="219456"/>
          </a:xfrm>
          <a:prstGeom prst="rect">
            <a:avLst/>
          </a:prstGeom>
          <a:noFill/>
          <a:ln/>
        </p:spPr>
        <p:txBody>
          <a:bodyPr wrap="square" lIns="0" tIns="0" rIns="0" bIns="0" rtlCol="0" anchor="t"/>
          <a:lstStyle/>
          <a:p>
            <a:pPr marL="0" indent="0" algn="ctr">
              <a:buNone/>
            </a:pPr>
            <a:r>
              <a:rPr lang="en-US" sz="850" dirty="0">
                <a:solidFill>
                  <a:srgbClr val="5E6964"/>
                </a:solidFill>
                <a:latin typeface="Calibri" pitchFamily="34" charset="0"/>
                <a:ea typeface="Calibri" pitchFamily="34" charset="-122"/>
                <a:cs typeface="Calibri" pitchFamily="34" charset="-120"/>
              </a:rPr>
              <a:t>gold table</a:t>
            </a:r>
            <a:endParaRPr lang="en-US" sz="850" dirty="0"/>
          </a:p>
        </p:txBody>
      </p:sp>
      <p:sp>
        <p:nvSpPr>
          <p:cNvPr id="36" name="Shape 33"/>
          <p:cNvSpPr/>
          <p:nvPr/>
        </p:nvSpPr>
        <p:spPr>
          <a:xfrm>
            <a:off x="7086600" y="1463040"/>
            <a:ext cx="1417320" cy="566928"/>
          </a:xfrm>
          <a:prstGeom prst="roundRect">
            <a:avLst>
              <a:gd name="adj" fmla="val 12903"/>
            </a:avLst>
          </a:prstGeom>
          <a:solidFill>
            <a:srgbClr val="FFFFFF"/>
          </a:solidFill>
          <a:ln w="15875">
            <a:solidFill>
              <a:srgbClr val="D49A00"/>
            </a:solidFill>
            <a:prstDash val="solid"/>
          </a:ln>
        </p:spPr>
      </p:sp>
      <p:sp>
        <p:nvSpPr>
          <p:cNvPr id="37" name="Text 34"/>
          <p:cNvSpPr txBox="1"/>
          <p:nvPr/>
        </p:nvSpPr>
        <p:spPr>
          <a:xfrm>
            <a:off x="7132320" y="1517904"/>
            <a:ext cx="1325880" cy="256032"/>
          </a:xfrm>
          <a:prstGeom prst="rect">
            <a:avLst/>
          </a:prstGeom>
          <a:noFill/>
          <a:ln/>
        </p:spPr>
        <p:txBody>
          <a:bodyPr wrap="square" lIns="0" tIns="0" rIns="0" bIns="0" rtlCol="0" anchor="t"/>
          <a:lstStyle/>
          <a:p>
            <a:pPr marL="0" indent="0" algn="ctr">
              <a:buNone/>
            </a:pPr>
            <a:r>
              <a:rPr lang="en-US" sz="1050" b="1" dirty="0">
                <a:solidFill>
                  <a:srgbClr val="231F20"/>
                </a:solidFill>
                <a:latin typeface="Calibri" pitchFamily="34" charset="0"/>
                <a:ea typeface="Calibri" pitchFamily="34" charset="-122"/>
                <a:cs typeface="Calibri" pitchFamily="34" charset="-120"/>
              </a:rPr>
              <a:t>Index</a:t>
            </a:r>
            <a:endParaRPr lang="en-US" sz="1050" dirty="0"/>
          </a:p>
        </p:txBody>
      </p:sp>
      <p:sp>
        <p:nvSpPr>
          <p:cNvPr id="38" name="Text 35"/>
          <p:cNvSpPr txBox="1"/>
          <p:nvPr/>
        </p:nvSpPr>
        <p:spPr>
          <a:xfrm>
            <a:off x="7132320" y="1764792"/>
            <a:ext cx="1325880" cy="219456"/>
          </a:xfrm>
          <a:prstGeom prst="rect">
            <a:avLst/>
          </a:prstGeom>
          <a:noFill/>
          <a:ln/>
        </p:spPr>
        <p:txBody>
          <a:bodyPr wrap="square" lIns="0" tIns="0" rIns="0" bIns="0" rtlCol="0" anchor="t"/>
          <a:lstStyle/>
          <a:p>
            <a:pPr marL="0" indent="0" algn="ctr">
              <a:buNone/>
            </a:pPr>
            <a:r>
              <a:rPr lang="en-US" sz="850" dirty="0">
                <a:solidFill>
                  <a:srgbClr val="5E6964"/>
                </a:solidFill>
                <a:latin typeface="Calibri" pitchFamily="34" charset="0"/>
                <a:ea typeface="Calibri" pitchFamily="34" charset="-122"/>
                <a:cs typeface="Calibri" pitchFamily="34" charset="-120"/>
              </a:rPr>
              <a:t>Elasticsearch</a:t>
            </a:r>
            <a:endParaRPr lang="en-US" sz="850" dirty="0"/>
          </a:p>
        </p:txBody>
      </p:sp>
      <p:sp>
        <p:nvSpPr>
          <p:cNvPr id="39" name="Shape 36"/>
          <p:cNvSpPr/>
          <p:nvPr/>
        </p:nvSpPr>
        <p:spPr>
          <a:xfrm>
            <a:off x="7086600" y="2697480"/>
            <a:ext cx="1417320" cy="566928"/>
          </a:xfrm>
          <a:prstGeom prst="roundRect">
            <a:avLst>
              <a:gd name="adj" fmla="val 12903"/>
            </a:avLst>
          </a:prstGeom>
          <a:solidFill>
            <a:srgbClr val="FFFFFF"/>
          </a:solidFill>
          <a:ln w="15875">
            <a:solidFill>
              <a:srgbClr val="00704A"/>
            </a:solidFill>
            <a:prstDash val="solid"/>
          </a:ln>
        </p:spPr>
      </p:sp>
      <p:sp>
        <p:nvSpPr>
          <p:cNvPr id="40" name="Text 37"/>
          <p:cNvSpPr txBox="1"/>
          <p:nvPr/>
        </p:nvSpPr>
        <p:spPr>
          <a:xfrm>
            <a:off x="7132320" y="2752344"/>
            <a:ext cx="1325880" cy="256032"/>
          </a:xfrm>
          <a:prstGeom prst="rect">
            <a:avLst/>
          </a:prstGeom>
          <a:noFill/>
          <a:ln/>
        </p:spPr>
        <p:txBody>
          <a:bodyPr wrap="square" lIns="0" tIns="0" rIns="0" bIns="0" rtlCol="0" anchor="t"/>
          <a:lstStyle/>
          <a:p>
            <a:pPr marL="0" indent="0" algn="ctr">
              <a:buNone/>
            </a:pPr>
            <a:r>
              <a:rPr lang="en-US" sz="1050" b="1" dirty="0">
                <a:solidFill>
                  <a:srgbClr val="231F20"/>
                </a:solidFill>
                <a:latin typeface="Calibri" pitchFamily="34" charset="0"/>
                <a:ea typeface="Calibri" pitchFamily="34" charset="-122"/>
                <a:cs typeface="Calibri" pitchFamily="34" charset="-120"/>
              </a:rPr>
              <a:t>Publish</a:t>
            </a:r>
            <a:endParaRPr lang="en-US" sz="1050" dirty="0"/>
          </a:p>
        </p:txBody>
      </p:sp>
      <p:sp>
        <p:nvSpPr>
          <p:cNvPr id="41" name="Text 38"/>
          <p:cNvSpPr txBox="1"/>
          <p:nvPr/>
        </p:nvSpPr>
        <p:spPr>
          <a:xfrm>
            <a:off x="7132320" y="2999232"/>
            <a:ext cx="1325880" cy="219456"/>
          </a:xfrm>
          <a:prstGeom prst="rect">
            <a:avLst/>
          </a:prstGeom>
          <a:noFill/>
          <a:ln/>
        </p:spPr>
        <p:txBody>
          <a:bodyPr wrap="square" lIns="0" tIns="0" rIns="0" bIns="0" rtlCol="0" anchor="t"/>
          <a:lstStyle/>
          <a:p>
            <a:pPr marL="0" indent="0" algn="ctr">
              <a:buNone/>
            </a:pPr>
            <a:r>
              <a:rPr lang="en-US" sz="850" dirty="0">
                <a:solidFill>
                  <a:srgbClr val="5E6964"/>
                </a:solidFill>
                <a:latin typeface="Calibri" pitchFamily="34" charset="0"/>
                <a:ea typeface="Calibri" pitchFamily="34" charset="-122"/>
                <a:cs typeface="Calibri" pitchFamily="34" charset="-120"/>
              </a:rPr>
              <a:t>GitHub Pages</a:t>
            </a:r>
            <a:endParaRPr lang="en-US" sz="850" dirty="0"/>
          </a:p>
        </p:txBody>
      </p:sp>
      <p:sp>
        <p:nvSpPr>
          <p:cNvPr id="42" name="Shape 39"/>
          <p:cNvSpPr/>
          <p:nvPr/>
        </p:nvSpPr>
        <p:spPr>
          <a:xfrm>
            <a:off x="1993392" y="1746504"/>
            <a:ext cx="173736" cy="91"/>
          </a:xfrm>
          <a:prstGeom prst="line">
            <a:avLst/>
          </a:prstGeom>
          <a:noFill/>
          <a:ln w="15875">
            <a:solidFill>
              <a:srgbClr val="5E6964"/>
            </a:solidFill>
            <a:prstDash val="solid"/>
            <a:tailEnd type="triangle"/>
          </a:ln>
        </p:spPr>
      </p:sp>
      <p:sp>
        <p:nvSpPr>
          <p:cNvPr id="43" name="Shape 40"/>
          <p:cNvSpPr/>
          <p:nvPr/>
        </p:nvSpPr>
        <p:spPr>
          <a:xfrm>
            <a:off x="1993392" y="2980944"/>
            <a:ext cx="173736" cy="91"/>
          </a:xfrm>
          <a:prstGeom prst="line">
            <a:avLst/>
          </a:prstGeom>
          <a:noFill/>
          <a:ln w="15875">
            <a:solidFill>
              <a:srgbClr val="5E6964"/>
            </a:solidFill>
            <a:prstDash val="solid"/>
            <a:tailEnd type="triangle"/>
          </a:ln>
        </p:spPr>
      </p:sp>
      <p:sp>
        <p:nvSpPr>
          <p:cNvPr id="44" name="Shape 41"/>
          <p:cNvSpPr/>
          <p:nvPr/>
        </p:nvSpPr>
        <p:spPr>
          <a:xfrm>
            <a:off x="3547872" y="1783080"/>
            <a:ext cx="384048" cy="320040"/>
          </a:xfrm>
          <a:prstGeom prst="line">
            <a:avLst/>
          </a:prstGeom>
          <a:noFill/>
          <a:ln w="15875">
            <a:solidFill>
              <a:srgbClr val="5E6964"/>
            </a:solidFill>
            <a:prstDash val="solid"/>
            <a:tailEnd type="triangle"/>
          </a:ln>
        </p:spPr>
      </p:sp>
      <p:sp>
        <p:nvSpPr>
          <p:cNvPr id="45" name="Shape 42"/>
          <p:cNvSpPr/>
          <p:nvPr/>
        </p:nvSpPr>
        <p:spPr>
          <a:xfrm flipV="1">
            <a:off x="3547872" y="2615184"/>
            <a:ext cx="384048" cy="329184"/>
          </a:xfrm>
          <a:prstGeom prst="line">
            <a:avLst/>
          </a:prstGeom>
          <a:noFill/>
          <a:ln w="15875">
            <a:solidFill>
              <a:srgbClr val="5E6964"/>
            </a:solidFill>
            <a:prstDash val="solid"/>
            <a:tailEnd type="triangle"/>
          </a:ln>
        </p:spPr>
      </p:sp>
      <p:sp>
        <p:nvSpPr>
          <p:cNvPr id="46" name="Shape 43"/>
          <p:cNvSpPr/>
          <p:nvPr/>
        </p:nvSpPr>
        <p:spPr>
          <a:xfrm>
            <a:off x="5148072" y="2359152"/>
            <a:ext cx="219456" cy="91"/>
          </a:xfrm>
          <a:prstGeom prst="line">
            <a:avLst/>
          </a:prstGeom>
          <a:noFill/>
          <a:ln w="15875">
            <a:solidFill>
              <a:srgbClr val="5E6964"/>
            </a:solidFill>
            <a:prstDash val="solid"/>
            <a:tailEnd type="triangle"/>
          </a:ln>
        </p:spPr>
      </p:sp>
      <p:sp>
        <p:nvSpPr>
          <p:cNvPr id="47" name="Shape 44"/>
          <p:cNvSpPr/>
          <p:nvPr/>
        </p:nvSpPr>
        <p:spPr>
          <a:xfrm flipV="1">
            <a:off x="6748272" y="1783080"/>
            <a:ext cx="310896" cy="411480"/>
          </a:xfrm>
          <a:prstGeom prst="line">
            <a:avLst/>
          </a:prstGeom>
          <a:noFill/>
          <a:ln w="15875">
            <a:solidFill>
              <a:srgbClr val="5E6964"/>
            </a:solidFill>
            <a:prstDash val="solid"/>
            <a:tailEnd type="triangle"/>
          </a:ln>
        </p:spPr>
      </p:sp>
      <p:sp>
        <p:nvSpPr>
          <p:cNvPr id="48" name="Shape 45"/>
          <p:cNvSpPr/>
          <p:nvPr/>
        </p:nvSpPr>
        <p:spPr>
          <a:xfrm>
            <a:off x="6748272" y="2523744"/>
            <a:ext cx="310896" cy="420624"/>
          </a:xfrm>
          <a:prstGeom prst="line">
            <a:avLst/>
          </a:prstGeom>
          <a:noFill/>
          <a:ln w="15875">
            <a:solidFill>
              <a:srgbClr val="5E6964"/>
            </a:solidFill>
            <a:prstDash val="solid"/>
            <a:tailEnd type="triangle"/>
          </a:ln>
        </p:spPr>
      </p:sp>
      <p:sp>
        <p:nvSpPr>
          <p:cNvPr id="49" name="Shape 46"/>
          <p:cNvSpPr/>
          <p:nvPr/>
        </p:nvSpPr>
        <p:spPr>
          <a:xfrm>
            <a:off x="457200" y="3675888"/>
            <a:ext cx="1499616" cy="420624"/>
          </a:xfrm>
          <a:prstGeom prst="roundRect">
            <a:avLst>
              <a:gd name="adj" fmla="val 50000"/>
            </a:avLst>
          </a:prstGeom>
          <a:solidFill>
            <a:srgbClr val="C4621D">
              <a:alpha val="12000"/>
            </a:srgbClr>
          </a:solidFill>
          <a:ln w="9525">
            <a:solidFill>
              <a:srgbClr val="C4621D"/>
            </a:solidFill>
            <a:prstDash val="solid"/>
          </a:ln>
        </p:spPr>
      </p:sp>
      <p:pic>
        <p:nvPicPr>
          <p:cNvPr id="50" name="Image 0" descr="preencoded.png"/>
          <p:cNvPicPr>
            <a:picLocks noChangeAspect="1"/>
          </p:cNvPicPr>
          <p:nvPr/>
        </p:nvPicPr>
        <p:blipFill>
          <a:blip r:embed="rId3"/>
          <a:stretch>
            <a:fillRect/>
          </a:stretch>
        </p:blipFill>
        <p:spPr>
          <a:xfrm>
            <a:off x="621792" y="3776472"/>
            <a:ext cx="219456" cy="219456"/>
          </a:xfrm>
          <a:prstGeom prst="rect">
            <a:avLst/>
          </a:prstGeom>
        </p:spPr>
      </p:pic>
      <p:sp>
        <p:nvSpPr>
          <p:cNvPr id="51" name="Text 47"/>
          <p:cNvSpPr txBox="1"/>
          <p:nvPr/>
        </p:nvSpPr>
        <p:spPr>
          <a:xfrm>
            <a:off x="914400" y="3675888"/>
            <a:ext cx="1005840" cy="420624"/>
          </a:xfrm>
          <a:prstGeom prst="rect">
            <a:avLst/>
          </a:prstGeom>
          <a:noFill/>
          <a:ln/>
        </p:spPr>
        <p:txBody>
          <a:bodyPr wrap="square" lIns="0" tIns="0" rIns="0" bIns="0" rtlCol="0" anchor="ctr"/>
          <a:lstStyle/>
          <a:p>
            <a:pPr marL="0" indent="0">
              <a:buNone/>
            </a:pPr>
            <a:r>
              <a:rPr lang="en-US" sz="1100" b="1" dirty="0">
                <a:solidFill>
                  <a:srgbClr val="C4621D"/>
                </a:solidFill>
                <a:latin typeface="Calibri" pitchFamily="34" charset="0"/>
                <a:ea typeface="Calibri" pitchFamily="34" charset="-122"/>
                <a:cs typeface="Calibri" pitchFamily="34" charset="-120"/>
              </a:rPr>
              <a:t>Schedule</a:t>
            </a:r>
            <a:endParaRPr lang="en-US" sz="1100" dirty="0"/>
          </a:p>
        </p:txBody>
      </p:sp>
      <p:sp>
        <p:nvSpPr>
          <p:cNvPr id="52" name="Shape 48"/>
          <p:cNvSpPr/>
          <p:nvPr/>
        </p:nvSpPr>
        <p:spPr>
          <a:xfrm>
            <a:off x="2139696" y="3675888"/>
            <a:ext cx="1499616" cy="420624"/>
          </a:xfrm>
          <a:prstGeom prst="roundRect">
            <a:avLst>
              <a:gd name="adj" fmla="val 50000"/>
            </a:avLst>
          </a:prstGeom>
          <a:solidFill>
            <a:srgbClr val="C4621D">
              <a:alpha val="12000"/>
            </a:srgbClr>
          </a:solidFill>
          <a:ln w="9525">
            <a:solidFill>
              <a:srgbClr val="C4621D"/>
            </a:solidFill>
            <a:prstDash val="solid"/>
          </a:ln>
        </p:spPr>
      </p:sp>
      <p:pic>
        <p:nvPicPr>
          <p:cNvPr id="53" name="Image 1" descr="preencoded.png"/>
          <p:cNvPicPr>
            <a:picLocks noChangeAspect="1"/>
          </p:cNvPicPr>
          <p:nvPr/>
        </p:nvPicPr>
        <p:blipFill>
          <a:blip r:embed="rId4"/>
          <a:stretch>
            <a:fillRect/>
          </a:stretch>
        </p:blipFill>
        <p:spPr>
          <a:xfrm>
            <a:off x="2304288" y="3776472"/>
            <a:ext cx="219456" cy="219456"/>
          </a:xfrm>
          <a:prstGeom prst="rect">
            <a:avLst/>
          </a:prstGeom>
        </p:spPr>
      </p:pic>
      <p:sp>
        <p:nvSpPr>
          <p:cNvPr id="54" name="Text 49"/>
          <p:cNvSpPr txBox="1"/>
          <p:nvPr/>
        </p:nvSpPr>
        <p:spPr>
          <a:xfrm>
            <a:off x="2596896" y="3675888"/>
            <a:ext cx="1005840" cy="420624"/>
          </a:xfrm>
          <a:prstGeom prst="rect">
            <a:avLst/>
          </a:prstGeom>
          <a:noFill/>
          <a:ln/>
        </p:spPr>
        <p:txBody>
          <a:bodyPr wrap="square" lIns="0" tIns="0" rIns="0" bIns="0" rtlCol="0" anchor="ctr"/>
          <a:lstStyle/>
          <a:p>
            <a:pPr marL="0" indent="0">
              <a:buNone/>
            </a:pPr>
            <a:r>
              <a:rPr lang="en-US" sz="1100" b="1" dirty="0">
                <a:solidFill>
                  <a:srgbClr val="C4621D"/>
                </a:solidFill>
                <a:latin typeface="Calibri" pitchFamily="34" charset="0"/>
                <a:ea typeface="Calibri" pitchFamily="34" charset="-122"/>
                <a:cs typeface="Calibri" pitchFamily="34" charset="-120"/>
              </a:rPr>
              <a:t>Dependencies</a:t>
            </a:r>
            <a:endParaRPr lang="en-US" sz="1100" dirty="0"/>
          </a:p>
        </p:txBody>
      </p:sp>
      <p:sp>
        <p:nvSpPr>
          <p:cNvPr id="55" name="Shape 50"/>
          <p:cNvSpPr/>
          <p:nvPr/>
        </p:nvSpPr>
        <p:spPr>
          <a:xfrm>
            <a:off x="3822192" y="3675888"/>
            <a:ext cx="1499616" cy="420624"/>
          </a:xfrm>
          <a:prstGeom prst="roundRect">
            <a:avLst>
              <a:gd name="adj" fmla="val 50000"/>
            </a:avLst>
          </a:prstGeom>
          <a:solidFill>
            <a:srgbClr val="C4621D">
              <a:alpha val="12000"/>
            </a:srgbClr>
          </a:solidFill>
          <a:ln w="9525">
            <a:solidFill>
              <a:srgbClr val="C4621D"/>
            </a:solidFill>
            <a:prstDash val="solid"/>
          </a:ln>
        </p:spPr>
      </p:sp>
      <p:pic>
        <p:nvPicPr>
          <p:cNvPr id="56" name="Image 2" descr="preencoded.png"/>
          <p:cNvPicPr>
            <a:picLocks noChangeAspect="1"/>
          </p:cNvPicPr>
          <p:nvPr/>
        </p:nvPicPr>
        <p:blipFill>
          <a:blip r:embed="rId5"/>
          <a:stretch>
            <a:fillRect/>
          </a:stretch>
        </p:blipFill>
        <p:spPr>
          <a:xfrm>
            <a:off x="3986784" y="3776472"/>
            <a:ext cx="219456" cy="219456"/>
          </a:xfrm>
          <a:prstGeom prst="rect">
            <a:avLst/>
          </a:prstGeom>
        </p:spPr>
      </p:pic>
      <p:sp>
        <p:nvSpPr>
          <p:cNvPr id="57" name="Text 51"/>
          <p:cNvSpPr txBox="1"/>
          <p:nvPr/>
        </p:nvSpPr>
        <p:spPr>
          <a:xfrm>
            <a:off x="4279392" y="3675888"/>
            <a:ext cx="1005840" cy="420624"/>
          </a:xfrm>
          <a:prstGeom prst="rect">
            <a:avLst/>
          </a:prstGeom>
          <a:noFill/>
          <a:ln/>
        </p:spPr>
        <p:txBody>
          <a:bodyPr wrap="square" lIns="0" tIns="0" rIns="0" bIns="0" rtlCol="0" anchor="ctr"/>
          <a:lstStyle/>
          <a:p>
            <a:pPr marL="0" indent="0">
              <a:buNone/>
            </a:pPr>
            <a:r>
              <a:rPr lang="en-US" sz="1100" b="1" dirty="0">
                <a:solidFill>
                  <a:srgbClr val="C4621D"/>
                </a:solidFill>
                <a:latin typeface="Calibri" pitchFamily="34" charset="0"/>
                <a:ea typeface="Calibri" pitchFamily="34" charset="-122"/>
                <a:cs typeface="Calibri" pitchFamily="34" charset="-120"/>
              </a:rPr>
              <a:t>Retries</a:t>
            </a:r>
            <a:endParaRPr lang="en-US" sz="1100" dirty="0"/>
          </a:p>
        </p:txBody>
      </p:sp>
      <p:sp>
        <p:nvSpPr>
          <p:cNvPr id="58" name="Shape 52"/>
          <p:cNvSpPr/>
          <p:nvPr/>
        </p:nvSpPr>
        <p:spPr>
          <a:xfrm>
            <a:off x="5504688" y="3675888"/>
            <a:ext cx="1499616" cy="420624"/>
          </a:xfrm>
          <a:prstGeom prst="roundRect">
            <a:avLst>
              <a:gd name="adj" fmla="val 50000"/>
            </a:avLst>
          </a:prstGeom>
          <a:solidFill>
            <a:srgbClr val="C4621D">
              <a:alpha val="12000"/>
            </a:srgbClr>
          </a:solidFill>
          <a:ln w="9525">
            <a:solidFill>
              <a:srgbClr val="C4621D"/>
            </a:solidFill>
            <a:prstDash val="solid"/>
          </a:ln>
        </p:spPr>
      </p:sp>
      <p:pic>
        <p:nvPicPr>
          <p:cNvPr id="59" name="Image 3" descr="preencoded.png"/>
          <p:cNvPicPr>
            <a:picLocks noChangeAspect="1"/>
          </p:cNvPicPr>
          <p:nvPr/>
        </p:nvPicPr>
        <p:blipFill>
          <a:blip r:embed="rId6"/>
          <a:stretch>
            <a:fillRect/>
          </a:stretch>
        </p:blipFill>
        <p:spPr>
          <a:xfrm>
            <a:off x="5669280" y="3776472"/>
            <a:ext cx="219456" cy="219456"/>
          </a:xfrm>
          <a:prstGeom prst="rect">
            <a:avLst/>
          </a:prstGeom>
        </p:spPr>
      </p:pic>
      <p:sp>
        <p:nvSpPr>
          <p:cNvPr id="60" name="Text 53"/>
          <p:cNvSpPr txBox="1"/>
          <p:nvPr/>
        </p:nvSpPr>
        <p:spPr>
          <a:xfrm>
            <a:off x="5961888" y="3675888"/>
            <a:ext cx="1005840" cy="420624"/>
          </a:xfrm>
          <a:prstGeom prst="rect">
            <a:avLst/>
          </a:prstGeom>
          <a:noFill/>
          <a:ln/>
        </p:spPr>
        <p:txBody>
          <a:bodyPr wrap="square" lIns="0" tIns="0" rIns="0" bIns="0" rtlCol="0" anchor="ctr"/>
          <a:lstStyle/>
          <a:p>
            <a:pPr marL="0" indent="0">
              <a:buNone/>
            </a:pPr>
            <a:r>
              <a:rPr lang="en-US" sz="1100" b="1" dirty="0">
                <a:solidFill>
                  <a:srgbClr val="C4621D"/>
                </a:solidFill>
                <a:latin typeface="Calibri" pitchFamily="34" charset="0"/>
                <a:ea typeface="Calibri" pitchFamily="34" charset="-122"/>
                <a:cs typeface="Calibri" pitchFamily="34" charset="-120"/>
              </a:rPr>
              <a:t>Alerts</a:t>
            </a:r>
            <a:endParaRPr lang="en-US" sz="1100" dirty="0"/>
          </a:p>
        </p:txBody>
      </p:sp>
      <p:sp>
        <p:nvSpPr>
          <p:cNvPr id="61" name="Shape 54"/>
          <p:cNvSpPr/>
          <p:nvPr/>
        </p:nvSpPr>
        <p:spPr>
          <a:xfrm>
            <a:off x="7187184" y="3675888"/>
            <a:ext cx="1499616" cy="420624"/>
          </a:xfrm>
          <a:prstGeom prst="roundRect">
            <a:avLst>
              <a:gd name="adj" fmla="val 50000"/>
            </a:avLst>
          </a:prstGeom>
          <a:solidFill>
            <a:srgbClr val="C4621D">
              <a:alpha val="12000"/>
            </a:srgbClr>
          </a:solidFill>
          <a:ln w="9525">
            <a:solidFill>
              <a:srgbClr val="C4621D"/>
            </a:solidFill>
            <a:prstDash val="solid"/>
          </a:ln>
        </p:spPr>
      </p:sp>
      <p:pic>
        <p:nvPicPr>
          <p:cNvPr id="62" name="Image 4" descr="preencoded.png"/>
          <p:cNvPicPr>
            <a:picLocks noChangeAspect="1"/>
          </p:cNvPicPr>
          <p:nvPr/>
        </p:nvPicPr>
        <p:blipFill>
          <a:blip r:embed="rId7"/>
          <a:stretch>
            <a:fillRect/>
          </a:stretch>
        </p:blipFill>
        <p:spPr>
          <a:xfrm>
            <a:off x="7351776" y="3776472"/>
            <a:ext cx="219456" cy="219456"/>
          </a:xfrm>
          <a:prstGeom prst="rect">
            <a:avLst/>
          </a:prstGeom>
        </p:spPr>
      </p:pic>
      <p:sp>
        <p:nvSpPr>
          <p:cNvPr id="63" name="Text 55"/>
          <p:cNvSpPr txBox="1"/>
          <p:nvPr/>
        </p:nvSpPr>
        <p:spPr>
          <a:xfrm>
            <a:off x="7644384" y="3675888"/>
            <a:ext cx="1005840" cy="420624"/>
          </a:xfrm>
          <a:prstGeom prst="rect">
            <a:avLst/>
          </a:prstGeom>
          <a:noFill/>
          <a:ln/>
        </p:spPr>
        <p:txBody>
          <a:bodyPr wrap="square" lIns="0" tIns="0" rIns="0" bIns="0" rtlCol="0" anchor="ctr"/>
          <a:lstStyle/>
          <a:p>
            <a:pPr marL="0" indent="0">
              <a:buNone/>
            </a:pPr>
            <a:r>
              <a:rPr lang="en-US" sz="1100" b="1" dirty="0">
                <a:solidFill>
                  <a:srgbClr val="C4621D"/>
                </a:solidFill>
                <a:latin typeface="Calibri" pitchFamily="34" charset="0"/>
                <a:ea typeface="Calibri" pitchFamily="34" charset="-122"/>
                <a:cs typeface="Calibri" pitchFamily="34" charset="-120"/>
              </a:rPr>
              <a:t>Backfill</a:t>
            </a:r>
            <a:endParaRPr lang="en-US" sz="1100" dirty="0"/>
          </a:p>
        </p:txBody>
      </p:sp>
      <p:sp>
        <p:nvSpPr>
          <p:cNvPr id="64" name="Text 56"/>
          <p:cNvSpPr txBox="1"/>
          <p:nvPr/>
        </p:nvSpPr>
        <p:spPr>
          <a:xfrm>
            <a:off x="457200" y="4224528"/>
            <a:ext cx="8229600" cy="274320"/>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Tools, simplest first:  </a:t>
            </a:r>
            <a:r>
              <a:rPr lang="en-US" sz="1050" dirty="0">
                <a:solidFill>
                  <a:srgbClr val="231F20"/>
                </a:solidFill>
                <a:latin typeface="Calibri" pitchFamily="34" charset="0"/>
                <a:ea typeface="Calibri" pitchFamily="34" charset="-122"/>
                <a:cs typeface="Calibri" pitchFamily="34" charset="-120"/>
              </a:rPr>
              <a:t>cron · GitHub Actions  →  Apache Airflow · Dagster · Prefect  ·  dbt for SQL transformations</a:t>
            </a:r>
            <a:endParaRPr lang="en-US" sz="105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ORCHESTRATION</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Pipelines as code, with quality gates</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53628" y="315468"/>
            <a:ext cx="118872" cy="118872"/>
          </a:xfrm>
          <a:prstGeom prst="ellipse">
            <a:avLst/>
          </a:prstGeom>
          <a:solidFill>
            <a:srgbClr val="C4621D"/>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AfDB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28</a:t>
            </a:r>
            <a:endParaRPr lang="en-US" sz="850" dirty="0"/>
          </a:p>
        </p:txBody>
      </p:sp>
      <p:sp>
        <p:nvSpPr>
          <p:cNvPr id="17" name="Shape 14"/>
          <p:cNvSpPr/>
          <p:nvPr/>
        </p:nvSpPr>
        <p:spPr>
          <a:xfrm>
            <a:off x="457200" y="1280160"/>
            <a:ext cx="4480560" cy="3200400"/>
          </a:xfrm>
          <a:prstGeom prst="roundRect">
            <a:avLst>
              <a:gd name="adj" fmla="val 2286"/>
            </a:avLst>
          </a:prstGeom>
          <a:solidFill>
            <a:srgbClr val="F4F7F5"/>
          </a:solidFill>
          <a:ln w="9525">
            <a:solidFill>
              <a:srgbClr val="D5DED9"/>
            </a:solidFill>
            <a:prstDash val="solid"/>
          </a:ln>
        </p:spPr>
      </p:sp>
      <p:sp>
        <p:nvSpPr>
          <p:cNvPr id="18" name="Text 15"/>
          <p:cNvSpPr txBox="1"/>
          <p:nvPr/>
        </p:nvSpPr>
        <p:spPr>
          <a:xfrm>
            <a:off x="594360" y="1371600"/>
            <a:ext cx="4206240" cy="201168"/>
          </a:xfrm>
          <a:prstGeom prst="rect">
            <a:avLst/>
          </a:prstGeom>
          <a:noFill/>
          <a:ln/>
        </p:spPr>
        <p:txBody>
          <a:bodyPr wrap="square" lIns="0" tIns="0" rIns="0" bIns="0" rtlCol="0" anchor="t"/>
          <a:lstStyle/>
          <a:p>
            <a:pPr marL="0" indent="0">
              <a:buNone/>
            </a:pPr>
            <a:r>
              <a:rPr lang="en-US" sz="900" b="1" kern="0" spc="100" dirty="0">
                <a:solidFill>
                  <a:srgbClr val="00704A"/>
                </a:solidFill>
                <a:latin typeface="Calibri" pitchFamily="34" charset="0"/>
                <a:ea typeface="Calibri" pitchFamily="34" charset="-122"/>
                <a:cs typeface="Calibri" pitchFamily="34" charset="-120"/>
              </a:rPr>
              <a:t>APACHE AIRFLOW (TASKFLOW API)</a:t>
            </a:r>
            <a:endParaRPr lang="en-US" sz="900" dirty="0"/>
          </a:p>
        </p:txBody>
      </p:sp>
      <p:sp>
        <p:nvSpPr>
          <p:cNvPr id="19" name="Text 16"/>
          <p:cNvSpPr txBox="1"/>
          <p:nvPr/>
        </p:nvSpPr>
        <p:spPr>
          <a:xfrm>
            <a:off x="594360" y="1609344"/>
            <a:ext cx="4206240" cy="2798064"/>
          </a:xfrm>
          <a:prstGeom prst="rect">
            <a:avLst/>
          </a:prstGeom>
          <a:noFill/>
          <a:ln/>
        </p:spPr>
        <p:txBody>
          <a:bodyPr wrap="square" lIns="0" tIns="0" rIns="0" bIns="0" rtlCol="0" anchor="t"/>
          <a:lstStyle/>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from airflow.decorators import dag</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import pendulum</a:t>
            </a:r>
            <a:endParaRPr lang="en-US" sz="850" dirty="0"/>
          </a:p>
          <a:p>
            <a:pPr marL="0" indent="0">
              <a:lnSpc>
                <a:spcPct val="105000"/>
              </a:lnSpc>
              <a:buNone/>
            </a:pPr>
            <a:r>
              <a:rPr lang="en-US" sz="850" i="1" dirty="0">
                <a:solidFill>
                  <a:srgbClr val="00704A"/>
                </a:solidFill>
                <a:latin typeface="Courier New" pitchFamily="34" charset="0"/>
                <a:ea typeface="Courier New" pitchFamily="34" charset="-122"/>
                <a:cs typeface="Courier New" pitchFamily="34" charset="-120"/>
              </a:rPr>
              <a:t># download, validate, … are @task functions</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@dag(schedule="@quarterly",</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start_date=pendulum.datetime(2019, 1, 1),</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catchup=True,            # = backfill</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default_args={"retries": 2})</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def ookla_connectivity():</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raw    = download_tiles()</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ok     = validate(raw)       # quality gate</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pop    = population_per_tile()</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silver = join_admin(ok, pop)</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gold   = indicators(silver)</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index_elasticsearch(gold)</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publish_github(gold)</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ookla_connectivity()</a:t>
            </a:r>
            <a:endParaRPr lang="en-US" sz="850" dirty="0"/>
          </a:p>
        </p:txBody>
      </p:sp>
      <p:sp>
        <p:nvSpPr>
          <p:cNvPr id="20" name="Text 17"/>
          <p:cNvSpPr txBox="1"/>
          <p:nvPr/>
        </p:nvSpPr>
        <p:spPr>
          <a:xfrm>
            <a:off x="5166360" y="1280160"/>
            <a:ext cx="347472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Quality gates, written as tests</a:t>
            </a:r>
            <a:endParaRPr lang="en-US" sz="1300" dirty="0"/>
          </a:p>
        </p:txBody>
      </p:sp>
      <p:sp>
        <p:nvSpPr>
          <p:cNvPr id="21" name="Shape 18"/>
          <p:cNvSpPr/>
          <p:nvPr/>
        </p:nvSpPr>
        <p:spPr>
          <a:xfrm>
            <a:off x="5166360" y="1627632"/>
            <a:ext cx="3520440" cy="384048"/>
          </a:xfrm>
          <a:prstGeom prst="roundRect">
            <a:avLst>
              <a:gd name="adj" fmla="val 19048"/>
            </a:avLst>
          </a:prstGeom>
          <a:solidFill>
            <a:srgbClr val="FFFFFF"/>
          </a:solidFill>
          <a:ln w="9525">
            <a:solidFill>
              <a:srgbClr val="D5DED9"/>
            </a:solidFill>
            <a:prstDash val="solid"/>
          </a:ln>
        </p:spPr>
      </p:sp>
      <p:pic>
        <p:nvPicPr>
          <p:cNvPr id="22" name="Image 0" descr="preencoded.png"/>
          <p:cNvPicPr>
            <a:picLocks noChangeAspect="1"/>
          </p:cNvPicPr>
          <p:nvPr/>
        </p:nvPicPr>
        <p:blipFill>
          <a:blip r:embed="rId3"/>
          <a:stretch>
            <a:fillRect/>
          </a:stretch>
        </p:blipFill>
        <p:spPr>
          <a:xfrm>
            <a:off x="5266944" y="1719072"/>
            <a:ext cx="201168" cy="201168"/>
          </a:xfrm>
          <a:prstGeom prst="rect">
            <a:avLst/>
          </a:prstGeom>
        </p:spPr>
      </p:pic>
      <p:sp>
        <p:nvSpPr>
          <p:cNvPr id="23" name="Text 19"/>
          <p:cNvSpPr txBox="1"/>
          <p:nvPr/>
        </p:nvSpPr>
        <p:spPr>
          <a:xfrm>
            <a:off x="5577840" y="1627632"/>
            <a:ext cx="3063240" cy="384048"/>
          </a:xfrm>
          <a:prstGeom prst="rect">
            <a:avLst/>
          </a:prstGeom>
          <a:noFill/>
          <a:ln/>
        </p:spPr>
        <p:txBody>
          <a:bodyPr wrap="square" lIns="0" tIns="0" rIns="0" bIns="0" rtlCol="0" anchor="ctr"/>
          <a:lstStyle/>
          <a:p>
            <a:pPr marL="0" indent="0">
              <a:buNone/>
            </a:pPr>
            <a:r>
              <a:rPr lang="en-US" sz="900" dirty="0">
                <a:solidFill>
                  <a:srgbClr val="231F20"/>
                </a:solidFill>
                <a:latin typeface="Courier New" pitchFamily="34" charset="0"/>
                <a:ea typeface="Courier New" pitchFamily="34" charset="-122"/>
                <a:cs typeface="Courier New" pitchFamily="34" charset="-120"/>
              </a:rPr>
              <a:t>tests &gt; 0 for every tile</a:t>
            </a:r>
            <a:endParaRPr lang="en-US" sz="900" dirty="0"/>
          </a:p>
        </p:txBody>
      </p:sp>
      <p:sp>
        <p:nvSpPr>
          <p:cNvPr id="24" name="Shape 20"/>
          <p:cNvSpPr/>
          <p:nvPr/>
        </p:nvSpPr>
        <p:spPr>
          <a:xfrm>
            <a:off x="5166360" y="2084832"/>
            <a:ext cx="3520440" cy="384048"/>
          </a:xfrm>
          <a:prstGeom prst="roundRect">
            <a:avLst>
              <a:gd name="adj" fmla="val 19048"/>
            </a:avLst>
          </a:prstGeom>
          <a:solidFill>
            <a:srgbClr val="FFFFFF"/>
          </a:solidFill>
          <a:ln w="9525">
            <a:solidFill>
              <a:srgbClr val="D5DED9"/>
            </a:solidFill>
            <a:prstDash val="solid"/>
          </a:ln>
        </p:spPr>
      </p:sp>
      <p:pic>
        <p:nvPicPr>
          <p:cNvPr id="25" name="Image 1" descr="preencoded.png"/>
          <p:cNvPicPr>
            <a:picLocks noChangeAspect="1"/>
          </p:cNvPicPr>
          <p:nvPr/>
        </p:nvPicPr>
        <p:blipFill>
          <a:blip r:embed="rId3"/>
          <a:stretch>
            <a:fillRect/>
          </a:stretch>
        </p:blipFill>
        <p:spPr>
          <a:xfrm>
            <a:off x="5266944" y="2176272"/>
            <a:ext cx="201168" cy="201168"/>
          </a:xfrm>
          <a:prstGeom prst="rect">
            <a:avLst/>
          </a:prstGeom>
        </p:spPr>
      </p:pic>
      <p:sp>
        <p:nvSpPr>
          <p:cNvPr id="26" name="Text 21"/>
          <p:cNvSpPr txBox="1"/>
          <p:nvPr/>
        </p:nvSpPr>
        <p:spPr>
          <a:xfrm>
            <a:off x="5577840" y="2084832"/>
            <a:ext cx="3063240" cy="384048"/>
          </a:xfrm>
          <a:prstGeom prst="rect">
            <a:avLst/>
          </a:prstGeom>
          <a:noFill/>
          <a:ln/>
        </p:spPr>
        <p:txBody>
          <a:bodyPr wrap="square" lIns="0" tIns="0" rIns="0" bIns="0" rtlCol="0" anchor="ctr"/>
          <a:lstStyle/>
          <a:p>
            <a:pPr marL="0" indent="0">
              <a:buNone/>
            </a:pPr>
            <a:r>
              <a:rPr lang="en-US" sz="900" dirty="0">
                <a:solidFill>
                  <a:srgbClr val="231F20"/>
                </a:solidFill>
                <a:latin typeface="Courier New" pitchFamily="34" charset="0"/>
                <a:ea typeface="Courier New" pitchFamily="34" charset="-122"/>
                <a:cs typeface="Courier New" pitchFamily="34" charset="-120"/>
              </a:rPr>
              <a:t>quadkey unique within each quarter</a:t>
            </a:r>
            <a:endParaRPr lang="en-US" sz="900" dirty="0"/>
          </a:p>
        </p:txBody>
      </p:sp>
      <p:sp>
        <p:nvSpPr>
          <p:cNvPr id="27" name="Shape 22"/>
          <p:cNvSpPr/>
          <p:nvPr/>
        </p:nvSpPr>
        <p:spPr>
          <a:xfrm>
            <a:off x="5166360" y="2542032"/>
            <a:ext cx="3520440" cy="384048"/>
          </a:xfrm>
          <a:prstGeom prst="roundRect">
            <a:avLst>
              <a:gd name="adj" fmla="val 19048"/>
            </a:avLst>
          </a:prstGeom>
          <a:solidFill>
            <a:srgbClr val="FFFFFF"/>
          </a:solidFill>
          <a:ln w="9525">
            <a:solidFill>
              <a:srgbClr val="D5DED9"/>
            </a:solidFill>
            <a:prstDash val="solid"/>
          </a:ln>
        </p:spPr>
      </p:sp>
      <p:pic>
        <p:nvPicPr>
          <p:cNvPr id="28" name="Image 2" descr="preencoded.png"/>
          <p:cNvPicPr>
            <a:picLocks noChangeAspect="1"/>
          </p:cNvPicPr>
          <p:nvPr/>
        </p:nvPicPr>
        <p:blipFill>
          <a:blip r:embed="rId3"/>
          <a:stretch>
            <a:fillRect/>
          </a:stretch>
        </p:blipFill>
        <p:spPr>
          <a:xfrm>
            <a:off x="5266944" y="2633472"/>
            <a:ext cx="201168" cy="201168"/>
          </a:xfrm>
          <a:prstGeom prst="rect">
            <a:avLst/>
          </a:prstGeom>
        </p:spPr>
      </p:pic>
      <p:sp>
        <p:nvSpPr>
          <p:cNvPr id="29" name="Text 23"/>
          <p:cNvSpPr txBox="1"/>
          <p:nvPr/>
        </p:nvSpPr>
        <p:spPr>
          <a:xfrm>
            <a:off x="5577840" y="2542032"/>
            <a:ext cx="3063240" cy="384048"/>
          </a:xfrm>
          <a:prstGeom prst="rect">
            <a:avLst/>
          </a:prstGeom>
          <a:noFill/>
          <a:ln/>
        </p:spPr>
        <p:txBody>
          <a:bodyPr wrap="square" lIns="0" tIns="0" rIns="0" bIns="0" rtlCol="0" anchor="ctr"/>
          <a:lstStyle/>
          <a:p>
            <a:pPr marL="0" indent="0">
              <a:buNone/>
            </a:pPr>
            <a:r>
              <a:rPr lang="en-US" sz="900" dirty="0">
                <a:solidFill>
                  <a:srgbClr val="231F20"/>
                </a:solidFill>
                <a:latin typeface="Courier New" pitchFamily="34" charset="0"/>
                <a:ea typeface="Courier New" pitchFamily="34" charset="-122"/>
                <a:cs typeface="Courier New" pitchFamily="34" charset="-120"/>
              </a:rPr>
              <a:t>avg_d_kbps within a plausible range</a:t>
            </a:r>
            <a:endParaRPr lang="en-US" sz="900" dirty="0"/>
          </a:p>
        </p:txBody>
      </p:sp>
      <p:sp>
        <p:nvSpPr>
          <p:cNvPr id="30" name="Shape 24"/>
          <p:cNvSpPr/>
          <p:nvPr/>
        </p:nvSpPr>
        <p:spPr>
          <a:xfrm>
            <a:off x="5166360" y="2999232"/>
            <a:ext cx="3520440" cy="384048"/>
          </a:xfrm>
          <a:prstGeom prst="roundRect">
            <a:avLst>
              <a:gd name="adj" fmla="val 19048"/>
            </a:avLst>
          </a:prstGeom>
          <a:solidFill>
            <a:srgbClr val="FFFFFF"/>
          </a:solidFill>
          <a:ln w="9525">
            <a:solidFill>
              <a:srgbClr val="D5DED9"/>
            </a:solidFill>
            <a:prstDash val="solid"/>
          </a:ln>
        </p:spPr>
      </p:sp>
      <p:pic>
        <p:nvPicPr>
          <p:cNvPr id="31" name="Image 3" descr="preencoded.png"/>
          <p:cNvPicPr>
            <a:picLocks noChangeAspect="1"/>
          </p:cNvPicPr>
          <p:nvPr/>
        </p:nvPicPr>
        <p:blipFill>
          <a:blip r:embed="rId3"/>
          <a:stretch>
            <a:fillRect/>
          </a:stretch>
        </p:blipFill>
        <p:spPr>
          <a:xfrm>
            <a:off x="5266944" y="3090672"/>
            <a:ext cx="201168" cy="201168"/>
          </a:xfrm>
          <a:prstGeom prst="rect">
            <a:avLst/>
          </a:prstGeom>
        </p:spPr>
      </p:pic>
      <p:sp>
        <p:nvSpPr>
          <p:cNvPr id="32" name="Text 25"/>
          <p:cNvSpPr txBox="1"/>
          <p:nvPr/>
        </p:nvSpPr>
        <p:spPr>
          <a:xfrm>
            <a:off x="5577840" y="2999232"/>
            <a:ext cx="3063240" cy="384048"/>
          </a:xfrm>
          <a:prstGeom prst="rect">
            <a:avLst/>
          </a:prstGeom>
          <a:noFill/>
          <a:ln/>
        </p:spPr>
        <p:txBody>
          <a:bodyPr wrap="square" lIns="0" tIns="0" rIns="0" bIns="0" rtlCol="0" anchor="ctr"/>
          <a:lstStyle/>
          <a:p>
            <a:pPr marL="0" indent="0">
              <a:buNone/>
            </a:pPr>
            <a:r>
              <a:rPr lang="en-US" sz="900" dirty="0">
                <a:solidFill>
                  <a:srgbClr val="231F20"/>
                </a:solidFill>
                <a:latin typeface="Courier New" pitchFamily="34" charset="0"/>
                <a:ea typeface="Courier New" pitchFamily="34" charset="-122"/>
                <a:cs typeface="Courier New" pitchFamily="34" charset="-120"/>
              </a:rPr>
              <a:t>every tile assigned to exactly one admin unit</a:t>
            </a:r>
            <a:endParaRPr lang="en-US" sz="900" dirty="0"/>
          </a:p>
        </p:txBody>
      </p:sp>
      <p:sp>
        <p:nvSpPr>
          <p:cNvPr id="33" name="Shape 26"/>
          <p:cNvSpPr/>
          <p:nvPr/>
        </p:nvSpPr>
        <p:spPr>
          <a:xfrm>
            <a:off x="5166360" y="3456432"/>
            <a:ext cx="3520440" cy="384048"/>
          </a:xfrm>
          <a:prstGeom prst="roundRect">
            <a:avLst>
              <a:gd name="adj" fmla="val 19048"/>
            </a:avLst>
          </a:prstGeom>
          <a:solidFill>
            <a:srgbClr val="FFFFFF"/>
          </a:solidFill>
          <a:ln w="9525">
            <a:solidFill>
              <a:srgbClr val="D5DED9"/>
            </a:solidFill>
            <a:prstDash val="solid"/>
          </a:ln>
        </p:spPr>
      </p:sp>
      <p:pic>
        <p:nvPicPr>
          <p:cNvPr id="34" name="Image 4" descr="preencoded.png"/>
          <p:cNvPicPr>
            <a:picLocks noChangeAspect="1"/>
          </p:cNvPicPr>
          <p:nvPr/>
        </p:nvPicPr>
        <p:blipFill>
          <a:blip r:embed="rId3"/>
          <a:stretch>
            <a:fillRect/>
          </a:stretch>
        </p:blipFill>
        <p:spPr>
          <a:xfrm>
            <a:off x="5266944" y="3547872"/>
            <a:ext cx="201168" cy="201168"/>
          </a:xfrm>
          <a:prstGeom prst="rect">
            <a:avLst/>
          </a:prstGeom>
        </p:spPr>
      </p:pic>
      <p:sp>
        <p:nvSpPr>
          <p:cNvPr id="35" name="Text 27"/>
          <p:cNvSpPr txBox="1"/>
          <p:nvPr/>
        </p:nvSpPr>
        <p:spPr>
          <a:xfrm>
            <a:off x="5577840" y="3456432"/>
            <a:ext cx="3063240" cy="384048"/>
          </a:xfrm>
          <a:prstGeom prst="rect">
            <a:avLst/>
          </a:prstGeom>
          <a:noFill/>
          <a:ln/>
        </p:spPr>
        <p:txBody>
          <a:bodyPr wrap="square" lIns="0" tIns="0" rIns="0" bIns="0" rtlCol="0" anchor="ctr"/>
          <a:lstStyle/>
          <a:p>
            <a:pPr marL="0" indent="0">
              <a:buNone/>
            </a:pPr>
            <a:r>
              <a:rPr lang="en-US" sz="900" dirty="0">
                <a:solidFill>
                  <a:srgbClr val="231F20"/>
                </a:solidFill>
                <a:latin typeface="Courier New" pitchFamily="34" charset="0"/>
                <a:ea typeface="Courier New" pitchFamily="34" charset="-122"/>
                <a:cs typeface="Courier New" pitchFamily="34" charset="-120"/>
              </a:rPr>
              <a:t>tile count within ±X % of last quarter</a:t>
            </a:r>
            <a:endParaRPr lang="en-US" sz="900" dirty="0"/>
          </a:p>
        </p:txBody>
      </p:sp>
      <p:sp>
        <p:nvSpPr>
          <p:cNvPr id="36" name="Shape 28"/>
          <p:cNvSpPr/>
          <p:nvPr/>
        </p:nvSpPr>
        <p:spPr>
          <a:xfrm>
            <a:off x="5166360" y="3968496"/>
            <a:ext cx="3520440" cy="512064"/>
          </a:xfrm>
          <a:prstGeom prst="roundRect">
            <a:avLst>
              <a:gd name="adj" fmla="val 14286"/>
            </a:avLst>
          </a:prstGeom>
          <a:solidFill>
            <a:srgbClr val="C4621D">
              <a:alpha val="12000"/>
            </a:srgbClr>
          </a:solidFill>
          <a:ln w="12700">
            <a:solidFill>
              <a:srgbClr val="C4621D"/>
            </a:solidFill>
            <a:prstDash val="solid"/>
          </a:ln>
        </p:spPr>
      </p:sp>
      <p:sp>
        <p:nvSpPr>
          <p:cNvPr id="37" name="Text 29"/>
          <p:cNvSpPr txBox="1"/>
          <p:nvPr/>
        </p:nvSpPr>
        <p:spPr>
          <a:xfrm>
            <a:off x="5285232" y="3968496"/>
            <a:ext cx="3310128" cy="512064"/>
          </a:xfrm>
          <a:prstGeom prst="rect">
            <a:avLst/>
          </a:prstGeom>
          <a:noFill/>
          <a:ln/>
        </p:spPr>
        <p:txBody>
          <a:bodyPr wrap="square" lIns="0" tIns="0" rIns="0" bIns="0" rtlCol="0" anchor="ctr"/>
          <a:lstStyle/>
          <a:p>
            <a:pPr marL="0" indent="0">
              <a:buNone/>
            </a:pPr>
            <a:r>
              <a:rPr lang="en-US" sz="950" b="1" dirty="0">
                <a:solidFill>
                  <a:srgbClr val="C4621D"/>
                </a:solidFill>
                <a:latin typeface="Calibri" pitchFamily="34" charset="0"/>
                <a:ea typeface="Calibri" pitchFamily="34" charset="-122"/>
                <a:cs typeface="Calibri" pitchFamily="34" charset="-120"/>
              </a:rPr>
              <a:t>On failure: </a:t>
            </a:r>
            <a:r>
              <a:rPr lang="en-US" sz="950" dirty="0">
                <a:solidFill>
                  <a:srgbClr val="231F20"/>
                </a:solidFill>
                <a:latin typeface="Calibri" pitchFamily="34" charset="0"/>
                <a:ea typeface="Calibri" pitchFamily="34" charset="-122"/>
                <a:cs typeface="Calibri" pitchFamily="34" charset="-120"/>
              </a:rPr>
              <a:t>stop, alert a person, never publish quietly. Tools: Great Expectations · dbt tests · Soda · pandera</a:t>
            </a:r>
            <a:endParaRPr lang="en-US" sz="950" dirty="0"/>
          </a:p>
        </p:txBody>
      </p:sp>
      <p:sp>
        <p:nvSpPr>
          <p:cNvPr id="38" name="Text 30"/>
          <p:cNvSpPr txBox="1"/>
          <p:nvPr/>
        </p:nvSpPr>
        <p:spPr>
          <a:xfrm>
            <a:off x="457200" y="4590288"/>
            <a:ext cx="7498080" cy="201168"/>
          </a:xfrm>
          <a:prstGeom prst="rect">
            <a:avLst/>
          </a:prstGeom>
          <a:noFill/>
          <a:ln/>
        </p:spPr>
        <p:txBody>
          <a:bodyPr wrap="square" lIns="0" tIns="0" rIns="0" bIns="0" rtlCol="0" anchor="b"/>
          <a:lstStyle/>
          <a:p>
            <a:pPr marL="0" indent="0">
              <a:buNone/>
            </a:pPr>
            <a:r>
              <a:rPr lang="en-US" sz="900" i="1" dirty="0">
                <a:solidFill>
                  <a:srgbClr val="5E6964"/>
                </a:solidFill>
                <a:latin typeface="Calibri" pitchFamily="34" charset="0"/>
                <a:ea typeface="Calibri" pitchFamily="34" charset="-122"/>
                <a:cs typeface="Calibri" pitchFamily="34" charset="-120"/>
              </a:rPr>
              <a:t>Source: Apache Airflow documentation (TaskFlow API, catchup). Thresholds are set by the methodologist.</a:t>
            </a:r>
            <a:endParaRPr lang="en-US" sz="90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82128" y="329184"/>
            <a:ext cx="91440" cy="91440"/>
          </a:xfrm>
          <a:prstGeom prst="ellipse">
            <a:avLst/>
          </a:prstGeom>
          <a:solidFill>
            <a:srgbClr val="FFFFFF">
              <a:alpha val="40000"/>
            </a:srgbClr>
          </a:solidFill>
          <a:ln/>
        </p:spPr>
      </p:sp>
      <p:sp>
        <p:nvSpPr>
          <p:cNvPr id="3" name="Shape 1"/>
          <p:cNvSpPr/>
          <p:nvPr/>
        </p:nvSpPr>
        <p:spPr>
          <a:xfrm>
            <a:off x="8028432" y="329184"/>
            <a:ext cx="91440" cy="91440"/>
          </a:xfrm>
          <a:prstGeom prst="ellipse">
            <a:avLst/>
          </a:prstGeom>
          <a:solidFill>
            <a:srgbClr val="FFFFFF">
              <a:alpha val="40000"/>
            </a:srgbClr>
          </a:solidFill>
          <a:ln/>
        </p:spPr>
      </p:sp>
      <p:sp>
        <p:nvSpPr>
          <p:cNvPr id="4" name="Shape 2"/>
          <p:cNvSpPr/>
          <p:nvPr/>
        </p:nvSpPr>
        <p:spPr>
          <a:xfrm>
            <a:off x="8174736" y="329184"/>
            <a:ext cx="91440" cy="91440"/>
          </a:xfrm>
          <a:prstGeom prst="ellipse">
            <a:avLst/>
          </a:prstGeom>
          <a:solidFill>
            <a:srgbClr val="FFFFFF">
              <a:alpha val="40000"/>
            </a:srgbClr>
          </a:solidFill>
          <a:ln/>
        </p:spPr>
      </p:sp>
      <p:sp>
        <p:nvSpPr>
          <p:cNvPr id="5" name="Shape 3"/>
          <p:cNvSpPr/>
          <p:nvPr/>
        </p:nvSpPr>
        <p:spPr>
          <a:xfrm>
            <a:off x="8321040" y="329184"/>
            <a:ext cx="91440" cy="91440"/>
          </a:xfrm>
          <a:prstGeom prst="ellipse">
            <a:avLst/>
          </a:prstGeom>
          <a:solidFill>
            <a:srgbClr val="FFFFFF">
              <a:alpha val="40000"/>
            </a:srgbClr>
          </a:solidFill>
          <a:ln/>
        </p:spPr>
      </p:sp>
      <p:sp>
        <p:nvSpPr>
          <p:cNvPr id="6" name="Shape 4"/>
          <p:cNvSpPr/>
          <p:nvPr/>
        </p:nvSpPr>
        <p:spPr>
          <a:xfrm>
            <a:off x="8467344" y="329184"/>
            <a:ext cx="91440" cy="91440"/>
          </a:xfrm>
          <a:prstGeom prst="ellipse">
            <a:avLst/>
          </a:prstGeom>
          <a:solidFill>
            <a:srgbClr val="FFFFFF">
              <a:alpha val="40000"/>
            </a:srgbClr>
          </a:solidFill>
          <a:ln/>
        </p:spPr>
      </p:sp>
      <p:sp>
        <p:nvSpPr>
          <p:cNvPr id="7" name="Shape 5"/>
          <p:cNvSpPr/>
          <p:nvPr/>
        </p:nvSpPr>
        <p:spPr>
          <a:xfrm>
            <a:off x="8599932" y="315468"/>
            <a:ext cx="118872" cy="118872"/>
          </a:xfrm>
          <a:prstGeom prst="ellipse">
            <a:avLst/>
          </a:prstGeom>
          <a:solidFill>
            <a:srgbClr val="F5C242"/>
          </a:solidFill>
          <a:ln/>
        </p:spPr>
      </p:sp>
      <p:sp>
        <p:nvSpPr>
          <p:cNvPr id="8" name="Text 6"/>
          <p:cNvSpPr txBox="1"/>
          <p:nvPr/>
        </p:nvSpPr>
        <p:spPr>
          <a:xfrm>
            <a:off x="548640" y="914400"/>
            <a:ext cx="45720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06 OF 06</a:t>
            </a:r>
            <a:endParaRPr lang="en-US" sz="1050" dirty="0"/>
          </a:p>
        </p:txBody>
      </p:sp>
      <p:sp>
        <p:nvSpPr>
          <p:cNvPr id="9" name="Text 7"/>
          <p:cNvSpPr txBox="1"/>
          <p:nvPr/>
        </p:nvSpPr>
        <p:spPr>
          <a:xfrm>
            <a:off x="502920" y="1097280"/>
            <a:ext cx="2743200" cy="1234440"/>
          </a:xfrm>
          <a:prstGeom prst="rect">
            <a:avLst/>
          </a:prstGeom>
          <a:noFill/>
          <a:ln/>
        </p:spPr>
        <p:txBody>
          <a:bodyPr wrap="square" lIns="0" tIns="0" rIns="0" bIns="0" rtlCol="0" anchor="t"/>
          <a:lstStyle/>
          <a:p>
            <a:pPr marL="0" indent="0">
              <a:buNone/>
            </a:pPr>
            <a:r>
              <a:rPr lang="en-US" sz="9600" b="1" dirty="0">
                <a:solidFill>
                  <a:srgbClr val="F5C242"/>
                </a:solidFill>
                <a:latin typeface="Calibri" pitchFamily="34" charset="0"/>
                <a:ea typeface="Calibri" pitchFamily="34" charset="-122"/>
                <a:cs typeface="Calibri" pitchFamily="34" charset="-120"/>
              </a:rPr>
              <a:t>06</a:t>
            </a:r>
            <a:endParaRPr lang="en-US" sz="9600" dirty="0"/>
          </a:p>
        </p:txBody>
      </p:sp>
      <p:sp>
        <p:nvSpPr>
          <p:cNvPr id="10" name="Text 8"/>
          <p:cNvSpPr txBox="1"/>
          <p:nvPr/>
        </p:nvSpPr>
        <p:spPr>
          <a:xfrm>
            <a:off x="548640" y="2487168"/>
            <a:ext cx="5120640" cy="68580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Metadata &amp; versioning</a:t>
            </a:r>
            <a:endParaRPr lang="en-US" sz="4000" dirty="0"/>
          </a:p>
        </p:txBody>
      </p:sp>
      <p:sp>
        <p:nvSpPr>
          <p:cNvPr id="11" name="Text 9"/>
          <p:cNvSpPr txBox="1"/>
          <p:nvPr/>
        </p:nvSpPr>
        <p:spPr>
          <a:xfrm>
            <a:off x="548640" y="3246120"/>
            <a:ext cx="4937760" cy="73152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Can you prove, months later, exactly how a published number was produced?</a:t>
            </a:r>
            <a:endParaRPr lang="en-US" sz="1800" dirty="0"/>
          </a:p>
        </p:txBody>
      </p:sp>
      <p:sp>
        <p:nvSpPr>
          <p:cNvPr id="12" name="Shape 10"/>
          <p:cNvSpPr/>
          <p:nvPr/>
        </p:nvSpPr>
        <p:spPr>
          <a:xfrm>
            <a:off x="5989320" y="1143000"/>
            <a:ext cx="2651760" cy="2651760"/>
          </a:xfrm>
          <a:prstGeom prst="ellipse">
            <a:avLst/>
          </a:prstGeom>
          <a:solidFill>
            <a:srgbClr val="FFFFFF">
              <a:alpha val="10000"/>
            </a:srgbClr>
          </a:solidFill>
          <a:ln/>
        </p:spPr>
      </p:sp>
      <p:sp>
        <p:nvSpPr>
          <p:cNvPr id="13" name="Shape 11"/>
          <p:cNvSpPr/>
          <p:nvPr/>
        </p:nvSpPr>
        <p:spPr>
          <a:xfrm>
            <a:off x="6355080" y="1508760"/>
            <a:ext cx="1920240" cy="1920240"/>
          </a:xfrm>
          <a:prstGeom prst="ellipse">
            <a:avLst/>
          </a:prstGeom>
          <a:solidFill>
            <a:srgbClr val="FFFFFF">
              <a:alpha val="15000"/>
            </a:srgbClr>
          </a:solidFill>
          <a:ln/>
        </p:spPr>
      </p:sp>
      <p:sp>
        <p:nvSpPr>
          <p:cNvPr id="14" name="Shape 12"/>
          <p:cNvSpPr/>
          <p:nvPr/>
        </p:nvSpPr>
        <p:spPr>
          <a:xfrm>
            <a:off x="6720840" y="1874520"/>
            <a:ext cx="1188720" cy="1188720"/>
          </a:xfrm>
          <a:prstGeom prst="ellipse">
            <a:avLst/>
          </a:prstGeom>
          <a:solidFill>
            <a:srgbClr val="FFFFFF"/>
          </a:solidFill>
          <a:ln/>
        </p:spPr>
      </p:sp>
      <p:pic>
        <p:nvPicPr>
          <p:cNvPr id="15" name="Image 0" descr="preencoded.png"/>
          <p:cNvPicPr>
            <a:picLocks noChangeAspect="1"/>
          </p:cNvPicPr>
          <p:nvPr/>
        </p:nvPicPr>
        <p:blipFill>
          <a:blip r:embed="rId4"/>
          <a:stretch>
            <a:fillRect/>
          </a:stretch>
        </p:blipFill>
        <p:spPr>
          <a:xfrm>
            <a:off x="7022592" y="2176272"/>
            <a:ext cx="585216" cy="585216"/>
          </a:xfrm>
          <a:prstGeom prst="rect">
            <a:avLst/>
          </a:prstGeom>
        </p:spPr>
      </p:pic>
      <p:sp>
        <p:nvSpPr>
          <p:cNvPr id="16" name="Text 13"/>
          <p:cNvSpPr txBox="1"/>
          <p:nvPr/>
        </p:nvSpPr>
        <p:spPr>
          <a:xfrm>
            <a:off x="548640" y="4754880"/>
            <a:ext cx="5486400" cy="182880"/>
          </a:xfrm>
          <a:prstGeom prst="rect">
            <a:avLst/>
          </a:prstGeom>
          <a:noFill/>
          <a:ln/>
        </p:spPr>
        <p:txBody>
          <a:bodyPr wrap="square" lIns="0" tIns="0" rIns="0" bIns="0" rtlCol="0" anchor="t"/>
          <a:lstStyle/>
          <a:p>
            <a:pPr marL="0" indent="0">
              <a:buNone/>
            </a:pPr>
            <a:r>
              <a:rPr lang="en-US" sz="850" dirty="0">
                <a:solidFill>
                  <a:srgbClr val="E6F6EE"/>
                </a:solidFill>
                <a:latin typeface="Calibri" pitchFamily="34" charset="0"/>
                <a:ea typeface="Calibri" pitchFamily="34" charset="-122"/>
                <a:cs typeface="Calibri" pitchFamily="34" charset="-120"/>
              </a:rPr>
              <a:t>Engines of Scale · Big Data Technologies for Statistical Systems · AfDB – DI4A</a:t>
            </a:r>
            <a:endParaRPr lang="en-US" sz="85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METADATA &amp; VERSIONING</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Three layers of metadata, one chain of lineage</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599932" y="315468"/>
            <a:ext cx="118872" cy="118872"/>
          </a:xfrm>
          <a:prstGeom prst="ellipse">
            <a:avLst/>
          </a:prstGeom>
          <a:solidFill>
            <a:srgbClr val="B83B2E"/>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AfDB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30</a:t>
            </a:r>
            <a:endParaRPr lang="en-US" sz="850" dirty="0"/>
          </a:p>
        </p:txBody>
      </p:sp>
      <p:sp>
        <p:nvSpPr>
          <p:cNvPr id="17" name="Shape 14"/>
          <p:cNvSpPr/>
          <p:nvPr/>
        </p:nvSpPr>
        <p:spPr>
          <a:xfrm>
            <a:off x="457200" y="1280160"/>
            <a:ext cx="2624328" cy="1691640"/>
          </a:xfrm>
          <a:prstGeom prst="roundRect">
            <a:avLst>
              <a:gd name="adj" fmla="val 4324"/>
            </a:avLst>
          </a:prstGeom>
          <a:solidFill>
            <a:srgbClr val="F4F7F5"/>
          </a:solidFill>
          <a:ln w="9525">
            <a:solidFill>
              <a:srgbClr val="D5DED9"/>
            </a:solidFill>
            <a:prstDash val="solid"/>
          </a:ln>
        </p:spPr>
      </p:sp>
      <p:sp>
        <p:nvSpPr>
          <p:cNvPr id="18" name="Shape 15"/>
          <p:cNvSpPr/>
          <p:nvPr/>
        </p:nvSpPr>
        <p:spPr>
          <a:xfrm>
            <a:off x="594360" y="1389888"/>
            <a:ext cx="438912" cy="438912"/>
          </a:xfrm>
          <a:prstGeom prst="ellipse">
            <a:avLst/>
          </a:prstGeom>
          <a:solidFill>
            <a:srgbClr val="B83B2E">
              <a:alpha val="22000"/>
            </a:srgbClr>
          </a:solidFill>
          <a:ln/>
        </p:spPr>
      </p:sp>
      <p:pic>
        <p:nvPicPr>
          <p:cNvPr id="19" name="Image 0" descr="preencoded.png"/>
          <p:cNvPicPr>
            <a:picLocks noChangeAspect="1"/>
          </p:cNvPicPr>
          <p:nvPr/>
        </p:nvPicPr>
        <p:blipFill>
          <a:blip r:embed="rId3"/>
          <a:stretch>
            <a:fillRect/>
          </a:stretch>
        </p:blipFill>
        <p:spPr>
          <a:xfrm>
            <a:off x="704088" y="1499616"/>
            <a:ext cx="219456" cy="219456"/>
          </a:xfrm>
          <a:prstGeom prst="rect">
            <a:avLst/>
          </a:prstGeom>
        </p:spPr>
      </p:pic>
      <p:sp>
        <p:nvSpPr>
          <p:cNvPr id="20" name="Text 16"/>
          <p:cNvSpPr txBox="1"/>
          <p:nvPr/>
        </p:nvSpPr>
        <p:spPr>
          <a:xfrm>
            <a:off x="1115568" y="1389888"/>
            <a:ext cx="1828800" cy="438912"/>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Technical</a:t>
            </a:r>
            <a:endParaRPr lang="en-US" sz="1500" dirty="0"/>
          </a:p>
        </p:txBody>
      </p:sp>
      <p:sp>
        <p:nvSpPr>
          <p:cNvPr id="21" name="Text 17"/>
          <p:cNvSpPr txBox="1"/>
          <p:nvPr/>
        </p:nvSpPr>
        <p:spPr>
          <a:xfrm>
            <a:off x="594360" y="1920240"/>
            <a:ext cx="2350008" cy="566928"/>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Schema, types, formats, partitions, size, location</a:t>
            </a:r>
            <a:endParaRPr lang="en-US" sz="1050" dirty="0"/>
          </a:p>
        </p:txBody>
      </p:sp>
      <p:sp>
        <p:nvSpPr>
          <p:cNvPr id="22" name="Text 18"/>
          <p:cNvSpPr txBox="1"/>
          <p:nvPr/>
        </p:nvSpPr>
        <p:spPr>
          <a:xfrm>
            <a:off x="594360" y="2560320"/>
            <a:ext cx="2350008" cy="320040"/>
          </a:xfrm>
          <a:prstGeom prst="rect">
            <a:avLst/>
          </a:prstGeom>
          <a:noFill/>
          <a:ln/>
        </p:spPr>
        <p:txBody>
          <a:bodyPr wrap="square" lIns="0" tIns="0" rIns="0" bIns="0" rtlCol="0" anchor="t"/>
          <a:lstStyle/>
          <a:p>
            <a:pPr marL="0" indent="0">
              <a:buNone/>
            </a:pPr>
            <a:r>
              <a:rPr lang="en-US" sz="900" b="1" i="1" dirty="0">
                <a:solidFill>
                  <a:srgbClr val="B83B2E"/>
                </a:solidFill>
                <a:latin typeface="Calibri" pitchFamily="34" charset="0"/>
                <a:ea typeface="Calibri" pitchFamily="34" charset="-122"/>
                <a:cs typeface="Calibri" pitchFamily="34" charset="-120"/>
              </a:rPr>
              <a:t>Parquet schema · Iceberg catalogue</a:t>
            </a:r>
            <a:endParaRPr lang="en-US" sz="900" dirty="0"/>
          </a:p>
        </p:txBody>
      </p:sp>
      <p:sp>
        <p:nvSpPr>
          <p:cNvPr id="23" name="Shape 19"/>
          <p:cNvSpPr/>
          <p:nvPr/>
        </p:nvSpPr>
        <p:spPr>
          <a:xfrm>
            <a:off x="3264408" y="1280160"/>
            <a:ext cx="2624328" cy="1691640"/>
          </a:xfrm>
          <a:prstGeom prst="roundRect">
            <a:avLst>
              <a:gd name="adj" fmla="val 4324"/>
            </a:avLst>
          </a:prstGeom>
          <a:solidFill>
            <a:srgbClr val="E8F5EF"/>
          </a:solidFill>
          <a:ln w="15875">
            <a:solidFill>
              <a:srgbClr val="B83B2E"/>
            </a:solidFill>
            <a:prstDash val="solid"/>
          </a:ln>
        </p:spPr>
      </p:sp>
      <p:sp>
        <p:nvSpPr>
          <p:cNvPr id="24" name="Shape 20"/>
          <p:cNvSpPr/>
          <p:nvPr/>
        </p:nvSpPr>
        <p:spPr>
          <a:xfrm>
            <a:off x="3401568" y="1389888"/>
            <a:ext cx="438912" cy="438912"/>
          </a:xfrm>
          <a:prstGeom prst="ellipse">
            <a:avLst/>
          </a:prstGeom>
          <a:solidFill>
            <a:srgbClr val="B83B2E">
              <a:alpha val="22000"/>
            </a:srgbClr>
          </a:solidFill>
          <a:ln/>
        </p:spPr>
      </p:sp>
      <p:pic>
        <p:nvPicPr>
          <p:cNvPr id="25" name="Image 1" descr="preencoded.png"/>
          <p:cNvPicPr>
            <a:picLocks noChangeAspect="1"/>
          </p:cNvPicPr>
          <p:nvPr/>
        </p:nvPicPr>
        <p:blipFill>
          <a:blip r:embed="rId4"/>
          <a:stretch>
            <a:fillRect/>
          </a:stretch>
        </p:blipFill>
        <p:spPr>
          <a:xfrm>
            <a:off x="3511296" y="1499616"/>
            <a:ext cx="219456" cy="219456"/>
          </a:xfrm>
          <a:prstGeom prst="rect">
            <a:avLst/>
          </a:prstGeom>
        </p:spPr>
      </p:pic>
      <p:sp>
        <p:nvSpPr>
          <p:cNvPr id="26" name="Text 21"/>
          <p:cNvSpPr txBox="1"/>
          <p:nvPr/>
        </p:nvSpPr>
        <p:spPr>
          <a:xfrm>
            <a:off x="3922776" y="1389888"/>
            <a:ext cx="1828800" cy="438912"/>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Statistical</a:t>
            </a:r>
            <a:endParaRPr lang="en-US" sz="1500" dirty="0"/>
          </a:p>
        </p:txBody>
      </p:sp>
      <p:sp>
        <p:nvSpPr>
          <p:cNvPr id="27" name="Text 22"/>
          <p:cNvSpPr txBox="1"/>
          <p:nvPr/>
        </p:nvSpPr>
        <p:spPr>
          <a:xfrm>
            <a:off x="3401568" y="1920240"/>
            <a:ext cx="2350008" cy="566928"/>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Concepts, definitions, classifications, methods, limitations</a:t>
            </a:r>
            <a:endParaRPr lang="en-US" sz="1050" dirty="0"/>
          </a:p>
        </p:txBody>
      </p:sp>
      <p:sp>
        <p:nvSpPr>
          <p:cNvPr id="28" name="Text 23"/>
          <p:cNvSpPr txBox="1"/>
          <p:nvPr/>
        </p:nvSpPr>
        <p:spPr>
          <a:xfrm>
            <a:off x="3401568" y="2560320"/>
            <a:ext cx="2350008" cy="320040"/>
          </a:xfrm>
          <a:prstGeom prst="rect">
            <a:avLst/>
          </a:prstGeom>
          <a:noFill/>
          <a:ln/>
        </p:spPr>
        <p:txBody>
          <a:bodyPr wrap="square" lIns="0" tIns="0" rIns="0" bIns="0" rtlCol="0" anchor="t"/>
          <a:lstStyle/>
          <a:p>
            <a:pPr marL="0" indent="0">
              <a:buNone/>
            </a:pPr>
            <a:r>
              <a:rPr lang="en-US" sz="900" b="1" i="1" dirty="0">
                <a:solidFill>
                  <a:srgbClr val="B83B2E"/>
                </a:solidFill>
                <a:latin typeface="Calibri" pitchFamily="34" charset="0"/>
                <a:ea typeface="Calibri" pitchFamily="34" charset="-122"/>
                <a:cs typeface="Calibri" pitchFamily="34" charset="-120"/>
              </a:rPr>
              <a:t>SDMX · DDI · GSIM</a:t>
            </a:r>
            <a:endParaRPr lang="en-US" sz="900" dirty="0"/>
          </a:p>
        </p:txBody>
      </p:sp>
      <p:sp>
        <p:nvSpPr>
          <p:cNvPr id="29" name="Shape 24"/>
          <p:cNvSpPr/>
          <p:nvPr/>
        </p:nvSpPr>
        <p:spPr>
          <a:xfrm>
            <a:off x="6071616" y="1280160"/>
            <a:ext cx="2624328" cy="1691640"/>
          </a:xfrm>
          <a:prstGeom prst="roundRect">
            <a:avLst>
              <a:gd name="adj" fmla="val 4324"/>
            </a:avLst>
          </a:prstGeom>
          <a:solidFill>
            <a:srgbClr val="F4F7F5"/>
          </a:solidFill>
          <a:ln w="9525">
            <a:solidFill>
              <a:srgbClr val="D5DED9"/>
            </a:solidFill>
            <a:prstDash val="solid"/>
          </a:ln>
        </p:spPr>
      </p:sp>
      <p:sp>
        <p:nvSpPr>
          <p:cNvPr id="30" name="Shape 25"/>
          <p:cNvSpPr/>
          <p:nvPr/>
        </p:nvSpPr>
        <p:spPr>
          <a:xfrm>
            <a:off x="6208776" y="1389888"/>
            <a:ext cx="438912" cy="438912"/>
          </a:xfrm>
          <a:prstGeom prst="ellipse">
            <a:avLst/>
          </a:prstGeom>
          <a:solidFill>
            <a:srgbClr val="B83B2E">
              <a:alpha val="22000"/>
            </a:srgbClr>
          </a:solidFill>
          <a:ln/>
        </p:spPr>
      </p:sp>
      <p:pic>
        <p:nvPicPr>
          <p:cNvPr id="31" name="Image 2" descr="preencoded.png"/>
          <p:cNvPicPr>
            <a:picLocks noChangeAspect="1"/>
          </p:cNvPicPr>
          <p:nvPr/>
        </p:nvPicPr>
        <p:blipFill>
          <a:blip r:embed="rId5"/>
          <a:stretch>
            <a:fillRect/>
          </a:stretch>
        </p:blipFill>
        <p:spPr>
          <a:xfrm>
            <a:off x="6318504" y="1499616"/>
            <a:ext cx="219456" cy="219456"/>
          </a:xfrm>
          <a:prstGeom prst="rect">
            <a:avLst/>
          </a:prstGeom>
        </p:spPr>
      </p:pic>
      <p:sp>
        <p:nvSpPr>
          <p:cNvPr id="32" name="Text 26"/>
          <p:cNvSpPr txBox="1"/>
          <p:nvPr/>
        </p:nvSpPr>
        <p:spPr>
          <a:xfrm>
            <a:off x="6729984" y="1389888"/>
            <a:ext cx="1828800" cy="438912"/>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Operational</a:t>
            </a:r>
            <a:endParaRPr lang="en-US" sz="1500" dirty="0"/>
          </a:p>
        </p:txBody>
      </p:sp>
      <p:sp>
        <p:nvSpPr>
          <p:cNvPr id="33" name="Text 27"/>
          <p:cNvSpPr txBox="1"/>
          <p:nvPr/>
        </p:nvSpPr>
        <p:spPr>
          <a:xfrm>
            <a:off x="6208776" y="1920240"/>
            <a:ext cx="2350008" cy="566928"/>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Lineage, run logs, quality results, access history</a:t>
            </a:r>
            <a:endParaRPr lang="en-US" sz="1050" dirty="0"/>
          </a:p>
        </p:txBody>
      </p:sp>
      <p:sp>
        <p:nvSpPr>
          <p:cNvPr id="34" name="Text 28"/>
          <p:cNvSpPr txBox="1"/>
          <p:nvPr/>
        </p:nvSpPr>
        <p:spPr>
          <a:xfrm>
            <a:off x="6208776" y="2560320"/>
            <a:ext cx="2350008" cy="320040"/>
          </a:xfrm>
          <a:prstGeom prst="rect">
            <a:avLst/>
          </a:prstGeom>
          <a:noFill/>
          <a:ln/>
        </p:spPr>
        <p:txBody>
          <a:bodyPr wrap="square" lIns="0" tIns="0" rIns="0" bIns="0" rtlCol="0" anchor="t"/>
          <a:lstStyle/>
          <a:p>
            <a:pPr marL="0" indent="0">
              <a:buNone/>
            </a:pPr>
            <a:r>
              <a:rPr lang="en-US" sz="900" b="1" i="1" dirty="0">
                <a:solidFill>
                  <a:srgbClr val="B83B2E"/>
                </a:solidFill>
                <a:latin typeface="Calibri" pitchFamily="34" charset="0"/>
                <a:ea typeface="Calibri" pitchFamily="34" charset="-122"/>
                <a:cs typeface="Calibri" pitchFamily="34" charset="-120"/>
              </a:rPr>
              <a:t>Pipeline logs · catalogue lineage</a:t>
            </a:r>
            <a:endParaRPr lang="en-US" sz="900" dirty="0"/>
          </a:p>
        </p:txBody>
      </p:sp>
      <p:sp>
        <p:nvSpPr>
          <p:cNvPr id="35" name="Text 29"/>
          <p:cNvSpPr txBox="1"/>
          <p:nvPr/>
        </p:nvSpPr>
        <p:spPr>
          <a:xfrm>
            <a:off x="457200" y="3127248"/>
            <a:ext cx="8229600" cy="237744"/>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Lineage: every published number traces back to exact inputs</a:t>
            </a:r>
            <a:endParaRPr lang="en-US" sz="1200" dirty="0"/>
          </a:p>
        </p:txBody>
      </p:sp>
      <p:sp>
        <p:nvSpPr>
          <p:cNvPr id="36" name="Shape 30"/>
          <p:cNvSpPr/>
          <p:nvPr/>
        </p:nvSpPr>
        <p:spPr>
          <a:xfrm>
            <a:off x="457200" y="3493008"/>
            <a:ext cx="1463040" cy="731520"/>
          </a:xfrm>
          <a:prstGeom prst="roundRect">
            <a:avLst>
              <a:gd name="adj" fmla="val 10000"/>
            </a:avLst>
          </a:prstGeom>
          <a:solidFill>
            <a:srgbClr val="FFFFFF"/>
          </a:solidFill>
          <a:ln w="15875">
            <a:solidFill>
              <a:srgbClr val="C4621D"/>
            </a:solidFill>
            <a:prstDash val="solid"/>
          </a:ln>
        </p:spPr>
      </p:sp>
      <p:sp>
        <p:nvSpPr>
          <p:cNvPr id="37" name="Text 31"/>
          <p:cNvSpPr txBox="1"/>
          <p:nvPr/>
        </p:nvSpPr>
        <p:spPr>
          <a:xfrm>
            <a:off x="457200" y="3566160"/>
            <a:ext cx="1463040" cy="256032"/>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Raw file</a:t>
            </a:r>
            <a:endParaRPr lang="en-US" sz="1100" dirty="0"/>
          </a:p>
        </p:txBody>
      </p:sp>
      <p:sp>
        <p:nvSpPr>
          <p:cNvPr id="38" name="Text 32"/>
          <p:cNvSpPr txBox="1"/>
          <p:nvPr/>
        </p:nvSpPr>
        <p:spPr>
          <a:xfrm>
            <a:off x="457200" y="3840480"/>
            <a:ext cx="1463040" cy="274320"/>
          </a:xfrm>
          <a:prstGeom prst="rect">
            <a:avLst/>
          </a:prstGeom>
          <a:noFill/>
          <a:ln/>
        </p:spPr>
        <p:txBody>
          <a:bodyPr wrap="square" lIns="0" tIns="0" rIns="0" bIns="0" rtlCol="0" anchor="t"/>
          <a:lstStyle/>
          <a:p>
            <a:pPr marL="0" indent="0" algn="ctr">
              <a:buNone/>
            </a:pPr>
            <a:r>
              <a:rPr lang="en-US" sz="850" dirty="0">
                <a:solidFill>
                  <a:srgbClr val="5E6964"/>
                </a:solidFill>
                <a:latin typeface="Courier New" pitchFamily="34" charset="0"/>
                <a:ea typeface="Courier New" pitchFamily="34" charset="-122"/>
                <a:cs typeface="Courier New" pitchFamily="34" charset="-120"/>
              </a:rPr>
              <a:t>sha256 9f2c…</a:t>
            </a:r>
            <a:endParaRPr lang="en-US" sz="850" dirty="0"/>
          </a:p>
        </p:txBody>
      </p:sp>
      <p:sp>
        <p:nvSpPr>
          <p:cNvPr id="39" name="Shape 33"/>
          <p:cNvSpPr/>
          <p:nvPr/>
        </p:nvSpPr>
        <p:spPr>
          <a:xfrm>
            <a:off x="1947672" y="3858768"/>
            <a:ext cx="173736" cy="91"/>
          </a:xfrm>
          <a:prstGeom prst="line">
            <a:avLst/>
          </a:prstGeom>
          <a:noFill/>
          <a:ln w="15875">
            <a:solidFill>
              <a:srgbClr val="5E6964"/>
            </a:solidFill>
            <a:prstDash val="solid"/>
            <a:tailEnd type="triangle"/>
          </a:ln>
        </p:spPr>
      </p:sp>
      <p:sp>
        <p:nvSpPr>
          <p:cNvPr id="40" name="Shape 34"/>
          <p:cNvSpPr/>
          <p:nvPr/>
        </p:nvSpPr>
        <p:spPr>
          <a:xfrm>
            <a:off x="2148840" y="3493008"/>
            <a:ext cx="1463040" cy="731520"/>
          </a:xfrm>
          <a:prstGeom prst="roundRect">
            <a:avLst>
              <a:gd name="adj" fmla="val 10000"/>
            </a:avLst>
          </a:prstGeom>
          <a:solidFill>
            <a:srgbClr val="FFFFFF"/>
          </a:solidFill>
          <a:ln w="15875">
            <a:solidFill>
              <a:srgbClr val="5E6964"/>
            </a:solidFill>
            <a:prstDash val="solid"/>
          </a:ln>
        </p:spPr>
      </p:sp>
      <p:sp>
        <p:nvSpPr>
          <p:cNvPr id="41" name="Text 35"/>
          <p:cNvSpPr txBox="1"/>
          <p:nvPr/>
        </p:nvSpPr>
        <p:spPr>
          <a:xfrm>
            <a:off x="2148840" y="3566160"/>
            <a:ext cx="1463040" cy="256032"/>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Code commit</a:t>
            </a:r>
            <a:endParaRPr lang="en-US" sz="1100" dirty="0"/>
          </a:p>
        </p:txBody>
      </p:sp>
      <p:sp>
        <p:nvSpPr>
          <p:cNvPr id="42" name="Text 36"/>
          <p:cNvSpPr txBox="1"/>
          <p:nvPr/>
        </p:nvSpPr>
        <p:spPr>
          <a:xfrm>
            <a:off x="2148840" y="3840480"/>
            <a:ext cx="1463040" cy="274320"/>
          </a:xfrm>
          <a:prstGeom prst="rect">
            <a:avLst/>
          </a:prstGeom>
          <a:noFill/>
          <a:ln/>
        </p:spPr>
        <p:txBody>
          <a:bodyPr wrap="square" lIns="0" tIns="0" rIns="0" bIns="0" rtlCol="0" anchor="t"/>
          <a:lstStyle/>
          <a:p>
            <a:pPr marL="0" indent="0" algn="ctr">
              <a:buNone/>
            </a:pPr>
            <a:r>
              <a:rPr lang="en-US" sz="850" dirty="0">
                <a:solidFill>
                  <a:srgbClr val="5E6964"/>
                </a:solidFill>
                <a:latin typeface="Courier New" pitchFamily="34" charset="0"/>
                <a:ea typeface="Courier New" pitchFamily="34" charset="-122"/>
                <a:cs typeface="Courier New" pitchFamily="34" charset="-120"/>
              </a:rPr>
              <a:t>git a41f9c2</a:t>
            </a:r>
            <a:endParaRPr lang="en-US" sz="850" dirty="0"/>
          </a:p>
        </p:txBody>
      </p:sp>
      <p:sp>
        <p:nvSpPr>
          <p:cNvPr id="43" name="Shape 37"/>
          <p:cNvSpPr/>
          <p:nvPr/>
        </p:nvSpPr>
        <p:spPr>
          <a:xfrm>
            <a:off x="3639312" y="3858768"/>
            <a:ext cx="173736" cy="91"/>
          </a:xfrm>
          <a:prstGeom prst="line">
            <a:avLst/>
          </a:prstGeom>
          <a:noFill/>
          <a:ln w="15875">
            <a:solidFill>
              <a:srgbClr val="5E6964"/>
            </a:solidFill>
            <a:prstDash val="solid"/>
            <a:tailEnd type="triangle"/>
          </a:ln>
        </p:spPr>
      </p:sp>
      <p:sp>
        <p:nvSpPr>
          <p:cNvPr id="44" name="Shape 38"/>
          <p:cNvSpPr/>
          <p:nvPr/>
        </p:nvSpPr>
        <p:spPr>
          <a:xfrm>
            <a:off x="3840480" y="3493008"/>
            <a:ext cx="1463040" cy="731520"/>
          </a:xfrm>
          <a:prstGeom prst="roundRect">
            <a:avLst>
              <a:gd name="adj" fmla="val 10000"/>
            </a:avLst>
          </a:prstGeom>
          <a:solidFill>
            <a:srgbClr val="FFFFFF"/>
          </a:solidFill>
          <a:ln w="15875">
            <a:solidFill>
              <a:srgbClr val="5E6964"/>
            </a:solidFill>
            <a:prstDash val="solid"/>
          </a:ln>
        </p:spPr>
      </p:sp>
      <p:sp>
        <p:nvSpPr>
          <p:cNvPr id="45" name="Text 39"/>
          <p:cNvSpPr txBox="1"/>
          <p:nvPr/>
        </p:nvSpPr>
        <p:spPr>
          <a:xfrm>
            <a:off x="3840480" y="3566160"/>
            <a:ext cx="1463040" cy="256032"/>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Silver table</a:t>
            </a:r>
            <a:endParaRPr lang="en-US" sz="1100" dirty="0"/>
          </a:p>
        </p:txBody>
      </p:sp>
      <p:sp>
        <p:nvSpPr>
          <p:cNvPr id="46" name="Text 40"/>
          <p:cNvSpPr txBox="1"/>
          <p:nvPr/>
        </p:nvSpPr>
        <p:spPr>
          <a:xfrm>
            <a:off x="3840480" y="3840480"/>
            <a:ext cx="1463040" cy="274320"/>
          </a:xfrm>
          <a:prstGeom prst="rect">
            <a:avLst/>
          </a:prstGeom>
          <a:noFill/>
          <a:ln/>
        </p:spPr>
        <p:txBody>
          <a:bodyPr wrap="square" lIns="0" tIns="0" rIns="0" bIns="0" rtlCol="0" anchor="t"/>
          <a:lstStyle/>
          <a:p>
            <a:pPr marL="0" indent="0" algn="ctr">
              <a:buNone/>
            </a:pPr>
            <a:r>
              <a:rPr lang="en-US" sz="850" dirty="0">
                <a:solidFill>
                  <a:srgbClr val="5E6964"/>
                </a:solidFill>
                <a:latin typeface="Courier New" pitchFamily="34" charset="0"/>
                <a:ea typeface="Courier New" pitchFamily="34" charset="-122"/>
                <a:cs typeface="Courier New" pitchFamily="34" charset="-120"/>
              </a:rPr>
              <a:t>snapshot 118</a:t>
            </a:r>
            <a:endParaRPr lang="en-US" sz="850" dirty="0"/>
          </a:p>
        </p:txBody>
      </p:sp>
      <p:sp>
        <p:nvSpPr>
          <p:cNvPr id="47" name="Shape 41"/>
          <p:cNvSpPr/>
          <p:nvPr/>
        </p:nvSpPr>
        <p:spPr>
          <a:xfrm>
            <a:off x="5330952" y="3858768"/>
            <a:ext cx="173736" cy="91"/>
          </a:xfrm>
          <a:prstGeom prst="line">
            <a:avLst/>
          </a:prstGeom>
          <a:noFill/>
          <a:ln w="15875">
            <a:solidFill>
              <a:srgbClr val="5E6964"/>
            </a:solidFill>
            <a:prstDash val="solid"/>
            <a:tailEnd type="triangle"/>
          </a:ln>
        </p:spPr>
      </p:sp>
      <p:sp>
        <p:nvSpPr>
          <p:cNvPr id="48" name="Shape 42"/>
          <p:cNvSpPr/>
          <p:nvPr/>
        </p:nvSpPr>
        <p:spPr>
          <a:xfrm>
            <a:off x="5532120" y="3493008"/>
            <a:ext cx="1463040" cy="731520"/>
          </a:xfrm>
          <a:prstGeom prst="roundRect">
            <a:avLst>
              <a:gd name="adj" fmla="val 10000"/>
            </a:avLst>
          </a:prstGeom>
          <a:solidFill>
            <a:srgbClr val="FFFFFF"/>
          </a:solidFill>
          <a:ln w="15875">
            <a:solidFill>
              <a:srgbClr val="D49A00"/>
            </a:solidFill>
            <a:prstDash val="solid"/>
          </a:ln>
        </p:spPr>
      </p:sp>
      <p:sp>
        <p:nvSpPr>
          <p:cNvPr id="49" name="Text 43"/>
          <p:cNvSpPr txBox="1"/>
          <p:nvPr/>
        </p:nvSpPr>
        <p:spPr>
          <a:xfrm>
            <a:off x="5532120" y="3566160"/>
            <a:ext cx="1463040" cy="256032"/>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Gold table</a:t>
            </a:r>
            <a:endParaRPr lang="en-US" sz="1100" dirty="0"/>
          </a:p>
        </p:txBody>
      </p:sp>
      <p:sp>
        <p:nvSpPr>
          <p:cNvPr id="50" name="Text 44"/>
          <p:cNvSpPr txBox="1"/>
          <p:nvPr/>
        </p:nvSpPr>
        <p:spPr>
          <a:xfrm>
            <a:off x="5532120" y="3840480"/>
            <a:ext cx="1463040" cy="274320"/>
          </a:xfrm>
          <a:prstGeom prst="rect">
            <a:avLst/>
          </a:prstGeom>
          <a:noFill/>
          <a:ln/>
        </p:spPr>
        <p:txBody>
          <a:bodyPr wrap="square" lIns="0" tIns="0" rIns="0" bIns="0" rtlCol="0" anchor="t"/>
          <a:lstStyle/>
          <a:p>
            <a:pPr marL="0" indent="0" algn="ctr">
              <a:buNone/>
            </a:pPr>
            <a:r>
              <a:rPr lang="en-US" sz="850" dirty="0">
                <a:solidFill>
                  <a:srgbClr val="5E6964"/>
                </a:solidFill>
                <a:latin typeface="Courier New" pitchFamily="34" charset="0"/>
                <a:ea typeface="Courier New" pitchFamily="34" charset="-122"/>
                <a:cs typeface="Courier New" pitchFamily="34" charset="-120"/>
              </a:rPr>
              <a:t>snapshot 57</a:t>
            </a:r>
            <a:endParaRPr lang="en-US" sz="850" dirty="0"/>
          </a:p>
        </p:txBody>
      </p:sp>
      <p:sp>
        <p:nvSpPr>
          <p:cNvPr id="51" name="Shape 45"/>
          <p:cNvSpPr/>
          <p:nvPr/>
        </p:nvSpPr>
        <p:spPr>
          <a:xfrm>
            <a:off x="7022592" y="3858768"/>
            <a:ext cx="173736" cy="91"/>
          </a:xfrm>
          <a:prstGeom prst="line">
            <a:avLst/>
          </a:prstGeom>
          <a:noFill/>
          <a:ln w="15875">
            <a:solidFill>
              <a:srgbClr val="5E6964"/>
            </a:solidFill>
            <a:prstDash val="solid"/>
            <a:tailEnd type="triangle"/>
          </a:ln>
        </p:spPr>
      </p:sp>
      <p:sp>
        <p:nvSpPr>
          <p:cNvPr id="52" name="Shape 46"/>
          <p:cNvSpPr/>
          <p:nvPr/>
        </p:nvSpPr>
        <p:spPr>
          <a:xfrm>
            <a:off x="7223760" y="3493008"/>
            <a:ext cx="1463040" cy="731520"/>
          </a:xfrm>
          <a:prstGeom prst="roundRect">
            <a:avLst>
              <a:gd name="adj" fmla="val 10000"/>
            </a:avLst>
          </a:prstGeom>
          <a:solidFill>
            <a:srgbClr val="E8F5EF"/>
          </a:solidFill>
          <a:ln w="15875">
            <a:solidFill>
              <a:srgbClr val="B83B2E"/>
            </a:solidFill>
            <a:prstDash val="solid"/>
          </a:ln>
        </p:spPr>
      </p:sp>
      <p:sp>
        <p:nvSpPr>
          <p:cNvPr id="53" name="Text 47"/>
          <p:cNvSpPr txBox="1"/>
          <p:nvPr/>
        </p:nvSpPr>
        <p:spPr>
          <a:xfrm>
            <a:off x="7223760" y="3566160"/>
            <a:ext cx="1463040" cy="256032"/>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Published figure</a:t>
            </a:r>
            <a:endParaRPr lang="en-US" sz="1100" dirty="0"/>
          </a:p>
        </p:txBody>
      </p:sp>
      <p:sp>
        <p:nvSpPr>
          <p:cNvPr id="54" name="Text 48"/>
          <p:cNvSpPr txBox="1"/>
          <p:nvPr/>
        </p:nvSpPr>
        <p:spPr>
          <a:xfrm>
            <a:off x="7223760" y="3840480"/>
            <a:ext cx="1463040" cy="274320"/>
          </a:xfrm>
          <a:prstGeom prst="rect">
            <a:avLst/>
          </a:prstGeom>
          <a:noFill/>
          <a:ln/>
        </p:spPr>
        <p:txBody>
          <a:bodyPr wrap="square" lIns="0" tIns="0" rIns="0" bIns="0" rtlCol="0" anchor="t"/>
          <a:lstStyle/>
          <a:p>
            <a:pPr marL="0" indent="0" algn="ctr">
              <a:buNone/>
            </a:pPr>
            <a:r>
              <a:rPr lang="en-US" sz="850" dirty="0">
                <a:solidFill>
                  <a:srgbClr val="5E6964"/>
                </a:solidFill>
                <a:latin typeface="Courier New" pitchFamily="34" charset="0"/>
                <a:ea typeface="Courier New" pitchFamily="34" charset="-122"/>
                <a:cs typeface="Courier New" pitchFamily="34" charset="-120"/>
              </a:rPr>
              <a:t>Q4 2025 · Kigali</a:t>
            </a:r>
            <a:endParaRPr lang="en-US" sz="850" dirty="0"/>
          </a:p>
        </p:txBody>
      </p:sp>
      <p:sp>
        <p:nvSpPr>
          <p:cNvPr id="55" name="Text 49"/>
          <p:cNvSpPr txBox="1"/>
          <p:nvPr/>
        </p:nvSpPr>
        <p:spPr>
          <a:xfrm>
            <a:off x="457200" y="4590288"/>
            <a:ext cx="7498080" cy="201168"/>
          </a:xfrm>
          <a:prstGeom prst="rect">
            <a:avLst/>
          </a:prstGeom>
          <a:noFill/>
          <a:ln/>
        </p:spPr>
        <p:txBody>
          <a:bodyPr wrap="square" lIns="0" tIns="0" rIns="0" bIns="0" rtlCol="0" anchor="b"/>
          <a:lstStyle/>
          <a:p>
            <a:pPr marL="0" indent="0">
              <a:buNone/>
            </a:pPr>
            <a:r>
              <a:rPr lang="en-US" sz="900" i="1" dirty="0">
                <a:solidFill>
                  <a:srgbClr val="5E6964"/>
                </a:solidFill>
                <a:latin typeface="Calibri" pitchFamily="34" charset="0"/>
                <a:ea typeface="Calibri" pitchFamily="34" charset="-122"/>
                <a:cs typeface="Calibri" pitchFamily="34" charset="-120"/>
              </a:rPr>
              <a:t>Catalogue tools: DataHub, OpenMetadata, CKAN; dataset descriptions: W3C DCAT. Identifiers shown are illustrative.</a:t>
            </a:r>
            <a:endParaRPr lang="en-US" sz="900"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METADATA &amp; VERSIONING</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Version three things, not one</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599932" y="315468"/>
            <a:ext cx="118872" cy="118872"/>
          </a:xfrm>
          <a:prstGeom prst="ellipse">
            <a:avLst/>
          </a:prstGeom>
          <a:solidFill>
            <a:srgbClr val="B83B2E"/>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AfDB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31</a:t>
            </a:r>
            <a:endParaRPr lang="en-US" sz="850" dirty="0"/>
          </a:p>
        </p:txBody>
      </p:sp>
      <p:sp>
        <p:nvSpPr>
          <p:cNvPr id="17" name="Shape 14"/>
          <p:cNvSpPr/>
          <p:nvPr/>
        </p:nvSpPr>
        <p:spPr>
          <a:xfrm>
            <a:off x="457200" y="1280160"/>
            <a:ext cx="2624328" cy="2148840"/>
          </a:xfrm>
          <a:prstGeom prst="roundRect">
            <a:avLst>
              <a:gd name="adj" fmla="val 3404"/>
            </a:avLst>
          </a:prstGeom>
          <a:solidFill>
            <a:srgbClr val="F4F7F5"/>
          </a:solidFill>
          <a:ln w="9525">
            <a:solidFill>
              <a:srgbClr val="D5DED9"/>
            </a:solidFill>
            <a:prstDash val="solid"/>
          </a:ln>
        </p:spPr>
      </p:sp>
      <p:sp>
        <p:nvSpPr>
          <p:cNvPr id="18" name="Shape 15"/>
          <p:cNvSpPr/>
          <p:nvPr/>
        </p:nvSpPr>
        <p:spPr>
          <a:xfrm>
            <a:off x="1490472" y="1389888"/>
            <a:ext cx="548640" cy="548640"/>
          </a:xfrm>
          <a:prstGeom prst="ellipse">
            <a:avLst/>
          </a:prstGeom>
          <a:solidFill>
            <a:srgbClr val="B83B2E">
              <a:alpha val="22000"/>
            </a:srgbClr>
          </a:solidFill>
          <a:ln/>
        </p:spPr>
      </p:sp>
      <p:pic>
        <p:nvPicPr>
          <p:cNvPr id="19" name="Image 0" descr="preencoded.png"/>
          <p:cNvPicPr>
            <a:picLocks noChangeAspect="1"/>
          </p:cNvPicPr>
          <p:nvPr/>
        </p:nvPicPr>
        <p:blipFill>
          <a:blip r:embed="rId3"/>
          <a:stretch>
            <a:fillRect/>
          </a:stretch>
        </p:blipFill>
        <p:spPr>
          <a:xfrm>
            <a:off x="1627632" y="1527048"/>
            <a:ext cx="274320" cy="274320"/>
          </a:xfrm>
          <a:prstGeom prst="rect">
            <a:avLst/>
          </a:prstGeom>
        </p:spPr>
      </p:pic>
      <p:sp>
        <p:nvSpPr>
          <p:cNvPr id="20" name="Text 16"/>
          <p:cNvSpPr txBox="1"/>
          <p:nvPr/>
        </p:nvSpPr>
        <p:spPr>
          <a:xfrm>
            <a:off x="457200" y="1984248"/>
            <a:ext cx="2624328" cy="274320"/>
          </a:xfrm>
          <a:prstGeom prst="rect">
            <a:avLst/>
          </a:prstGeom>
          <a:noFill/>
          <a:ln/>
        </p:spPr>
        <p:txBody>
          <a:bodyPr wrap="square" lIns="0" tIns="0" rIns="0" bIns="0" rtlCol="0" anchor="t"/>
          <a:lstStyle/>
          <a:p>
            <a:pPr marL="0" indent="0" algn="ctr">
              <a:buNone/>
            </a:pPr>
            <a:r>
              <a:rPr lang="en-US" sz="1500" b="1" dirty="0">
                <a:solidFill>
                  <a:srgbClr val="231F20"/>
                </a:solidFill>
                <a:latin typeface="Calibri" pitchFamily="34" charset="0"/>
                <a:ea typeface="Calibri" pitchFamily="34" charset="-122"/>
                <a:cs typeface="Calibri" pitchFamily="34" charset="-120"/>
              </a:rPr>
              <a:t>Code</a:t>
            </a:r>
            <a:endParaRPr lang="en-US" sz="1500" dirty="0"/>
          </a:p>
        </p:txBody>
      </p:sp>
      <p:sp>
        <p:nvSpPr>
          <p:cNvPr id="21" name="Text 17"/>
          <p:cNvSpPr txBox="1"/>
          <p:nvPr/>
        </p:nvSpPr>
        <p:spPr>
          <a:xfrm>
            <a:off x="594360" y="2331720"/>
            <a:ext cx="2377440" cy="105156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231F20"/>
                </a:solidFill>
                <a:latin typeface="Calibri" pitchFamily="34" charset="0"/>
                <a:ea typeface="Calibri" pitchFamily="34" charset="-122"/>
                <a:cs typeface="Calibri" pitchFamily="34" charset="-120"/>
              </a:rPr>
              <a:t>Git repository, reviewed pull requests</a:t>
            </a:r>
            <a:endParaRPr lang="en-US" sz="1000" dirty="0"/>
          </a:p>
          <a:p>
            <a:pPr marL="342900" indent="-342900">
              <a:spcAft>
                <a:spcPts val="400"/>
              </a:spcAft>
              <a:buSzPct val="100000"/>
              <a:buChar char="•"/>
            </a:pPr>
            <a:r>
              <a:rPr lang="en-US" sz="1000" dirty="0">
                <a:solidFill>
                  <a:srgbClr val="231F20"/>
                </a:solidFill>
                <a:latin typeface="Calibri" pitchFamily="34" charset="0"/>
                <a:ea typeface="Calibri" pitchFamily="34" charset="-122"/>
                <a:cs typeface="Calibri" pitchFamily="34" charset="-120"/>
              </a:rPr>
              <a:t>Tagged releases (v1.2.0)</a:t>
            </a:r>
            <a:endParaRPr lang="en-US" sz="1000" dirty="0"/>
          </a:p>
          <a:p>
            <a:pPr marL="342900" indent="-342900">
              <a:spcAft>
                <a:spcPts val="400"/>
              </a:spcAft>
              <a:buSzPct val="100000"/>
              <a:buChar char="•"/>
            </a:pPr>
            <a:r>
              <a:rPr lang="en-US" sz="1000" dirty="0">
                <a:solidFill>
                  <a:srgbClr val="231F20"/>
                </a:solidFill>
                <a:latin typeface="Calibri" pitchFamily="34" charset="0"/>
                <a:ea typeface="Calibri" pitchFamily="34" charset="-122"/>
                <a:cs typeface="Calibri" pitchFamily="34" charset="-120"/>
              </a:rPr>
              <a:t>Automated tests in CI</a:t>
            </a:r>
            <a:endParaRPr lang="en-US" sz="1000" dirty="0"/>
          </a:p>
        </p:txBody>
      </p:sp>
      <p:sp>
        <p:nvSpPr>
          <p:cNvPr id="22" name="Shape 18"/>
          <p:cNvSpPr/>
          <p:nvPr/>
        </p:nvSpPr>
        <p:spPr>
          <a:xfrm>
            <a:off x="3264408" y="1280160"/>
            <a:ext cx="2624328" cy="2148840"/>
          </a:xfrm>
          <a:prstGeom prst="roundRect">
            <a:avLst>
              <a:gd name="adj" fmla="val 3404"/>
            </a:avLst>
          </a:prstGeom>
          <a:solidFill>
            <a:srgbClr val="F4F7F5"/>
          </a:solidFill>
          <a:ln w="9525">
            <a:solidFill>
              <a:srgbClr val="D5DED9"/>
            </a:solidFill>
            <a:prstDash val="solid"/>
          </a:ln>
        </p:spPr>
      </p:sp>
      <p:sp>
        <p:nvSpPr>
          <p:cNvPr id="23" name="Shape 19"/>
          <p:cNvSpPr/>
          <p:nvPr/>
        </p:nvSpPr>
        <p:spPr>
          <a:xfrm>
            <a:off x="4297680" y="1389888"/>
            <a:ext cx="548640" cy="548640"/>
          </a:xfrm>
          <a:prstGeom prst="ellipse">
            <a:avLst/>
          </a:prstGeom>
          <a:solidFill>
            <a:srgbClr val="B83B2E">
              <a:alpha val="22000"/>
            </a:srgbClr>
          </a:solidFill>
          <a:ln/>
        </p:spPr>
      </p:sp>
      <p:pic>
        <p:nvPicPr>
          <p:cNvPr id="24" name="Image 1" descr="preencoded.png"/>
          <p:cNvPicPr>
            <a:picLocks noChangeAspect="1"/>
          </p:cNvPicPr>
          <p:nvPr/>
        </p:nvPicPr>
        <p:blipFill>
          <a:blip r:embed="rId4"/>
          <a:stretch>
            <a:fillRect/>
          </a:stretch>
        </p:blipFill>
        <p:spPr>
          <a:xfrm>
            <a:off x="4434840" y="1527048"/>
            <a:ext cx="274320" cy="274320"/>
          </a:xfrm>
          <a:prstGeom prst="rect">
            <a:avLst/>
          </a:prstGeom>
        </p:spPr>
      </p:pic>
      <p:sp>
        <p:nvSpPr>
          <p:cNvPr id="25" name="Text 20"/>
          <p:cNvSpPr txBox="1"/>
          <p:nvPr/>
        </p:nvSpPr>
        <p:spPr>
          <a:xfrm>
            <a:off x="3264408" y="1984248"/>
            <a:ext cx="2624328" cy="274320"/>
          </a:xfrm>
          <a:prstGeom prst="rect">
            <a:avLst/>
          </a:prstGeom>
          <a:noFill/>
          <a:ln/>
        </p:spPr>
        <p:txBody>
          <a:bodyPr wrap="square" lIns="0" tIns="0" rIns="0" bIns="0" rtlCol="0" anchor="t"/>
          <a:lstStyle/>
          <a:p>
            <a:pPr marL="0" indent="0" algn="ctr">
              <a:buNone/>
            </a:pPr>
            <a:r>
              <a:rPr lang="en-US" sz="1500" b="1" dirty="0">
                <a:solidFill>
                  <a:srgbClr val="231F20"/>
                </a:solidFill>
                <a:latin typeface="Calibri" pitchFamily="34" charset="0"/>
                <a:ea typeface="Calibri" pitchFamily="34" charset="-122"/>
                <a:cs typeface="Calibri" pitchFamily="34" charset="-120"/>
              </a:rPr>
              <a:t>Data</a:t>
            </a:r>
            <a:endParaRPr lang="en-US" sz="1500" dirty="0"/>
          </a:p>
        </p:txBody>
      </p:sp>
      <p:sp>
        <p:nvSpPr>
          <p:cNvPr id="26" name="Text 21"/>
          <p:cNvSpPr txBox="1"/>
          <p:nvPr/>
        </p:nvSpPr>
        <p:spPr>
          <a:xfrm>
            <a:off x="3401568" y="2331720"/>
            <a:ext cx="2377440" cy="105156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231F20"/>
                </a:solidFill>
                <a:latin typeface="Calibri" pitchFamily="34" charset="0"/>
                <a:ea typeface="Calibri" pitchFamily="34" charset="-122"/>
                <a:cs typeface="Calibri" pitchFamily="34" charset="-120"/>
              </a:rPr>
              <a:t>Table snapshots: Iceberg, Delta Lake</a:t>
            </a:r>
            <a:endParaRPr lang="en-US" sz="1000" dirty="0"/>
          </a:p>
          <a:p>
            <a:pPr marL="342900" indent="-342900">
              <a:spcAft>
                <a:spcPts val="400"/>
              </a:spcAft>
              <a:buSzPct val="100000"/>
              <a:buChar char="•"/>
            </a:pPr>
            <a:r>
              <a:rPr lang="en-US" sz="1000" dirty="0">
                <a:solidFill>
                  <a:srgbClr val="231F20"/>
                </a:solidFill>
                <a:latin typeface="Calibri" pitchFamily="34" charset="0"/>
                <a:ea typeface="Calibri" pitchFamily="34" charset="-122"/>
                <a:cs typeface="Calibri" pitchFamily="34" charset="-120"/>
              </a:rPr>
              <a:t>File versioning: DVC, lakeFS</a:t>
            </a:r>
            <a:endParaRPr lang="en-US" sz="1000" dirty="0"/>
          </a:p>
          <a:p>
            <a:pPr marL="342900" indent="-342900">
              <a:spcAft>
                <a:spcPts val="400"/>
              </a:spcAft>
              <a:buSzPct val="100000"/>
              <a:buChar char="•"/>
            </a:pPr>
            <a:r>
              <a:rPr lang="en-US" sz="1000" dirty="0">
                <a:solidFill>
                  <a:srgbClr val="231F20"/>
                </a:solidFill>
                <a:latin typeface="Calibri" pitchFamily="34" charset="0"/>
                <a:ea typeface="Calibri" pitchFamily="34" charset="-122"/>
                <a:cs typeface="Calibri" pitchFamily="34" charset="-120"/>
              </a:rPr>
              <a:t>Bronze zone is never overwritten</a:t>
            </a:r>
            <a:endParaRPr lang="en-US" sz="1000" dirty="0"/>
          </a:p>
        </p:txBody>
      </p:sp>
      <p:sp>
        <p:nvSpPr>
          <p:cNvPr id="27" name="Shape 22"/>
          <p:cNvSpPr/>
          <p:nvPr/>
        </p:nvSpPr>
        <p:spPr>
          <a:xfrm>
            <a:off x="6071616" y="1280160"/>
            <a:ext cx="2624328" cy="2148840"/>
          </a:xfrm>
          <a:prstGeom prst="roundRect">
            <a:avLst>
              <a:gd name="adj" fmla="val 3404"/>
            </a:avLst>
          </a:prstGeom>
          <a:solidFill>
            <a:srgbClr val="F4F7F5"/>
          </a:solidFill>
          <a:ln w="9525">
            <a:solidFill>
              <a:srgbClr val="D5DED9"/>
            </a:solidFill>
            <a:prstDash val="solid"/>
          </a:ln>
        </p:spPr>
      </p:sp>
      <p:sp>
        <p:nvSpPr>
          <p:cNvPr id="28" name="Shape 23"/>
          <p:cNvSpPr/>
          <p:nvPr/>
        </p:nvSpPr>
        <p:spPr>
          <a:xfrm>
            <a:off x="7104888" y="1389888"/>
            <a:ext cx="548640" cy="548640"/>
          </a:xfrm>
          <a:prstGeom prst="ellipse">
            <a:avLst/>
          </a:prstGeom>
          <a:solidFill>
            <a:srgbClr val="B83B2E">
              <a:alpha val="22000"/>
            </a:srgbClr>
          </a:solidFill>
          <a:ln/>
        </p:spPr>
      </p:sp>
      <p:pic>
        <p:nvPicPr>
          <p:cNvPr id="29" name="Image 2" descr="preencoded.png"/>
          <p:cNvPicPr>
            <a:picLocks noChangeAspect="1"/>
          </p:cNvPicPr>
          <p:nvPr/>
        </p:nvPicPr>
        <p:blipFill>
          <a:blip r:embed="rId5"/>
          <a:stretch>
            <a:fillRect/>
          </a:stretch>
        </p:blipFill>
        <p:spPr>
          <a:xfrm>
            <a:off x="7242048" y="1527048"/>
            <a:ext cx="274320" cy="274320"/>
          </a:xfrm>
          <a:prstGeom prst="rect">
            <a:avLst/>
          </a:prstGeom>
        </p:spPr>
      </p:pic>
      <p:sp>
        <p:nvSpPr>
          <p:cNvPr id="30" name="Text 24"/>
          <p:cNvSpPr txBox="1"/>
          <p:nvPr/>
        </p:nvSpPr>
        <p:spPr>
          <a:xfrm>
            <a:off x="6071616" y="1984248"/>
            <a:ext cx="2624328" cy="274320"/>
          </a:xfrm>
          <a:prstGeom prst="rect">
            <a:avLst/>
          </a:prstGeom>
          <a:noFill/>
          <a:ln/>
        </p:spPr>
        <p:txBody>
          <a:bodyPr wrap="square" lIns="0" tIns="0" rIns="0" bIns="0" rtlCol="0" anchor="t"/>
          <a:lstStyle/>
          <a:p>
            <a:pPr marL="0" indent="0" algn="ctr">
              <a:buNone/>
            </a:pPr>
            <a:r>
              <a:rPr lang="en-US" sz="1500" b="1" dirty="0">
                <a:solidFill>
                  <a:srgbClr val="231F20"/>
                </a:solidFill>
                <a:latin typeface="Calibri" pitchFamily="34" charset="0"/>
                <a:ea typeface="Calibri" pitchFamily="34" charset="-122"/>
                <a:cs typeface="Calibri" pitchFamily="34" charset="-120"/>
              </a:rPr>
              <a:t>Environment</a:t>
            </a:r>
            <a:endParaRPr lang="en-US" sz="1500" dirty="0"/>
          </a:p>
        </p:txBody>
      </p:sp>
      <p:sp>
        <p:nvSpPr>
          <p:cNvPr id="31" name="Text 25"/>
          <p:cNvSpPr txBox="1"/>
          <p:nvPr/>
        </p:nvSpPr>
        <p:spPr>
          <a:xfrm>
            <a:off x="6208776" y="2331720"/>
            <a:ext cx="2377440" cy="105156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231F20"/>
                </a:solidFill>
                <a:latin typeface="Calibri" pitchFamily="34" charset="0"/>
                <a:ea typeface="Calibri" pitchFamily="34" charset="-122"/>
                <a:cs typeface="Calibri" pitchFamily="34" charset="-120"/>
              </a:rPr>
              <a:t>Pinned dependencies: lock files</a:t>
            </a:r>
            <a:endParaRPr lang="en-US" sz="1000" dirty="0"/>
          </a:p>
          <a:p>
            <a:pPr marL="342900" indent="-342900">
              <a:spcAft>
                <a:spcPts val="400"/>
              </a:spcAft>
              <a:buSzPct val="100000"/>
              <a:buChar char="•"/>
            </a:pPr>
            <a:r>
              <a:rPr lang="en-US" sz="1000" dirty="0">
                <a:solidFill>
                  <a:srgbClr val="231F20"/>
                </a:solidFill>
                <a:latin typeface="Calibri" pitchFamily="34" charset="0"/>
                <a:ea typeface="Calibri" pitchFamily="34" charset="-122"/>
                <a:cs typeface="Calibri" pitchFamily="34" charset="-120"/>
              </a:rPr>
              <a:t>Conda environments or containers</a:t>
            </a:r>
            <a:endParaRPr lang="en-US" sz="1000" dirty="0"/>
          </a:p>
          <a:p>
            <a:pPr marL="342900" indent="-342900">
              <a:spcAft>
                <a:spcPts val="400"/>
              </a:spcAft>
              <a:buSzPct val="100000"/>
              <a:buChar char="•"/>
            </a:pPr>
            <a:r>
              <a:rPr lang="en-US" sz="1000" dirty="0">
                <a:solidFill>
                  <a:srgbClr val="231F20"/>
                </a:solidFill>
                <a:latin typeface="Calibri" pitchFamily="34" charset="0"/>
                <a:ea typeface="Calibri" pitchFamily="34" charset="-122"/>
                <a:cs typeface="Calibri" pitchFamily="34" charset="-120"/>
              </a:rPr>
              <a:t>Same inputs + same code + same env = same number</a:t>
            </a:r>
            <a:endParaRPr lang="en-US" sz="1000" dirty="0"/>
          </a:p>
        </p:txBody>
      </p:sp>
      <p:sp>
        <p:nvSpPr>
          <p:cNvPr id="32" name="Shape 26"/>
          <p:cNvSpPr/>
          <p:nvPr/>
        </p:nvSpPr>
        <p:spPr>
          <a:xfrm>
            <a:off x="457200" y="3611880"/>
            <a:ext cx="8229600" cy="868680"/>
          </a:xfrm>
          <a:prstGeom prst="roundRect">
            <a:avLst>
              <a:gd name="adj" fmla="val 8421"/>
            </a:avLst>
          </a:prstGeom>
          <a:solidFill>
            <a:srgbClr val="E8F5EF"/>
          </a:solidFill>
          <a:ln w="15875">
            <a:solidFill>
              <a:srgbClr val="B83B2E"/>
            </a:solidFill>
            <a:prstDash val="solid"/>
          </a:ln>
        </p:spPr>
      </p:sp>
      <p:sp>
        <p:nvSpPr>
          <p:cNvPr id="33" name="Shape 27"/>
          <p:cNvSpPr/>
          <p:nvPr/>
        </p:nvSpPr>
        <p:spPr>
          <a:xfrm>
            <a:off x="621792" y="3813048"/>
            <a:ext cx="475488" cy="475488"/>
          </a:xfrm>
          <a:prstGeom prst="ellipse">
            <a:avLst/>
          </a:prstGeom>
          <a:solidFill>
            <a:srgbClr val="231F20">
              <a:alpha val="22000"/>
            </a:srgbClr>
          </a:solidFill>
          <a:ln/>
        </p:spPr>
      </p:sp>
      <p:pic>
        <p:nvPicPr>
          <p:cNvPr id="34" name="Image 3" descr="preencoded.png"/>
          <p:cNvPicPr>
            <a:picLocks noChangeAspect="1"/>
          </p:cNvPicPr>
          <p:nvPr/>
        </p:nvPicPr>
        <p:blipFill>
          <a:blip r:embed="rId6"/>
          <a:stretch>
            <a:fillRect/>
          </a:stretch>
        </p:blipFill>
        <p:spPr>
          <a:xfrm>
            <a:off x="740664" y="3931920"/>
            <a:ext cx="237744" cy="237744"/>
          </a:xfrm>
          <a:prstGeom prst="rect">
            <a:avLst/>
          </a:prstGeom>
        </p:spPr>
      </p:pic>
      <p:sp>
        <p:nvSpPr>
          <p:cNvPr id="35" name="Text 28"/>
          <p:cNvSpPr txBox="1"/>
          <p:nvPr/>
        </p:nvSpPr>
        <p:spPr>
          <a:xfrm>
            <a:off x="1280160" y="3675888"/>
            <a:ext cx="7223760" cy="256032"/>
          </a:xfrm>
          <a:prstGeom prst="rect">
            <a:avLst/>
          </a:prstGeom>
          <a:noFill/>
          <a:ln/>
        </p:spPr>
        <p:txBody>
          <a:bodyPr wrap="square" lIns="0" tIns="0" rIns="0" bIns="0" rtlCol="0" anchor="t"/>
          <a:lstStyle/>
          <a:p>
            <a:pPr marL="0" indent="0">
              <a:buNone/>
            </a:pPr>
            <a:r>
              <a:rPr lang="en-US" sz="1250" b="1" dirty="0">
                <a:solidFill>
                  <a:srgbClr val="B83B2E"/>
                </a:solidFill>
                <a:latin typeface="Calibri" pitchFamily="34" charset="0"/>
                <a:ea typeface="Calibri" pitchFamily="34" charset="-122"/>
                <a:cs typeface="Calibri" pitchFamily="34" charset="-120"/>
              </a:rPr>
              <a:t>The release = what Days 3–5 will produce</a:t>
            </a:r>
            <a:endParaRPr lang="en-US" sz="1250" dirty="0"/>
          </a:p>
        </p:txBody>
      </p:sp>
      <p:sp>
        <p:nvSpPr>
          <p:cNvPr id="36" name="Text 29"/>
          <p:cNvSpPr txBox="1"/>
          <p:nvPr/>
        </p:nvSpPr>
        <p:spPr>
          <a:xfrm>
            <a:off x="1280160" y="3950208"/>
            <a:ext cx="7223760" cy="45720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Tagged GitHub release  +  README (method, sources, licence, limitations)  +  citable DOI via Zenodo  +  named maintainer</a:t>
            </a:r>
            <a:endParaRPr lang="en-US" sz="1050" dirty="0"/>
          </a:p>
        </p:txBody>
      </p:sp>
      <p:sp>
        <p:nvSpPr>
          <p:cNvPr id="37" name="Text 30"/>
          <p:cNvSpPr txBox="1"/>
          <p:nvPr/>
        </p:nvSpPr>
        <p:spPr>
          <a:xfrm>
            <a:off x="457200" y="4590288"/>
            <a:ext cx="7498080" cy="201168"/>
          </a:xfrm>
          <a:prstGeom prst="rect">
            <a:avLst/>
          </a:prstGeom>
          <a:noFill/>
          <a:ln/>
        </p:spPr>
        <p:txBody>
          <a:bodyPr wrap="square" lIns="0" tIns="0" rIns="0" bIns="0" rtlCol="0" anchor="b"/>
          <a:lstStyle/>
          <a:p>
            <a:pPr marL="0" indent="0">
              <a:buNone/>
            </a:pPr>
            <a:r>
              <a:rPr lang="en-US" sz="900" i="1" dirty="0">
                <a:solidFill>
                  <a:srgbClr val="5E6964"/>
                </a:solidFill>
                <a:latin typeface="Calibri" pitchFamily="34" charset="0"/>
                <a:ea typeface="Calibri" pitchFamily="34" charset="-122"/>
                <a:cs typeface="Calibri" pitchFamily="34" charset="-120"/>
              </a:rPr>
              <a:t>Sources: GitHub–Zenodo integration documentation; DVC and lakeFS documentation.</a:t>
            </a:r>
            <a:endParaRPr lang="en-US" sz="900" dirty="0"/>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SYNTHESIS</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A platform an NSO can grow into</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AfDB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32</a:t>
            </a:r>
            <a:endParaRPr lang="en-US" sz="850" dirty="0"/>
          </a:p>
        </p:txBody>
      </p:sp>
      <p:sp>
        <p:nvSpPr>
          <p:cNvPr id="17" name="Shape 14"/>
          <p:cNvSpPr/>
          <p:nvPr/>
        </p:nvSpPr>
        <p:spPr>
          <a:xfrm>
            <a:off x="457200" y="1280160"/>
            <a:ext cx="3840480" cy="2697480"/>
          </a:xfrm>
          <a:prstGeom prst="roundRect">
            <a:avLst>
              <a:gd name="adj" fmla="val 2712"/>
            </a:avLst>
          </a:prstGeom>
          <a:solidFill>
            <a:srgbClr val="F4F7F5"/>
          </a:solidFill>
          <a:ln w="9525">
            <a:solidFill>
              <a:srgbClr val="D5DED9"/>
            </a:solidFill>
            <a:prstDash val="solid"/>
          </a:ln>
        </p:spPr>
      </p:sp>
      <p:sp>
        <p:nvSpPr>
          <p:cNvPr id="18" name="Text 15"/>
          <p:cNvSpPr txBox="1"/>
          <p:nvPr/>
        </p:nvSpPr>
        <p:spPr>
          <a:xfrm>
            <a:off x="621792" y="1371600"/>
            <a:ext cx="1097280" cy="256032"/>
          </a:xfrm>
          <a:prstGeom prst="rect">
            <a:avLst/>
          </a:prstGeom>
          <a:noFill/>
          <a:ln/>
        </p:spPr>
        <p:txBody>
          <a:bodyPr wrap="square" lIns="0" tIns="0" rIns="0" bIns="0" rtlCol="0" anchor="t"/>
          <a:lstStyle/>
          <a:p>
            <a:pPr marL="0" indent="0">
              <a:buNone/>
            </a:pPr>
            <a:r>
              <a:rPr lang="en-US" sz="1200" b="1" kern="0" spc="300" dirty="0">
                <a:solidFill>
                  <a:srgbClr val="00A86A"/>
                </a:solidFill>
                <a:latin typeface="Calibri" pitchFamily="34" charset="0"/>
                <a:ea typeface="Calibri" pitchFamily="34" charset="-122"/>
                <a:cs typeface="Calibri" pitchFamily="34" charset="-120"/>
              </a:rPr>
              <a:t>START</a:t>
            </a:r>
            <a:endParaRPr lang="en-US" sz="1200" dirty="0"/>
          </a:p>
        </p:txBody>
      </p:sp>
      <p:sp>
        <p:nvSpPr>
          <p:cNvPr id="19" name="Text 16"/>
          <p:cNvSpPr txBox="1"/>
          <p:nvPr/>
        </p:nvSpPr>
        <p:spPr>
          <a:xfrm>
            <a:off x="1554480" y="1371600"/>
            <a:ext cx="2606040" cy="256032"/>
          </a:xfrm>
          <a:prstGeom prst="rect">
            <a:avLst/>
          </a:prstGeom>
          <a:noFill/>
          <a:ln/>
        </p:spPr>
        <p:txBody>
          <a:bodyPr wrap="square" lIns="0" tIns="0" rIns="0" bIns="0" rtlCol="0" anchor="t"/>
          <a:lstStyle/>
          <a:p>
            <a:pPr marL="0" indent="0" algn="r">
              <a:buNone/>
            </a:pPr>
            <a:r>
              <a:rPr lang="en-US" sz="1200" b="1" dirty="0">
                <a:solidFill>
                  <a:srgbClr val="231F20"/>
                </a:solidFill>
                <a:latin typeface="Calibri" pitchFamily="34" charset="0"/>
                <a:ea typeface="Calibri" pitchFamily="34" charset="-122"/>
                <a:cs typeface="Calibri" pitchFamily="34" charset="-120"/>
              </a:rPr>
              <a:t>One server or laptop</a:t>
            </a:r>
            <a:endParaRPr lang="en-US" sz="1200" dirty="0"/>
          </a:p>
        </p:txBody>
      </p:sp>
      <p:sp>
        <p:nvSpPr>
          <p:cNvPr id="20" name="Shape 17"/>
          <p:cNvSpPr/>
          <p:nvPr/>
        </p:nvSpPr>
        <p:spPr>
          <a:xfrm>
            <a:off x="640080" y="1837944"/>
            <a:ext cx="109728" cy="109728"/>
          </a:xfrm>
          <a:prstGeom prst="ellipse">
            <a:avLst/>
          </a:prstGeom>
          <a:solidFill>
            <a:srgbClr val="00704A"/>
          </a:solidFill>
          <a:ln/>
        </p:spPr>
      </p:sp>
      <p:sp>
        <p:nvSpPr>
          <p:cNvPr id="21" name="Text 18"/>
          <p:cNvSpPr txBox="1"/>
          <p:nvPr/>
        </p:nvSpPr>
        <p:spPr>
          <a:xfrm>
            <a:off x="841248" y="1737360"/>
            <a:ext cx="1143000" cy="310896"/>
          </a:xfrm>
          <a:prstGeom prst="rect">
            <a:avLst/>
          </a:prstGeom>
          <a:noFill/>
          <a:ln/>
        </p:spPr>
        <p:txBody>
          <a:bodyPr wrap="square" lIns="0" tIns="0" rIns="0" bIns="0" rtlCol="0" anchor="ctr"/>
          <a:lstStyle/>
          <a:p>
            <a:pPr marL="0" indent="0">
              <a:buNone/>
            </a:pPr>
            <a:r>
              <a:rPr lang="en-US" sz="1000" b="1" dirty="0">
                <a:solidFill>
                  <a:srgbClr val="5E6964"/>
                </a:solidFill>
                <a:latin typeface="Calibri" pitchFamily="34" charset="0"/>
                <a:ea typeface="Calibri" pitchFamily="34" charset="-122"/>
                <a:cs typeface="Calibri" pitchFamily="34" charset="-120"/>
              </a:rPr>
              <a:t>Storage</a:t>
            </a:r>
            <a:endParaRPr lang="en-US" sz="1000" dirty="0"/>
          </a:p>
        </p:txBody>
      </p:sp>
      <p:sp>
        <p:nvSpPr>
          <p:cNvPr id="22" name="Text 19"/>
          <p:cNvSpPr txBox="1"/>
          <p:nvPr/>
        </p:nvSpPr>
        <p:spPr>
          <a:xfrm>
            <a:off x="1965960" y="1737360"/>
            <a:ext cx="2240280" cy="31089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Folders or MinIO + Parquet</a:t>
            </a:r>
            <a:endParaRPr lang="en-US" sz="1050" dirty="0"/>
          </a:p>
        </p:txBody>
      </p:sp>
      <p:sp>
        <p:nvSpPr>
          <p:cNvPr id="23" name="Shape 20"/>
          <p:cNvSpPr/>
          <p:nvPr/>
        </p:nvSpPr>
        <p:spPr>
          <a:xfrm>
            <a:off x="640080" y="2203704"/>
            <a:ext cx="109728" cy="109728"/>
          </a:xfrm>
          <a:prstGeom prst="ellipse">
            <a:avLst/>
          </a:prstGeom>
          <a:solidFill>
            <a:srgbClr val="0E7C86"/>
          </a:solidFill>
          <a:ln/>
        </p:spPr>
      </p:sp>
      <p:sp>
        <p:nvSpPr>
          <p:cNvPr id="24" name="Text 21"/>
          <p:cNvSpPr txBox="1"/>
          <p:nvPr/>
        </p:nvSpPr>
        <p:spPr>
          <a:xfrm>
            <a:off x="841248" y="2103120"/>
            <a:ext cx="1143000" cy="310896"/>
          </a:xfrm>
          <a:prstGeom prst="rect">
            <a:avLst/>
          </a:prstGeom>
          <a:noFill/>
          <a:ln/>
        </p:spPr>
        <p:txBody>
          <a:bodyPr wrap="square" lIns="0" tIns="0" rIns="0" bIns="0" rtlCol="0" anchor="ctr"/>
          <a:lstStyle/>
          <a:p>
            <a:pPr marL="0" indent="0">
              <a:buNone/>
            </a:pPr>
            <a:r>
              <a:rPr lang="en-US" sz="1000" b="1" dirty="0">
                <a:solidFill>
                  <a:srgbClr val="5E6964"/>
                </a:solidFill>
                <a:latin typeface="Calibri" pitchFamily="34" charset="0"/>
                <a:ea typeface="Calibri" pitchFamily="34" charset="-122"/>
                <a:cs typeface="Calibri" pitchFamily="34" charset="-120"/>
              </a:rPr>
              <a:t>Processing</a:t>
            </a:r>
            <a:endParaRPr lang="en-US" sz="1000" dirty="0"/>
          </a:p>
        </p:txBody>
      </p:sp>
      <p:sp>
        <p:nvSpPr>
          <p:cNvPr id="25" name="Text 22"/>
          <p:cNvSpPr txBox="1"/>
          <p:nvPr/>
        </p:nvSpPr>
        <p:spPr>
          <a:xfrm>
            <a:off x="1965960" y="2103120"/>
            <a:ext cx="2240280" cy="31089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DuckDB · Polars · pandas</a:t>
            </a:r>
            <a:endParaRPr lang="en-US" sz="1050" dirty="0"/>
          </a:p>
        </p:txBody>
      </p:sp>
      <p:sp>
        <p:nvSpPr>
          <p:cNvPr id="26" name="Shape 23"/>
          <p:cNvSpPr/>
          <p:nvPr/>
        </p:nvSpPr>
        <p:spPr>
          <a:xfrm>
            <a:off x="640080" y="2569464"/>
            <a:ext cx="109728" cy="109728"/>
          </a:xfrm>
          <a:prstGeom prst="ellipse">
            <a:avLst/>
          </a:prstGeom>
          <a:solidFill>
            <a:srgbClr val="D49A00"/>
          </a:solidFill>
          <a:ln/>
        </p:spPr>
      </p:sp>
      <p:sp>
        <p:nvSpPr>
          <p:cNvPr id="27" name="Text 24"/>
          <p:cNvSpPr txBox="1"/>
          <p:nvPr/>
        </p:nvSpPr>
        <p:spPr>
          <a:xfrm>
            <a:off x="841248" y="2468880"/>
            <a:ext cx="1143000" cy="310896"/>
          </a:xfrm>
          <a:prstGeom prst="rect">
            <a:avLst/>
          </a:prstGeom>
          <a:noFill/>
          <a:ln/>
        </p:spPr>
        <p:txBody>
          <a:bodyPr wrap="square" lIns="0" tIns="0" rIns="0" bIns="0" rtlCol="0" anchor="ctr"/>
          <a:lstStyle/>
          <a:p>
            <a:pPr marL="0" indent="0">
              <a:buNone/>
            </a:pPr>
            <a:r>
              <a:rPr lang="en-US" sz="1000" b="1" dirty="0">
                <a:solidFill>
                  <a:srgbClr val="5E6964"/>
                </a:solidFill>
                <a:latin typeface="Calibri" pitchFamily="34" charset="0"/>
                <a:ea typeface="Calibri" pitchFamily="34" charset="-122"/>
                <a:cs typeface="Calibri" pitchFamily="34" charset="-120"/>
              </a:rPr>
              <a:t>Search</a:t>
            </a:r>
            <a:endParaRPr lang="en-US" sz="1000" dirty="0"/>
          </a:p>
        </p:txBody>
      </p:sp>
      <p:sp>
        <p:nvSpPr>
          <p:cNvPr id="28" name="Text 25"/>
          <p:cNvSpPr txBox="1"/>
          <p:nvPr/>
        </p:nvSpPr>
        <p:spPr>
          <a:xfrm>
            <a:off x="1965960" y="2468880"/>
            <a:ext cx="2240280" cy="31089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Optional</a:t>
            </a:r>
            <a:endParaRPr lang="en-US" sz="1050" dirty="0"/>
          </a:p>
        </p:txBody>
      </p:sp>
      <p:sp>
        <p:nvSpPr>
          <p:cNvPr id="29" name="Shape 26"/>
          <p:cNvSpPr/>
          <p:nvPr/>
        </p:nvSpPr>
        <p:spPr>
          <a:xfrm>
            <a:off x="640080" y="2935224"/>
            <a:ext cx="109728" cy="109728"/>
          </a:xfrm>
          <a:prstGeom prst="ellipse">
            <a:avLst/>
          </a:prstGeom>
          <a:solidFill>
            <a:srgbClr val="C4621D"/>
          </a:solidFill>
          <a:ln/>
        </p:spPr>
      </p:sp>
      <p:sp>
        <p:nvSpPr>
          <p:cNvPr id="30" name="Text 27"/>
          <p:cNvSpPr txBox="1"/>
          <p:nvPr/>
        </p:nvSpPr>
        <p:spPr>
          <a:xfrm>
            <a:off x="841248" y="2834640"/>
            <a:ext cx="1143000" cy="310896"/>
          </a:xfrm>
          <a:prstGeom prst="rect">
            <a:avLst/>
          </a:prstGeom>
          <a:noFill/>
          <a:ln/>
        </p:spPr>
        <p:txBody>
          <a:bodyPr wrap="square" lIns="0" tIns="0" rIns="0" bIns="0" rtlCol="0" anchor="ctr"/>
          <a:lstStyle/>
          <a:p>
            <a:pPr marL="0" indent="0">
              <a:buNone/>
            </a:pPr>
            <a:r>
              <a:rPr lang="en-US" sz="1000" b="1" dirty="0">
                <a:solidFill>
                  <a:srgbClr val="5E6964"/>
                </a:solidFill>
                <a:latin typeface="Calibri" pitchFamily="34" charset="0"/>
                <a:ea typeface="Calibri" pitchFamily="34" charset="-122"/>
                <a:cs typeface="Calibri" pitchFamily="34" charset="-120"/>
              </a:rPr>
              <a:t>Orchestration</a:t>
            </a:r>
            <a:endParaRPr lang="en-US" sz="1000" dirty="0"/>
          </a:p>
        </p:txBody>
      </p:sp>
      <p:sp>
        <p:nvSpPr>
          <p:cNvPr id="31" name="Text 28"/>
          <p:cNvSpPr txBox="1"/>
          <p:nvPr/>
        </p:nvSpPr>
        <p:spPr>
          <a:xfrm>
            <a:off x="1965960" y="2834640"/>
            <a:ext cx="2240280" cy="31089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cron · GitHub Actions</a:t>
            </a:r>
            <a:endParaRPr lang="en-US" sz="1050" dirty="0"/>
          </a:p>
        </p:txBody>
      </p:sp>
      <p:sp>
        <p:nvSpPr>
          <p:cNvPr id="32" name="Shape 29"/>
          <p:cNvSpPr/>
          <p:nvPr/>
        </p:nvSpPr>
        <p:spPr>
          <a:xfrm>
            <a:off x="640080" y="3300984"/>
            <a:ext cx="109728" cy="109728"/>
          </a:xfrm>
          <a:prstGeom prst="ellipse">
            <a:avLst/>
          </a:prstGeom>
          <a:solidFill>
            <a:srgbClr val="B83B2E"/>
          </a:solidFill>
          <a:ln/>
        </p:spPr>
      </p:sp>
      <p:sp>
        <p:nvSpPr>
          <p:cNvPr id="33" name="Text 30"/>
          <p:cNvSpPr txBox="1"/>
          <p:nvPr/>
        </p:nvSpPr>
        <p:spPr>
          <a:xfrm>
            <a:off x="841248" y="3200400"/>
            <a:ext cx="1143000" cy="310896"/>
          </a:xfrm>
          <a:prstGeom prst="rect">
            <a:avLst/>
          </a:prstGeom>
          <a:noFill/>
          <a:ln/>
        </p:spPr>
        <p:txBody>
          <a:bodyPr wrap="square" lIns="0" tIns="0" rIns="0" bIns="0" rtlCol="0" anchor="ctr"/>
          <a:lstStyle/>
          <a:p>
            <a:pPr marL="0" indent="0">
              <a:buNone/>
            </a:pPr>
            <a:r>
              <a:rPr lang="en-US" sz="1000" b="1" dirty="0">
                <a:solidFill>
                  <a:srgbClr val="5E6964"/>
                </a:solidFill>
                <a:latin typeface="Calibri" pitchFamily="34" charset="0"/>
                <a:ea typeface="Calibri" pitchFamily="34" charset="-122"/>
                <a:cs typeface="Calibri" pitchFamily="34" charset="-120"/>
              </a:rPr>
              <a:t>Metadata</a:t>
            </a:r>
            <a:endParaRPr lang="en-US" sz="1000" dirty="0"/>
          </a:p>
        </p:txBody>
      </p:sp>
      <p:sp>
        <p:nvSpPr>
          <p:cNvPr id="34" name="Text 31"/>
          <p:cNvSpPr txBox="1"/>
          <p:nvPr/>
        </p:nvSpPr>
        <p:spPr>
          <a:xfrm>
            <a:off x="1965960" y="3200400"/>
            <a:ext cx="2240280" cy="31089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README + provenance files</a:t>
            </a:r>
            <a:endParaRPr lang="en-US" sz="1050" dirty="0"/>
          </a:p>
        </p:txBody>
      </p:sp>
      <p:sp>
        <p:nvSpPr>
          <p:cNvPr id="35" name="Shape 32"/>
          <p:cNvSpPr/>
          <p:nvPr/>
        </p:nvSpPr>
        <p:spPr>
          <a:xfrm>
            <a:off x="640080" y="3666744"/>
            <a:ext cx="109728" cy="109728"/>
          </a:xfrm>
          <a:prstGeom prst="ellipse">
            <a:avLst/>
          </a:prstGeom>
          <a:solidFill>
            <a:srgbClr val="B83B2E"/>
          </a:solidFill>
          <a:ln/>
        </p:spPr>
      </p:sp>
      <p:sp>
        <p:nvSpPr>
          <p:cNvPr id="36" name="Text 33"/>
          <p:cNvSpPr txBox="1"/>
          <p:nvPr/>
        </p:nvSpPr>
        <p:spPr>
          <a:xfrm>
            <a:off x="841248" y="3566160"/>
            <a:ext cx="1143000" cy="310896"/>
          </a:xfrm>
          <a:prstGeom prst="rect">
            <a:avLst/>
          </a:prstGeom>
          <a:noFill/>
          <a:ln/>
        </p:spPr>
        <p:txBody>
          <a:bodyPr wrap="square" lIns="0" tIns="0" rIns="0" bIns="0" rtlCol="0" anchor="ctr"/>
          <a:lstStyle/>
          <a:p>
            <a:pPr marL="0" indent="0">
              <a:buNone/>
            </a:pPr>
            <a:r>
              <a:rPr lang="en-US" sz="1000" b="1" dirty="0">
                <a:solidFill>
                  <a:srgbClr val="5E6964"/>
                </a:solidFill>
                <a:latin typeface="Calibri" pitchFamily="34" charset="0"/>
                <a:ea typeface="Calibri" pitchFamily="34" charset="-122"/>
                <a:cs typeface="Calibri" pitchFamily="34" charset="-120"/>
              </a:rPr>
              <a:t>Versioning</a:t>
            </a:r>
            <a:endParaRPr lang="en-US" sz="1000" dirty="0"/>
          </a:p>
        </p:txBody>
      </p:sp>
      <p:sp>
        <p:nvSpPr>
          <p:cNvPr id="37" name="Text 34"/>
          <p:cNvSpPr txBox="1"/>
          <p:nvPr/>
        </p:nvSpPr>
        <p:spPr>
          <a:xfrm>
            <a:off x="1965960" y="3566160"/>
            <a:ext cx="2240280" cy="31089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Git + GitHub</a:t>
            </a:r>
            <a:endParaRPr lang="en-US" sz="1050" dirty="0"/>
          </a:p>
        </p:txBody>
      </p:sp>
      <p:sp>
        <p:nvSpPr>
          <p:cNvPr id="38" name="Shape 35"/>
          <p:cNvSpPr/>
          <p:nvPr/>
        </p:nvSpPr>
        <p:spPr>
          <a:xfrm>
            <a:off x="4846320" y="1280160"/>
            <a:ext cx="3840480" cy="2697480"/>
          </a:xfrm>
          <a:prstGeom prst="roundRect">
            <a:avLst>
              <a:gd name="adj" fmla="val 2712"/>
            </a:avLst>
          </a:prstGeom>
          <a:solidFill>
            <a:srgbClr val="E8F5EF"/>
          </a:solidFill>
          <a:ln w="15875">
            <a:solidFill>
              <a:srgbClr val="00704A"/>
            </a:solidFill>
            <a:prstDash val="solid"/>
          </a:ln>
        </p:spPr>
      </p:sp>
      <p:sp>
        <p:nvSpPr>
          <p:cNvPr id="39" name="Text 36"/>
          <p:cNvSpPr txBox="1"/>
          <p:nvPr/>
        </p:nvSpPr>
        <p:spPr>
          <a:xfrm>
            <a:off x="5010912" y="1371600"/>
            <a:ext cx="1097280" cy="256032"/>
          </a:xfrm>
          <a:prstGeom prst="rect">
            <a:avLst/>
          </a:prstGeom>
          <a:noFill/>
          <a:ln/>
        </p:spPr>
        <p:txBody>
          <a:bodyPr wrap="square" lIns="0" tIns="0" rIns="0" bIns="0" rtlCol="0" anchor="t"/>
          <a:lstStyle/>
          <a:p>
            <a:pPr marL="0" indent="0">
              <a:buNone/>
            </a:pPr>
            <a:r>
              <a:rPr lang="en-US" sz="1200" b="1" kern="0" spc="300" dirty="0">
                <a:solidFill>
                  <a:srgbClr val="00704A"/>
                </a:solidFill>
                <a:latin typeface="Calibri" pitchFamily="34" charset="0"/>
                <a:ea typeface="Calibri" pitchFamily="34" charset="-122"/>
                <a:cs typeface="Calibri" pitchFamily="34" charset="-120"/>
              </a:rPr>
              <a:t>SCALE</a:t>
            </a:r>
            <a:endParaRPr lang="en-US" sz="1200" dirty="0"/>
          </a:p>
        </p:txBody>
      </p:sp>
      <p:sp>
        <p:nvSpPr>
          <p:cNvPr id="40" name="Text 37"/>
          <p:cNvSpPr txBox="1"/>
          <p:nvPr/>
        </p:nvSpPr>
        <p:spPr>
          <a:xfrm>
            <a:off x="5943600" y="1371600"/>
            <a:ext cx="2606040" cy="256032"/>
          </a:xfrm>
          <a:prstGeom prst="rect">
            <a:avLst/>
          </a:prstGeom>
          <a:noFill/>
          <a:ln/>
        </p:spPr>
        <p:txBody>
          <a:bodyPr wrap="square" lIns="0" tIns="0" rIns="0" bIns="0" rtlCol="0" anchor="t"/>
          <a:lstStyle/>
          <a:p>
            <a:pPr marL="0" indent="0" algn="r">
              <a:buNone/>
            </a:pPr>
            <a:r>
              <a:rPr lang="en-US" sz="1200" b="1" dirty="0">
                <a:solidFill>
                  <a:srgbClr val="231F20"/>
                </a:solidFill>
                <a:latin typeface="Calibri" pitchFamily="34" charset="0"/>
                <a:ea typeface="Calibri" pitchFamily="34" charset="-122"/>
                <a:cs typeface="Calibri" pitchFamily="34" charset="-120"/>
              </a:rPr>
              <a:t>Shared national or regional platform</a:t>
            </a:r>
            <a:endParaRPr lang="en-US" sz="1200" dirty="0"/>
          </a:p>
        </p:txBody>
      </p:sp>
      <p:sp>
        <p:nvSpPr>
          <p:cNvPr id="41" name="Shape 38"/>
          <p:cNvSpPr/>
          <p:nvPr/>
        </p:nvSpPr>
        <p:spPr>
          <a:xfrm>
            <a:off x="5029200" y="1837944"/>
            <a:ext cx="109728" cy="109728"/>
          </a:xfrm>
          <a:prstGeom prst="ellipse">
            <a:avLst/>
          </a:prstGeom>
          <a:solidFill>
            <a:srgbClr val="00704A"/>
          </a:solidFill>
          <a:ln/>
        </p:spPr>
      </p:sp>
      <p:sp>
        <p:nvSpPr>
          <p:cNvPr id="42" name="Text 39"/>
          <p:cNvSpPr txBox="1"/>
          <p:nvPr/>
        </p:nvSpPr>
        <p:spPr>
          <a:xfrm>
            <a:off x="5230368" y="1737360"/>
            <a:ext cx="1143000" cy="310896"/>
          </a:xfrm>
          <a:prstGeom prst="rect">
            <a:avLst/>
          </a:prstGeom>
          <a:noFill/>
          <a:ln/>
        </p:spPr>
        <p:txBody>
          <a:bodyPr wrap="square" lIns="0" tIns="0" rIns="0" bIns="0" rtlCol="0" anchor="ctr"/>
          <a:lstStyle/>
          <a:p>
            <a:pPr marL="0" indent="0">
              <a:buNone/>
            </a:pPr>
            <a:r>
              <a:rPr lang="en-US" sz="1000" b="1" dirty="0">
                <a:solidFill>
                  <a:srgbClr val="5E6964"/>
                </a:solidFill>
                <a:latin typeface="Calibri" pitchFamily="34" charset="0"/>
                <a:ea typeface="Calibri" pitchFamily="34" charset="-122"/>
                <a:cs typeface="Calibri" pitchFamily="34" charset="-120"/>
              </a:rPr>
              <a:t>Storage</a:t>
            </a:r>
            <a:endParaRPr lang="en-US" sz="1000" dirty="0"/>
          </a:p>
        </p:txBody>
      </p:sp>
      <p:sp>
        <p:nvSpPr>
          <p:cNvPr id="43" name="Text 40"/>
          <p:cNvSpPr txBox="1"/>
          <p:nvPr/>
        </p:nvSpPr>
        <p:spPr>
          <a:xfrm>
            <a:off x="6355080" y="1737360"/>
            <a:ext cx="2240280" cy="31089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Object storage + Iceberg / Delta</a:t>
            </a:r>
            <a:endParaRPr lang="en-US" sz="1050" dirty="0"/>
          </a:p>
        </p:txBody>
      </p:sp>
      <p:sp>
        <p:nvSpPr>
          <p:cNvPr id="44" name="Shape 41"/>
          <p:cNvSpPr/>
          <p:nvPr/>
        </p:nvSpPr>
        <p:spPr>
          <a:xfrm>
            <a:off x="5029200" y="2203704"/>
            <a:ext cx="109728" cy="109728"/>
          </a:xfrm>
          <a:prstGeom prst="ellipse">
            <a:avLst/>
          </a:prstGeom>
          <a:solidFill>
            <a:srgbClr val="0E7C86"/>
          </a:solidFill>
          <a:ln/>
        </p:spPr>
      </p:sp>
      <p:sp>
        <p:nvSpPr>
          <p:cNvPr id="45" name="Text 42"/>
          <p:cNvSpPr txBox="1"/>
          <p:nvPr/>
        </p:nvSpPr>
        <p:spPr>
          <a:xfrm>
            <a:off x="5230368" y="2103120"/>
            <a:ext cx="1143000" cy="310896"/>
          </a:xfrm>
          <a:prstGeom prst="rect">
            <a:avLst/>
          </a:prstGeom>
          <a:noFill/>
          <a:ln/>
        </p:spPr>
        <p:txBody>
          <a:bodyPr wrap="square" lIns="0" tIns="0" rIns="0" bIns="0" rtlCol="0" anchor="ctr"/>
          <a:lstStyle/>
          <a:p>
            <a:pPr marL="0" indent="0">
              <a:buNone/>
            </a:pPr>
            <a:r>
              <a:rPr lang="en-US" sz="1000" b="1" dirty="0">
                <a:solidFill>
                  <a:srgbClr val="5E6964"/>
                </a:solidFill>
                <a:latin typeface="Calibri" pitchFamily="34" charset="0"/>
                <a:ea typeface="Calibri" pitchFamily="34" charset="-122"/>
                <a:cs typeface="Calibri" pitchFamily="34" charset="-120"/>
              </a:rPr>
              <a:t>Processing</a:t>
            </a:r>
            <a:endParaRPr lang="en-US" sz="1000" dirty="0"/>
          </a:p>
        </p:txBody>
      </p:sp>
      <p:sp>
        <p:nvSpPr>
          <p:cNvPr id="46" name="Text 43"/>
          <p:cNvSpPr txBox="1"/>
          <p:nvPr/>
        </p:nvSpPr>
        <p:spPr>
          <a:xfrm>
            <a:off x="6355080" y="2103120"/>
            <a:ext cx="2240280" cy="31089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Spark · Trino</a:t>
            </a:r>
            <a:endParaRPr lang="en-US" sz="1050" dirty="0"/>
          </a:p>
        </p:txBody>
      </p:sp>
      <p:sp>
        <p:nvSpPr>
          <p:cNvPr id="47" name="Shape 44"/>
          <p:cNvSpPr/>
          <p:nvPr/>
        </p:nvSpPr>
        <p:spPr>
          <a:xfrm>
            <a:off x="5029200" y="2569464"/>
            <a:ext cx="109728" cy="109728"/>
          </a:xfrm>
          <a:prstGeom prst="ellipse">
            <a:avLst/>
          </a:prstGeom>
          <a:solidFill>
            <a:srgbClr val="D49A00"/>
          </a:solidFill>
          <a:ln/>
        </p:spPr>
      </p:sp>
      <p:sp>
        <p:nvSpPr>
          <p:cNvPr id="48" name="Text 45"/>
          <p:cNvSpPr txBox="1"/>
          <p:nvPr/>
        </p:nvSpPr>
        <p:spPr>
          <a:xfrm>
            <a:off x="5230368" y="2468880"/>
            <a:ext cx="1143000" cy="310896"/>
          </a:xfrm>
          <a:prstGeom prst="rect">
            <a:avLst/>
          </a:prstGeom>
          <a:noFill/>
          <a:ln/>
        </p:spPr>
        <p:txBody>
          <a:bodyPr wrap="square" lIns="0" tIns="0" rIns="0" bIns="0" rtlCol="0" anchor="ctr"/>
          <a:lstStyle/>
          <a:p>
            <a:pPr marL="0" indent="0">
              <a:buNone/>
            </a:pPr>
            <a:r>
              <a:rPr lang="en-US" sz="1000" b="1" dirty="0">
                <a:solidFill>
                  <a:srgbClr val="5E6964"/>
                </a:solidFill>
                <a:latin typeface="Calibri" pitchFamily="34" charset="0"/>
                <a:ea typeface="Calibri" pitchFamily="34" charset="-122"/>
                <a:cs typeface="Calibri" pitchFamily="34" charset="-120"/>
              </a:rPr>
              <a:t>Search</a:t>
            </a:r>
            <a:endParaRPr lang="en-US" sz="1000" dirty="0"/>
          </a:p>
        </p:txBody>
      </p:sp>
      <p:sp>
        <p:nvSpPr>
          <p:cNvPr id="49" name="Text 46"/>
          <p:cNvSpPr txBox="1"/>
          <p:nvPr/>
        </p:nvSpPr>
        <p:spPr>
          <a:xfrm>
            <a:off x="6355080" y="2468880"/>
            <a:ext cx="2240280" cy="31089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Elasticsearch cluster</a:t>
            </a:r>
            <a:endParaRPr lang="en-US" sz="1050" dirty="0"/>
          </a:p>
        </p:txBody>
      </p:sp>
      <p:sp>
        <p:nvSpPr>
          <p:cNvPr id="50" name="Shape 47"/>
          <p:cNvSpPr/>
          <p:nvPr/>
        </p:nvSpPr>
        <p:spPr>
          <a:xfrm>
            <a:off x="5029200" y="2935224"/>
            <a:ext cx="109728" cy="109728"/>
          </a:xfrm>
          <a:prstGeom prst="ellipse">
            <a:avLst/>
          </a:prstGeom>
          <a:solidFill>
            <a:srgbClr val="C4621D"/>
          </a:solidFill>
          <a:ln/>
        </p:spPr>
      </p:sp>
      <p:sp>
        <p:nvSpPr>
          <p:cNvPr id="51" name="Text 48"/>
          <p:cNvSpPr txBox="1"/>
          <p:nvPr/>
        </p:nvSpPr>
        <p:spPr>
          <a:xfrm>
            <a:off x="5230368" y="2834640"/>
            <a:ext cx="1143000" cy="310896"/>
          </a:xfrm>
          <a:prstGeom prst="rect">
            <a:avLst/>
          </a:prstGeom>
          <a:noFill/>
          <a:ln/>
        </p:spPr>
        <p:txBody>
          <a:bodyPr wrap="square" lIns="0" tIns="0" rIns="0" bIns="0" rtlCol="0" anchor="ctr"/>
          <a:lstStyle/>
          <a:p>
            <a:pPr marL="0" indent="0">
              <a:buNone/>
            </a:pPr>
            <a:r>
              <a:rPr lang="en-US" sz="1000" b="1" dirty="0">
                <a:solidFill>
                  <a:srgbClr val="5E6964"/>
                </a:solidFill>
                <a:latin typeface="Calibri" pitchFamily="34" charset="0"/>
                <a:ea typeface="Calibri" pitchFamily="34" charset="-122"/>
                <a:cs typeface="Calibri" pitchFamily="34" charset="-120"/>
              </a:rPr>
              <a:t>Orchestration</a:t>
            </a:r>
            <a:endParaRPr lang="en-US" sz="1000" dirty="0"/>
          </a:p>
        </p:txBody>
      </p:sp>
      <p:sp>
        <p:nvSpPr>
          <p:cNvPr id="52" name="Text 49"/>
          <p:cNvSpPr txBox="1"/>
          <p:nvPr/>
        </p:nvSpPr>
        <p:spPr>
          <a:xfrm>
            <a:off x="6355080" y="2834640"/>
            <a:ext cx="2240280" cy="31089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Airflow · Dagster</a:t>
            </a:r>
            <a:endParaRPr lang="en-US" sz="1050" dirty="0"/>
          </a:p>
        </p:txBody>
      </p:sp>
      <p:sp>
        <p:nvSpPr>
          <p:cNvPr id="53" name="Shape 50"/>
          <p:cNvSpPr/>
          <p:nvPr/>
        </p:nvSpPr>
        <p:spPr>
          <a:xfrm>
            <a:off x="5029200" y="3300984"/>
            <a:ext cx="109728" cy="109728"/>
          </a:xfrm>
          <a:prstGeom prst="ellipse">
            <a:avLst/>
          </a:prstGeom>
          <a:solidFill>
            <a:srgbClr val="B83B2E"/>
          </a:solidFill>
          <a:ln/>
        </p:spPr>
      </p:sp>
      <p:sp>
        <p:nvSpPr>
          <p:cNvPr id="54" name="Text 51"/>
          <p:cNvSpPr txBox="1"/>
          <p:nvPr/>
        </p:nvSpPr>
        <p:spPr>
          <a:xfrm>
            <a:off x="5230368" y="3200400"/>
            <a:ext cx="1143000" cy="310896"/>
          </a:xfrm>
          <a:prstGeom prst="rect">
            <a:avLst/>
          </a:prstGeom>
          <a:noFill/>
          <a:ln/>
        </p:spPr>
        <p:txBody>
          <a:bodyPr wrap="square" lIns="0" tIns="0" rIns="0" bIns="0" rtlCol="0" anchor="ctr"/>
          <a:lstStyle/>
          <a:p>
            <a:pPr marL="0" indent="0">
              <a:buNone/>
            </a:pPr>
            <a:r>
              <a:rPr lang="en-US" sz="1000" b="1" dirty="0">
                <a:solidFill>
                  <a:srgbClr val="5E6964"/>
                </a:solidFill>
                <a:latin typeface="Calibri" pitchFamily="34" charset="0"/>
                <a:ea typeface="Calibri" pitchFamily="34" charset="-122"/>
                <a:cs typeface="Calibri" pitchFamily="34" charset="-120"/>
              </a:rPr>
              <a:t>Metadata</a:t>
            </a:r>
            <a:endParaRPr lang="en-US" sz="1000" dirty="0"/>
          </a:p>
        </p:txBody>
      </p:sp>
      <p:sp>
        <p:nvSpPr>
          <p:cNvPr id="55" name="Text 52"/>
          <p:cNvSpPr txBox="1"/>
          <p:nvPr/>
        </p:nvSpPr>
        <p:spPr>
          <a:xfrm>
            <a:off x="6355080" y="3200400"/>
            <a:ext cx="2240280" cy="31089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DataHub / OpenMetadata, SDMX</a:t>
            </a:r>
            <a:endParaRPr lang="en-US" sz="1050" dirty="0"/>
          </a:p>
        </p:txBody>
      </p:sp>
      <p:sp>
        <p:nvSpPr>
          <p:cNvPr id="56" name="Shape 53"/>
          <p:cNvSpPr/>
          <p:nvPr/>
        </p:nvSpPr>
        <p:spPr>
          <a:xfrm>
            <a:off x="5029200" y="3666744"/>
            <a:ext cx="109728" cy="109728"/>
          </a:xfrm>
          <a:prstGeom prst="ellipse">
            <a:avLst/>
          </a:prstGeom>
          <a:solidFill>
            <a:srgbClr val="B83B2E"/>
          </a:solidFill>
          <a:ln/>
        </p:spPr>
      </p:sp>
      <p:sp>
        <p:nvSpPr>
          <p:cNvPr id="57" name="Text 54"/>
          <p:cNvSpPr txBox="1"/>
          <p:nvPr/>
        </p:nvSpPr>
        <p:spPr>
          <a:xfrm>
            <a:off x="5230368" y="3566160"/>
            <a:ext cx="1143000" cy="310896"/>
          </a:xfrm>
          <a:prstGeom prst="rect">
            <a:avLst/>
          </a:prstGeom>
          <a:noFill/>
          <a:ln/>
        </p:spPr>
        <p:txBody>
          <a:bodyPr wrap="square" lIns="0" tIns="0" rIns="0" bIns="0" rtlCol="0" anchor="ctr"/>
          <a:lstStyle/>
          <a:p>
            <a:pPr marL="0" indent="0">
              <a:buNone/>
            </a:pPr>
            <a:r>
              <a:rPr lang="en-US" sz="1000" b="1" dirty="0">
                <a:solidFill>
                  <a:srgbClr val="5E6964"/>
                </a:solidFill>
                <a:latin typeface="Calibri" pitchFamily="34" charset="0"/>
                <a:ea typeface="Calibri" pitchFamily="34" charset="-122"/>
                <a:cs typeface="Calibri" pitchFamily="34" charset="-120"/>
              </a:rPr>
              <a:t>Versioning</a:t>
            </a:r>
            <a:endParaRPr lang="en-US" sz="1000" dirty="0"/>
          </a:p>
        </p:txBody>
      </p:sp>
      <p:sp>
        <p:nvSpPr>
          <p:cNvPr id="58" name="Text 55"/>
          <p:cNvSpPr txBox="1"/>
          <p:nvPr/>
        </p:nvSpPr>
        <p:spPr>
          <a:xfrm>
            <a:off x="6355080" y="3566160"/>
            <a:ext cx="2240280" cy="31089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Snapshots, containers, CI/CD</a:t>
            </a:r>
            <a:endParaRPr lang="en-US" sz="1050" dirty="0"/>
          </a:p>
        </p:txBody>
      </p:sp>
      <p:sp>
        <p:nvSpPr>
          <p:cNvPr id="59" name="Shape 56"/>
          <p:cNvSpPr/>
          <p:nvPr/>
        </p:nvSpPr>
        <p:spPr>
          <a:xfrm>
            <a:off x="4370832" y="2606040"/>
            <a:ext cx="402336" cy="91"/>
          </a:xfrm>
          <a:prstGeom prst="line">
            <a:avLst/>
          </a:prstGeom>
          <a:noFill/>
          <a:ln w="31750">
            <a:solidFill>
              <a:srgbClr val="00A86A"/>
            </a:solidFill>
            <a:prstDash val="solid"/>
            <a:tailEnd type="triangle"/>
          </a:ln>
        </p:spPr>
      </p:sp>
      <p:sp>
        <p:nvSpPr>
          <p:cNvPr id="60" name="Text 57"/>
          <p:cNvSpPr txBox="1"/>
          <p:nvPr/>
        </p:nvSpPr>
        <p:spPr>
          <a:xfrm>
            <a:off x="4160520" y="2103120"/>
            <a:ext cx="822960" cy="411480"/>
          </a:xfrm>
          <a:prstGeom prst="rect">
            <a:avLst/>
          </a:prstGeom>
          <a:noFill/>
          <a:ln/>
        </p:spPr>
        <p:txBody>
          <a:bodyPr wrap="square" lIns="0" tIns="0" rIns="0" bIns="0" rtlCol="0" anchor="t"/>
          <a:lstStyle/>
          <a:p>
            <a:pPr marL="0" indent="0" algn="ctr">
              <a:buNone/>
            </a:pPr>
            <a:r>
              <a:rPr lang="en-US" sz="850" i="1" dirty="0">
                <a:solidFill>
                  <a:srgbClr val="00704A"/>
                </a:solidFill>
                <a:latin typeface="Calibri" pitchFamily="34" charset="0"/>
                <a:ea typeface="Calibri" pitchFamily="34" charset="-122"/>
                <a:cs typeface="Calibri" pitchFamily="34" charset="-120"/>
              </a:rPr>
              <a:t>grow on evidence</a:t>
            </a:r>
            <a:endParaRPr lang="en-US" sz="850" dirty="0"/>
          </a:p>
        </p:txBody>
      </p:sp>
      <p:sp>
        <p:nvSpPr>
          <p:cNvPr id="61" name="Shape 58"/>
          <p:cNvSpPr/>
          <p:nvPr/>
        </p:nvSpPr>
        <p:spPr>
          <a:xfrm>
            <a:off x="457200" y="4096512"/>
            <a:ext cx="8229600" cy="457200"/>
          </a:xfrm>
          <a:prstGeom prst="roundRect">
            <a:avLst>
              <a:gd name="adj" fmla="val 16000"/>
            </a:avLst>
          </a:prstGeom>
          <a:solidFill>
            <a:srgbClr val="F4F7F5"/>
          </a:solidFill>
          <a:ln w="9525">
            <a:solidFill>
              <a:srgbClr val="D5DED9"/>
            </a:solidFill>
            <a:prstDash val="solid"/>
          </a:ln>
        </p:spPr>
      </p:sp>
      <p:pic>
        <p:nvPicPr>
          <p:cNvPr id="62" name="Image 0" descr="preencoded.png"/>
          <p:cNvPicPr>
            <a:picLocks noChangeAspect="1"/>
          </p:cNvPicPr>
          <p:nvPr/>
        </p:nvPicPr>
        <p:blipFill>
          <a:blip r:embed="rId3"/>
          <a:stretch>
            <a:fillRect/>
          </a:stretch>
        </p:blipFill>
        <p:spPr>
          <a:xfrm>
            <a:off x="594360" y="4206240"/>
            <a:ext cx="237744" cy="237744"/>
          </a:xfrm>
          <a:prstGeom prst="rect">
            <a:avLst/>
          </a:prstGeom>
        </p:spPr>
      </p:pic>
      <p:sp>
        <p:nvSpPr>
          <p:cNvPr id="63" name="Text 59"/>
          <p:cNvSpPr txBox="1"/>
          <p:nvPr/>
        </p:nvSpPr>
        <p:spPr>
          <a:xfrm>
            <a:off x="960120" y="4096512"/>
            <a:ext cx="7635240" cy="457200"/>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Pool effort: regional big data hubs and shared national platforms let countries share platforms, code and skills.</a:t>
            </a:r>
            <a:r>
              <a:rPr lang="en-US" sz="1050" dirty="0">
                <a:solidFill>
                  <a:srgbClr val="231F20"/>
                </a:solidFill>
                <a:latin typeface="Calibri" pitchFamily="34" charset="0"/>
                <a:ea typeface="Calibri" pitchFamily="34" charset="-122"/>
                <a:cs typeface="Calibri" pitchFamily="34" charset="-120"/>
              </a:rPr>
              <a:t/>
            </a:r>
            <a:endParaRPr lang="en-US" sz="1050" dirty="0"/>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DECISION GUIDE</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Choosing the right engine</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AfDB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33</a:t>
            </a:r>
            <a:endParaRPr lang="en-US" sz="850" dirty="0"/>
          </a:p>
        </p:txBody>
      </p:sp>
      <p:sp>
        <p:nvSpPr>
          <p:cNvPr id="17" name="Shape 14"/>
          <p:cNvSpPr/>
          <p:nvPr/>
        </p:nvSpPr>
        <p:spPr>
          <a:xfrm>
            <a:off x="457200" y="1261872"/>
            <a:ext cx="3063240" cy="347472"/>
          </a:xfrm>
          <a:prstGeom prst="roundRect">
            <a:avLst>
              <a:gd name="adj" fmla="val 21053"/>
            </a:avLst>
          </a:prstGeom>
          <a:solidFill>
            <a:srgbClr val="5E6964"/>
          </a:solidFill>
          <a:ln w="9525">
            <a:solidFill>
              <a:srgbClr val="5E6964"/>
            </a:solidFill>
            <a:prstDash val="solid"/>
          </a:ln>
        </p:spPr>
      </p:sp>
      <p:sp>
        <p:nvSpPr>
          <p:cNvPr id="18" name="Text 15"/>
          <p:cNvSpPr txBox="1"/>
          <p:nvPr/>
        </p:nvSpPr>
        <p:spPr>
          <a:xfrm>
            <a:off x="566928" y="1261872"/>
            <a:ext cx="2843784"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If your situation is…</a:t>
            </a:r>
            <a:endParaRPr lang="en-US" sz="1150" dirty="0"/>
          </a:p>
        </p:txBody>
      </p:sp>
      <p:sp>
        <p:nvSpPr>
          <p:cNvPr id="19" name="Shape 16"/>
          <p:cNvSpPr/>
          <p:nvPr/>
        </p:nvSpPr>
        <p:spPr>
          <a:xfrm>
            <a:off x="3657600" y="1261872"/>
            <a:ext cx="2377440" cy="347472"/>
          </a:xfrm>
          <a:prstGeom prst="roundRect">
            <a:avLst>
              <a:gd name="adj" fmla="val 21053"/>
            </a:avLst>
          </a:prstGeom>
          <a:solidFill>
            <a:srgbClr val="00A86A"/>
          </a:solidFill>
          <a:ln w="9525">
            <a:solidFill>
              <a:srgbClr val="00A86A"/>
            </a:solidFill>
            <a:prstDash val="solid"/>
          </a:ln>
        </p:spPr>
      </p:sp>
      <p:sp>
        <p:nvSpPr>
          <p:cNvPr id="20" name="Text 17"/>
          <p:cNvSpPr txBox="1"/>
          <p:nvPr/>
        </p:nvSpPr>
        <p:spPr>
          <a:xfrm>
            <a:off x="3767328" y="1261872"/>
            <a:ext cx="2157984"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Reach for</a:t>
            </a:r>
            <a:endParaRPr lang="en-US" sz="1150" dirty="0"/>
          </a:p>
        </p:txBody>
      </p:sp>
      <p:sp>
        <p:nvSpPr>
          <p:cNvPr id="21" name="Shape 18"/>
          <p:cNvSpPr/>
          <p:nvPr/>
        </p:nvSpPr>
        <p:spPr>
          <a:xfrm>
            <a:off x="6172200" y="1261872"/>
            <a:ext cx="2514600" cy="347472"/>
          </a:xfrm>
          <a:prstGeom prst="roundRect">
            <a:avLst>
              <a:gd name="adj" fmla="val 21053"/>
            </a:avLst>
          </a:prstGeom>
          <a:solidFill>
            <a:srgbClr val="B83B2E"/>
          </a:solidFill>
          <a:ln w="9525">
            <a:solidFill>
              <a:srgbClr val="B83B2E"/>
            </a:solidFill>
            <a:prstDash val="solid"/>
          </a:ln>
        </p:spPr>
      </p:sp>
      <p:sp>
        <p:nvSpPr>
          <p:cNvPr id="22" name="Text 19"/>
          <p:cNvSpPr txBox="1"/>
          <p:nvPr/>
        </p:nvSpPr>
        <p:spPr>
          <a:xfrm>
            <a:off x="6281928" y="1261872"/>
            <a:ext cx="2295144"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Avoid</a:t>
            </a:r>
            <a:endParaRPr lang="en-US" sz="1150" dirty="0"/>
          </a:p>
        </p:txBody>
      </p:sp>
      <p:sp>
        <p:nvSpPr>
          <p:cNvPr id="23" name="Shape 20"/>
          <p:cNvSpPr/>
          <p:nvPr/>
        </p:nvSpPr>
        <p:spPr>
          <a:xfrm>
            <a:off x="457200" y="1682496"/>
            <a:ext cx="3063240" cy="402336"/>
          </a:xfrm>
          <a:prstGeom prst="roundRect">
            <a:avLst>
              <a:gd name="adj" fmla="val 9091"/>
            </a:avLst>
          </a:prstGeom>
          <a:solidFill>
            <a:srgbClr val="F4F7F5"/>
          </a:solidFill>
          <a:ln w="9525">
            <a:solidFill>
              <a:srgbClr val="D5DED9"/>
            </a:solidFill>
            <a:prstDash val="solid"/>
          </a:ln>
        </p:spPr>
      </p:sp>
      <p:sp>
        <p:nvSpPr>
          <p:cNvPr id="24" name="Text 21"/>
          <p:cNvSpPr txBox="1"/>
          <p:nvPr/>
        </p:nvSpPr>
        <p:spPr>
          <a:xfrm>
            <a:off x="566928" y="1682496"/>
            <a:ext cx="2843784" cy="40233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Data fits in memory, one analyst</a:t>
            </a:r>
            <a:endParaRPr lang="en-US" sz="1000" dirty="0"/>
          </a:p>
        </p:txBody>
      </p:sp>
      <p:sp>
        <p:nvSpPr>
          <p:cNvPr id="25" name="Shape 22"/>
          <p:cNvSpPr/>
          <p:nvPr/>
        </p:nvSpPr>
        <p:spPr>
          <a:xfrm>
            <a:off x="3657600" y="1682496"/>
            <a:ext cx="2377440" cy="402336"/>
          </a:xfrm>
          <a:prstGeom prst="roundRect">
            <a:avLst>
              <a:gd name="adj" fmla="val 9091"/>
            </a:avLst>
          </a:prstGeom>
          <a:solidFill>
            <a:srgbClr val="E8F5EF"/>
          </a:solidFill>
          <a:ln w="9525">
            <a:solidFill>
              <a:srgbClr val="D5DED9"/>
            </a:solidFill>
            <a:prstDash val="solid"/>
          </a:ln>
        </p:spPr>
      </p:sp>
      <p:sp>
        <p:nvSpPr>
          <p:cNvPr id="26" name="Text 23"/>
          <p:cNvSpPr txBox="1"/>
          <p:nvPr/>
        </p:nvSpPr>
        <p:spPr>
          <a:xfrm>
            <a:off x="3767328" y="1682496"/>
            <a:ext cx="2157984" cy="402336"/>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pandas, R, DuckDB</a:t>
            </a:r>
            <a:endParaRPr lang="en-US" sz="1000" dirty="0"/>
          </a:p>
        </p:txBody>
      </p:sp>
      <p:sp>
        <p:nvSpPr>
          <p:cNvPr id="27" name="Shape 24"/>
          <p:cNvSpPr/>
          <p:nvPr/>
        </p:nvSpPr>
        <p:spPr>
          <a:xfrm>
            <a:off x="6172200" y="1682496"/>
            <a:ext cx="2514600" cy="402336"/>
          </a:xfrm>
          <a:prstGeom prst="roundRect">
            <a:avLst>
              <a:gd name="adj" fmla="val 9091"/>
            </a:avLst>
          </a:prstGeom>
          <a:solidFill>
            <a:srgbClr val="FBEFED"/>
          </a:solidFill>
          <a:ln w="9525">
            <a:solidFill>
              <a:srgbClr val="D5DED9"/>
            </a:solidFill>
            <a:prstDash val="solid"/>
          </a:ln>
        </p:spPr>
      </p:sp>
      <p:sp>
        <p:nvSpPr>
          <p:cNvPr id="28" name="Text 25"/>
          <p:cNvSpPr txBox="1"/>
          <p:nvPr/>
        </p:nvSpPr>
        <p:spPr>
          <a:xfrm>
            <a:off x="6281928" y="1682496"/>
            <a:ext cx="2295144" cy="40233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Standing up a cluster</a:t>
            </a:r>
            <a:endParaRPr lang="en-US" sz="1000" dirty="0"/>
          </a:p>
        </p:txBody>
      </p:sp>
      <p:sp>
        <p:nvSpPr>
          <p:cNvPr id="29" name="Shape 26"/>
          <p:cNvSpPr/>
          <p:nvPr/>
        </p:nvSpPr>
        <p:spPr>
          <a:xfrm>
            <a:off x="457200" y="2157984"/>
            <a:ext cx="3063240" cy="402336"/>
          </a:xfrm>
          <a:prstGeom prst="roundRect">
            <a:avLst>
              <a:gd name="adj" fmla="val 9091"/>
            </a:avLst>
          </a:prstGeom>
          <a:solidFill>
            <a:srgbClr val="F4F7F5"/>
          </a:solidFill>
          <a:ln w="9525">
            <a:solidFill>
              <a:srgbClr val="D5DED9"/>
            </a:solidFill>
            <a:prstDash val="solid"/>
          </a:ln>
        </p:spPr>
      </p:sp>
      <p:sp>
        <p:nvSpPr>
          <p:cNvPr id="30" name="Text 27"/>
          <p:cNvSpPr txBox="1"/>
          <p:nvPr/>
        </p:nvSpPr>
        <p:spPr>
          <a:xfrm>
            <a:off x="566928" y="2157984"/>
            <a:ext cx="2843784" cy="40233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Tens to hundreds of GB, complex SQL</a:t>
            </a:r>
            <a:endParaRPr lang="en-US" sz="1000" dirty="0"/>
          </a:p>
        </p:txBody>
      </p:sp>
      <p:sp>
        <p:nvSpPr>
          <p:cNvPr id="31" name="Shape 28"/>
          <p:cNvSpPr/>
          <p:nvPr/>
        </p:nvSpPr>
        <p:spPr>
          <a:xfrm>
            <a:off x="3657600" y="2157984"/>
            <a:ext cx="2377440" cy="402336"/>
          </a:xfrm>
          <a:prstGeom prst="roundRect">
            <a:avLst>
              <a:gd name="adj" fmla="val 9091"/>
            </a:avLst>
          </a:prstGeom>
          <a:solidFill>
            <a:srgbClr val="E8F5EF"/>
          </a:solidFill>
          <a:ln w="9525">
            <a:solidFill>
              <a:srgbClr val="D5DED9"/>
            </a:solidFill>
            <a:prstDash val="solid"/>
          </a:ln>
        </p:spPr>
      </p:sp>
      <p:sp>
        <p:nvSpPr>
          <p:cNvPr id="32" name="Text 29"/>
          <p:cNvSpPr txBox="1"/>
          <p:nvPr/>
        </p:nvSpPr>
        <p:spPr>
          <a:xfrm>
            <a:off x="3767328" y="2157984"/>
            <a:ext cx="2157984" cy="402336"/>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DuckDB or Polars on one strong server</a:t>
            </a:r>
            <a:endParaRPr lang="en-US" sz="1000" dirty="0"/>
          </a:p>
        </p:txBody>
      </p:sp>
      <p:sp>
        <p:nvSpPr>
          <p:cNvPr id="33" name="Shape 30"/>
          <p:cNvSpPr/>
          <p:nvPr/>
        </p:nvSpPr>
        <p:spPr>
          <a:xfrm>
            <a:off x="6172200" y="2157984"/>
            <a:ext cx="2514600" cy="402336"/>
          </a:xfrm>
          <a:prstGeom prst="roundRect">
            <a:avLst>
              <a:gd name="adj" fmla="val 9091"/>
            </a:avLst>
          </a:prstGeom>
          <a:solidFill>
            <a:srgbClr val="FBEFED"/>
          </a:solidFill>
          <a:ln w="9525">
            <a:solidFill>
              <a:srgbClr val="D5DED9"/>
            </a:solidFill>
            <a:prstDash val="solid"/>
          </a:ln>
        </p:spPr>
      </p:sp>
      <p:sp>
        <p:nvSpPr>
          <p:cNvPr id="34" name="Text 31"/>
          <p:cNvSpPr txBox="1"/>
          <p:nvPr/>
        </p:nvSpPr>
        <p:spPr>
          <a:xfrm>
            <a:off x="6281928" y="2157984"/>
            <a:ext cx="2295144" cy="40233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Copying CSVs between laptops</a:t>
            </a:r>
            <a:endParaRPr lang="en-US" sz="1000" dirty="0"/>
          </a:p>
        </p:txBody>
      </p:sp>
      <p:sp>
        <p:nvSpPr>
          <p:cNvPr id="35" name="Shape 32"/>
          <p:cNvSpPr/>
          <p:nvPr/>
        </p:nvSpPr>
        <p:spPr>
          <a:xfrm>
            <a:off x="457200" y="2633472"/>
            <a:ext cx="3063240" cy="402336"/>
          </a:xfrm>
          <a:prstGeom prst="roundRect">
            <a:avLst>
              <a:gd name="adj" fmla="val 9091"/>
            </a:avLst>
          </a:prstGeom>
          <a:solidFill>
            <a:srgbClr val="F4F7F5"/>
          </a:solidFill>
          <a:ln w="9525">
            <a:solidFill>
              <a:srgbClr val="D5DED9"/>
            </a:solidFill>
            <a:prstDash val="solid"/>
          </a:ln>
        </p:spPr>
      </p:sp>
      <p:sp>
        <p:nvSpPr>
          <p:cNvPr id="36" name="Text 33"/>
          <p:cNvSpPr txBox="1"/>
          <p:nvPr/>
        </p:nvSpPr>
        <p:spPr>
          <a:xfrm>
            <a:off x="566928" y="2633472"/>
            <a:ext cx="2843784" cy="40233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Terabytes, several teams, shared tables</a:t>
            </a:r>
            <a:endParaRPr lang="en-US" sz="1000" dirty="0"/>
          </a:p>
        </p:txBody>
      </p:sp>
      <p:sp>
        <p:nvSpPr>
          <p:cNvPr id="37" name="Shape 34"/>
          <p:cNvSpPr/>
          <p:nvPr/>
        </p:nvSpPr>
        <p:spPr>
          <a:xfrm>
            <a:off x="3657600" y="2633472"/>
            <a:ext cx="2377440" cy="402336"/>
          </a:xfrm>
          <a:prstGeom prst="roundRect">
            <a:avLst>
              <a:gd name="adj" fmla="val 9091"/>
            </a:avLst>
          </a:prstGeom>
          <a:solidFill>
            <a:srgbClr val="E8F5EF"/>
          </a:solidFill>
          <a:ln w="9525">
            <a:solidFill>
              <a:srgbClr val="D5DED9"/>
            </a:solidFill>
            <a:prstDash val="solid"/>
          </a:ln>
        </p:spPr>
      </p:sp>
      <p:sp>
        <p:nvSpPr>
          <p:cNvPr id="38" name="Text 35"/>
          <p:cNvSpPr txBox="1"/>
          <p:nvPr/>
        </p:nvSpPr>
        <p:spPr>
          <a:xfrm>
            <a:off x="3767328" y="2633472"/>
            <a:ext cx="2157984" cy="402336"/>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Lakehouse + Spark or Trino</a:t>
            </a:r>
            <a:endParaRPr lang="en-US" sz="1000" dirty="0"/>
          </a:p>
        </p:txBody>
      </p:sp>
      <p:sp>
        <p:nvSpPr>
          <p:cNvPr id="39" name="Shape 36"/>
          <p:cNvSpPr/>
          <p:nvPr/>
        </p:nvSpPr>
        <p:spPr>
          <a:xfrm>
            <a:off x="6172200" y="2633472"/>
            <a:ext cx="2514600" cy="402336"/>
          </a:xfrm>
          <a:prstGeom prst="roundRect">
            <a:avLst>
              <a:gd name="adj" fmla="val 9091"/>
            </a:avLst>
          </a:prstGeom>
          <a:solidFill>
            <a:srgbClr val="FBEFED"/>
          </a:solidFill>
          <a:ln w="9525">
            <a:solidFill>
              <a:srgbClr val="D5DED9"/>
            </a:solidFill>
            <a:prstDash val="solid"/>
          </a:ln>
        </p:spPr>
      </p:sp>
      <p:sp>
        <p:nvSpPr>
          <p:cNvPr id="40" name="Text 37"/>
          <p:cNvSpPr txBox="1"/>
          <p:nvPr/>
        </p:nvSpPr>
        <p:spPr>
          <a:xfrm>
            <a:off x="6281928" y="2633472"/>
            <a:ext cx="2295144" cy="40233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Ungoverned network file shares</a:t>
            </a:r>
            <a:endParaRPr lang="en-US" sz="1000" dirty="0"/>
          </a:p>
        </p:txBody>
      </p:sp>
      <p:sp>
        <p:nvSpPr>
          <p:cNvPr id="41" name="Shape 38"/>
          <p:cNvSpPr/>
          <p:nvPr/>
        </p:nvSpPr>
        <p:spPr>
          <a:xfrm>
            <a:off x="457200" y="3108960"/>
            <a:ext cx="3063240" cy="402336"/>
          </a:xfrm>
          <a:prstGeom prst="roundRect">
            <a:avLst>
              <a:gd name="adj" fmla="val 9091"/>
            </a:avLst>
          </a:prstGeom>
          <a:solidFill>
            <a:srgbClr val="F4F7F5"/>
          </a:solidFill>
          <a:ln w="9525">
            <a:solidFill>
              <a:srgbClr val="D5DED9"/>
            </a:solidFill>
            <a:prstDash val="solid"/>
          </a:ln>
        </p:spPr>
      </p:sp>
      <p:sp>
        <p:nvSpPr>
          <p:cNvPr id="42" name="Text 39"/>
          <p:cNvSpPr txBox="1"/>
          <p:nvPr/>
        </p:nvSpPr>
        <p:spPr>
          <a:xfrm>
            <a:off x="566928" y="3108960"/>
            <a:ext cx="2843784" cy="40233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Many users filtering by place and time</a:t>
            </a:r>
            <a:endParaRPr lang="en-US" sz="1000" dirty="0"/>
          </a:p>
        </p:txBody>
      </p:sp>
      <p:sp>
        <p:nvSpPr>
          <p:cNvPr id="43" name="Shape 40"/>
          <p:cNvSpPr/>
          <p:nvPr/>
        </p:nvSpPr>
        <p:spPr>
          <a:xfrm>
            <a:off x="3657600" y="3108960"/>
            <a:ext cx="2377440" cy="402336"/>
          </a:xfrm>
          <a:prstGeom prst="roundRect">
            <a:avLst>
              <a:gd name="adj" fmla="val 9091"/>
            </a:avLst>
          </a:prstGeom>
          <a:solidFill>
            <a:srgbClr val="E8F5EF"/>
          </a:solidFill>
          <a:ln w="9525">
            <a:solidFill>
              <a:srgbClr val="D5DED9"/>
            </a:solidFill>
            <a:prstDash val="solid"/>
          </a:ln>
        </p:spPr>
      </p:sp>
      <p:sp>
        <p:nvSpPr>
          <p:cNvPr id="44" name="Text 41"/>
          <p:cNvSpPr txBox="1"/>
          <p:nvPr/>
        </p:nvSpPr>
        <p:spPr>
          <a:xfrm>
            <a:off x="3767328" y="3108960"/>
            <a:ext cx="2157984" cy="402336"/>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Elasticsearch fed from the lakehouse</a:t>
            </a:r>
            <a:endParaRPr lang="en-US" sz="1000" dirty="0"/>
          </a:p>
        </p:txBody>
      </p:sp>
      <p:sp>
        <p:nvSpPr>
          <p:cNvPr id="45" name="Shape 42"/>
          <p:cNvSpPr/>
          <p:nvPr/>
        </p:nvSpPr>
        <p:spPr>
          <a:xfrm>
            <a:off x="6172200" y="3108960"/>
            <a:ext cx="2514600" cy="402336"/>
          </a:xfrm>
          <a:prstGeom prst="roundRect">
            <a:avLst>
              <a:gd name="adj" fmla="val 9091"/>
            </a:avLst>
          </a:prstGeom>
          <a:solidFill>
            <a:srgbClr val="FBEFED"/>
          </a:solidFill>
          <a:ln w="9525">
            <a:solidFill>
              <a:srgbClr val="D5DED9"/>
            </a:solidFill>
            <a:prstDash val="solid"/>
          </a:ln>
        </p:spPr>
      </p:sp>
      <p:sp>
        <p:nvSpPr>
          <p:cNvPr id="46" name="Text 43"/>
          <p:cNvSpPr txBox="1"/>
          <p:nvPr/>
        </p:nvSpPr>
        <p:spPr>
          <a:xfrm>
            <a:off x="6281928" y="3108960"/>
            <a:ext cx="2295144" cy="40233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Using the index as the only copy</a:t>
            </a:r>
            <a:endParaRPr lang="en-US" sz="1000" dirty="0"/>
          </a:p>
        </p:txBody>
      </p:sp>
      <p:sp>
        <p:nvSpPr>
          <p:cNvPr id="47" name="Shape 44"/>
          <p:cNvSpPr/>
          <p:nvPr/>
        </p:nvSpPr>
        <p:spPr>
          <a:xfrm>
            <a:off x="457200" y="3584448"/>
            <a:ext cx="3063240" cy="402336"/>
          </a:xfrm>
          <a:prstGeom prst="roundRect">
            <a:avLst>
              <a:gd name="adj" fmla="val 9091"/>
            </a:avLst>
          </a:prstGeom>
          <a:solidFill>
            <a:srgbClr val="F4F7F5"/>
          </a:solidFill>
          <a:ln w="9525">
            <a:solidFill>
              <a:srgbClr val="D5DED9"/>
            </a:solidFill>
            <a:prstDash val="solid"/>
          </a:ln>
        </p:spPr>
      </p:sp>
      <p:sp>
        <p:nvSpPr>
          <p:cNvPr id="48" name="Text 45"/>
          <p:cNvSpPr txBox="1"/>
          <p:nvPr/>
        </p:nvSpPr>
        <p:spPr>
          <a:xfrm>
            <a:off x="566928" y="3584448"/>
            <a:ext cx="2843784" cy="40233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Sub-minute latency genuinely needed</a:t>
            </a:r>
            <a:endParaRPr lang="en-US" sz="1000" dirty="0"/>
          </a:p>
        </p:txBody>
      </p:sp>
      <p:sp>
        <p:nvSpPr>
          <p:cNvPr id="49" name="Shape 46"/>
          <p:cNvSpPr/>
          <p:nvPr/>
        </p:nvSpPr>
        <p:spPr>
          <a:xfrm>
            <a:off x="3657600" y="3584448"/>
            <a:ext cx="2377440" cy="402336"/>
          </a:xfrm>
          <a:prstGeom prst="roundRect">
            <a:avLst>
              <a:gd name="adj" fmla="val 9091"/>
            </a:avLst>
          </a:prstGeom>
          <a:solidFill>
            <a:srgbClr val="E8F5EF"/>
          </a:solidFill>
          <a:ln w="9525">
            <a:solidFill>
              <a:srgbClr val="D5DED9"/>
            </a:solidFill>
            <a:prstDash val="solid"/>
          </a:ln>
        </p:spPr>
      </p:sp>
      <p:sp>
        <p:nvSpPr>
          <p:cNvPr id="50" name="Text 47"/>
          <p:cNvSpPr txBox="1"/>
          <p:nvPr/>
        </p:nvSpPr>
        <p:spPr>
          <a:xfrm>
            <a:off x="3767328" y="3584448"/>
            <a:ext cx="2157984" cy="402336"/>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Kafka + Flink</a:t>
            </a:r>
            <a:endParaRPr lang="en-US" sz="1000" dirty="0"/>
          </a:p>
        </p:txBody>
      </p:sp>
      <p:sp>
        <p:nvSpPr>
          <p:cNvPr id="51" name="Shape 48"/>
          <p:cNvSpPr/>
          <p:nvPr/>
        </p:nvSpPr>
        <p:spPr>
          <a:xfrm>
            <a:off x="6172200" y="3584448"/>
            <a:ext cx="2514600" cy="402336"/>
          </a:xfrm>
          <a:prstGeom prst="roundRect">
            <a:avLst>
              <a:gd name="adj" fmla="val 9091"/>
            </a:avLst>
          </a:prstGeom>
          <a:solidFill>
            <a:srgbClr val="FBEFED"/>
          </a:solidFill>
          <a:ln w="9525">
            <a:solidFill>
              <a:srgbClr val="D5DED9"/>
            </a:solidFill>
            <a:prstDash val="solid"/>
          </a:ln>
        </p:spPr>
      </p:sp>
      <p:sp>
        <p:nvSpPr>
          <p:cNvPr id="52" name="Text 49"/>
          <p:cNvSpPr txBox="1"/>
          <p:nvPr/>
        </p:nvSpPr>
        <p:spPr>
          <a:xfrm>
            <a:off x="6281928" y="3584448"/>
            <a:ext cx="2295144" cy="40233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Streaming for quarterly statistics</a:t>
            </a:r>
            <a:endParaRPr lang="en-US" sz="1000" dirty="0"/>
          </a:p>
        </p:txBody>
      </p:sp>
      <p:sp>
        <p:nvSpPr>
          <p:cNvPr id="53" name="Shape 50"/>
          <p:cNvSpPr/>
          <p:nvPr/>
        </p:nvSpPr>
        <p:spPr>
          <a:xfrm>
            <a:off x="457200" y="4059936"/>
            <a:ext cx="3063240" cy="402336"/>
          </a:xfrm>
          <a:prstGeom prst="roundRect">
            <a:avLst>
              <a:gd name="adj" fmla="val 9091"/>
            </a:avLst>
          </a:prstGeom>
          <a:solidFill>
            <a:srgbClr val="F4F7F5"/>
          </a:solidFill>
          <a:ln w="9525">
            <a:solidFill>
              <a:srgbClr val="D5DED9"/>
            </a:solidFill>
            <a:prstDash val="solid"/>
          </a:ln>
        </p:spPr>
      </p:sp>
      <p:sp>
        <p:nvSpPr>
          <p:cNvPr id="54" name="Text 51"/>
          <p:cNvSpPr txBox="1"/>
          <p:nvPr/>
        </p:nvSpPr>
        <p:spPr>
          <a:xfrm>
            <a:off x="566928" y="4059936"/>
            <a:ext cx="2843784" cy="40233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Confidential microdata (CDRs, tax)</a:t>
            </a:r>
            <a:endParaRPr lang="en-US" sz="1000" dirty="0"/>
          </a:p>
        </p:txBody>
      </p:sp>
      <p:sp>
        <p:nvSpPr>
          <p:cNvPr id="55" name="Shape 52"/>
          <p:cNvSpPr/>
          <p:nvPr/>
        </p:nvSpPr>
        <p:spPr>
          <a:xfrm>
            <a:off x="3657600" y="4059936"/>
            <a:ext cx="2377440" cy="402336"/>
          </a:xfrm>
          <a:prstGeom prst="roundRect">
            <a:avLst>
              <a:gd name="adj" fmla="val 9091"/>
            </a:avLst>
          </a:prstGeom>
          <a:solidFill>
            <a:srgbClr val="E8F5EF"/>
          </a:solidFill>
          <a:ln w="9525">
            <a:solidFill>
              <a:srgbClr val="D5DED9"/>
            </a:solidFill>
            <a:prstDash val="solid"/>
          </a:ln>
        </p:spPr>
      </p:sp>
      <p:sp>
        <p:nvSpPr>
          <p:cNvPr id="56" name="Text 53"/>
          <p:cNvSpPr txBox="1"/>
          <p:nvPr/>
        </p:nvSpPr>
        <p:spPr>
          <a:xfrm>
            <a:off x="3767328" y="4059936"/>
            <a:ext cx="2157984" cy="402336"/>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On-premise or sovereign enclave</a:t>
            </a:r>
            <a:endParaRPr lang="en-US" sz="1000" dirty="0"/>
          </a:p>
        </p:txBody>
      </p:sp>
      <p:sp>
        <p:nvSpPr>
          <p:cNvPr id="57" name="Shape 54"/>
          <p:cNvSpPr/>
          <p:nvPr/>
        </p:nvSpPr>
        <p:spPr>
          <a:xfrm>
            <a:off x="6172200" y="4059936"/>
            <a:ext cx="2514600" cy="402336"/>
          </a:xfrm>
          <a:prstGeom prst="roundRect">
            <a:avLst>
              <a:gd name="adj" fmla="val 9091"/>
            </a:avLst>
          </a:prstGeom>
          <a:solidFill>
            <a:srgbClr val="FBEFED"/>
          </a:solidFill>
          <a:ln w="9525">
            <a:solidFill>
              <a:srgbClr val="D5DED9"/>
            </a:solidFill>
            <a:prstDash val="solid"/>
          </a:ln>
        </p:spPr>
      </p:sp>
      <p:sp>
        <p:nvSpPr>
          <p:cNvPr id="58" name="Text 55"/>
          <p:cNvSpPr txBox="1"/>
          <p:nvPr/>
        </p:nvSpPr>
        <p:spPr>
          <a:xfrm>
            <a:off x="6281928" y="4059936"/>
            <a:ext cx="2295144" cy="40233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Public cloud without a legal basis</a:t>
            </a:r>
            <a:endParaRPr lang="en-US" sz="1000" dirty="0"/>
          </a:p>
        </p:txBody>
      </p:sp>
      <p:sp>
        <p:nvSpPr>
          <p:cNvPr id="59" name="Text 56"/>
          <p:cNvSpPr txBox="1"/>
          <p:nvPr/>
        </p:nvSpPr>
        <p:spPr>
          <a:xfrm>
            <a:off x="457200" y="4590288"/>
            <a:ext cx="8229600" cy="201168"/>
          </a:xfrm>
          <a:prstGeom prst="rect">
            <a:avLst/>
          </a:prstGeom>
          <a:noFill/>
          <a:ln/>
        </p:spPr>
        <p:txBody>
          <a:bodyPr wrap="square" lIns="0" tIns="0" rIns="0" bIns="0" rtlCol="0" anchor="b"/>
          <a:lstStyle/>
          <a:p>
            <a:pPr marL="0" indent="0">
              <a:buNone/>
            </a:pPr>
            <a:r>
              <a:rPr lang="en-US" sz="1000" b="1" i="1" dirty="0">
                <a:solidFill>
                  <a:srgbClr val="00704A"/>
                </a:solidFill>
                <a:latin typeface="Calibri" pitchFamily="34" charset="0"/>
                <a:ea typeface="Calibri" pitchFamily="34" charset="-122"/>
                <a:cs typeface="Calibri" pitchFamily="34" charset="-120"/>
              </a:rPr>
              <a:t>Choose for the data you have, not the data you imagine having in five years.</a:t>
            </a:r>
            <a:endParaRPr lang="en-US" sz="1000" dirty="0"/>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KEY TAKEAWAYS</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Six things to remember</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AfDB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34</a:t>
            </a:r>
            <a:endParaRPr lang="en-US" sz="850" dirty="0"/>
          </a:p>
        </p:txBody>
      </p:sp>
      <p:sp>
        <p:nvSpPr>
          <p:cNvPr id="17" name="Shape 14"/>
          <p:cNvSpPr/>
          <p:nvPr/>
        </p:nvSpPr>
        <p:spPr>
          <a:xfrm>
            <a:off x="457200" y="1280160"/>
            <a:ext cx="2624328" cy="1554480"/>
          </a:xfrm>
          <a:prstGeom prst="roundRect">
            <a:avLst>
              <a:gd name="adj" fmla="val 4706"/>
            </a:avLst>
          </a:prstGeom>
          <a:solidFill>
            <a:srgbClr val="FFFFFF"/>
          </a:solidFill>
          <a:ln w="15875">
            <a:solidFill>
              <a:srgbClr val="00A86A"/>
            </a:solidFill>
            <a:prstDash val="solid"/>
          </a:ln>
        </p:spPr>
      </p:sp>
      <p:sp>
        <p:nvSpPr>
          <p:cNvPr id="18" name="Shape 15"/>
          <p:cNvSpPr/>
          <p:nvPr/>
        </p:nvSpPr>
        <p:spPr>
          <a:xfrm>
            <a:off x="594360" y="1417320"/>
            <a:ext cx="457200" cy="457200"/>
          </a:xfrm>
          <a:prstGeom prst="ellipse">
            <a:avLst/>
          </a:prstGeom>
          <a:solidFill>
            <a:srgbClr val="00A86A">
              <a:alpha val="22000"/>
            </a:srgbClr>
          </a:solidFill>
          <a:ln/>
        </p:spPr>
      </p:sp>
      <p:pic>
        <p:nvPicPr>
          <p:cNvPr id="19" name="Image 0" descr="preencoded.png"/>
          <p:cNvPicPr>
            <a:picLocks noChangeAspect="1"/>
          </p:cNvPicPr>
          <p:nvPr/>
        </p:nvPicPr>
        <p:blipFill>
          <a:blip r:embed="rId3"/>
          <a:stretch>
            <a:fillRect/>
          </a:stretch>
        </p:blipFill>
        <p:spPr>
          <a:xfrm>
            <a:off x="708660" y="1531620"/>
            <a:ext cx="228600" cy="228600"/>
          </a:xfrm>
          <a:prstGeom prst="rect">
            <a:avLst/>
          </a:prstGeom>
        </p:spPr>
      </p:pic>
      <p:sp>
        <p:nvSpPr>
          <p:cNvPr id="20" name="Text 16"/>
          <p:cNvSpPr txBox="1"/>
          <p:nvPr/>
        </p:nvSpPr>
        <p:spPr>
          <a:xfrm>
            <a:off x="2468880" y="1417320"/>
            <a:ext cx="457200" cy="365760"/>
          </a:xfrm>
          <a:prstGeom prst="rect">
            <a:avLst/>
          </a:prstGeom>
          <a:noFill/>
          <a:ln/>
        </p:spPr>
        <p:txBody>
          <a:bodyPr wrap="square" lIns="0" tIns="0" rIns="0" bIns="0" rtlCol="0" anchor="t"/>
          <a:lstStyle/>
          <a:p>
            <a:pPr marL="0" indent="0" algn="r">
              <a:buNone/>
            </a:pPr>
            <a:r>
              <a:rPr lang="en-US" sz="2000" b="1" dirty="0">
                <a:solidFill>
                  <a:srgbClr val="00A86A"/>
                </a:solidFill>
                <a:latin typeface="Calibri" pitchFamily="34" charset="0"/>
                <a:ea typeface="Calibri" pitchFamily="34" charset="-122"/>
                <a:cs typeface="Calibri" pitchFamily="34" charset="-120"/>
              </a:rPr>
              <a:t>01</a:t>
            </a:r>
            <a:endParaRPr lang="en-US" sz="2000" dirty="0"/>
          </a:p>
        </p:txBody>
      </p:sp>
      <p:sp>
        <p:nvSpPr>
          <p:cNvPr id="21" name="Text 17"/>
          <p:cNvSpPr txBox="1"/>
          <p:nvPr/>
        </p:nvSpPr>
        <p:spPr>
          <a:xfrm>
            <a:off x="594360" y="1938528"/>
            <a:ext cx="2377440" cy="256032"/>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Ingest honestly</a:t>
            </a:r>
            <a:endParaRPr lang="en-US" sz="1250" dirty="0"/>
          </a:p>
        </p:txBody>
      </p:sp>
      <p:sp>
        <p:nvSpPr>
          <p:cNvPr id="22" name="Text 18"/>
          <p:cNvSpPr txBox="1"/>
          <p:nvPr/>
        </p:nvSpPr>
        <p:spPr>
          <a:xfrm>
            <a:off x="594360" y="2212848"/>
            <a:ext cx="2377440" cy="566928"/>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Keep raw data untouched; record source, time and licence from the first byte.</a:t>
            </a:r>
            <a:endParaRPr lang="en-US" sz="1050" dirty="0"/>
          </a:p>
        </p:txBody>
      </p:sp>
      <p:sp>
        <p:nvSpPr>
          <p:cNvPr id="23" name="Shape 19"/>
          <p:cNvSpPr/>
          <p:nvPr/>
        </p:nvSpPr>
        <p:spPr>
          <a:xfrm>
            <a:off x="3264408" y="1280160"/>
            <a:ext cx="2624328" cy="1554480"/>
          </a:xfrm>
          <a:prstGeom prst="roundRect">
            <a:avLst>
              <a:gd name="adj" fmla="val 4706"/>
            </a:avLst>
          </a:prstGeom>
          <a:solidFill>
            <a:srgbClr val="FFFFFF"/>
          </a:solidFill>
          <a:ln w="15875">
            <a:solidFill>
              <a:srgbClr val="00704A"/>
            </a:solidFill>
            <a:prstDash val="solid"/>
          </a:ln>
        </p:spPr>
      </p:sp>
      <p:sp>
        <p:nvSpPr>
          <p:cNvPr id="24" name="Shape 20"/>
          <p:cNvSpPr/>
          <p:nvPr/>
        </p:nvSpPr>
        <p:spPr>
          <a:xfrm>
            <a:off x="3401568" y="1417320"/>
            <a:ext cx="457200" cy="457200"/>
          </a:xfrm>
          <a:prstGeom prst="ellipse">
            <a:avLst/>
          </a:prstGeom>
          <a:solidFill>
            <a:srgbClr val="00704A">
              <a:alpha val="22000"/>
            </a:srgbClr>
          </a:solidFill>
          <a:ln/>
        </p:spPr>
      </p:sp>
      <p:pic>
        <p:nvPicPr>
          <p:cNvPr id="25" name="Image 1" descr="preencoded.png"/>
          <p:cNvPicPr>
            <a:picLocks noChangeAspect="1"/>
          </p:cNvPicPr>
          <p:nvPr/>
        </p:nvPicPr>
        <p:blipFill>
          <a:blip r:embed="rId4"/>
          <a:stretch>
            <a:fillRect/>
          </a:stretch>
        </p:blipFill>
        <p:spPr>
          <a:xfrm>
            <a:off x="3515868" y="1531620"/>
            <a:ext cx="228600" cy="228600"/>
          </a:xfrm>
          <a:prstGeom prst="rect">
            <a:avLst/>
          </a:prstGeom>
        </p:spPr>
      </p:pic>
      <p:sp>
        <p:nvSpPr>
          <p:cNvPr id="26" name="Text 21"/>
          <p:cNvSpPr txBox="1"/>
          <p:nvPr/>
        </p:nvSpPr>
        <p:spPr>
          <a:xfrm>
            <a:off x="5276088" y="1417320"/>
            <a:ext cx="457200" cy="365760"/>
          </a:xfrm>
          <a:prstGeom prst="rect">
            <a:avLst/>
          </a:prstGeom>
          <a:noFill/>
          <a:ln/>
        </p:spPr>
        <p:txBody>
          <a:bodyPr wrap="square" lIns="0" tIns="0" rIns="0" bIns="0" rtlCol="0" anchor="t"/>
          <a:lstStyle/>
          <a:p>
            <a:pPr marL="0" indent="0" algn="r">
              <a:buNone/>
            </a:pPr>
            <a:r>
              <a:rPr lang="en-US" sz="2000" b="1" dirty="0">
                <a:solidFill>
                  <a:srgbClr val="00704A"/>
                </a:solidFill>
                <a:latin typeface="Calibri" pitchFamily="34" charset="0"/>
                <a:ea typeface="Calibri" pitchFamily="34" charset="-122"/>
                <a:cs typeface="Calibri" pitchFamily="34" charset="-120"/>
              </a:rPr>
              <a:t>02</a:t>
            </a:r>
            <a:endParaRPr lang="en-US" sz="2000" dirty="0"/>
          </a:p>
        </p:txBody>
      </p:sp>
      <p:sp>
        <p:nvSpPr>
          <p:cNvPr id="27" name="Text 22"/>
          <p:cNvSpPr txBox="1"/>
          <p:nvPr/>
        </p:nvSpPr>
        <p:spPr>
          <a:xfrm>
            <a:off x="3401568" y="1938528"/>
            <a:ext cx="2377440" cy="256032"/>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Store in zones and columns</a:t>
            </a:r>
            <a:endParaRPr lang="en-US" sz="1250" dirty="0"/>
          </a:p>
        </p:txBody>
      </p:sp>
      <p:sp>
        <p:nvSpPr>
          <p:cNvPr id="28" name="Text 23"/>
          <p:cNvSpPr txBox="1"/>
          <p:nvPr/>
        </p:nvSpPr>
        <p:spPr>
          <a:xfrm>
            <a:off x="3401568" y="2212848"/>
            <a:ext cx="2377440" cy="566928"/>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Parquet + bronze / silver / gold gives speed and a clear production chain.</a:t>
            </a:r>
            <a:endParaRPr lang="en-US" sz="1050" dirty="0"/>
          </a:p>
        </p:txBody>
      </p:sp>
      <p:sp>
        <p:nvSpPr>
          <p:cNvPr id="29" name="Shape 24"/>
          <p:cNvSpPr/>
          <p:nvPr/>
        </p:nvSpPr>
        <p:spPr>
          <a:xfrm>
            <a:off x="6071616" y="1280160"/>
            <a:ext cx="2624328" cy="1554480"/>
          </a:xfrm>
          <a:prstGeom prst="roundRect">
            <a:avLst>
              <a:gd name="adj" fmla="val 4706"/>
            </a:avLst>
          </a:prstGeom>
          <a:solidFill>
            <a:srgbClr val="FFFFFF"/>
          </a:solidFill>
          <a:ln w="15875">
            <a:solidFill>
              <a:srgbClr val="0E7C86"/>
            </a:solidFill>
            <a:prstDash val="solid"/>
          </a:ln>
        </p:spPr>
      </p:sp>
      <p:sp>
        <p:nvSpPr>
          <p:cNvPr id="30" name="Shape 25"/>
          <p:cNvSpPr/>
          <p:nvPr/>
        </p:nvSpPr>
        <p:spPr>
          <a:xfrm>
            <a:off x="6208776" y="1417320"/>
            <a:ext cx="457200" cy="457200"/>
          </a:xfrm>
          <a:prstGeom prst="ellipse">
            <a:avLst/>
          </a:prstGeom>
          <a:solidFill>
            <a:srgbClr val="0E7C86">
              <a:alpha val="22000"/>
            </a:srgbClr>
          </a:solidFill>
          <a:ln/>
        </p:spPr>
      </p:sp>
      <p:pic>
        <p:nvPicPr>
          <p:cNvPr id="31" name="Image 2" descr="preencoded.png"/>
          <p:cNvPicPr>
            <a:picLocks noChangeAspect="1"/>
          </p:cNvPicPr>
          <p:nvPr/>
        </p:nvPicPr>
        <p:blipFill>
          <a:blip r:embed="rId5"/>
          <a:stretch>
            <a:fillRect/>
          </a:stretch>
        </p:blipFill>
        <p:spPr>
          <a:xfrm>
            <a:off x="6323076" y="1531620"/>
            <a:ext cx="228600" cy="228600"/>
          </a:xfrm>
          <a:prstGeom prst="rect">
            <a:avLst/>
          </a:prstGeom>
        </p:spPr>
      </p:pic>
      <p:sp>
        <p:nvSpPr>
          <p:cNvPr id="32" name="Text 26"/>
          <p:cNvSpPr txBox="1"/>
          <p:nvPr/>
        </p:nvSpPr>
        <p:spPr>
          <a:xfrm>
            <a:off x="8083296" y="1417320"/>
            <a:ext cx="457200" cy="365760"/>
          </a:xfrm>
          <a:prstGeom prst="rect">
            <a:avLst/>
          </a:prstGeom>
          <a:noFill/>
          <a:ln/>
        </p:spPr>
        <p:txBody>
          <a:bodyPr wrap="square" lIns="0" tIns="0" rIns="0" bIns="0" rtlCol="0" anchor="t"/>
          <a:lstStyle/>
          <a:p>
            <a:pPr marL="0" indent="0" algn="r">
              <a:buNone/>
            </a:pPr>
            <a:r>
              <a:rPr lang="en-US" sz="2000" b="1" dirty="0">
                <a:solidFill>
                  <a:srgbClr val="0E7C86"/>
                </a:solidFill>
                <a:latin typeface="Calibri" pitchFamily="34" charset="0"/>
                <a:ea typeface="Calibri" pitchFamily="34" charset="-122"/>
                <a:cs typeface="Calibri" pitchFamily="34" charset="-120"/>
              </a:rPr>
              <a:t>03</a:t>
            </a:r>
            <a:endParaRPr lang="en-US" sz="2000" dirty="0"/>
          </a:p>
        </p:txBody>
      </p:sp>
      <p:sp>
        <p:nvSpPr>
          <p:cNvPr id="33" name="Text 27"/>
          <p:cNvSpPr txBox="1"/>
          <p:nvPr/>
        </p:nvSpPr>
        <p:spPr>
          <a:xfrm>
            <a:off x="6208776" y="1938528"/>
            <a:ext cx="2377440" cy="256032"/>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Compute with sums, not means</a:t>
            </a:r>
            <a:endParaRPr lang="en-US" sz="1250" dirty="0"/>
          </a:p>
        </p:txBody>
      </p:sp>
      <p:sp>
        <p:nvSpPr>
          <p:cNvPr id="34" name="Text 28"/>
          <p:cNvSpPr txBox="1"/>
          <p:nvPr/>
        </p:nvSpPr>
        <p:spPr>
          <a:xfrm>
            <a:off x="6208776" y="2212848"/>
            <a:ext cx="2377440" cy="566928"/>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Parallel engines need decomposable statistics; right-size before you scale out.</a:t>
            </a:r>
            <a:endParaRPr lang="en-US" sz="1050" dirty="0"/>
          </a:p>
        </p:txBody>
      </p:sp>
      <p:sp>
        <p:nvSpPr>
          <p:cNvPr id="35" name="Shape 29"/>
          <p:cNvSpPr/>
          <p:nvPr/>
        </p:nvSpPr>
        <p:spPr>
          <a:xfrm>
            <a:off x="457200" y="2971800"/>
            <a:ext cx="2624328" cy="1554480"/>
          </a:xfrm>
          <a:prstGeom prst="roundRect">
            <a:avLst>
              <a:gd name="adj" fmla="val 4706"/>
            </a:avLst>
          </a:prstGeom>
          <a:solidFill>
            <a:srgbClr val="FFFFFF"/>
          </a:solidFill>
          <a:ln w="15875">
            <a:solidFill>
              <a:srgbClr val="D49A00"/>
            </a:solidFill>
            <a:prstDash val="solid"/>
          </a:ln>
        </p:spPr>
      </p:sp>
      <p:sp>
        <p:nvSpPr>
          <p:cNvPr id="36" name="Shape 30"/>
          <p:cNvSpPr/>
          <p:nvPr/>
        </p:nvSpPr>
        <p:spPr>
          <a:xfrm>
            <a:off x="594360" y="3108960"/>
            <a:ext cx="457200" cy="457200"/>
          </a:xfrm>
          <a:prstGeom prst="ellipse">
            <a:avLst/>
          </a:prstGeom>
          <a:solidFill>
            <a:srgbClr val="D49A00">
              <a:alpha val="22000"/>
            </a:srgbClr>
          </a:solidFill>
          <a:ln/>
        </p:spPr>
      </p:sp>
      <p:pic>
        <p:nvPicPr>
          <p:cNvPr id="37" name="Image 3" descr="preencoded.png"/>
          <p:cNvPicPr>
            <a:picLocks noChangeAspect="1"/>
          </p:cNvPicPr>
          <p:nvPr/>
        </p:nvPicPr>
        <p:blipFill>
          <a:blip r:embed="rId6"/>
          <a:stretch>
            <a:fillRect/>
          </a:stretch>
        </p:blipFill>
        <p:spPr>
          <a:xfrm>
            <a:off x="708660" y="3223260"/>
            <a:ext cx="228600" cy="228600"/>
          </a:xfrm>
          <a:prstGeom prst="rect">
            <a:avLst/>
          </a:prstGeom>
        </p:spPr>
      </p:pic>
      <p:sp>
        <p:nvSpPr>
          <p:cNvPr id="38" name="Text 31"/>
          <p:cNvSpPr txBox="1"/>
          <p:nvPr/>
        </p:nvSpPr>
        <p:spPr>
          <a:xfrm>
            <a:off x="2468880" y="3108960"/>
            <a:ext cx="457200" cy="365760"/>
          </a:xfrm>
          <a:prstGeom prst="rect">
            <a:avLst/>
          </a:prstGeom>
          <a:noFill/>
          <a:ln/>
        </p:spPr>
        <p:txBody>
          <a:bodyPr wrap="square" lIns="0" tIns="0" rIns="0" bIns="0" rtlCol="0" anchor="t"/>
          <a:lstStyle/>
          <a:p>
            <a:pPr marL="0" indent="0" algn="r">
              <a:buNone/>
            </a:pPr>
            <a:r>
              <a:rPr lang="en-US" sz="2000" b="1" dirty="0">
                <a:solidFill>
                  <a:srgbClr val="D49A00"/>
                </a:solidFill>
                <a:latin typeface="Calibri" pitchFamily="34" charset="0"/>
                <a:ea typeface="Calibri" pitchFamily="34" charset="-122"/>
                <a:cs typeface="Calibri" pitchFamily="34" charset="-120"/>
              </a:rPr>
              <a:t>04</a:t>
            </a:r>
            <a:endParaRPr lang="en-US" sz="2000" dirty="0"/>
          </a:p>
        </p:txBody>
      </p:sp>
      <p:sp>
        <p:nvSpPr>
          <p:cNvPr id="39" name="Text 32"/>
          <p:cNvSpPr txBox="1"/>
          <p:nvPr/>
        </p:nvSpPr>
        <p:spPr>
          <a:xfrm>
            <a:off x="594360" y="3630168"/>
            <a:ext cx="2377440" cy="256032"/>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Index for interaction</a:t>
            </a:r>
            <a:endParaRPr lang="en-US" sz="1250" dirty="0"/>
          </a:p>
        </p:txBody>
      </p:sp>
      <p:sp>
        <p:nvSpPr>
          <p:cNvPr id="40" name="Text 33"/>
          <p:cNvSpPr txBox="1"/>
          <p:nvPr/>
        </p:nvSpPr>
        <p:spPr>
          <a:xfrm>
            <a:off x="594360" y="3904488"/>
            <a:ext cx="2377440" cy="566928"/>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A search engine answers fast — but it is an index, never the source of truth.</a:t>
            </a:r>
            <a:endParaRPr lang="en-US" sz="1050" dirty="0"/>
          </a:p>
        </p:txBody>
      </p:sp>
      <p:sp>
        <p:nvSpPr>
          <p:cNvPr id="41" name="Shape 34"/>
          <p:cNvSpPr/>
          <p:nvPr/>
        </p:nvSpPr>
        <p:spPr>
          <a:xfrm>
            <a:off x="3264408" y="2971800"/>
            <a:ext cx="2624328" cy="1554480"/>
          </a:xfrm>
          <a:prstGeom prst="roundRect">
            <a:avLst>
              <a:gd name="adj" fmla="val 4706"/>
            </a:avLst>
          </a:prstGeom>
          <a:solidFill>
            <a:srgbClr val="FFFFFF"/>
          </a:solidFill>
          <a:ln w="15875">
            <a:solidFill>
              <a:srgbClr val="C4621D"/>
            </a:solidFill>
            <a:prstDash val="solid"/>
          </a:ln>
        </p:spPr>
      </p:sp>
      <p:sp>
        <p:nvSpPr>
          <p:cNvPr id="42" name="Shape 35"/>
          <p:cNvSpPr/>
          <p:nvPr/>
        </p:nvSpPr>
        <p:spPr>
          <a:xfrm>
            <a:off x="3401568" y="3108960"/>
            <a:ext cx="457200" cy="457200"/>
          </a:xfrm>
          <a:prstGeom prst="ellipse">
            <a:avLst/>
          </a:prstGeom>
          <a:solidFill>
            <a:srgbClr val="C4621D">
              <a:alpha val="22000"/>
            </a:srgbClr>
          </a:solidFill>
          <a:ln/>
        </p:spPr>
      </p:sp>
      <p:pic>
        <p:nvPicPr>
          <p:cNvPr id="43" name="Image 4" descr="preencoded.png"/>
          <p:cNvPicPr>
            <a:picLocks noChangeAspect="1"/>
          </p:cNvPicPr>
          <p:nvPr/>
        </p:nvPicPr>
        <p:blipFill>
          <a:blip r:embed="rId7"/>
          <a:stretch>
            <a:fillRect/>
          </a:stretch>
        </p:blipFill>
        <p:spPr>
          <a:xfrm>
            <a:off x="3515868" y="3223260"/>
            <a:ext cx="228600" cy="228600"/>
          </a:xfrm>
          <a:prstGeom prst="rect">
            <a:avLst/>
          </a:prstGeom>
        </p:spPr>
      </p:pic>
      <p:sp>
        <p:nvSpPr>
          <p:cNvPr id="44" name="Text 36"/>
          <p:cNvSpPr txBox="1"/>
          <p:nvPr/>
        </p:nvSpPr>
        <p:spPr>
          <a:xfrm>
            <a:off x="5276088" y="3108960"/>
            <a:ext cx="457200" cy="365760"/>
          </a:xfrm>
          <a:prstGeom prst="rect">
            <a:avLst/>
          </a:prstGeom>
          <a:noFill/>
          <a:ln/>
        </p:spPr>
        <p:txBody>
          <a:bodyPr wrap="square" lIns="0" tIns="0" rIns="0" bIns="0" rtlCol="0" anchor="t"/>
          <a:lstStyle/>
          <a:p>
            <a:pPr marL="0" indent="0" algn="r">
              <a:buNone/>
            </a:pPr>
            <a:r>
              <a:rPr lang="en-US" sz="2000" b="1" dirty="0">
                <a:solidFill>
                  <a:srgbClr val="C4621D"/>
                </a:solidFill>
                <a:latin typeface="Calibri" pitchFamily="34" charset="0"/>
                <a:ea typeface="Calibri" pitchFamily="34" charset="-122"/>
                <a:cs typeface="Calibri" pitchFamily="34" charset="-120"/>
              </a:rPr>
              <a:t>05</a:t>
            </a:r>
            <a:endParaRPr lang="en-US" sz="2000" dirty="0"/>
          </a:p>
        </p:txBody>
      </p:sp>
      <p:sp>
        <p:nvSpPr>
          <p:cNvPr id="45" name="Text 37"/>
          <p:cNvSpPr txBox="1"/>
          <p:nvPr/>
        </p:nvSpPr>
        <p:spPr>
          <a:xfrm>
            <a:off x="3401568" y="3630168"/>
            <a:ext cx="2377440" cy="256032"/>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Automate with gates</a:t>
            </a:r>
            <a:endParaRPr lang="en-US" sz="1250" dirty="0"/>
          </a:p>
        </p:txBody>
      </p:sp>
      <p:sp>
        <p:nvSpPr>
          <p:cNvPr id="46" name="Text 38"/>
          <p:cNvSpPr txBox="1"/>
          <p:nvPr/>
        </p:nvSpPr>
        <p:spPr>
          <a:xfrm>
            <a:off x="3401568" y="3904488"/>
            <a:ext cx="2377440" cy="566928"/>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Pipelines run on schedule and stop on failed checks — no quiet publishing.</a:t>
            </a:r>
            <a:endParaRPr lang="en-US" sz="1050" dirty="0"/>
          </a:p>
        </p:txBody>
      </p:sp>
      <p:sp>
        <p:nvSpPr>
          <p:cNvPr id="47" name="Shape 39"/>
          <p:cNvSpPr/>
          <p:nvPr/>
        </p:nvSpPr>
        <p:spPr>
          <a:xfrm>
            <a:off x="6071616" y="2971800"/>
            <a:ext cx="2624328" cy="1554480"/>
          </a:xfrm>
          <a:prstGeom prst="roundRect">
            <a:avLst>
              <a:gd name="adj" fmla="val 4706"/>
            </a:avLst>
          </a:prstGeom>
          <a:solidFill>
            <a:srgbClr val="FFFFFF"/>
          </a:solidFill>
          <a:ln w="15875">
            <a:solidFill>
              <a:srgbClr val="B83B2E"/>
            </a:solidFill>
            <a:prstDash val="solid"/>
          </a:ln>
        </p:spPr>
      </p:sp>
      <p:sp>
        <p:nvSpPr>
          <p:cNvPr id="48" name="Shape 40"/>
          <p:cNvSpPr/>
          <p:nvPr/>
        </p:nvSpPr>
        <p:spPr>
          <a:xfrm>
            <a:off x="6208776" y="3108960"/>
            <a:ext cx="457200" cy="457200"/>
          </a:xfrm>
          <a:prstGeom prst="ellipse">
            <a:avLst/>
          </a:prstGeom>
          <a:solidFill>
            <a:srgbClr val="B83B2E">
              <a:alpha val="22000"/>
            </a:srgbClr>
          </a:solidFill>
          <a:ln/>
        </p:spPr>
      </p:sp>
      <p:pic>
        <p:nvPicPr>
          <p:cNvPr id="49" name="Image 5" descr="preencoded.png"/>
          <p:cNvPicPr>
            <a:picLocks noChangeAspect="1"/>
          </p:cNvPicPr>
          <p:nvPr/>
        </p:nvPicPr>
        <p:blipFill>
          <a:blip r:embed="rId8"/>
          <a:stretch>
            <a:fillRect/>
          </a:stretch>
        </p:blipFill>
        <p:spPr>
          <a:xfrm>
            <a:off x="6323076" y="3223260"/>
            <a:ext cx="228600" cy="228600"/>
          </a:xfrm>
          <a:prstGeom prst="rect">
            <a:avLst/>
          </a:prstGeom>
        </p:spPr>
      </p:pic>
      <p:sp>
        <p:nvSpPr>
          <p:cNvPr id="50" name="Text 41"/>
          <p:cNvSpPr txBox="1"/>
          <p:nvPr/>
        </p:nvSpPr>
        <p:spPr>
          <a:xfrm>
            <a:off x="8083296" y="3108960"/>
            <a:ext cx="457200" cy="365760"/>
          </a:xfrm>
          <a:prstGeom prst="rect">
            <a:avLst/>
          </a:prstGeom>
          <a:noFill/>
          <a:ln/>
        </p:spPr>
        <p:txBody>
          <a:bodyPr wrap="square" lIns="0" tIns="0" rIns="0" bIns="0" rtlCol="0" anchor="t"/>
          <a:lstStyle/>
          <a:p>
            <a:pPr marL="0" indent="0" algn="r">
              <a:buNone/>
            </a:pPr>
            <a:r>
              <a:rPr lang="en-US" sz="2000" b="1" dirty="0">
                <a:solidFill>
                  <a:srgbClr val="B83B2E"/>
                </a:solidFill>
                <a:latin typeface="Calibri" pitchFamily="34" charset="0"/>
                <a:ea typeface="Calibri" pitchFamily="34" charset="-122"/>
                <a:cs typeface="Calibri" pitchFamily="34" charset="-120"/>
              </a:rPr>
              <a:t>06</a:t>
            </a:r>
            <a:endParaRPr lang="en-US" sz="2000" dirty="0"/>
          </a:p>
        </p:txBody>
      </p:sp>
      <p:sp>
        <p:nvSpPr>
          <p:cNvPr id="51" name="Text 42"/>
          <p:cNvSpPr txBox="1"/>
          <p:nvPr/>
        </p:nvSpPr>
        <p:spPr>
          <a:xfrm>
            <a:off x="6208776" y="3630168"/>
            <a:ext cx="2377440" cy="256032"/>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Make every number traceable</a:t>
            </a:r>
            <a:endParaRPr lang="en-US" sz="1250" dirty="0"/>
          </a:p>
        </p:txBody>
      </p:sp>
      <p:sp>
        <p:nvSpPr>
          <p:cNvPr id="52" name="Text 43"/>
          <p:cNvSpPr txBox="1"/>
          <p:nvPr/>
        </p:nvSpPr>
        <p:spPr>
          <a:xfrm>
            <a:off x="6208776" y="3904488"/>
            <a:ext cx="2377440" cy="566928"/>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Version code, data and environment; document methods and limitations.</a:t>
            </a:r>
            <a:endParaRPr lang="en-US" sz="1050" dirty="0"/>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54864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QUESTIONS &amp; DISCUSSION</a:t>
            </a:r>
            <a:endParaRPr lang="en-US" sz="1050" dirty="0"/>
          </a:p>
        </p:txBody>
      </p:sp>
      <p:sp>
        <p:nvSpPr>
          <p:cNvPr id="3" name="Text 1"/>
          <p:cNvSpPr txBox="1"/>
          <p:nvPr/>
        </p:nvSpPr>
        <p:spPr>
          <a:xfrm>
            <a:off x="548640" y="1143000"/>
            <a:ext cx="5486400" cy="822960"/>
          </a:xfrm>
          <a:prstGeom prst="rect">
            <a:avLst/>
          </a:prstGeom>
          <a:noFill/>
          <a:ln/>
        </p:spPr>
        <p:txBody>
          <a:bodyPr wrap="square" lIns="0" tIns="0" rIns="0" bIns="0"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7" name="Shape 5"/>
          <p:cNvSpPr/>
          <p:nvPr/>
        </p:nvSpPr>
        <p:spPr>
          <a:xfrm>
            <a:off x="6172200" y="1325880"/>
            <a:ext cx="2468880" cy="2468880"/>
          </a:xfrm>
          <a:prstGeom prst="ellipse">
            <a:avLst/>
          </a:prstGeom>
          <a:solidFill>
            <a:srgbClr val="FFFFFF">
              <a:alpha val="10000"/>
            </a:srgbClr>
          </a:solidFill>
          <a:ln/>
        </p:spPr>
      </p:sp>
      <p:sp>
        <p:nvSpPr>
          <p:cNvPr id="8" name="Shape 6"/>
          <p:cNvSpPr/>
          <p:nvPr/>
        </p:nvSpPr>
        <p:spPr>
          <a:xfrm>
            <a:off x="6537960" y="1691640"/>
            <a:ext cx="1737360" cy="1737360"/>
          </a:xfrm>
          <a:prstGeom prst="ellipse">
            <a:avLst/>
          </a:prstGeom>
          <a:solidFill>
            <a:srgbClr val="FFFFFF">
              <a:alpha val="15000"/>
            </a:srgbClr>
          </a:solidFill>
          <a:ln/>
        </p:spPr>
      </p:sp>
      <p:sp>
        <p:nvSpPr>
          <p:cNvPr id="9" name="Shape 7"/>
          <p:cNvSpPr/>
          <p:nvPr/>
        </p:nvSpPr>
        <p:spPr>
          <a:xfrm>
            <a:off x="6858000" y="2011680"/>
            <a:ext cx="1097280" cy="1097280"/>
          </a:xfrm>
          <a:prstGeom prst="ellipse">
            <a:avLst/>
          </a:prstGeom>
          <a:solidFill>
            <a:srgbClr val="FFFFFF"/>
          </a:solidFill>
          <a:ln/>
        </p:spPr>
      </p:sp>
      <p:pic>
        <p:nvPicPr>
          <p:cNvPr id="10" name="Image 0" descr="preencoded.png"/>
          <p:cNvPicPr>
            <a:picLocks noChangeAspect="1"/>
          </p:cNvPicPr>
          <p:nvPr/>
        </p:nvPicPr>
        <p:blipFill>
          <a:blip r:embed="rId4"/>
          <a:stretch>
            <a:fillRect/>
          </a:stretch>
        </p:blipFill>
        <p:spPr>
          <a:xfrm>
            <a:off x="7132320" y="2286000"/>
            <a:ext cx="548640" cy="548640"/>
          </a:xfrm>
          <a:prstGeom prst="rect">
            <a:avLst/>
          </a:prstGeom>
        </p:spPr>
      </p:pic>
      <p:sp>
        <p:nvSpPr>
          <p:cNvPr id="11" name="Text 8"/>
          <p:cNvSpPr txBox="1"/>
          <p:nvPr/>
        </p:nvSpPr>
        <p:spPr>
          <a:xfrm>
            <a:off x="548640" y="4754880"/>
            <a:ext cx="5486400" cy="182880"/>
          </a:xfrm>
          <a:prstGeom prst="rect">
            <a:avLst/>
          </a:prstGeom>
          <a:noFill/>
          <a:ln/>
        </p:spPr>
        <p:txBody>
          <a:bodyPr wrap="square" lIns="0" tIns="0" rIns="0" bIns="0" rtlCol="0" anchor="t"/>
          <a:lstStyle/>
          <a:p>
            <a:pPr marL="0" indent="0">
              <a:buNone/>
            </a:pPr>
            <a:r>
              <a:rPr lang="en-US" sz="850" dirty="0">
                <a:solidFill>
                  <a:srgbClr val="E6F6EE"/>
                </a:solidFill>
                <a:latin typeface="Calibri" pitchFamily="34" charset="0"/>
                <a:ea typeface="Calibri" pitchFamily="34" charset="-122"/>
                <a:cs typeface="Calibri" pitchFamily="34" charset="-120"/>
              </a:rPr>
              <a:t>Engines of Scale · Big Data Technologies for Statistical Systems · AfDB – DI4A</a:t>
            </a:r>
            <a:endParaRPr lang="en-US" sz="850" dirty="0"/>
          </a:p>
        </p:txBody>
      </p:sp>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520440"/>
            <a:ext cx="2377440" cy="2377440"/>
          </a:xfrm>
          <a:prstGeom prst="ellipse">
            <a:avLst/>
          </a:prstGeom>
          <a:solidFill>
            <a:srgbClr val="00A86A">
              <a:alpha val="5000"/>
            </a:srgbClr>
          </a:solidFill>
          <a:ln/>
        </p:spPr>
      </p:sp>
      <p:sp>
        <p:nvSpPr>
          <p:cNvPr id="5" name="Shape 3"/>
          <p:cNvSpPr/>
          <p:nvPr/>
        </p:nvSpPr>
        <p:spPr>
          <a:xfrm>
            <a:off x="8092440" y="3977640"/>
            <a:ext cx="1463040" cy="1463040"/>
          </a:xfrm>
          <a:prstGeom prst="ellipse">
            <a:avLst/>
          </a:prstGeom>
          <a:solidFill>
            <a:srgbClr val="00A86A">
              <a:alpha val="5000"/>
            </a:srgbClr>
          </a:solidFill>
          <a:ln/>
        </p:spPr>
      </p:sp>
      <p:sp>
        <p:nvSpPr>
          <p:cNvPr id="6" name="Text 4"/>
          <p:cNvSpPr txBox="1"/>
          <p:nvPr/>
        </p:nvSpPr>
        <p:spPr>
          <a:xfrm>
            <a:off x="457200" y="246888"/>
            <a:ext cx="713232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REFERENCES</a:t>
            </a:r>
            <a:endParaRPr lang="en-US" sz="1050" dirty="0"/>
          </a:p>
        </p:txBody>
      </p:sp>
      <p:sp>
        <p:nvSpPr>
          <p:cNvPr id="7" name="Text 5"/>
          <p:cNvSpPr txBox="1"/>
          <p:nvPr/>
        </p:nvSpPr>
        <p:spPr>
          <a:xfrm>
            <a:off x="457200" y="457200"/>
            <a:ext cx="7315200" cy="566928"/>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Sources and further reading</a:t>
            </a:r>
            <a:endParaRPr lang="en-US" sz="2600" dirty="0"/>
          </a:p>
        </p:txBody>
      </p:sp>
      <p:sp>
        <p:nvSpPr>
          <p:cNvPr id="8" name="Shape 6"/>
          <p:cNvSpPr/>
          <p:nvPr/>
        </p:nvSpPr>
        <p:spPr>
          <a:xfrm>
            <a:off x="7882128" y="329184"/>
            <a:ext cx="91440" cy="91440"/>
          </a:xfrm>
          <a:prstGeom prst="ellipse">
            <a:avLst/>
          </a:prstGeom>
          <a:solidFill>
            <a:srgbClr val="D5DED9"/>
          </a:solidFill>
          <a:ln/>
        </p:spPr>
      </p:sp>
      <p:sp>
        <p:nvSpPr>
          <p:cNvPr id="9" name="Shape 7"/>
          <p:cNvSpPr/>
          <p:nvPr/>
        </p:nvSpPr>
        <p:spPr>
          <a:xfrm>
            <a:off x="8028432" y="329184"/>
            <a:ext cx="91440" cy="91440"/>
          </a:xfrm>
          <a:prstGeom prst="ellipse">
            <a:avLst/>
          </a:prstGeom>
          <a:solidFill>
            <a:srgbClr val="D5DED9"/>
          </a:solidFill>
          <a:ln/>
        </p:spPr>
      </p:sp>
      <p:sp>
        <p:nvSpPr>
          <p:cNvPr id="10" name="Shape 8"/>
          <p:cNvSpPr/>
          <p:nvPr/>
        </p:nvSpPr>
        <p:spPr>
          <a:xfrm>
            <a:off x="8174736" y="329184"/>
            <a:ext cx="91440" cy="91440"/>
          </a:xfrm>
          <a:prstGeom prst="ellipse">
            <a:avLst/>
          </a:prstGeom>
          <a:solidFill>
            <a:srgbClr val="D5DED9"/>
          </a:solidFill>
          <a:ln/>
        </p:spPr>
      </p:sp>
      <p:sp>
        <p:nvSpPr>
          <p:cNvPr id="11" name="Shape 9"/>
          <p:cNvSpPr/>
          <p:nvPr/>
        </p:nvSpPr>
        <p:spPr>
          <a:xfrm>
            <a:off x="8321040" y="329184"/>
            <a:ext cx="91440" cy="91440"/>
          </a:xfrm>
          <a:prstGeom prst="ellipse">
            <a:avLst/>
          </a:prstGeom>
          <a:solidFill>
            <a:srgbClr val="D5DED9"/>
          </a:solidFill>
          <a:ln/>
        </p:spPr>
      </p:sp>
      <p:sp>
        <p:nvSpPr>
          <p:cNvPr id="12" name="Shape 10"/>
          <p:cNvSpPr/>
          <p:nvPr/>
        </p:nvSpPr>
        <p:spPr>
          <a:xfrm>
            <a:off x="8467344" y="329184"/>
            <a:ext cx="91440" cy="91440"/>
          </a:xfrm>
          <a:prstGeom prst="ellipse">
            <a:avLst/>
          </a:prstGeom>
          <a:solidFill>
            <a:srgbClr val="D5DED9"/>
          </a:solidFill>
          <a:ln/>
        </p:spPr>
      </p:sp>
      <p:sp>
        <p:nvSpPr>
          <p:cNvPr id="13" name="Shape 11"/>
          <p:cNvSpPr/>
          <p:nvPr/>
        </p:nvSpPr>
        <p:spPr>
          <a:xfrm>
            <a:off x="8613648" y="329184"/>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Engines of Scale · Big Data Technologies for Statistical Systems · AfDB –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37</a:t>
            </a:r>
            <a:endParaRPr lang="en-US" sz="850" dirty="0"/>
          </a:p>
        </p:txBody>
      </p:sp>
      <p:sp>
        <p:nvSpPr>
          <p:cNvPr id="17" name="Shape 14"/>
          <p:cNvSpPr/>
          <p:nvPr/>
        </p:nvSpPr>
        <p:spPr>
          <a:xfrm>
            <a:off x="457200" y="1280160"/>
            <a:ext cx="4023360" cy="1508760"/>
          </a:xfrm>
          <a:prstGeom prst="roundRect">
            <a:avLst>
              <a:gd name="adj" fmla="val 4848"/>
            </a:avLst>
          </a:prstGeom>
          <a:solidFill>
            <a:srgbClr val="F4F7F5"/>
          </a:solidFill>
          <a:ln w="9525">
            <a:solidFill>
              <a:srgbClr val="D5DED9"/>
            </a:solidFill>
            <a:prstDash val="solid"/>
          </a:ln>
        </p:spPr>
      </p:sp>
      <p:sp>
        <p:nvSpPr>
          <p:cNvPr id="18" name="Text 15"/>
          <p:cNvSpPr txBox="1"/>
          <p:nvPr/>
        </p:nvSpPr>
        <p:spPr>
          <a:xfrm>
            <a:off x="594360" y="1371600"/>
            <a:ext cx="3749040" cy="237744"/>
          </a:xfrm>
          <a:prstGeom prst="rect">
            <a:avLst/>
          </a:prstGeom>
          <a:noFill/>
          <a:ln/>
        </p:spPr>
        <p:txBody>
          <a:bodyPr wrap="square" lIns="0" tIns="0" rIns="0" bIns="0" rtlCol="0" anchor="t"/>
          <a:lstStyle/>
          <a:p>
            <a:pPr marL="0" indent="0">
              <a:buNone/>
            </a:pPr>
            <a:r>
              <a:rPr lang="en-US" sz="1200" b="1" dirty="0">
                <a:solidFill>
                  <a:srgbClr val="00704A"/>
                </a:solidFill>
                <a:latin typeface="Calibri" pitchFamily="34" charset="0"/>
                <a:ea typeface="Calibri" pitchFamily="34" charset="-122"/>
                <a:cs typeface="Calibri" pitchFamily="34" charset="-120"/>
              </a:rPr>
              <a:t>Data used in the labs</a:t>
            </a:r>
            <a:endParaRPr lang="en-US" sz="1200" dirty="0"/>
          </a:p>
        </p:txBody>
      </p:sp>
      <p:sp>
        <p:nvSpPr>
          <p:cNvPr id="19" name="Text 16"/>
          <p:cNvSpPr txBox="1"/>
          <p:nvPr/>
        </p:nvSpPr>
        <p:spPr>
          <a:xfrm>
            <a:off x="594360" y="1664208"/>
            <a:ext cx="3749040" cy="1078992"/>
          </a:xfrm>
          <a:prstGeom prst="rect">
            <a:avLst/>
          </a:prstGeom>
          <a:noFill/>
          <a:ln/>
        </p:spPr>
        <p:txBody>
          <a:bodyPr wrap="square" lIns="0" tIns="0" rIns="0" bIns="0" rtlCol="0" anchor="t"/>
          <a:lstStyle/>
          <a:p>
            <a:pPr marL="342900" indent="-3429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Ookla — Speedtest Global Performance Open Data, github.com/teamookla/ookla-open-data</a:t>
            </a:r>
            <a:endParaRPr lang="en-US" sz="900" dirty="0"/>
          </a:p>
          <a:p>
            <a:pPr marL="342900" indent="-3429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WorldPop — Open spatial demographic data, worldpop.org</a:t>
            </a:r>
            <a:endParaRPr lang="en-US" sz="900" dirty="0"/>
          </a:p>
          <a:p>
            <a:pPr marL="342900" indent="-3429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NASA — Black Marble night-time lights (VNP46 products)</a:t>
            </a:r>
            <a:endParaRPr lang="en-US" sz="900" dirty="0"/>
          </a:p>
        </p:txBody>
      </p:sp>
      <p:sp>
        <p:nvSpPr>
          <p:cNvPr id="20" name="Shape 17"/>
          <p:cNvSpPr/>
          <p:nvPr/>
        </p:nvSpPr>
        <p:spPr>
          <a:xfrm>
            <a:off x="4663440" y="1280160"/>
            <a:ext cx="4023360" cy="1508760"/>
          </a:xfrm>
          <a:prstGeom prst="roundRect">
            <a:avLst>
              <a:gd name="adj" fmla="val 4848"/>
            </a:avLst>
          </a:prstGeom>
          <a:solidFill>
            <a:srgbClr val="F4F7F5"/>
          </a:solidFill>
          <a:ln w="9525">
            <a:solidFill>
              <a:srgbClr val="D5DED9"/>
            </a:solidFill>
            <a:prstDash val="solid"/>
          </a:ln>
        </p:spPr>
      </p:sp>
      <p:sp>
        <p:nvSpPr>
          <p:cNvPr id="21" name="Text 18"/>
          <p:cNvSpPr txBox="1"/>
          <p:nvPr/>
        </p:nvSpPr>
        <p:spPr>
          <a:xfrm>
            <a:off x="4800600" y="1371600"/>
            <a:ext cx="3749040" cy="237744"/>
          </a:xfrm>
          <a:prstGeom prst="rect">
            <a:avLst/>
          </a:prstGeom>
          <a:noFill/>
          <a:ln/>
        </p:spPr>
        <p:txBody>
          <a:bodyPr wrap="square" lIns="0" tIns="0" rIns="0" bIns="0" rtlCol="0" anchor="t"/>
          <a:lstStyle/>
          <a:p>
            <a:pPr marL="0" indent="0">
              <a:buNone/>
            </a:pPr>
            <a:r>
              <a:rPr lang="en-US" sz="1200" b="1" dirty="0">
                <a:solidFill>
                  <a:srgbClr val="00704A"/>
                </a:solidFill>
                <a:latin typeface="Calibri" pitchFamily="34" charset="0"/>
                <a:ea typeface="Calibri" pitchFamily="34" charset="-122"/>
                <a:cs typeface="Calibri" pitchFamily="34" charset="-120"/>
              </a:rPr>
              <a:t>Foundations</a:t>
            </a:r>
            <a:endParaRPr lang="en-US" sz="1200" dirty="0"/>
          </a:p>
        </p:txBody>
      </p:sp>
      <p:sp>
        <p:nvSpPr>
          <p:cNvPr id="22" name="Text 19"/>
          <p:cNvSpPr txBox="1"/>
          <p:nvPr/>
        </p:nvSpPr>
        <p:spPr>
          <a:xfrm>
            <a:off x="4800600" y="1664208"/>
            <a:ext cx="3749040" cy="1078992"/>
          </a:xfrm>
          <a:prstGeom prst="rect">
            <a:avLst/>
          </a:prstGeom>
          <a:noFill/>
          <a:ln/>
        </p:spPr>
        <p:txBody>
          <a:bodyPr wrap="square" lIns="0" tIns="0" rIns="0" bIns="0" rtlCol="0" anchor="t"/>
          <a:lstStyle/>
          <a:p>
            <a:pPr marL="342900" indent="-3429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Dean &amp; Ghemawat, "MapReduce", OSDI 2004</a:t>
            </a:r>
            <a:endParaRPr lang="en-US" sz="900" dirty="0"/>
          </a:p>
          <a:p>
            <a:pPr marL="342900" indent="-3429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Zaharia et al., "Apache Spark: A Unified Engine for Big Data Processing", CACM 2016</a:t>
            </a:r>
            <a:endParaRPr lang="en-US" sz="900" dirty="0"/>
          </a:p>
          <a:p>
            <a:pPr marL="342900" indent="-3429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Armbrust et al., "Lakehouse", CIDR 2021</a:t>
            </a:r>
            <a:endParaRPr lang="en-US" sz="900" dirty="0"/>
          </a:p>
          <a:p>
            <a:pPr marL="342900" indent="-3429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McKinney, "Apache Arrow and the 10 Things I Hate About pandas", 2017</a:t>
            </a:r>
            <a:endParaRPr lang="en-US" sz="900" dirty="0"/>
          </a:p>
        </p:txBody>
      </p:sp>
      <p:sp>
        <p:nvSpPr>
          <p:cNvPr id="23" name="Shape 20"/>
          <p:cNvSpPr/>
          <p:nvPr/>
        </p:nvSpPr>
        <p:spPr>
          <a:xfrm>
            <a:off x="457200" y="2926080"/>
            <a:ext cx="4023360" cy="1508760"/>
          </a:xfrm>
          <a:prstGeom prst="roundRect">
            <a:avLst>
              <a:gd name="adj" fmla="val 4848"/>
            </a:avLst>
          </a:prstGeom>
          <a:solidFill>
            <a:srgbClr val="F4F7F5"/>
          </a:solidFill>
          <a:ln w="9525">
            <a:solidFill>
              <a:srgbClr val="D5DED9"/>
            </a:solidFill>
            <a:prstDash val="solid"/>
          </a:ln>
        </p:spPr>
      </p:sp>
      <p:sp>
        <p:nvSpPr>
          <p:cNvPr id="24" name="Text 21"/>
          <p:cNvSpPr txBox="1"/>
          <p:nvPr/>
        </p:nvSpPr>
        <p:spPr>
          <a:xfrm>
            <a:off x="594360" y="3017520"/>
            <a:ext cx="3749040" cy="237744"/>
          </a:xfrm>
          <a:prstGeom prst="rect">
            <a:avLst/>
          </a:prstGeom>
          <a:noFill/>
          <a:ln/>
        </p:spPr>
        <p:txBody>
          <a:bodyPr wrap="square" lIns="0" tIns="0" rIns="0" bIns="0" rtlCol="0" anchor="t"/>
          <a:lstStyle/>
          <a:p>
            <a:pPr marL="0" indent="0">
              <a:buNone/>
            </a:pPr>
            <a:r>
              <a:rPr lang="en-US" sz="1200" b="1" dirty="0">
                <a:solidFill>
                  <a:srgbClr val="00704A"/>
                </a:solidFill>
                <a:latin typeface="Calibri" pitchFamily="34" charset="0"/>
                <a:ea typeface="Calibri" pitchFamily="34" charset="-122"/>
                <a:cs typeface="Calibri" pitchFamily="34" charset="-120"/>
              </a:rPr>
              <a:t>Technical documentation</a:t>
            </a:r>
            <a:endParaRPr lang="en-US" sz="1200" dirty="0"/>
          </a:p>
        </p:txBody>
      </p:sp>
      <p:sp>
        <p:nvSpPr>
          <p:cNvPr id="25" name="Text 22"/>
          <p:cNvSpPr txBox="1"/>
          <p:nvPr/>
        </p:nvSpPr>
        <p:spPr>
          <a:xfrm>
            <a:off x="594360" y="3310128"/>
            <a:ext cx="3749040" cy="1078992"/>
          </a:xfrm>
          <a:prstGeom prst="rect">
            <a:avLst/>
          </a:prstGeom>
          <a:noFill/>
          <a:ln/>
        </p:spPr>
        <p:txBody>
          <a:bodyPr wrap="square" lIns="0" tIns="0" rIns="0" bIns="0" rtlCol="0" anchor="t"/>
          <a:lstStyle/>
          <a:p>
            <a:pPr marL="342900" indent="-3429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Apache Hadoop HDFS Architecture · Apache Parquet</a:t>
            </a:r>
            <a:endParaRPr lang="en-US" sz="900" dirty="0"/>
          </a:p>
          <a:p>
            <a:pPr marL="342900" indent="-3429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Apache Spark · Apache Iceberg · Delta Lake</a:t>
            </a:r>
            <a:endParaRPr lang="en-US" sz="900" dirty="0"/>
          </a:p>
          <a:p>
            <a:pPr marL="342900" indent="-3429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DuckDB · Elasticsearch Reference</a:t>
            </a:r>
            <a:endParaRPr lang="en-US" sz="900" dirty="0"/>
          </a:p>
          <a:p>
            <a:pPr marL="342900" indent="-3429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Apache Airflow · GitHub–Zenodo integration</a:t>
            </a:r>
            <a:endParaRPr lang="en-US" sz="900" dirty="0"/>
          </a:p>
        </p:txBody>
      </p:sp>
      <p:sp>
        <p:nvSpPr>
          <p:cNvPr id="26" name="Shape 23"/>
          <p:cNvSpPr/>
          <p:nvPr/>
        </p:nvSpPr>
        <p:spPr>
          <a:xfrm>
            <a:off x="4663440" y="2926080"/>
            <a:ext cx="4023360" cy="1508760"/>
          </a:xfrm>
          <a:prstGeom prst="roundRect">
            <a:avLst>
              <a:gd name="adj" fmla="val 4848"/>
            </a:avLst>
          </a:prstGeom>
          <a:solidFill>
            <a:srgbClr val="F4F7F5"/>
          </a:solidFill>
          <a:ln w="9525">
            <a:solidFill>
              <a:srgbClr val="D5DED9"/>
            </a:solidFill>
            <a:prstDash val="solid"/>
          </a:ln>
        </p:spPr>
      </p:sp>
      <p:sp>
        <p:nvSpPr>
          <p:cNvPr id="27" name="Text 24"/>
          <p:cNvSpPr txBox="1"/>
          <p:nvPr/>
        </p:nvSpPr>
        <p:spPr>
          <a:xfrm>
            <a:off x="4800600" y="3017520"/>
            <a:ext cx="3749040" cy="237744"/>
          </a:xfrm>
          <a:prstGeom prst="rect">
            <a:avLst/>
          </a:prstGeom>
          <a:noFill/>
          <a:ln/>
        </p:spPr>
        <p:txBody>
          <a:bodyPr wrap="square" lIns="0" tIns="0" rIns="0" bIns="0" rtlCol="0" anchor="t"/>
          <a:lstStyle/>
          <a:p>
            <a:pPr marL="0" indent="0">
              <a:buNone/>
            </a:pPr>
            <a:r>
              <a:rPr lang="en-US" sz="1200" b="1" dirty="0">
                <a:solidFill>
                  <a:srgbClr val="00704A"/>
                </a:solidFill>
                <a:latin typeface="Calibri" pitchFamily="34" charset="0"/>
                <a:ea typeface="Calibri" pitchFamily="34" charset="-122"/>
                <a:cs typeface="Calibri" pitchFamily="34" charset="-120"/>
              </a:rPr>
              <a:t>Official statistics frameworks</a:t>
            </a:r>
            <a:endParaRPr lang="en-US" sz="1200" dirty="0"/>
          </a:p>
        </p:txBody>
      </p:sp>
      <p:sp>
        <p:nvSpPr>
          <p:cNvPr id="28" name="Text 25"/>
          <p:cNvSpPr txBox="1"/>
          <p:nvPr/>
        </p:nvSpPr>
        <p:spPr>
          <a:xfrm>
            <a:off x="4800600" y="3310128"/>
            <a:ext cx="3749040" cy="1078992"/>
          </a:xfrm>
          <a:prstGeom prst="rect">
            <a:avLst/>
          </a:prstGeom>
          <a:noFill/>
          <a:ln/>
        </p:spPr>
        <p:txBody>
          <a:bodyPr wrap="square" lIns="0" tIns="0" rIns="0" bIns="0" rtlCol="0" anchor="t"/>
          <a:lstStyle/>
          <a:p>
            <a:pPr marL="342900" indent="-3429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UNECE — Generic Statistical Business Process Model (GSBPM)</a:t>
            </a:r>
            <a:endParaRPr lang="en-US" sz="900" dirty="0"/>
          </a:p>
          <a:p>
            <a:pPr marL="342900" indent="-3429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UNECE — Quality Framework for Statistics Derived from Big Data</a:t>
            </a:r>
            <a:endParaRPr lang="en-US" sz="900" dirty="0"/>
          </a:p>
          <a:p>
            <a:pPr marL="342900" indent="-3429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SDMX · DDI · GSIM · W3C DCAT</a:t>
            </a:r>
            <a:endParaRPr lang="en-US" sz="900" dirty="0"/>
          </a:p>
          <a:p>
            <a:pPr marL="342900" indent="-3429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UN Committee of Experts on Big Data and Data Science for Official Statistics</a:t>
            </a:r>
            <a:endParaRPr lang="en-US" sz="9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TotalTime>
  <Words>8722</Words>
  <Application>Microsoft Office PowerPoint</Application>
  <PresentationFormat>On-screen Show (16:9)</PresentationFormat>
  <Paragraphs>832</Paragraphs>
  <Slides>35</Slides>
  <Notes>35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African Development Bank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Engines of Scale: Big Data Technologies for Statistical Systems</dc:title>
  <dc:subject>AfDB – Data Innovation for Africa (DI4A)</dc:subject>
  <dc:creator>AfDB – Data Innovation for Africa (DI4A)</dc:creator>
  <cp:lastModifiedBy>HADJ TAIEB, MOHAMED ALI</cp:lastModifiedBy>
  <cp:revision>4</cp:revision>
  <dcterms:created xsi:type="dcterms:W3CDTF">2026-09-16T13:33:51Z</dcterms:created>
  <dcterms:modified xsi:type="dcterms:W3CDTF">2026-09-30T05:15:27Z</dcterms:modified>
</cp:coreProperties>
</file>