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2.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60" r:id="rId3"/>
    <p:sldId id="261" r:id="rId4"/>
    <p:sldId id="262" r:id="rId5"/>
    <p:sldId id="263" r:id="rId6"/>
    <p:sldId id="264" r:id="rId7"/>
    <p:sldId id="265" r:id="rId8"/>
    <p:sldId id="266" r:id="rId9"/>
    <p:sldId id="267" r:id="rId10"/>
    <p:sldId id="268" r:id="rId11"/>
    <p:sldId id="269" r:id="rId12"/>
    <p:sldId id="270" r:id="rId13"/>
    <p:sldId id="271" r:id="rId14"/>
    <p:sldId id="272" r:id="rId15"/>
    <p:sldId id="273" r:id="rId16"/>
    <p:sldId id="274" r:id="rId17"/>
    <p:sldId id="275" r:id="rId18"/>
    <p:sldId id="276" r:id="rId19"/>
    <p:sldId id="277" r:id="rId20"/>
    <p:sldId id="278" r:id="rId21"/>
    <p:sldId id="280" r:id="rId22"/>
    <p:sldId id="281" r:id="rId23"/>
    <p:sldId id="282" r:id="rId24"/>
    <p:sldId id="283" r:id="rId25"/>
    <p:sldId id="284" r:id="rId26"/>
    <p:sldId id="285" r:id="rId27"/>
    <p:sldId id="288" r:id="rId28"/>
    <p:sldId id="290" r:id="rId29"/>
    <p:sldId id="291" r:id="rId3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8" d="100"/>
          <a:sy n="98" d="100"/>
        </p:scale>
        <p:origin x="188" y="-3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231F20"/>
                </a:solidFill>
                <a:latin typeface="Calibri"/>
              </a:defRPr>
            </a:pPr>
            <a:r>
              <a:rPr lang="fr-FR" sz="1100" b="0" i="0" u="none" strike="noStrike">
                <a:solidFill>
                  <a:srgbClr val="231F20"/>
                </a:solidFill>
                <a:latin typeface="Calibri"/>
              </a:rPr>
              <a:t>Part de la population utilisant Internet, 2025 (%)</a:t>
            </a:r>
          </a:p>
        </c:rich>
      </c:tx>
      <c:overlay val="0"/>
    </c:title>
    <c:autoTitleDeleted val="0"/>
    <c:plotArea>
      <c:layout/>
      <c:barChart>
        <c:barDir val="bar"/>
        <c:grouping val="clustered"/>
        <c:varyColors val="0"/>
        <c:ser>
          <c:idx val="0"/>
          <c:order val="0"/>
          <c:tx>
            <c:strRef>
              <c:f>Sheet1!$B$1</c:f>
              <c:strCache>
                <c:ptCount val="1"/>
                <c:pt idx="0">
                  <c:v>Utilisation d’Internet</c:v>
                </c:pt>
              </c:strCache>
            </c:strRef>
          </c:tx>
          <c:spPr>
            <a:solidFill>
              <a:srgbClr val="B83B2E"/>
            </a:solidFill>
            <a:effectLst/>
          </c:spPr>
          <c:invertIfNegative val="0"/>
          <c:dPt>
            <c:idx val="0"/>
            <c:invertIfNegative val="0"/>
            <c:bubble3D val="0"/>
            <c:extLst>
              <c:ext xmlns:c16="http://schemas.microsoft.com/office/drawing/2014/chart" uri="{C3380CC4-5D6E-409C-BE32-E72D297353CC}">
                <c16:uniqueId val="{00000001-3101-4F87-ADFF-C6C3D330CDA0}"/>
              </c:ext>
            </c:extLst>
          </c:dPt>
          <c:dPt>
            <c:idx val="1"/>
            <c:invertIfNegative val="0"/>
            <c:bubble3D val="0"/>
            <c:spPr>
              <a:solidFill>
                <a:srgbClr val="57BD92"/>
              </a:solidFill>
              <a:effectLst/>
            </c:spPr>
            <c:extLst>
              <c:ext xmlns:c16="http://schemas.microsoft.com/office/drawing/2014/chart" uri="{C3380CC4-5D6E-409C-BE32-E72D297353CC}">
                <c16:uniqueId val="{00000003-3101-4F87-ADFF-C6C3D330CDA0}"/>
              </c:ext>
            </c:extLst>
          </c:dPt>
          <c:dPt>
            <c:idx val="2"/>
            <c:invertIfNegative val="0"/>
            <c:bubble3D val="0"/>
            <c:spPr>
              <a:solidFill>
                <a:srgbClr val="A9B5B0"/>
              </a:solidFill>
              <a:effectLst/>
            </c:spPr>
            <c:extLst>
              <c:ext xmlns:c16="http://schemas.microsoft.com/office/drawing/2014/chart" uri="{C3380CC4-5D6E-409C-BE32-E72D297353CC}">
                <c16:uniqueId val="{00000005-3101-4F87-ADFF-C6C3D330CDA0}"/>
              </c:ext>
            </c:extLst>
          </c:dPt>
          <c:dPt>
            <c:idx val="3"/>
            <c:invertIfNegative val="0"/>
            <c:bubble3D val="0"/>
            <c:spPr>
              <a:solidFill>
                <a:srgbClr val="33AF7C"/>
              </a:solidFill>
              <a:effectLst/>
            </c:spPr>
            <c:extLst>
              <c:ext xmlns:c16="http://schemas.microsoft.com/office/drawing/2014/chart" uri="{C3380CC4-5D6E-409C-BE32-E72D297353CC}">
                <c16:uniqueId val="{00000007-3101-4F87-ADFF-C6C3D330CDA0}"/>
              </c:ext>
            </c:extLst>
          </c:dPt>
          <c:dPt>
            <c:idx val="4"/>
            <c:invertIfNegative val="0"/>
            <c:bubble3D val="0"/>
            <c:spPr>
              <a:solidFill>
                <a:srgbClr val="10A06A"/>
              </a:solidFill>
              <a:effectLst/>
            </c:spPr>
            <c:extLst>
              <c:ext xmlns:c16="http://schemas.microsoft.com/office/drawing/2014/chart" uri="{C3380CC4-5D6E-409C-BE32-E72D297353CC}">
                <c16:uniqueId val="{00000009-3101-4F87-ADFF-C6C3D330CDA0}"/>
              </c:ext>
            </c:extLst>
          </c:dPt>
          <c:dPt>
            <c:idx val="5"/>
            <c:invertIfNegative val="0"/>
            <c:bubble3D val="0"/>
            <c:spPr>
              <a:solidFill>
                <a:srgbClr val="008A5B"/>
              </a:solidFill>
              <a:effectLst/>
            </c:spPr>
            <c:extLst>
              <c:ext xmlns:c16="http://schemas.microsoft.com/office/drawing/2014/chart" uri="{C3380CC4-5D6E-409C-BE32-E72D297353CC}">
                <c16:uniqueId val="{0000000B-3101-4F87-ADFF-C6C3D330CDA0}"/>
              </c:ext>
            </c:extLst>
          </c:dPt>
          <c:dPt>
            <c:idx val="6"/>
            <c:invertIfNegative val="0"/>
            <c:bubble3D val="0"/>
            <c:spPr>
              <a:solidFill>
                <a:srgbClr val="00664A"/>
              </a:solidFill>
              <a:effectLst/>
            </c:spPr>
            <c:extLst>
              <c:ext xmlns:c16="http://schemas.microsoft.com/office/drawing/2014/chart" uri="{C3380CC4-5D6E-409C-BE32-E72D297353CC}">
                <c16:uniqueId val="{0000000D-3101-4F87-ADFF-C6C3D330CDA0}"/>
              </c:ext>
            </c:extLst>
          </c:dPt>
          <c:dLbls>
            <c:numFmt formatCode="0&quot; %&quot;" sourceLinked="0"/>
            <c:spPr>
              <a:noFill/>
              <a:ln>
                <a:noFill/>
              </a:ln>
              <a:effectLst/>
            </c:spPr>
            <c:txPr>
              <a:bodyPr/>
              <a:lstStyle/>
              <a:p>
                <a:pPr>
                  <a:defRPr sz="1000" b="0" i="0" u="none" strike="noStrike">
                    <a:solidFill>
                      <a:srgbClr val="231F2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Afrique</c:v>
                </c:pt>
                <c:pt idx="1">
                  <c:v>États arabes</c:v>
                </c:pt>
                <c:pt idx="2">
                  <c:v>Monde</c:v>
                </c:pt>
                <c:pt idx="3">
                  <c:v>Asie-Pacifique</c:v>
                </c:pt>
                <c:pt idx="4">
                  <c:v>Amériques</c:v>
                </c:pt>
                <c:pt idx="5">
                  <c:v>Europe</c:v>
                </c:pt>
                <c:pt idx="6">
                  <c:v>CEI</c:v>
                </c:pt>
              </c:strCache>
            </c:strRef>
          </c:cat>
          <c:val>
            <c:numRef>
              <c:f>Sheet1!$B$2:$B$8</c:f>
              <c:numCache>
                <c:formatCode>General</c:formatCode>
                <c:ptCount val="7"/>
                <c:pt idx="0">
                  <c:v>36</c:v>
                </c:pt>
                <c:pt idx="1">
                  <c:v>70</c:v>
                </c:pt>
                <c:pt idx="2">
                  <c:v>74</c:v>
                </c:pt>
                <c:pt idx="3">
                  <c:v>77</c:v>
                </c:pt>
                <c:pt idx="4">
                  <c:v>88</c:v>
                </c:pt>
                <c:pt idx="5">
                  <c:v>92</c:v>
                </c:pt>
                <c:pt idx="6">
                  <c:v>93</c:v>
                </c:pt>
              </c:numCache>
            </c:numRef>
          </c:val>
          <c:extLst>
            <c:ext xmlns:c16="http://schemas.microsoft.com/office/drawing/2014/chart" uri="{C3380CC4-5D6E-409C-BE32-E72D297353CC}">
              <c16:uniqueId val="{0000000E-3101-4F87-ADFF-C6C3D330CDA0}"/>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5E6964"/>
                </a:solidFill>
                <a:latin typeface="Calibri"/>
              </a:defRPr>
            </a:pPr>
            <a:endParaRPr lang="en-US"/>
          </a:p>
        </c:txPr>
        <c:crossAx val="2094734552"/>
        <c:crosses val="autoZero"/>
        <c:auto val="1"/>
        <c:lblAlgn val="ctr"/>
        <c:lblOffset val="100"/>
        <c:noMultiLvlLbl val="1"/>
      </c:catAx>
      <c:valAx>
        <c:axId val="2094734552"/>
        <c:scaling>
          <c:orientation val="minMax"/>
          <c:max val="100"/>
          <c:min val="0"/>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231F20"/>
                </a:solidFill>
                <a:latin typeface="Calibri"/>
              </a:defRPr>
            </a:pPr>
            <a:r>
              <a:rPr lang="fr-FR" sz="1100" b="0" i="0" u="none" strike="noStrike">
                <a:solidFill>
                  <a:srgbClr val="231F20"/>
                </a:solidFill>
                <a:latin typeface="Calibri"/>
              </a:rPr>
              <a:t>Débit descendant moyen de la région (tuiles A–C)</a:t>
            </a:r>
          </a:p>
        </c:rich>
      </c:tx>
      <c:overlay val="0"/>
    </c:title>
    <c:autoTitleDeleted val="0"/>
    <c:plotArea>
      <c:layout/>
      <c:barChart>
        <c:barDir val="col"/>
        <c:grouping val="clustered"/>
        <c:varyColors val="0"/>
        <c:ser>
          <c:idx val="0"/>
          <c:order val="0"/>
          <c:tx>
            <c:strRef>
              <c:f>Sheet1!$B$1</c:f>
              <c:strCache>
                <c:ptCount val="1"/>
                <c:pt idx="0">
                  <c:v>Mbps</c:v>
                </c:pt>
              </c:strCache>
            </c:strRef>
          </c:tx>
          <c:spPr>
            <a:solidFill>
              <a:srgbClr val="A9B5B0"/>
            </a:solidFill>
            <a:effectLst/>
          </c:spPr>
          <c:invertIfNegative val="0"/>
          <c:dPt>
            <c:idx val="0"/>
            <c:invertIfNegative val="0"/>
            <c:bubble3D val="0"/>
            <c:extLst>
              <c:ext xmlns:c16="http://schemas.microsoft.com/office/drawing/2014/chart" uri="{C3380CC4-5D6E-409C-BE32-E72D297353CC}">
                <c16:uniqueId val="{00000001-7C10-4413-8436-5838BA12F252}"/>
              </c:ext>
            </c:extLst>
          </c:dPt>
          <c:dPt>
            <c:idx val="1"/>
            <c:invertIfNegative val="0"/>
            <c:bubble3D val="0"/>
            <c:spPr>
              <a:solidFill>
                <a:srgbClr val="B83B2E"/>
              </a:solidFill>
              <a:effectLst/>
            </c:spPr>
            <c:extLst>
              <c:ext xmlns:c16="http://schemas.microsoft.com/office/drawing/2014/chart" uri="{C3380CC4-5D6E-409C-BE32-E72D297353CC}">
                <c16:uniqueId val="{00000003-7C10-4413-8436-5838BA12F252}"/>
              </c:ext>
            </c:extLst>
          </c:dPt>
          <c:dPt>
            <c:idx val="2"/>
            <c:invertIfNegative val="0"/>
            <c:bubble3D val="0"/>
            <c:spPr>
              <a:solidFill>
                <a:srgbClr val="00A86A"/>
              </a:solidFill>
              <a:effectLst/>
            </c:spPr>
            <c:extLst>
              <c:ext xmlns:c16="http://schemas.microsoft.com/office/drawing/2014/chart" uri="{C3380CC4-5D6E-409C-BE32-E72D297353CC}">
                <c16:uniqueId val="{00000005-7C10-4413-8436-5838BA12F252}"/>
              </c:ext>
            </c:extLst>
          </c:dPt>
          <c:dLbls>
            <c:numFmt formatCode="0.0&quot; Mbps&quot;" sourceLinked="0"/>
            <c:spPr>
              <a:noFill/>
              <a:ln>
                <a:noFill/>
              </a:ln>
              <a:effectLst/>
            </c:spPr>
            <c:txPr>
              <a:bodyPr/>
              <a:lstStyle/>
              <a:p>
                <a:pPr>
                  <a:defRPr sz="1100" b="1" i="0" u="none" strike="noStrike">
                    <a:solidFill>
                      <a:srgbClr val="231F2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Moyenne simple des tuiles</c:v>
                </c:pt>
                <c:pt idx="1">
                  <c:v>Pondérée par les tests</c:v>
                </c:pt>
                <c:pt idx="2">
                  <c:v>Pondérée par la population</c:v>
                </c:pt>
              </c:strCache>
            </c:strRef>
          </c:cat>
          <c:val>
            <c:numRef>
              <c:f>Sheet1!$B$2:$B$4</c:f>
              <c:numCache>
                <c:formatCode>General</c:formatCode>
                <c:ptCount val="3"/>
                <c:pt idx="0">
                  <c:v>18.3</c:v>
                </c:pt>
                <c:pt idx="1">
                  <c:v>36.4</c:v>
                </c:pt>
                <c:pt idx="2">
                  <c:v>21.4</c:v>
                </c:pt>
              </c:numCache>
            </c:numRef>
          </c:val>
          <c:extLst>
            <c:ext xmlns:c16="http://schemas.microsoft.com/office/drawing/2014/chart" uri="{C3380CC4-5D6E-409C-BE32-E72D297353CC}">
              <c16:uniqueId val="{00000006-7C10-4413-8436-5838BA12F252}"/>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E6964"/>
                </a:solidFill>
                <a:latin typeface="Calibri"/>
              </a:defRPr>
            </a:pPr>
            <a:endParaRPr lang="en-US"/>
          </a:p>
        </c:txPr>
        <c:crossAx val="2094734552"/>
        <c:crosses val="autoZero"/>
        <c:auto val="1"/>
        <c:lblAlgn val="ctr"/>
        <c:lblOffset val="100"/>
        <c:noMultiLvlLbl val="1"/>
      </c:catAx>
      <c:valAx>
        <c:axId val="2094734552"/>
        <c:scaling>
          <c:orientation val="minMax"/>
          <c:max val="42"/>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10431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Bienvenue. Cette séance porte sur les données non traditionnelles, avec un objectif concret : à la fin du laboratoire, chaque équipe aura calculé un premier indicateur de connectivité pondéré par la population pour les régions de son pays, à partir de deux jeux de données ouverts, Ookla Speedtest Open Data et WorldPop. Les 25 premières minutes présentent les concepts ; le reste du temps est consacré au laboratoire.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Avant les données, la question de politique publique à laquelle elles répondent. Message clé : être en ligne ne suffit plus, c’est la qualité qui compte.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Ancrer la séance dans quatre chiffres de l’UIT. Six milliards d’utilisateurs laissent penser que le problème est réglé. Les trois suivants disent le contraire : 2,2 milliards de personnes sont encore hors ligne, presque toutes dans des pays à revenu faible ou intermédiaire ; la 5G couvre 84 % de la population des pays à revenu élevé mais 4 % de celle des pays à faible revenu ; et un utilisateur type d’un pays à revenu élevé génère près de huit fois plus de données mobiles qu’un utilisateur d’un pays à faible revenu. Les deux derniers chiffres sont des écarts de qualité, et c’est précisément la qualité que mesure Ookla.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Utilisation d’Internet par région de l’UIT. L’Afrique se situe à 36 %, moins de la moitié de la moyenne mondiale, tandis que l’Europe et la CEI dépassent 90 %. L’UIT considère 95 % comme le seuil d’utilisation universelle. Pour ce public, le message clé est à droite : les moyennes nationales masquent en Afrique un écart urbain–rural très important, de 2,6 fois, et cet écart est par nature infranational. Il ne peut être observé qu’avec des données infranationales, précisément ce que nous allons construire dans cette séance.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diapositive charnière. Nos indicateurs officiels, ODD 9.c.1, 17.6.1 et 17.8.1, répondent à l’ancienne question : couverture, abonnements, utilisation. Ils disent peu de choses de la qualité réelle de la connexion. L’UIT parle désormais de connectivité universelle et significative : débit, fiabilité, accessibilité financière, compétences. Ookla mesure le débit et la latence vécus ; il complète donc, sans les remplacer, les enquêtes auprès des ménages et les données administratives que produisent déjà les INS.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Si les participants comprennent la tuile, ils comprennent le jeu de données. Prendre le temps ici.</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Parcourir la chaîne de gauche à droite. Des particuliers lancent un Speedtest sur leur téléphone ; Ookla ne conserve que les résultats avec une localisation de qualité GPS ; les tests sont moyennés dans de petites tuiles cartographiques ; les tuiles sont publiées gratuitement chaque trimestre sur AWS. Deux conséquences à souligner : l’unité est la tuile, pas la personne ni l’opérateur ; et les valeurs sont des moyennes de tests auto-sélectionnés, pas un échantillon conçu.</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Dessiner lentement. Au zoom 0, le monde entier est une seule tuile. Chaque niveau de zoom divise chaque tuile en quatre, et chaque division ajoute un chiffre au quadkey : 0 en haut à gauche, 1 en haut à droite, 2 en bas à gauche, 3 en bas à droite. La tuile 12 est donc l’enfant en bas à gauche de la tuile 1. Au zoom 16, un quadkey compte 16 chiffres et la tuile mesure environ 611 mètres de côté à l’équateur. Deux conséquences pratiques : le quadkey est un identifiant stable qui permet de relier un même lieu d’un trimestre à l’autre sans opération spatiale ; et toutes les tuiles contenues dans une tuile plus grande partagent son préfixe, ce qui accélère le filtrage par pays. La grille suivant la projection Web Mercator, les tuiles rétrécissent en mètres lorsqu’on s’éloigne de l’équateur : en Tunisie ou en Afrique du Sud, une tuile est nettement plus petite qu’au Kenya.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Parcourir les champs. Trois pièges expliquent la plupart des erreurs dans les premières analyses. Un : les débits sont en kilobits par seconde, diviser par 1000 pour obtenir des Mbps. Deux : ce sont des moyennes, alors que le Speedtest Global Index cité dans la presse publie des médianes ; les deux ne sont pas comparables, et les moyennes sont tirées vers le haut par quelques tests très rapides. Trois : tests et devices sont vos poids de confiance ; une tuile avec un seul appareil reflète l’expérience d’une seule personne.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trimestre est livré en deux fichiers. « Fixe » désigne les tests effectués en Wi-Fi ou Ethernet : un indicateur approché du haut débit à domicile ou au bureau, qui mesure aussi en partie le Wi-Fi domestique lui-même. « Mobile » désigne les tests cellulaires, 4G et 5G. Les deux proviennent d’appareils mobiles géolocalisés par GPS, et sont donc comparables du point de vue de l’échantillonnage. Dans la plupart des pays africains, la couche mobile sera bien plus dense que la couche fixe : le vérifier avant de choisir la couche qui porte votre indicateur.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série commence au T1 2019 et est publiée chaque trimestre. Deux ajouts de champs comptent pour les séries temporelles : la latence en charge début 2023, les centroïdes des tuiles mi-2023. L’événement récent le plus important date d’avril 2026 : Ookla a mis à jour ses régions prises en charge, et certaines zones géographiques ne figurent plus dans le jeu de données actuel. C’est pourquoi le programme demande de vérifier la couverture nationale avant de concevoir tout indicateur. Par ailleurs, les données sont régulièrement ré-agrégées pour respecter les demandes liées à la vie privée : toujours noter la date de téléchargement.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Courte et pratique : comment obtenir les fichiers, et ce que la licence implique pour un institut national de la statistique.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Aucun compte n’est nécessaire. S3 est la source de référence ; le chemin encode le format, le type de service, l’année et le trimestre. La commande CLI à droite télécharge un trimestre ; noter l’option --no-sign-request, qui surprend souvent. Pour le laboratoire, le notebook lit directement le fichier Parquet en HTTPS. Attention : les fichiers mondiaux pèsent plusieurs centaines de mégaoctets ; filtrer sur votre pays le plus tôt possible.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Nos deux jeux de données ont des licences différentes. WorldPop est sous CC BY 4.0 : citer la source et utiliser librement, y compris commercialement. Ookla est sous CC BY-NC-SA 4.0 : attribution, pas d’utilisation commerciale, partage dans les mêmes conditions. Pour un INS, c’est la clause de partage dans les mêmes conditions qui mérite discussion : les tableaux dérivés que vous diffusez pourraient devoir porter la même licence, ce qui peut ne pas correspondre à votre politique nationale de données ouvertes. Ceci n’est pas un avis juridique : les trois questions à droite sont à soumettre à votre service juridique ou de gouvernance des données, et elles peuvent alimenter les lignes directrices de gouvernance des données de votre institut. Pour un usage plus riche ou commercial, Ookla propose des licences distinctes, notamment via son programme Ookla for Good.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 le cœur de la séance. Nous ajoutons l’ingrédient manquant, un dénominateur de population, et parcourons le déroulé du laboratoire.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Ookla nous dit à quelle vitesse sont les connexions là où les tests ont lieu. Il ne dit rien du nombre de personnes qui y vivent. WorldPop comble ce manque : des effectifs de population modélisés sur une grille de 100 mètres. La version actuelle, Global2 R2025A, couvre 2015 à 2030, place la population uniquement dans les cellules bâties, et aligne les totaux nationaux sur les World Population Prospects 2024 des Nations Unies. Deux mises en garde : ce sont des estimations modélisées, pas des comptages de recensement, et l’incertitude augmente pour les années éloignées des recensements utilisés. Si votre institut dispose de sa propre grille issue du recensement, privilégiez-la et indiquez-le.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diapositive pédagogique la plus importante. Une région fictive avec quatre tuiles. La moyenne simple des tuiles donne 18 Mbps. La pondération par les tests donne 36 Mbps, car la tuile urbaine concentre la plupart des tests : c’est le biais des données participatives, les personnes bien connectées testent davantage. La pondération par la population donne 21 Mbps, ce qui répond à la question de politique publique : quel débit connaît l’habitant typique ? Puis observer la tuile D : 4 000 personnes sans aucune mesure. C’est pourquoi on publie toujours la part de population mesurée à côté du débit. Les chiffres sont fictifs.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la recette que suit le notebook. L’étape 0 est la vérification de couverture vue en section 2. Découper tôt, car le fichier mondial est volumineux. Ajouter la population en sommant les cellules WorldPop de chaque tuile. Affecter chaque tuile à une seule région grâce à son centroïde, afin qu’une tuile à cheval sur une limite ne soit pas comptée deux fois. Appliquer et annoncer un minimum de tests et d’appareils. Seulement ensuite, calculer les indicateurs, et terminer par des contrôles de cohérence : le classement des régions est-il plausible au regard de ce que disent les enquêtes ?</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 pas lire le code ligne par ligne ; le relier aux six étapes grâce aux commentaires numérotés. Points à souligner : le filtre sur tile_x et tile_y intervient avant la construction des géométries, ce qui économise la mémoire ; zonal_stats peut renvoyer None pour les tuiles sur l’eau, d’où le « or 0 » ; la jointure par centroïde affecte chaque tuile à une seule région ; et les seuils de 3 tests et 2 appareils sont un exemple, chaque équipe doit choisir et documenter les siens. Le notebook complet se trouve dans le dépôt GitHub DI4A.</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 jamais publier un débit seul. Les quatre indicateurs forment un ensemble. Le débit pondéré par la population est le chiffre principal. La part de population mesurée indique au lecteur quelle part de la région ce chiffre représente réellement. La part de la population au-dessus d’un seuil est plus facile à communiquer qu’une moyenne ; le seuil est un choix de politique publique, il faut donc l’annoncer et le justifier. L’évolution dans le temps utilise la jointure par quadkey et ne doit comparer que des trimestres téléchargés selon les mêmes règles.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 Lire ces diapositives avec votre propre carte à l’écran.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grilles de lecture, de la plus sous-utilisée à la moins sous-utilisée. Absence : là où il n’y a aucune donnée. Gradient : comment la performance décroît depuis les centres-villes, et où elle chute. Substitution : les lieux où les gens n’ont que le mobile. Réactivité : la latence, qui explique pourquoi une connexion apparemment rapide échoue lors d’un appel vidéo. Les deux diapositives suivantes détaillent la première et la troisième.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tuile sans ligne signifie qu’aucun test géolocalisé n’y a été enregistré ce trimestre-là. Cela peut signifier : pas de service, un service inabordable, pas de smartphones, personne n’y habite, ou des habitants qui n’ont simplement jamais testé. La superposition de WorldPop isole le quatrième cas : une tuile vide mais très peuplée est le cas intéressant. Une absence persistante sur plusieurs trimestres dans des lieux habités est une piste à vérifier sur le terrain, jamais un résultat en soi. C’est l’erreur d’interprétation la plus fréquente dans les travaux publiés.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joignant les couches fixe et mobile par quadkey pour un même trimestre, chaque tuile tombe dans l’une des quatre cases. Les tuiles « mobile seul » sont les plus pertinentes pour les politiques publiques en Afrique : des ménages dont toute la vie numérique dépend d’un forfait mobile plafonné. Les tuiles « fixe seul » signalent souvent une mauvaise réception cellulaire en intérieur. « Aucun » signifie non mesuré : revenir au signal 1. Les deux couches provenant d’appareils mobiles, la comparaison est homogène du point de vue de l’échantillonnage.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6. La crédibilité est le premier capital d’un INS. Cette section vise à la protéger.</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 pas passer vite sur cette diapositive : la crédibilité dépend de la colonne de droite. Ookla fournit des données d’observation, pas un échantillon conçu. Elles indiquent un minimum : là où le service existe de façon avérée, pas une carte de couverture. Elles ne disent rien de l’identité des testeurs, des prix, ni des personnes qui ne testent jamais. C’est une contrainte à gérer, pas une raison d’écarter les données. C’est aussi le contenu de votre note sur les limites.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gauche, des utilisateurs documentés des données Speedtest selon Ookla : des régulateurs comme la FCC américaine et la MCMC malaisienne, et le département de l’Éducation de l’État de Géorgie (États-Unis), qui s’en est servi pour décider où stationner des bus scolaires équipés du Wi-Fi. À droite, des usages possibles pour un INS. Ce sont des pistes à discuter, pas des recommandations. Pour la plupart des instituts, l’étape la plus réaliste consiste à les utiliser comme covariable ou outil de diagnostic, et à discuter d’un accès régulier avec Ookla et les opérateurs.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Diapositive de références. Tous les chiffres de cette présentation ont été vérifiés auprès de ces sources en septembre 2026. Vérifier les valeurs à jour avant toute republication.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 minutes de questions, puis ouverture du laboratoire. Les formateurs circulent ; le premier point d’étape est la vérification de couverture.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8" Type="http://schemas.openxmlformats.org/officeDocument/2006/relationships/image" Target="../media/image19.jpe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16.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1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1.png"/><Relationship Id="rId7" Type="http://schemas.openxmlformats.org/officeDocument/2006/relationships/image" Target="../media/image44.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15.png"/><Relationship Id="rId9" Type="http://schemas.openxmlformats.org/officeDocument/2006/relationships/image" Target="../media/image46.png"/></Relationships>
</file>

<file path=ppt/slides/_rels/slide1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54.png"/></Relationships>
</file>

<file path=ppt/slides/_rels/slide2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2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60.png"/><Relationship Id="rId7" Type="http://schemas.openxmlformats.org/officeDocument/2006/relationships/image" Target="../media/image63.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62.png"/><Relationship Id="rId5" Type="http://schemas.openxmlformats.org/officeDocument/2006/relationships/image" Target="../media/image25.png"/><Relationship Id="rId4" Type="http://schemas.openxmlformats.org/officeDocument/2006/relationships/image" Target="../media/image61.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64.png"/></Relationships>
</file>

<file path=ppt/slides/_rels/slide2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66.png"/></Relationships>
</file>

<file path=ppt/slides/_rels/slide27.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image" Target="../media/image67.png"/><Relationship Id="rId7" Type="http://schemas.openxmlformats.org/officeDocument/2006/relationships/image" Target="../media/image71.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 Id="rId9" Type="http://schemas.openxmlformats.org/officeDocument/2006/relationships/image" Target="../media/image73.png"/></Relationships>
</file>

<file path=ppt/slides/_rels/slide28.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76.png"/><Relationship Id="rId4" Type="http://schemas.openxmlformats.org/officeDocument/2006/relationships/image" Target="../media/image75.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77.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p:spPr>
      </p:sp>
      <p:sp>
        <p:nvSpPr>
          <p:cNvPr id="3" name="Text 1"/>
          <p:cNvSpPr txBox="1"/>
          <p:nvPr/>
        </p:nvSpPr>
        <p:spPr>
          <a:xfrm>
            <a:off x="548640" y="640080"/>
            <a:ext cx="8138160" cy="228600"/>
          </a:xfrm>
          <a:prstGeom prst="rect">
            <a:avLst/>
          </a:prstGeom>
          <a:noFill/>
          <a:ln/>
        </p:spPr>
        <p:txBody>
          <a:bodyPr wrap="square" lIns="0" tIns="0" rIns="0" bIns="0" rtlCol="0" anchor="t"/>
          <a:lstStyle/>
          <a:p>
            <a:pPr marL="0" indent="0">
              <a:buNone/>
            </a:pPr>
            <a:r>
              <a:rPr lang="en-US" sz="1000" b="1" kern="0" spc="200" dirty="0">
                <a:solidFill>
                  <a:srgbClr val="F5C242"/>
                </a:solidFill>
                <a:latin typeface="Calibri" pitchFamily="34" charset="0"/>
                <a:ea typeface="Calibri" pitchFamily="34" charset="-122"/>
                <a:cs typeface="Calibri" pitchFamily="34" charset="-120"/>
              </a:rPr>
              <a:t>BAD  ·  DATA INNOVATION FOR AFRICA (DI4A)  ·  DONNÉES NON TRADITIONNELLES</a:t>
            </a:r>
            <a:endParaRPr lang="en-US" sz="1000" dirty="0"/>
          </a:p>
        </p:txBody>
      </p:sp>
      <p:sp>
        <p:nvSpPr>
          <p:cNvPr id="4" name="Text 2"/>
          <p:cNvSpPr txBox="1"/>
          <p:nvPr/>
        </p:nvSpPr>
        <p:spPr>
          <a:xfrm>
            <a:off x="548640" y="960120"/>
            <a:ext cx="5943600" cy="1691640"/>
          </a:xfrm>
          <a:prstGeom prst="rect">
            <a:avLst/>
          </a:prstGeom>
          <a:noFill/>
          <a:ln/>
        </p:spPr>
        <p:txBody>
          <a:bodyPr wrap="square" lIns="0" tIns="0" rIns="0" bIns="0" rtlCol="0" anchor="t"/>
          <a:lstStyle/>
          <a:p>
            <a:pPr marL="0" indent="0">
              <a:buNone/>
            </a:pPr>
            <a:r>
              <a:rPr lang="en-US" sz="3500" b="1" dirty="0">
                <a:solidFill>
                  <a:srgbClr val="FFFFFF"/>
                </a:solidFill>
                <a:latin typeface="Calibri" pitchFamily="34" charset="0"/>
                <a:ea typeface="Calibri" pitchFamily="34" charset="-122"/>
                <a:cs typeface="Calibri" pitchFamily="34" charset="-120"/>
              </a:rPr>
              <a:t>Mesurer la fracture de connectivité avec Ookla Open Data</a:t>
            </a:r>
            <a:endParaRPr lang="en-US" sz="3500" dirty="0"/>
          </a:p>
        </p:txBody>
      </p:sp>
      <p:sp>
        <p:nvSpPr>
          <p:cNvPr id="5" name="Text 3"/>
          <p:cNvSpPr txBox="1"/>
          <p:nvPr/>
        </p:nvSpPr>
        <p:spPr>
          <a:xfrm>
            <a:off x="548640" y="2788920"/>
            <a:ext cx="5669280" cy="685800"/>
          </a:xfrm>
          <a:prstGeom prst="rect">
            <a:avLst/>
          </a:prstGeom>
          <a:noFill/>
          <a:ln/>
        </p:spPr>
        <p:txBody>
          <a:bodyPr wrap="square" lIns="0" tIns="0" rIns="0" bIns="0" rtlCol="0" anchor="t"/>
          <a:lstStyle/>
          <a:p>
            <a:pPr marL="0" indent="0">
              <a:buNone/>
            </a:pPr>
            <a:r>
              <a:rPr lang="en-US" sz="1700" i="1" dirty="0">
                <a:solidFill>
                  <a:srgbClr val="E6F6EE"/>
                </a:solidFill>
                <a:latin typeface="Calibri" pitchFamily="34" charset="0"/>
                <a:ea typeface="Calibri" pitchFamily="34" charset="-122"/>
                <a:cs typeface="Calibri" pitchFamily="34" charset="-120"/>
              </a:rPr>
              <a:t>Des tests de débit participatifs à un indicateur infranational pondéré par la population, avec WorldPop</a:t>
            </a:r>
            <a:endParaRPr lang="en-US" sz="1700" dirty="0"/>
          </a:p>
        </p:txBody>
      </p:sp>
      <p:sp>
        <p:nvSpPr>
          <p:cNvPr id="8" name="Text 6"/>
          <p:cNvSpPr txBox="1"/>
          <p:nvPr/>
        </p:nvSpPr>
        <p:spPr>
          <a:xfrm>
            <a:off x="548640" y="4297680"/>
            <a:ext cx="6400800" cy="228600"/>
          </a:xfrm>
          <a:prstGeom prst="rect">
            <a:avLst/>
          </a:prstGeom>
          <a:noFill/>
          <a:ln/>
        </p:spPr>
        <p:txBody>
          <a:bodyPr wrap="square" lIns="0" tIns="0" rIns="0" bIns="0" rtlCol="0" anchor="t"/>
          <a:lstStyle/>
          <a:p>
            <a:pPr marL="0" indent="0">
              <a:buNone/>
            </a:pPr>
            <a:r>
              <a:rPr lang="en-US" sz="1100" dirty="0">
                <a:solidFill>
                  <a:srgbClr val="E6F6EE"/>
                </a:solidFill>
                <a:latin typeface="Calibri" pitchFamily="34" charset="0"/>
                <a:ea typeface="Calibri" pitchFamily="34" charset="-122"/>
                <a:cs typeface="Calibri" pitchFamily="34" charset="-120"/>
              </a:rPr>
              <a:t>Data Innovation For Africa  (DI4A) - AfDB</a:t>
            </a:r>
            <a:endParaRPr lang="en-US" sz="1100" dirty="0"/>
          </a:p>
        </p:txBody>
      </p:sp>
      <p:sp>
        <p:nvSpPr>
          <p:cNvPr id="9" name="Shape 7"/>
          <p:cNvSpPr/>
          <p:nvPr/>
        </p:nvSpPr>
        <p:spPr>
          <a:xfrm>
            <a:off x="6720840" y="1234440"/>
            <a:ext cx="1920240" cy="1920240"/>
          </a:xfrm>
          <a:prstGeom prst="ellipse">
            <a:avLst/>
          </a:prstGeom>
          <a:solidFill>
            <a:srgbClr val="FFFFFF"/>
          </a:solidFill>
          <a:ln/>
        </p:spPr>
      </p:sp>
      <p:pic>
        <p:nvPicPr>
          <p:cNvPr id="10" name="Image 0" descr="preencoded.png"/>
          <p:cNvPicPr>
            <a:picLocks noChangeAspect="1"/>
          </p:cNvPicPr>
          <p:nvPr/>
        </p:nvPicPr>
        <p:blipFill>
          <a:blip r:embed="rId4"/>
          <a:stretch>
            <a:fillRect/>
          </a:stretch>
        </p:blipFill>
        <p:spPr>
          <a:xfrm>
            <a:off x="7178040" y="1691640"/>
            <a:ext cx="1005840" cy="1005840"/>
          </a:xfrm>
          <a:prstGeom prst="rect">
            <a:avLst/>
          </a:prstGeom>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p:spPr>
      </p:sp>
      <p:sp>
        <p:nvSpPr>
          <p:cNvPr id="3" name="Text 1"/>
          <p:cNvSpPr txBox="1"/>
          <p:nvPr/>
        </p:nvSpPr>
        <p:spPr>
          <a:xfrm>
            <a:off x="548640" y="822960"/>
            <a:ext cx="3657600" cy="228600"/>
          </a:xfrm>
          <a:prstGeom prst="rect">
            <a:avLst/>
          </a:prstGeom>
          <a:noFill/>
          <a:ln/>
        </p:spPr>
        <p:txBody>
          <a:bodyPr wrap="square" lIns="0" tIns="0" rIns="0" bIns="0" rtlCol="0" anchor="t"/>
          <a:lstStyle/>
          <a:p>
            <a:pPr marL="0" indent="0">
              <a:buNone/>
            </a:pPr>
            <a:r>
              <a:rPr lang="en-US" sz="1100" b="1" kern="0" spc="300" dirty="0">
                <a:solidFill>
                  <a:srgbClr val="F5C242"/>
                </a:solidFill>
                <a:latin typeface="Calibri" pitchFamily="34" charset="0"/>
                <a:ea typeface="Calibri" pitchFamily="34" charset="-122"/>
                <a:cs typeface="Calibri" pitchFamily="34" charset="-120"/>
              </a:rPr>
              <a:t>SECTION 01</a:t>
            </a:r>
            <a:endParaRPr lang="en-US" sz="1100" dirty="0"/>
          </a:p>
        </p:txBody>
      </p:sp>
      <p:sp>
        <p:nvSpPr>
          <p:cNvPr id="4" name="Text 2"/>
          <p:cNvSpPr txBox="1"/>
          <p:nvPr/>
        </p:nvSpPr>
        <p:spPr>
          <a:xfrm>
            <a:off x="502920" y="1051560"/>
            <a:ext cx="2743200" cy="1234440"/>
          </a:xfrm>
          <a:prstGeom prst="rect">
            <a:avLst/>
          </a:prstGeom>
          <a:noFill/>
          <a:ln/>
        </p:spPr>
        <p:txBody>
          <a:bodyPr wrap="square" lIns="0" tIns="0" rIns="0" bIns="0" rtlCol="0" anchor="ctr"/>
          <a:lstStyle/>
          <a:p>
            <a:pPr marL="0" indent="0">
              <a:buNone/>
            </a:pPr>
            <a:r>
              <a:rPr lang="en-US" sz="9600" b="1" dirty="0">
                <a:solidFill>
                  <a:srgbClr val="F5C242"/>
                </a:solidFill>
                <a:latin typeface="Calibri" pitchFamily="34" charset="0"/>
                <a:ea typeface="Calibri" pitchFamily="34" charset="-122"/>
                <a:cs typeface="Calibri" pitchFamily="34" charset="-120"/>
              </a:rPr>
              <a:t>01</a:t>
            </a:r>
            <a:endParaRPr lang="en-US" sz="9600" dirty="0"/>
          </a:p>
        </p:txBody>
      </p:sp>
      <p:sp>
        <p:nvSpPr>
          <p:cNvPr id="5" name="Text 3"/>
          <p:cNvSpPr txBox="1"/>
          <p:nvPr/>
        </p:nvSpPr>
        <p:spPr>
          <a:xfrm>
            <a:off x="548640" y="2286000"/>
            <a:ext cx="5212080" cy="1051560"/>
          </a:xfrm>
          <a:prstGeom prst="rect">
            <a:avLst/>
          </a:prstGeom>
          <a:noFill/>
          <a:ln/>
        </p:spPr>
        <p:txBody>
          <a:bodyPr wrap="square" lIns="0" tIns="0" rIns="0" bIns="0" rtlCol="0" anchor="t"/>
          <a:lstStyle/>
          <a:p>
            <a:pPr marL="0" indent="0">
              <a:buNone/>
            </a:pPr>
            <a:r>
              <a:rPr lang="en-US" sz="3200" b="1" dirty="0">
                <a:solidFill>
                  <a:srgbClr val="FFFFFF"/>
                </a:solidFill>
                <a:latin typeface="Calibri" pitchFamily="34" charset="0"/>
                <a:ea typeface="Calibri" pitchFamily="34" charset="-122"/>
                <a:cs typeface="Calibri" pitchFamily="34" charset="-120"/>
              </a:rPr>
              <a:t>La connectivité, une question statistique</a:t>
            </a:r>
            <a:endParaRPr lang="en-US" sz="3200" dirty="0"/>
          </a:p>
        </p:txBody>
      </p:sp>
      <p:sp>
        <p:nvSpPr>
          <p:cNvPr id="6" name="Text 4"/>
          <p:cNvSpPr txBox="1"/>
          <p:nvPr/>
        </p:nvSpPr>
        <p:spPr>
          <a:xfrm>
            <a:off x="548640" y="3493008"/>
            <a:ext cx="4937760" cy="640080"/>
          </a:xfrm>
          <a:prstGeom prst="rect">
            <a:avLst/>
          </a:prstGeom>
          <a:noFill/>
          <a:ln/>
        </p:spPr>
        <p:txBody>
          <a:bodyPr wrap="square" lIns="0" tIns="0" rIns="0" bIns="0" rtlCol="0" anchor="t"/>
          <a:lstStyle/>
          <a:p>
            <a:pPr marL="0" indent="0">
              <a:buNone/>
            </a:pPr>
            <a:r>
              <a:rPr lang="en-US" sz="1600" i="1" dirty="0">
                <a:solidFill>
                  <a:srgbClr val="E6F6EE"/>
                </a:solidFill>
                <a:latin typeface="Calibri" pitchFamily="34" charset="0"/>
                <a:ea typeface="Calibri" pitchFamily="34" charset="-122"/>
                <a:cs typeface="Calibri" pitchFamily="34" charset="-120"/>
              </a:rPr>
              <a:t>Les trois quarts de l’humanité sont en ligne. Pourquoi la fracture se creuse-t-elle encore ?</a:t>
            </a:r>
            <a:endParaRPr lang="en-US" sz="1600" dirty="0"/>
          </a:p>
        </p:txBody>
      </p:sp>
      <p:sp>
        <p:nvSpPr>
          <p:cNvPr id="7" name="Shape 5"/>
          <p:cNvSpPr/>
          <p:nvPr/>
        </p:nvSpPr>
        <p:spPr>
          <a:xfrm>
            <a:off x="5989320" y="960120"/>
            <a:ext cx="2651760" cy="2651760"/>
          </a:xfrm>
          <a:prstGeom prst="ellipse">
            <a:avLst/>
          </a:prstGeom>
          <a:solidFill>
            <a:srgbClr val="FFFFFF">
              <a:alpha val="10000"/>
            </a:srgbClr>
          </a:solidFill>
          <a:ln/>
        </p:spPr>
      </p:sp>
      <p:sp>
        <p:nvSpPr>
          <p:cNvPr id="8" name="Shape 6"/>
          <p:cNvSpPr/>
          <p:nvPr/>
        </p:nvSpPr>
        <p:spPr>
          <a:xfrm>
            <a:off x="6309360" y="1280160"/>
            <a:ext cx="2011680" cy="2011680"/>
          </a:xfrm>
          <a:prstGeom prst="ellipse">
            <a:avLst/>
          </a:prstGeom>
          <a:solidFill>
            <a:srgbClr val="FFFFFF">
              <a:alpha val="18000"/>
            </a:srgbClr>
          </a:solidFill>
          <a:ln/>
        </p:spPr>
      </p:sp>
      <p:sp>
        <p:nvSpPr>
          <p:cNvPr id="9" name="Shape 7"/>
          <p:cNvSpPr/>
          <p:nvPr/>
        </p:nvSpPr>
        <p:spPr>
          <a:xfrm>
            <a:off x="6629400" y="1600200"/>
            <a:ext cx="1371600" cy="1371600"/>
          </a:xfrm>
          <a:prstGeom prst="ellipse">
            <a:avLst/>
          </a:prstGeom>
          <a:solidFill>
            <a:srgbClr val="FFFFFF"/>
          </a:solidFill>
          <a:ln/>
        </p:spPr>
      </p:sp>
      <p:pic>
        <p:nvPicPr>
          <p:cNvPr id="10" name="Image 0" descr="preencoded.png"/>
          <p:cNvPicPr>
            <a:picLocks noChangeAspect="1"/>
          </p:cNvPicPr>
          <p:nvPr/>
        </p:nvPicPr>
        <p:blipFill>
          <a:blip r:embed="rId4"/>
          <a:stretch>
            <a:fillRect/>
          </a:stretch>
        </p:blipFill>
        <p:spPr>
          <a:xfrm>
            <a:off x="6995160" y="1965960"/>
            <a:ext cx="640080" cy="640080"/>
          </a:xfrm>
          <a:prstGeom prst="rect">
            <a:avLst/>
          </a:prstGeom>
        </p:spPr>
      </p:pic>
      <p:sp>
        <p:nvSpPr>
          <p:cNvPr id="11" name="Shape 8"/>
          <p:cNvSpPr/>
          <p:nvPr/>
        </p:nvSpPr>
        <p:spPr>
          <a:xfrm>
            <a:off x="566928" y="4315968"/>
            <a:ext cx="118872" cy="118872"/>
          </a:xfrm>
          <a:prstGeom prst="ellipse">
            <a:avLst/>
          </a:prstGeom>
          <a:solidFill>
            <a:srgbClr val="F5C242"/>
          </a:solidFill>
          <a:ln/>
        </p:spPr>
      </p:sp>
      <p:sp>
        <p:nvSpPr>
          <p:cNvPr id="12" name="Shape 9"/>
          <p:cNvSpPr/>
          <p:nvPr/>
        </p:nvSpPr>
        <p:spPr>
          <a:xfrm>
            <a:off x="804672" y="4315968"/>
            <a:ext cx="118872" cy="118872"/>
          </a:xfrm>
          <a:prstGeom prst="ellipse">
            <a:avLst/>
          </a:prstGeom>
          <a:solidFill>
            <a:srgbClr val="FFFFFF">
              <a:alpha val="40000"/>
            </a:srgbClr>
          </a:solidFill>
          <a:ln/>
        </p:spPr>
      </p:sp>
      <p:sp>
        <p:nvSpPr>
          <p:cNvPr id="13" name="Shape 10"/>
          <p:cNvSpPr/>
          <p:nvPr/>
        </p:nvSpPr>
        <p:spPr>
          <a:xfrm>
            <a:off x="1042416" y="4315968"/>
            <a:ext cx="118872" cy="118872"/>
          </a:xfrm>
          <a:prstGeom prst="ellipse">
            <a:avLst/>
          </a:prstGeom>
          <a:solidFill>
            <a:srgbClr val="FFFFFF">
              <a:alpha val="40000"/>
            </a:srgbClr>
          </a:solidFill>
          <a:ln/>
        </p:spPr>
      </p:sp>
      <p:sp>
        <p:nvSpPr>
          <p:cNvPr id="14" name="Shape 11"/>
          <p:cNvSpPr/>
          <p:nvPr/>
        </p:nvSpPr>
        <p:spPr>
          <a:xfrm>
            <a:off x="1280160" y="4315968"/>
            <a:ext cx="118872" cy="118872"/>
          </a:xfrm>
          <a:prstGeom prst="ellipse">
            <a:avLst/>
          </a:prstGeom>
          <a:solidFill>
            <a:srgbClr val="FFFFFF">
              <a:alpha val="40000"/>
            </a:srgbClr>
          </a:solidFill>
          <a:ln/>
        </p:spPr>
      </p:sp>
      <p:sp>
        <p:nvSpPr>
          <p:cNvPr id="15" name="Shape 12"/>
          <p:cNvSpPr/>
          <p:nvPr/>
        </p:nvSpPr>
        <p:spPr>
          <a:xfrm>
            <a:off x="1517904" y="4315968"/>
            <a:ext cx="118872" cy="118872"/>
          </a:xfrm>
          <a:prstGeom prst="ellipse">
            <a:avLst/>
          </a:prstGeom>
          <a:solidFill>
            <a:srgbClr val="FFFFFF">
              <a:alpha val="40000"/>
            </a:srgbClr>
          </a:solidFill>
          <a:ln/>
        </p:spPr>
      </p:sp>
      <p:sp>
        <p:nvSpPr>
          <p:cNvPr id="16" name="Shape 13"/>
          <p:cNvSpPr/>
          <p:nvPr/>
        </p:nvSpPr>
        <p:spPr>
          <a:xfrm>
            <a:off x="1755648" y="4315968"/>
            <a:ext cx="118872" cy="118872"/>
          </a:xfrm>
          <a:prstGeom prst="ellipse">
            <a:avLst/>
          </a:prstGeom>
          <a:solidFill>
            <a:srgbClr val="FFFFFF">
              <a:alpha val="40000"/>
            </a:srgbClr>
          </a:solidFill>
          <a:ln/>
        </p:spPr>
      </p:sp>
      <p:sp>
        <p:nvSpPr>
          <p:cNvPr id="17" name="Text 14"/>
          <p:cNvSpPr txBox="1"/>
          <p:nvPr/>
        </p:nvSpPr>
        <p:spPr>
          <a:xfrm>
            <a:off x="8138160" y="4754880"/>
            <a:ext cx="548640" cy="182880"/>
          </a:xfrm>
          <a:prstGeom prst="rect">
            <a:avLst/>
          </a:prstGeom>
          <a:noFill/>
          <a:ln/>
        </p:spPr>
        <p:txBody>
          <a:bodyPr wrap="square" lIns="0" tIns="0" rIns="0" bIns="0" rtlCol="0" anchor="t"/>
          <a:lstStyle/>
          <a:p>
            <a:pPr marL="0" indent="0" algn="r">
              <a:buNone/>
            </a:pPr>
            <a:r>
              <a:rPr lang="en-US" sz="850" dirty="0">
                <a:solidFill>
                  <a:srgbClr val="E6F6EE"/>
                </a:solidFill>
                <a:latin typeface="Calibri" pitchFamily="34" charset="0"/>
                <a:ea typeface="Calibri" pitchFamily="34" charset="-122"/>
                <a:cs typeface="Calibri" pitchFamily="34" charset="-120"/>
              </a:rPr>
              <a:t>5</a:t>
            </a:r>
            <a:endParaRPr lang="en-US" sz="85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01 · LE PANORAMA MONDIAL</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Quatre chiffres pour cadrer le problème</a:t>
            </a:r>
            <a:endParaRPr lang="en-US" sz="2800" dirty="0"/>
          </a:p>
        </p:txBody>
      </p:sp>
      <p:sp>
        <p:nvSpPr>
          <p:cNvPr id="8" name="Shape 6"/>
          <p:cNvSpPr/>
          <p:nvPr/>
        </p:nvSpPr>
        <p:spPr>
          <a:xfrm>
            <a:off x="7589520" y="310896"/>
            <a:ext cx="91440" cy="91440"/>
          </a:xfrm>
          <a:prstGeom prst="ellipse">
            <a:avLst/>
          </a:prstGeom>
          <a:solidFill>
            <a:srgbClr val="00A86A"/>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5DED9"/>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BAD – Data Innovation for Africa (DI4A)  ·  Ookla Open Data et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6</a:t>
            </a:r>
            <a:endParaRPr lang="en-US" sz="850" dirty="0"/>
          </a:p>
        </p:txBody>
      </p:sp>
      <p:sp>
        <p:nvSpPr>
          <p:cNvPr id="17" name="Shape 14"/>
          <p:cNvSpPr/>
          <p:nvPr/>
        </p:nvSpPr>
        <p:spPr>
          <a:xfrm>
            <a:off x="457200" y="1371600"/>
            <a:ext cx="1920240" cy="2926080"/>
          </a:xfrm>
          <a:prstGeom prst="roundRect">
            <a:avLst>
              <a:gd name="adj" fmla="val 3810"/>
            </a:avLst>
          </a:prstGeom>
          <a:solidFill>
            <a:srgbClr val="F4F7F5"/>
          </a:solidFill>
          <a:ln w="9525">
            <a:solidFill>
              <a:srgbClr val="D5DED9"/>
            </a:solidFill>
            <a:prstDash val="solid"/>
          </a:ln>
        </p:spPr>
      </p:sp>
      <p:sp>
        <p:nvSpPr>
          <p:cNvPr id="18" name="Shape 15"/>
          <p:cNvSpPr/>
          <p:nvPr/>
        </p:nvSpPr>
        <p:spPr>
          <a:xfrm>
            <a:off x="640080" y="1554480"/>
            <a:ext cx="457200" cy="457200"/>
          </a:xfrm>
          <a:prstGeom prst="ellipse">
            <a:avLst/>
          </a:prstGeom>
          <a:solidFill>
            <a:srgbClr val="00A86A">
              <a:alpha val="22000"/>
            </a:srgbClr>
          </a:solidFill>
          <a:ln/>
        </p:spPr>
      </p:sp>
      <p:pic>
        <p:nvPicPr>
          <p:cNvPr id="19" name="Image 0" descr="preencoded.png"/>
          <p:cNvPicPr>
            <a:picLocks noChangeAspect="1"/>
          </p:cNvPicPr>
          <p:nvPr/>
        </p:nvPicPr>
        <p:blipFill>
          <a:blip r:embed="rId3"/>
          <a:stretch>
            <a:fillRect/>
          </a:stretch>
        </p:blipFill>
        <p:spPr>
          <a:xfrm>
            <a:off x="749808" y="1664208"/>
            <a:ext cx="237744" cy="237744"/>
          </a:xfrm>
          <a:prstGeom prst="rect">
            <a:avLst/>
          </a:prstGeom>
        </p:spPr>
      </p:pic>
      <p:sp>
        <p:nvSpPr>
          <p:cNvPr id="20" name="Text 16"/>
          <p:cNvSpPr txBox="1"/>
          <p:nvPr/>
        </p:nvSpPr>
        <p:spPr>
          <a:xfrm>
            <a:off x="640080" y="2148840"/>
            <a:ext cx="1645920" cy="640080"/>
          </a:xfrm>
          <a:prstGeom prst="rect">
            <a:avLst/>
          </a:prstGeom>
          <a:noFill/>
          <a:ln/>
        </p:spPr>
        <p:txBody>
          <a:bodyPr wrap="square" lIns="0" tIns="0" rIns="0" bIns="0" rtlCol="0" anchor="ctr"/>
          <a:lstStyle/>
          <a:p>
            <a:pPr marL="0" indent="0">
              <a:buNone/>
            </a:pPr>
            <a:r>
              <a:rPr lang="en-US" sz="3600" b="1" dirty="0">
                <a:solidFill>
                  <a:srgbClr val="00A86A"/>
                </a:solidFill>
                <a:latin typeface="Calibri" pitchFamily="34" charset="0"/>
                <a:ea typeface="Calibri" pitchFamily="34" charset="-122"/>
                <a:cs typeface="Calibri" pitchFamily="34" charset="-120"/>
              </a:rPr>
              <a:t>6,0 Md</a:t>
            </a:r>
            <a:endParaRPr lang="en-US" sz="3600" dirty="0"/>
          </a:p>
        </p:txBody>
      </p:sp>
      <p:sp>
        <p:nvSpPr>
          <p:cNvPr id="21" name="Text 17"/>
          <p:cNvSpPr txBox="1"/>
          <p:nvPr/>
        </p:nvSpPr>
        <p:spPr>
          <a:xfrm>
            <a:off x="640080" y="2852928"/>
            <a:ext cx="1600200" cy="457200"/>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personnes en ligne en 2025</a:t>
            </a:r>
            <a:endParaRPr lang="en-US" sz="1300" dirty="0"/>
          </a:p>
        </p:txBody>
      </p:sp>
      <p:sp>
        <p:nvSpPr>
          <p:cNvPr id="22" name="Text 18"/>
          <p:cNvSpPr txBox="1"/>
          <p:nvPr/>
        </p:nvSpPr>
        <p:spPr>
          <a:xfrm>
            <a:off x="640080" y="3337560"/>
            <a:ext cx="1600200" cy="82296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Environ 74 % de la population mondiale, contre 5,8 Md en 2024.</a:t>
            </a:r>
            <a:endParaRPr lang="en-US" sz="1050" dirty="0"/>
          </a:p>
        </p:txBody>
      </p:sp>
      <p:sp>
        <p:nvSpPr>
          <p:cNvPr id="23" name="Shape 19"/>
          <p:cNvSpPr/>
          <p:nvPr/>
        </p:nvSpPr>
        <p:spPr>
          <a:xfrm>
            <a:off x="2551176" y="1371600"/>
            <a:ext cx="1920240" cy="2926080"/>
          </a:xfrm>
          <a:prstGeom prst="roundRect">
            <a:avLst>
              <a:gd name="adj" fmla="val 3810"/>
            </a:avLst>
          </a:prstGeom>
          <a:solidFill>
            <a:srgbClr val="F4F7F5"/>
          </a:solidFill>
          <a:ln w="9525">
            <a:solidFill>
              <a:srgbClr val="D5DED9"/>
            </a:solidFill>
            <a:prstDash val="solid"/>
          </a:ln>
        </p:spPr>
      </p:sp>
      <p:sp>
        <p:nvSpPr>
          <p:cNvPr id="24" name="Shape 20"/>
          <p:cNvSpPr/>
          <p:nvPr/>
        </p:nvSpPr>
        <p:spPr>
          <a:xfrm>
            <a:off x="2734056" y="1554480"/>
            <a:ext cx="457200" cy="457200"/>
          </a:xfrm>
          <a:prstGeom prst="ellipse">
            <a:avLst/>
          </a:prstGeom>
          <a:solidFill>
            <a:srgbClr val="B83B2E">
              <a:alpha val="22000"/>
            </a:srgbClr>
          </a:solidFill>
          <a:ln/>
        </p:spPr>
      </p:sp>
      <p:pic>
        <p:nvPicPr>
          <p:cNvPr id="25" name="Image 1" descr="preencoded.png"/>
          <p:cNvPicPr>
            <a:picLocks noChangeAspect="1"/>
          </p:cNvPicPr>
          <p:nvPr/>
        </p:nvPicPr>
        <p:blipFill>
          <a:blip r:embed="rId4"/>
          <a:stretch>
            <a:fillRect/>
          </a:stretch>
        </p:blipFill>
        <p:spPr>
          <a:xfrm>
            <a:off x="2843784" y="1664208"/>
            <a:ext cx="237744" cy="237744"/>
          </a:xfrm>
          <a:prstGeom prst="rect">
            <a:avLst/>
          </a:prstGeom>
        </p:spPr>
      </p:pic>
      <p:sp>
        <p:nvSpPr>
          <p:cNvPr id="26" name="Text 21"/>
          <p:cNvSpPr txBox="1"/>
          <p:nvPr/>
        </p:nvSpPr>
        <p:spPr>
          <a:xfrm>
            <a:off x="2734056" y="2148840"/>
            <a:ext cx="1645920" cy="640080"/>
          </a:xfrm>
          <a:prstGeom prst="rect">
            <a:avLst/>
          </a:prstGeom>
          <a:noFill/>
          <a:ln/>
        </p:spPr>
        <p:txBody>
          <a:bodyPr wrap="square" lIns="0" tIns="0" rIns="0" bIns="0" rtlCol="0" anchor="ctr"/>
          <a:lstStyle/>
          <a:p>
            <a:pPr marL="0" indent="0">
              <a:buNone/>
            </a:pPr>
            <a:r>
              <a:rPr lang="en-US" sz="3600" b="1" dirty="0">
                <a:solidFill>
                  <a:srgbClr val="B83B2E"/>
                </a:solidFill>
                <a:latin typeface="Calibri" pitchFamily="34" charset="0"/>
                <a:ea typeface="Calibri" pitchFamily="34" charset="-122"/>
                <a:cs typeface="Calibri" pitchFamily="34" charset="-120"/>
              </a:rPr>
              <a:t>2,2 Md</a:t>
            </a:r>
            <a:endParaRPr lang="en-US" sz="3600" dirty="0"/>
          </a:p>
        </p:txBody>
      </p:sp>
      <p:sp>
        <p:nvSpPr>
          <p:cNvPr id="27" name="Text 22"/>
          <p:cNvSpPr txBox="1"/>
          <p:nvPr/>
        </p:nvSpPr>
        <p:spPr>
          <a:xfrm>
            <a:off x="2734056" y="2852928"/>
            <a:ext cx="1600200" cy="457200"/>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personnes encore hors ligne</a:t>
            </a:r>
            <a:endParaRPr lang="en-US" sz="1300" dirty="0"/>
          </a:p>
        </p:txBody>
      </p:sp>
      <p:sp>
        <p:nvSpPr>
          <p:cNvPr id="28" name="Text 23"/>
          <p:cNvSpPr txBox="1"/>
          <p:nvPr/>
        </p:nvSpPr>
        <p:spPr>
          <a:xfrm>
            <a:off x="2734056" y="3337560"/>
            <a:ext cx="1600200" cy="82296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96 % d’entre elles vivent dans des pays à revenu faible ou intermédiaire.</a:t>
            </a:r>
            <a:endParaRPr lang="en-US" sz="1050" dirty="0"/>
          </a:p>
        </p:txBody>
      </p:sp>
      <p:sp>
        <p:nvSpPr>
          <p:cNvPr id="29" name="Shape 24"/>
          <p:cNvSpPr/>
          <p:nvPr/>
        </p:nvSpPr>
        <p:spPr>
          <a:xfrm>
            <a:off x="4645152" y="1371600"/>
            <a:ext cx="1920240" cy="2926080"/>
          </a:xfrm>
          <a:prstGeom prst="roundRect">
            <a:avLst>
              <a:gd name="adj" fmla="val 3810"/>
            </a:avLst>
          </a:prstGeom>
          <a:solidFill>
            <a:srgbClr val="F4F7F5"/>
          </a:solidFill>
          <a:ln w="9525">
            <a:solidFill>
              <a:srgbClr val="D5DED9"/>
            </a:solidFill>
            <a:prstDash val="solid"/>
          </a:ln>
        </p:spPr>
      </p:sp>
      <p:sp>
        <p:nvSpPr>
          <p:cNvPr id="30" name="Shape 25"/>
          <p:cNvSpPr/>
          <p:nvPr/>
        </p:nvSpPr>
        <p:spPr>
          <a:xfrm>
            <a:off x="4828032" y="1554480"/>
            <a:ext cx="457200" cy="457200"/>
          </a:xfrm>
          <a:prstGeom prst="ellipse">
            <a:avLst/>
          </a:prstGeom>
          <a:solidFill>
            <a:srgbClr val="0E7C86">
              <a:alpha val="22000"/>
            </a:srgbClr>
          </a:solidFill>
          <a:ln/>
        </p:spPr>
      </p:sp>
      <p:pic>
        <p:nvPicPr>
          <p:cNvPr id="31" name="Image 2" descr="preencoded.png"/>
          <p:cNvPicPr>
            <a:picLocks noChangeAspect="1"/>
          </p:cNvPicPr>
          <p:nvPr/>
        </p:nvPicPr>
        <p:blipFill>
          <a:blip r:embed="rId5"/>
          <a:stretch>
            <a:fillRect/>
          </a:stretch>
        </p:blipFill>
        <p:spPr>
          <a:xfrm>
            <a:off x="4937760" y="1664208"/>
            <a:ext cx="237744" cy="237744"/>
          </a:xfrm>
          <a:prstGeom prst="rect">
            <a:avLst/>
          </a:prstGeom>
        </p:spPr>
      </p:pic>
      <p:sp>
        <p:nvSpPr>
          <p:cNvPr id="32" name="Text 26"/>
          <p:cNvSpPr txBox="1"/>
          <p:nvPr/>
        </p:nvSpPr>
        <p:spPr>
          <a:xfrm>
            <a:off x="4828032" y="2148840"/>
            <a:ext cx="1645920" cy="640080"/>
          </a:xfrm>
          <a:prstGeom prst="rect">
            <a:avLst/>
          </a:prstGeom>
          <a:noFill/>
          <a:ln/>
        </p:spPr>
        <p:txBody>
          <a:bodyPr wrap="square" lIns="0" tIns="0" rIns="0" bIns="0" rtlCol="0" anchor="ctr"/>
          <a:lstStyle/>
          <a:p>
            <a:pPr marL="0" indent="0">
              <a:buNone/>
            </a:pPr>
            <a:r>
              <a:rPr lang="en-US" sz="2500" b="1" dirty="0">
                <a:solidFill>
                  <a:srgbClr val="0E7C86"/>
                </a:solidFill>
                <a:latin typeface="Calibri" pitchFamily="34" charset="0"/>
                <a:ea typeface="Calibri" pitchFamily="34" charset="-122"/>
                <a:cs typeface="Calibri" pitchFamily="34" charset="-120"/>
              </a:rPr>
              <a:t>84 % vs 4 %</a:t>
            </a:r>
            <a:endParaRPr lang="en-US" sz="2500" dirty="0"/>
          </a:p>
        </p:txBody>
      </p:sp>
      <p:sp>
        <p:nvSpPr>
          <p:cNvPr id="33" name="Text 27"/>
          <p:cNvSpPr txBox="1"/>
          <p:nvPr/>
        </p:nvSpPr>
        <p:spPr>
          <a:xfrm>
            <a:off x="4828032" y="2852928"/>
            <a:ext cx="1600200" cy="457200"/>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couverture 5G de la population</a:t>
            </a:r>
            <a:endParaRPr lang="en-US" sz="1300" dirty="0"/>
          </a:p>
        </p:txBody>
      </p:sp>
      <p:sp>
        <p:nvSpPr>
          <p:cNvPr id="34" name="Text 28"/>
          <p:cNvSpPr txBox="1"/>
          <p:nvPr/>
        </p:nvSpPr>
        <p:spPr>
          <a:xfrm>
            <a:off x="4828032" y="3337560"/>
            <a:ext cx="1600200" cy="82296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Pays à revenu élevé vs à faible revenu (monde : 55 %).</a:t>
            </a:r>
            <a:endParaRPr lang="en-US" sz="1050" dirty="0"/>
          </a:p>
        </p:txBody>
      </p:sp>
      <p:sp>
        <p:nvSpPr>
          <p:cNvPr id="35" name="Shape 29"/>
          <p:cNvSpPr/>
          <p:nvPr/>
        </p:nvSpPr>
        <p:spPr>
          <a:xfrm>
            <a:off x="6739128" y="1371600"/>
            <a:ext cx="1920240" cy="2926080"/>
          </a:xfrm>
          <a:prstGeom prst="roundRect">
            <a:avLst>
              <a:gd name="adj" fmla="val 3810"/>
            </a:avLst>
          </a:prstGeom>
          <a:solidFill>
            <a:srgbClr val="F4F7F5"/>
          </a:solidFill>
          <a:ln w="9525">
            <a:solidFill>
              <a:srgbClr val="D5DED9"/>
            </a:solidFill>
            <a:prstDash val="solid"/>
          </a:ln>
        </p:spPr>
      </p:sp>
      <p:sp>
        <p:nvSpPr>
          <p:cNvPr id="36" name="Shape 30"/>
          <p:cNvSpPr/>
          <p:nvPr/>
        </p:nvSpPr>
        <p:spPr>
          <a:xfrm>
            <a:off x="6922008" y="1554480"/>
            <a:ext cx="457200" cy="457200"/>
          </a:xfrm>
          <a:prstGeom prst="ellipse">
            <a:avLst/>
          </a:prstGeom>
          <a:solidFill>
            <a:srgbClr val="D49A00">
              <a:alpha val="22000"/>
            </a:srgbClr>
          </a:solidFill>
          <a:ln/>
        </p:spPr>
      </p:sp>
      <p:pic>
        <p:nvPicPr>
          <p:cNvPr id="37" name="Image 3" descr="preencoded.png"/>
          <p:cNvPicPr>
            <a:picLocks noChangeAspect="1"/>
          </p:cNvPicPr>
          <p:nvPr/>
        </p:nvPicPr>
        <p:blipFill>
          <a:blip r:embed="rId6"/>
          <a:stretch>
            <a:fillRect/>
          </a:stretch>
        </p:blipFill>
        <p:spPr>
          <a:xfrm>
            <a:off x="7031736" y="1664208"/>
            <a:ext cx="237744" cy="237744"/>
          </a:xfrm>
          <a:prstGeom prst="rect">
            <a:avLst/>
          </a:prstGeom>
        </p:spPr>
      </p:pic>
      <p:sp>
        <p:nvSpPr>
          <p:cNvPr id="38" name="Text 31"/>
          <p:cNvSpPr txBox="1"/>
          <p:nvPr/>
        </p:nvSpPr>
        <p:spPr>
          <a:xfrm>
            <a:off x="6922008" y="2148840"/>
            <a:ext cx="1645920" cy="640080"/>
          </a:xfrm>
          <a:prstGeom prst="rect">
            <a:avLst/>
          </a:prstGeom>
          <a:noFill/>
          <a:ln/>
        </p:spPr>
        <p:txBody>
          <a:bodyPr wrap="square" lIns="0" tIns="0" rIns="0" bIns="0" rtlCol="0" anchor="ctr"/>
          <a:lstStyle/>
          <a:p>
            <a:pPr marL="0" indent="0">
              <a:buNone/>
            </a:pPr>
            <a:r>
              <a:rPr lang="en-US" sz="3600" b="1" dirty="0">
                <a:solidFill>
                  <a:srgbClr val="D49A00"/>
                </a:solidFill>
                <a:latin typeface="Calibri" pitchFamily="34" charset="0"/>
                <a:ea typeface="Calibri" pitchFamily="34" charset="-122"/>
                <a:cs typeface="Calibri" pitchFamily="34" charset="-120"/>
              </a:rPr>
              <a:t>≈ 8×</a:t>
            </a:r>
            <a:endParaRPr lang="en-US" sz="3600" dirty="0"/>
          </a:p>
        </p:txBody>
      </p:sp>
      <p:sp>
        <p:nvSpPr>
          <p:cNvPr id="39" name="Text 32"/>
          <p:cNvSpPr txBox="1"/>
          <p:nvPr/>
        </p:nvSpPr>
        <p:spPr>
          <a:xfrm>
            <a:off x="6922008" y="2852928"/>
            <a:ext cx="1600200" cy="457200"/>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de données mobiles par utilisateur</a:t>
            </a:r>
            <a:endParaRPr lang="en-US" sz="1300" dirty="0"/>
          </a:p>
        </p:txBody>
      </p:sp>
      <p:sp>
        <p:nvSpPr>
          <p:cNvPr id="40" name="Text 33"/>
          <p:cNvSpPr txBox="1"/>
          <p:nvPr/>
        </p:nvSpPr>
        <p:spPr>
          <a:xfrm>
            <a:off x="6922008" y="3337560"/>
            <a:ext cx="1600200" cy="82296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Utilisateur type d’un pays à revenu élevé vs à faible revenu.</a:t>
            </a:r>
            <a:endParaRPr lang="en-US" sz="1050" dirty="0"/>
          </a:p>
        </p:txBody>
      </p:sp>
      <p:sp>
        <p:nvSpPr>
          <p:cNvPr id="41" name="Text 34"/>
          <p:cNvSpPr txBox="1"/>
          <p:nvPr/>
        </p:nvSpPr>
        <p:spPr>
          <a:xfrm>
            <a:off x="457200" y="4572000"/>
            <a:ext cx="749808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Source : UIT, Measuring digital development: Facts and Figures 2025 (17 novembre 2025).</a:t>
            </a:r>
            <a:endParaRPr lang="en-US" sz="90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01 · OÙ SE SITUE LA FRACTURE</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marL="0" indent="0">
              <a:buNone/>
            </a:pPr>
            <a:r>
              <a:rPr lang="en-US" sz="2300" b="1" dirty="0">
                <a:solidFill>
                  <a:srgbClr val="231F20"/>
                </a:solidFill>
                <a:latin typeface="Calibri" pitchFamily="34" charset="0"/>
                <a:ea typeface="Calibri" pitchFamily="34" charset="-122"/>
                <a:cs typeface="Calibri" pitchFamily="34" charset="-120"/>
              </a:rPr>
              <a:t>L’Afrique, la région où il y a le plus à mesurer</a:t>
            </a:r>
            <a:endParaRPr lang="en-US" sz="2300" dirty="0"/>
          </a:p>
        </p:txBody>
      </p:sp>
      <p:sp>
        <p:nvSpPr>
          <p:cNvPr id="8" name="Shape 6"/>
          <p:cNvSpPr/>
          <p:nvPr/>
        </p:nvSpPr>
        <p:spPr>
          <a:xfrm>
            <a:off x="7589520" y="310896"/>
            <a:ext cx="91440" cy="91440"/>
          </a:xfrm>
          <a:prstGeom prst="ellipse">
            <a:avLst/>
          </a:prstGeom>
          <a:solidFill>
            <a:srgbClr val="00A86A"/>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5DED9"/>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BAD – Data Innovation for Africa (DI4A)  ·  Ookla Open Data et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7</a:t>
            </a:r>
            <a:endParaRPr lang="en-US" sz="850" dirty="0"/>
          </a:p>
        </p:txBody>
      </p:sp>
      <p:graphicFrame>
        <p:nvGraphicFramePr>
          <p:cNvPr id="17" name="Chart 0"/>
          <p:cNvGraphicFramePr/>
          <p:nvPr/>
        </p:nvGraphicFramePr>
        <p:xfrm>
          <a:off x="457200" y="1325880"/>
          <a:ext cx="4846320" cy="3154680"/>
        </p:xfrm>
        <a:graphic>
          <a:graphicData uri="http://schemas.openxmlformats.org/drawingml/2006/chart">
            <c:chart xmlns:c="http://schemas.openxmlformats.org/drawingml/2006/chart" xmlns:r="http://schemas.openxmlformats.org/officeDocument/2006/relationships" r:id="rId3"/>
          </a:graphicData>
        </a:graphic>
      </p:graphicFrame>
      <p:sp>
        <p:nvSpPr>
          <p:cNvPr id="18" name="Shape 14"/>
          <p:cNvSpPr/>
          <p:nvPr/>
        </p:nvSpPr>
        <p:spPr>
          <a:xfrm>
            <a:off x="5532120" y="1371600"/>
            <a:ext cx="3154680" cy="914400"/>
          </a:xfrm>
          <a:prstGeom prst="roundRect">
            <a:avLst>
              <a:gd name="adj" fmla="val 8000"/>
            </a:avLst>
          </a:prstGeom>
          <a:solidFill>
            <a:srgbClr val="F4F7F5"/>
          </a:solidFill>
          <a:ln w="9525">
            <a:solidFill>
              <a:srgbClr val="D5DED9"/>
            </a:solidFill>
            <a:prstDash val="solid"/>
          </a:ln>
        </p:spPr>
      </p:sp>
      <p:sp>
        <p:nvSpPr>
          <p:cNvPr id="19" name="Text 15"/>
          <p:cNvSpPr txBox="1"/>
          <p:nvPr/>
        </p:nvSpPr>
        <p:spPr>
          <a:xfrm>
            <a:off x="5669280" y="1463040"/>
            <a:ext cx="1051560" cy="731520"/>
          </a:xfrm>
          <a:prstGeom prst="rect">
            <a:avLst/>
          </a:prstGeom>
          <a:noFill/>
          <a:ln/>
        </p:spPr>
        <p:txBody>
          <a:bodyPr wrap="square" lIns="0" tIns="0" rIns="0" bIns="0" rtlCol="0" anchor="ctr"/>
          <a:lstStyle/>
          <a:p>
            <a:pPr marL="0" indent="0">
              <a:buNone/>
            </a:pPr>
            <a:r>
              <a:rPr lang="en-US" sz="2800" b="1" dirty="0">
                <a:solidFill>
                  <a:srgbClr val="B83B2E"/>
                </a:solidFill>
                <a:latin typeface="Calibri" pitchFamily="34" charset="0"/>
                <a:ea typeface="Calibri" pitchFamily="34" charset="-122"/>
                <a:cs typeface="Calibri" pitchFamily="34" charset="-120"/>
              </a:rPr>
              <a:t>36 %</a:t>
            </a:r>
            <a:endParaRPr lang="en-US" sz="2800" dirty="0"/>
          </a:p>
        </p:txBody>
      </p:sp>
      <p:sp>
        <p:nvSpPr>
          <p:cNvPr id="20" name="Text 16"/>
          <p:cNvSpPr txBox="1"/>
          <p:nvPr/>
        </p:nvSpPr>
        <p:spPr>
          <a:xfrm>
            <a:off x="6766560" y="1463040"/>
            <a:ext cx="1828800"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des Africains en ligne</a:t>
            </a:r>
            <a:endParaRPr lang="en-US" sz="1150" dirty="0"/>
          </a:p>
        </p:txBody>
      </p:sp>
      <p:sp>
        <p:nvSpPr>
          <p:cNvPr id="21" name="Text 17"/>
          <p:cNvSpPr txBox="1"/>
          <p:nvPr/>
        </p:nvSpPr>
        <p:spPr>
          <a:xfrm>
            <a:off x="6766560" y="1719072"/>
            <a:ext cx="1828800" cy="530352"/>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Moins de la moitié du niveau mondial (74 %). Pays à faible revenu : 23 %.</a:t>
            </a:r>
            <a:endParaRPr lang="en-US" sz="950" dirty="0"/>
          </a:p>
        </p:txBody>
      </p:sp>
      <p:sp>
        <p:nvSpPr>
          <p:cNvPr id="22" name="Shape 18"/>
          <p:cNvSpPr/>
          <p:nvPr/>
        </p:nvSpPr>
        <p:spPr>
          <a:xfrm>
            <a:off x="5532120" y="2404872"/>
            <a:ext cx="3154680" cy="914400"/>
          </a:xfrm>
          <a:prstGeom prst="roundRect">
            <a:avLst>
              <a:gd name="adj" fmla="val 8000"/>
            </a:avLst>
          </a:prstGeom>
          <a:solidFill>
            <a:srgbClr val="E8F5EF"/>
          </a:solidFill>
          <a:ln w="15875">
            <a:solidFill>
              <a:srgbClr val="00A86A"/>
            </a:solidFill>
            <a:prstDash val="solid"/>
          </a:ln>
        </p:spPr>
      </p:sp>
      <p:sp>
        <p:nvSpPr>
          <p:cNvPr id="23" name="Text 19"/>
          <p:cNvSpPr txBox="1"/>
          <p:nvPr/>
        </p:nvSpPr>
        <p:spPr>
          <a:xfrm>
            <a:off x="5669280" y="2496312"/>
            <a:ext cx="1051560" cy="731520"/>
          </a:xfrm>
          <a:prstGeom prst="rect">
            <a:avLst/>
          </a:prstGeom>
          <a:noFill/>
          <a:ln/>
        </p:spPr>
        <p:txBody>
          <a:bodyPr wrap="square" lIns="0" tIns="0" rIns="0" bIns="0" rtlCol="0" anchor="ctr"/>
          <a:lstStyle/>
          <a:p>
            <a:pPr marL="0" indent="0">
              <a:buNone/>
            </a:pPr>
            <a:r>
              <a:rPr lang="en-US" sz="2800" b="1" dirty="0">
                <a:solidFill>
                  <a:srgbClr val="D49A00"/>
                </a:solidFill>
                <a:latin typeface="Calibri" pitchFamily="34" charset="0"/>
                <a:ea typeface="Calibri" pitchFamily="34" charset="-122"/>
                <a:cs typeface="Calibri" pitchFamily="34" charset="-120"/>
              </a:rPr>
              <a:t>2,6×</a:t>
            </a:r>
            <a:endParaRPr lang="en-US" sz="2800" dirty="0"/>
          </a:p>
        </p:txBody>
      </p:sp>
      <p:sp>
        <p:nvSpPr>
          <p:cNvPr id="24" name="Text 20"/>
          <p:cNvSpPr txBox="1"/>
          <p:nvPr/>
        </p:nvSpPr>
        <p:spPr>
          <a:xfrm>
            <a:off x="6766560" y="2496312"/>
            <a:ext cx="1828800"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ratio urbain–rural en Afrique</a:t>
            </a:r>
            <a:endParaRPr lang="en-US" sz="1150" dirty="0"/>
          </a:p>
        </p:txBody>
      </p:sp>
      <p:sp>
        <p:nvSpPr>
          <p:cNvPr id="25" name="Text 21"/>
          <p:cNvSpPr txBox="1"/>
          <p:nvPr/>
        </p:nvSpPr>
        <p:spPr>
          <a:xfrm>
            <a:off x="6766560" y="2752344"/>
            <a:ext cx="1828800" cy="530352"/>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Les urbains sont 2,6 fois plus souvent en ligne que les ruraux (Europe : 1,1).</a:t>
            </a:r>
            <a:endParaRPr lang="en-US" sz="950" dirty="0"/>
          </a:p>
        </p:txBody>
      </p:sp>
      <p:sp>
        <p:nvSpPr>
          <p:cNvPr id="26" name="Shape 22"/>
          <p:cNvSpPr/>
          <p:nvPr/>
        </p:nvSpPr>
        <p:spPr>
          <a:xfrm>
            <a:off x="5532120" y="3438144"/>
            <a:ext cx="3154680" cy="914400"/>
          </a:xfrm>
          <a:prstGeom prst="roundRect">
            <a:avLst>
              <a:gd name="adj" fmla="val 8000"/>
            </a:avLst>
          </a:prstGeom>
          <a:solidFill>
            <a:srgbClr val="F4F7F5"/>
          </a:solidFill>
          <a:ln w="9525">
            <a:solidFill>
              <a:srgbClr val="D5DED9"/>
            </a:solidFill>
            <a:prstDash val="solid"/>
          </a:ln>
        </p:spPr>
      </p:sp>
      <p:sp>
        <p:nvSpPr>
          <p:cNvPr id="27" name="Text 23"/>
          <p:cNvSpPr txBox="1"/>
          <p:nvPr/>
        </p:nvSpPr>
        <p:spPr>
          <a:xfrm>
            <a:off x="5669280" y="3529584"/>
            <a:ext cx="1051560" cy="731520"/>
          </a:xfrm>
          <a:prstGeom prst="rect">
            <a:avLst/>
          </a:prstGeom>
          <a:noFill/>
          <a:ln/>
        </p:spPr>
        <p:txBody>
          <a:bodyPr wrap="square" lIns="0" tIns="0" rIns="0" bIns="0" rtlCol="0" anchor="ctr"/>
          <a:lstStyle/>
          <a:p>
            <a:pPr marL="0" indent="0">
              <a:buNone/>
            </a:pPr>
            <a:r>
              <a:rPr lang="en-US" sz="2800" b="1" dirty="0">
                <a:solidFill>
                  <a:srgbClr val="00704A"/>
                </a:solidFill>
                <a:latin typeface="Calibri" pitchFamily="34" charset="0"/>
                <a:ea typeface="Calibri" pitchFamily="34" charset="-122"/>
                <a:cs typeface="Calibri" pitchFamily="34" charset="-120"/>
              </a:rPr>
              <a:t>14 %</a:t>
            </a:r>
            <a:endParaRPr lang="en-US" sz="2800" dirty="0"/>
          </a:p>
        </p:txBody>
      </p:sp>
      <p:sp>
        <p:nvSpPr>
          <p:cNvPr id="28" name="Text 24"/>
          <p:cNvSpPr txBox="1"/>
          <p:nvPr/>
        </p:nvSpPr>
        <p:spPr>
          <a:xfrm>
            <a:off x="6766560" y="3529584"/>
            <a:ext cx="1828800"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des ruraux en ligne</a:t>
            </a:r>
            <a:endParaRPr lang="en-US" sz="1150" dirty="0"/>
          </a:p>
        </p:txBody>
      </p:sp>
      <p:sp>
        <p:nvSpPr>
          <p:cNvPr id="29" name="Text 25"/>
          <p:cNvSpPr txBox="1"/>
          <p:nvPr/>
        </p:nvSpPr>
        <p:spPr>
          <a:xfrm>
            <a:off x="6766560" y="3785616"/>
            <a:ext cx="1828800" cy="530352"/>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Dans les pays à faible revenu : environ un sur sept.</a:t>
            </a:r>
            <a:endParaRPr lang="en-US" sz="950" dirty="0"/>
          </a:p>
        </p:txBody>
      </p:sp>
      <p:sp>
        <p:nvSpPr>
          <p:cNvPr id="30" name="Text 26"/>
          <p:cNvSpPr txBox="1"/>
          <p:nvPr/>
        </p:nvSpPr>
        <p:spPr>
          <a:xfrm>
            <a:off x="457200" y="4572000"/>
            <a:ext cx="749808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Source : UIT, Facts and Figures 2025 (Internet use ; Internet use in urban and rural areas). Régions selon la classification de l’UIT.</a:t>
            </a:r>
            <a:endParaRPr lang="en-US" sz="90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01 · UNE CIBLE MOUVANTE</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marL="0" indent="0">
              <a:buNone/>
            </a:pPr>
            <a:r>
              <a:rPr lang="en-US" sz="2100" b="1" dirty="0">
                <a:solidFill>
                  <a:srgbClr val="231F20"/>
                </a:solidFill>
                <a:latin typeface="Calibri" pitchFamily="34" charset="0"/>
                <a:ea typeface="Calibri" pitchFamily="34" charset="-122"/>
                <a:cs typeface="Calibri" pitchFamily="34" charset="-120"/>
              </a:rPr>
              <a:t>De « y a-t-il une connexion ? » à « est-elle utilisable ? »</a:t>
            </a:r>
            <a:endParaRPr lang="en-US" sz="2100" dirty="0"/>
          </a:p>
        </p:txBody>
      </p:sp>
      <p:sp>
        <p:nvSpPr>
          <p:cNvPr id="8" name="Shape 6"/>
          <p:cNvSpPr/>
          <p:nvPr/>
        </p:nvSpPr>
        <p:spPr>
          <a:xfrm>
            <a:off x="7589520" y="310896"/>
            <a:ext cx="91440" cy="91440"/>
          </a:xfrm>
          <a:prstGeom prst="ellipse">
            <a:avLst/>
          </a:prstGeom>
          <a:solidFill>
            <a:srgbClr val="00A86A"/>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5DED9"/>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BAD – Data Innovation for Africa (DI4A)  ·  Ookla Open Data et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8</a:t>
            </a:r>
            <a:endParaRPr lang="en-US" sz="850" dirty="0"/>
          </a:p>
        </p:txBody>
      </p:sp>
      <p:sp>
        <p:nvSpPr>
          <p:cNvPr id="17" name="Shape 14"/>
          <p:cNvSpPr/>
          <p:nvPr/>
        </p:nvSpPr>
        <p:spPr>
          <a:xfrm>
            <a:off x="457200" y="1371600"/>
            <a:ext cx="3840480" cy="2331720"/>
          </a:xfrm>
          <a:prstGeom prst="roundRect">
            <a:avLst>
              <a:gd name="adj" fmla="val 3137"/>
            </a:avLst>
          </a:prstGeom>
          <a:solidFill>
            <a:srgbClr val="F4F7F5"/>
          </a:solidFill>
          <a:ln w="9525">
            <a:solidFill>
              <a:srgbClr val="D5DED9"/>
            </a:solidFill>
            <a:prstDash val="solid"/>
          </a:ln>
        </p:spPr>
      </p:sp>
      <p:sp>
        <p:nvSpPr>
          <p:cNvPr id="18" name="Shape 15"/>
          <p:cNvSpPr/>
          <p:nvPr/>
        </p:nvSpPr>
        <p:spPr>
          <a:xfrm>
            <a:off x="640080" y="1508760"/>
            <a:ext cx="420624" cy="420624"/>
          </a:xfrm>
          <a:prstGeom prst="ellipse">
            <a:avLst/>
          </a:prstGeom>
          <a:solidFill>
            <a:srgbClr val="5E6964">
              <a:alpha val="22000"/>
            </a:srgbClr>
          </a:solidFill>
          <a:ln/>
        </p:spPr>
      </p:sp>
      <p:pic>
        <p:nvPicPr>
          <p:cNvPr id="19" name="Image 0" descr="preencoded.png"/>
          <p:cNvPicPr>
            <a:picLocks noChangeAspect="1"/>
          </p:cNvPicPr>
          <p:nvPr/>
        </p:nvPicPr>
        <p:blipFill>
          <a:blip r:embed="rId3"/>
          <a:stretch>
            <a:fillRect/>
          </a:stretch>
        </p:blipFill>
        <p:spPr>
          <a:xfrm>
            <a:off x="741030" y="1609710"/>
            <a:ext cx="218724" cy="218724"/>
          </a:xfrm>
          <a:prstGeom prst="rect">
            <a:avLst/>
          </a:prstGeom>
        </p:spPr>
      </p:pic>
      <p:sp>
        <p:nvSpPr>
          <p:cNvPr id="20" name="Text 16"/>
          <p:cNvSpPr txBox="1"/>
          <p:nvPr/>
        </p:nvSpPr>
        <p:spPr>
          <a:xfrm>
            <a:off x="1188720" y="1517904"/>
            <a:ext cx="2743200" cy="182880"/>
          </a:xfrm>
          <a:prstGeom prst="rect">
            <a:avLst/>
          </a:prstGeom>
          <a:noFill/>
          <a:ln/>
        </p:spPr>
        <p:txBody>
          <a:bodyPr wrap="square" lIns="0" tIns="0" rIns="0" bIns="0" rtlCol="0" anchor="t"/>
          <a:lstStyle/>
          <a:p>
            <a:pPr marL="0" indent="0">
              <a:buNone/>
            </a:pPr>
            <a:r>
              <a:rPr lang="en-US" sz="950" b="1" kern="0" spc="200" dirty="0">
                <a:solidFill>
                  <a:srgbClr val="5E6964"/>
                </a:solidFill>
                <a:latin typeface="Calibri" pitchFamily="34" charset="0"/>
                <a:ea typeface="Calibri" pitchFamily="34" charset="-122"/>
                <a:cs typeface="Calibri" pitchFamily="34" charset="-120"/>
              </a:rPr>
              <a:t>L’ANCIENNE QUESTION</a:t>
            </a:r>
            <a:endParaRPr lang="en-US" sz="950" dirty="0"/>
          </a:p>
        </p:txBody>
      </p:sp>
      <p:sp>
        <p:nvSpPr>
          <p:cNvPr id="21" name="Text 17"/>
          <p:cNvSpPr txBox="1"/>
          <p:nvPr/>
        </p:nvSpPr>
        <p:spPr>
          <a:xfrm>
            <a:off x="1188720" y="1700784"/>
            <a:ext cx="3017520" cy="274320"/>
          </a:xfrm>
          <a:prstGeom prst="rect">
            <a:avLst/>
          </a:prstGeom>
          <a:noFill/>
          <a:ln/>
        </p:spPr>
        <p:txBody>
          <a:bodyPr wrap="square" lIns="0" tIns="0" rIns="0" bIns="0" rtlCol="0" anchor="t"/>
          <a:lstStyle/>
          <a:p>
            <a:pPr marL="0" indent="0">
              <a:buNone/>
            </a:pPr>
            <a:r>
              <a:rPr lang="en-US" sz="1500" b="1" dirty="0">
                <a:solidFill>
                  <a:srgbClr val="231F20"/>
                </a:solidFill>
                <a:latin typeface="Calibri" pitchFamily="34" charset="0"/>
                <a:ea typeface="Calibri" pitchFamily="34" charset="-122"/>
                <a:cs typeface="Calibri" pitchFamily="34" charset="-120"/>
              </a:rPr>
              <a:t>Y a-t-il une connexion ?</a:t>
            </a:r>
            <a:endParaRPr lang="en-US" sz="1500" dirty="0"/>
          </a:p>
        </p:txBody>
      </p:sp>
      <p:sp>
        <p:nvSpPr>
          <p:cNvPr id="22" name="Text 18"/>
          <p:cNvSpPr txBox="1"/>
          <p:nvPr/>
        </p:nvSpPr>
        <p:spPr>
          <a:xfrm>
            <a:off x="640080" y="2148840"/>
            <a:ext cx="3520440" cy="146304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Accès binaire : desservi / non desservi</a:t>
            </a:r>
            <a:endParaRPr lang="en-US" sz="1100" dirty="0"/>
          </a:p>
          <a:p>
            <a:pPr marL="342900" indent="-34290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Mesuré par cartes de couverture et nombres d’abonnements</a:t>
            </a:r>
            <a:endParaRPr lang="en-US" sz="1100" dirty="0"/>
          </a:p>
          <a:p>
            <a:pPr marL="342900" indent="-34290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ODD 9.c.1 couverture · 17.6.1 abonnements haut débit fixe · 17.8.1 utilisation d’Internet</a:t>
            </a:r>
            <a:endParaRPr lang="en-US" sz="1100" dirty="0"/>
          </a:p>
        </p:txBody>
      </p:sp>
      <p:pic>
        <p:nvPicPr>
          <p:cNvPr id="23" name="Image 1" descr="preencoded.png"/>
          <p:cNvPicPr>
            <a:picLocks noChangeAspect="1"/>
          </p:cNvPicPr>
          <p:nvPr/>
        </p:nvPicPr>
        <p:blipFill>
          <a:blip r:embed="rId4"/>
          <a:stretch>
            <a:fillRect/>
          </a:stretch>
        </p:blipFill>
        <p:spPr>
          <a:xfrm>
            <a:off x="4416552" y="2377440"/>
            <a:ext cx="310896" cy="310896"/>
          </a:xfrm>
          <a:prstGeom prst="rect">
            <a:avLst/>
          </a:prstGeom>
        </p:spPr>
      </p:pic>
      <p:sp>
        <p:nvSpPr>
          <p:cNvPr id="24" name="Shape 19"/>
          <p:cNvSpPr/>
          <p:nvPr/>
        </p:nvSpPr>
        <p:spPr>
          <a:xfrm>
            <a:off x="4846320" y="1371600"/>
            <a:ext cx="3840480" cy="2331720"/>
          </a:xfrm>
          <a:prstGeom prst="roundRect">
            <a:avLst>
              <a:gd name="adj" fmla="val 3137"/>
            </a:avLst>
          </a:prstGeom>
          <a:solidFill>
            <a:srgbClr val="E8F5EF"/>
          </a:solidFill>
          <a:ln w="19050">
            <a:solidFill>
              <a:srgbClr val="00A86A"/>
            </a:solidFill>
            <a:prstDash val="solid"/>
          </a:ln>
        </p:spPr>
      </p:sp>
      <p:sp>
        <p:nvSpPr>
          <p:cNvPr id="25" name="Shape 20"/>
          <p:cNvSpPr/>
          <p:nvPr/>
        </p:nvSpPr>
        <p:spPr>
          <a:xfrm>
            <a:off x="5029200" y="1508760"/>
            <a:ext cx="420624" cy="420624"/>
          </a:xfrm>
          <a:prstGeom prst="ellipse">
            <a:avLst/>
          </a:prstGeom>
          <a:solidFill>
            <a:srgbClr val="00A86A">
              <a:alpha val="22000"/>
            </a:srgbClr>
          </a:solidFill>
          <a:ln/>
        </p:spPr>
      </p:sp>
      <p:pic>
        <p:nvPicPr>
          <p:cNvPr id="26" name="Image 2" descr="preencoded.png"/>
          <p:cNvPicPr>
            <a:picLocks noChangeAspect="1"/>
          </p:cNvPicPr>
          <p:nvPr/>
        </p:nvPicPr>
        <p:blipFill>
          <a:blip r:embed="rId5"/>
          <a:stretch>
            <a:fillRect/>
          </a:stretch>
        </p:blipFill>
        <p:spPr>
          <a:xfrm>
            <a:off x="5130150" y="1609710"/>
            <a:ext cx="218724" cy="218724"/>
          </a:xfrm>
          <a:prstGeom prst="rect">
            <a:avLst/>
          </a:prstGeom>
        </p:spPr>
      </p:pic>
      <p:sp>
        <p:nvSpPr>
          <p:cNvPr id="27" name="Text 21"/>
          <p:cNvSpPr txBox="1"/>
          <p:nvPr/>
        </p:nvSpPr>
        <p:spPr>
          <a:xfrm>
            <a:off x="5577840" y="1517904"/>
            <a:ext cx="2743200" cy="182880"/>
          </a:xfrm>
          <a:prstGeom prst="rect">
            <a:avLst/>
          </a:prstGeom>
          <a:noFill/>
          <a:ln/>
        </p:spPr>
        <p:txBody>
          <a:bodyPr wrap="square" lIns="0" tIns="0" rIns="0" bIns="0" rtlCol="0" anchor="t"/>
          <a:lstStyle/>
          <a:p>
            <a:pPr marL="0" indent="0">
              <a:buNone/>
            </a:pPr>
            <a:r>
              <a:rPr lang="en-US" sz="950" b="1" kern="0" spc="200" dirty="0">
                <a:solidFill>
                  <a:srgbClr val="00704A"/>
                </a:solidFill>
                <a:latin typeface="Calibri" pitchFamily="34" charset="0"/>
                <a:ea typeface="Calibri" pitchFamily="34" charset="-122"/>
                <a:cs typeface="Calibri" pitchFamily="34" charset="-120"/>
              </a:rPr>
              <a:t>LA NOUVELLE QUESTION</a:t>
            </a:r>
            <a:endParaRPr lang="en-US" sz="950" dirty="0"/>
          </a:p>
        </p:txBody>
      </p:sp>
      <p:sp>
        <p:nvSpPr>
          <p:cNvPr id="28" name="Text 22"/>
          <p:cNvSpPr txBox="1"/>
          <p:nvPr/>
        </p:nvSpPr>
        <p:spPr>
          <a:xfrm>
            <a:off x="5577840" y="1700784"/>
            <a:ext cx="3017520" cy="274320"/>
          </a:xfrm>
          <a:prstGeom prst="rect">
            <a:avLst/>
          </a:prstGeom>
          <a:noFill/>
          <a:ln/>
        </p:spPr>
        <p:txBody>
          <a:bodyPr wrap="square" lIns="0" tIns="0" rIns="0" bIns="0" rtlCol="0" anchor="t"/>
          <a:lstStyle/>
          <a:p>
            <a:pPr marL="0" indent="0">
              <a:buNone/>
            </a:pPr>
            <a:r>
              <a:rPr lang="en-US" sz="1500" b="1" dirty="0">
                <a:solidFill>
                  <a:srgbClr val="231F20"/>
                </a:solidFill>
                <a:latin typeface="Calibri" pitchFamily="34" charset="0"/>
                <a:ea typeface="Calibri" pitchFamily="34" charset="-122"/>
                <a:cs typeface="Calibri" pitchFamily="34" charset="-120"/>
              </a:rPr>
              <a:t>La connexion est-elle utilisable ?</a:t>
            </a:r>
            <a:endParaRPr lang="en-US" sz="1500" dirty="0"/>
          </a:p>
        </p:txBody>
      </p:sp>
      <p:sp>
        <p:nvSpPr>
          <p:cNvPr id="29" name="Text 23"/>
          <p:cNvSpPr txBox="1"/>
          <p:nvPr/>
        </p:nvSpPr>
        <p:spPr>
          <a:xfrm>
            <a:off x="5029200" y="2148840"/>
            <a:ext cx="3520440" cy="146304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L’accès vu comme un continuum, pas un interrupteur</a:t>
            </a:r>
            <a:endParaRPr lang="en-US" sz="1100" dirty="0"/>
          </a:p>
          <a:p>
            <a:pPr marL="342900" indent="-34290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Débit, latence, fiabilité, prix et compétences</a:t>
            </a:r>
            <a:endParaRPr lang="en-US" sz="1100" dirty="0"/>
          </a:p>
          <a:p>
            <a:pPr marL="342900" indent="-34290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Cible de l’UIT : connectivité universelle et significative</a:t>
            </a:r>
            <a:endParaRPr lang="en-US" sz="1100" dirty="0"/>
          </a:p>
        </p:txBody>
      </p:sp>
      <p:sp>
        <p:nvSpPr>
          <p:cNvPr id="30" name="Shape 24"/>
          <p:cNvSpPr/>
          <p:nvPr/>
        </p:nvSpPr>
        <p:spPr>
          <a:xfrm>
            <a:off x="457200" y="3840480"/>
            <a:ext cx="8229600" cy="640080"/>
          </a:xfrm>
          <a:prstGeom prst="roundRect">
            <a:avLst>
              <a:gd name="adj" fmla="val 11429"/>
            </a:avLst>
          </a:prstGeom>
          <a:solidFill>
            <a:srgbClr val="FFFFFF"/>
          </a:solidFill>
          <a:ln w="12700">
            <a:solidFill>
              <a:srgbClr val="00704A"/>
            </a:solidFill>
            <a:prstDash val="solid"/>
          </a:ln>
        </p:spPr>
      </p:sp>
      <p:sp>
        <p:nvSpPr>
          <p:cNvPr id="31" name="Shape 25"/>
          <p:cNvSpPr/>
          <p:nvPr/>
        </p:nvSpPr>
        <p:spPr>
          <a:xfrm>
            <a:off x="594360" y="3950208"/>
            <a:ext cx="420624" cy="420624"/>
          </a:xfrm>
          <a:prstGeom prst="ellipse">
            <a:avLst/>
          </a:prstGeom>
          <a:solidFill>
            <a:srgbClr val="D49A00">
              <a:alpha val="22000"/>
            </a:srgbClr>
          </a:solidFill>
          <a:ln/>
        </p:spPr>
      </p:sp>
      <p:pic>
        <p:nvPicPr>
          <p:cNvPr id="32" name="Image 3" descr="preencoded.png"/>
          <p:cNvPicPr>
            <a:picLocks noChangeAspect="1"/>
          </p:cNvPicPr>
          <p:nvPr/>
        </p:nvPicPr>
        <p:blipFill>
          <a:blip r:embed="rId6"/>
          <a:stretch>
            <a:fillRect/>
          </a:stretch>
        </p:blipFill>
        <p:spPr>
          <a:xfrm>
            <a:off x="695310" y="4051158"/>
            <a:ext cx="218724" cy="218724"/>
          </a:xfrm>
          <a:prstGeom prst="rect">
            <a:avLst/>
          </a:prstGeom>
        </p:spPr>
      </p:pic>
      <p:sp>
        <p:nvSpPr>
          <p:cNvPr id="33" name="Text 26"/>
          <p:cNvSpPr txBox="1"/>
          <p:nvPr/>
        </p:nvSpPr>
        <p:spPr>
          <a:xfrm>
            <a:off x="1143000" y="3840480"/>
            <a:ext cx="7406640" cy="640080"/>
          </a:xfrm>
          <a:prstGeom prst="rect">
            <a:avLst/>
          </a:prstGeom>
          <a:noFill/>
          <a:ln/>
        </p:spPr>
        <p:txBody>
          <a:bodyPr wrap="square" lIns="0" tIns="0" rIns="0" bIns="0" rtlCol="0" anchor="ctr"/>
          <a:lstStyle/>
          <a:p>
            <a:pPr marL="0" indent="0">
              <a:buNone/>
            </a:pPr>
            <a:r>
              <a:rPr lang="en-US" sz="1200" b="1" dirty="0">
                <a:solidFill>
                  <a:srgbClr val="00704A"/>
                </a:solidFill>
                <a:latin typeface="Calibri" pitchFamily="34" charset="0"/>
                <a:ea typeface="Calibri" pitchFamily="34" charset="-122"/>
                <a:cs typeface="Calibri" pitchFamily="34" charset="-120"/>
              </a:rPr>
              <a:t>La place d’Ookla : </a:t>
            </a:r>
            <a:r>
              <a:rPr lang="en-US" sz="1200" dirty="0">
                <a:solidFill>
                  <a:srgbClr val="231F20"/>
                </a:solidFill>
                <a:latin typeface="Calibri" pitchFamily="34" charset="0"/>
                <a:ea typeface="Calibri" pitchFamily="34" charset="-122"/>
                <a:cs typeface="Calibri" pitchFamily="34" charset="-120"/>
              </a:rPr>
              <a:t>il mesure l’expérience d’utilisateurs réels, pas la disponibilité. Il complète les enquêtes et les données des régulateurs, sans les remplacer.</a:t>
            </a:r>
            <a:endParaRPr lang="en-US" sz="1200" dirty="0"/>
          </a:p>
        </p:txBody>
      </p:sp>
      <p:sp>
        <p:nvSpPr>
          <p:cNvPr id="34" name="Text 27"/>
          <p:cNvSpPr txBox="1"/>
          <p:nvPr/>
        </p:nvSpPr>
        <p:spPr>
          <a:xfrm>
            <a:off x="457200" y="4572000"/>
            <a:ext cx="749808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Cadrage d’après UIT, Facts and Figures 2025. Indicateurs ODD : cadre mondial d’indicateurs des Nations Unies.</a:t>
            </a:r>
            <a:endParaRPr lang="en-US" sz="900" dirty="0"/>
          </a:p>
        </p:txBody>
      </p:sp>
      <p:pic>
        <p:nvPicPr>
          <p:cNvPr id="1026" name="Picture 2" descr="Ookla Speedtest Review">
            <a:extLst>
              <a:ext uri="{FF2B5EF4-FFF2-40B4-BE49-F238E27FC236}">
                <a16:creationId xmlns:a16="http://schemas.microsoft.com/office/drawing/2014/main" id="{ED9C835F-CFC5-9003-E4C1-AE7A5A7A834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257097" y="247813"/>
            <a:ext cx="1762125" cy="114776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p:spPr>
      </p:sp>
      <p:sp>
        <p:nvSpPr>
          <p:cNvPr id="3" name="Text 1"/>
          <p:cNvSpPr txBox="1"/>
          <p:nvPr/>
        </p:nvSpPr>
        <p:spPr>
          <a:xfrm>
            <a:off x="548640" y="822960"/>
            <a:ext cx="3657600" cy="228600"/>
          </a:xfrm>
          <a:prstGeom prst="rect">
            <a:avLst/>
          </a:prstGeom>
          <a:noFill/>
          <a:ln/>
        </p:spPr>
        <p:txBody>
          <a:bodyPr wrap="square" lIns="0" tIns="0" rIns="0" bIns="0" rtlCol="0" anchor="t"/>
          <a:lstStyle/>
          <a:p>
            <a:pPr marL="0" indent="0">
              <a:buNone/>
            </a:pPr>
            <a:r>
              <a:rPr lang="en-US" sz="1100" b="1" kern="0" spc="300" dirty="0">
                <a:solidFill>
                  <a:srgbClr val="F5C242"/>
                </a:solidFill>
                <a:latin typeface="Calibri" pitchFamily="34" charset="0"/>
                <a:ea typeface="Calibri" pitchFamily="34" charset="-122"/>
                <a:cs typeface="Calibri" pitchFamily="34" charset="-120"/>
              </a:rPr>
              <a:t>SECTION 02</a:t>
            </a:r>
            <a:endParaRPr lang="en-US" sz="1100" dirty="0"/>
          </a:p>
        </p:txBody>
      </p:sp>
      <p:sp>
        <p:nvSpPr>
          <p:cNvPr id="4" name="Text 2"/>
          <p:cNvSpPr txBox="1"/>
          <p:nvPr/>
        </p:nvSpPr>
        <p:spPr>
          <a:xfrm>
            <a:off x="502920" y="1051560"/>
            <a:ext cx="2743200" cy="1234440"/>
          </a:xfrm>
          <a:prstGeom prst="rect">
            <a:avLst/>
          </a:prstGeom>
          <a:noFill/>
          <a:ln/>
        </p:spPr>
        <p:txBody>
          <a:bodyPr wrap="square" lIns="0" tIns="0" rIns="0" bIns="0" rtlCol="0" anchor="ctr"/>
          <a:lstStyle/>
          <a:p>
            <a:pPr marL="0" indent="0">
              <a:buNone/>
            </a:pPr>
            <a:r>
              <a:rPr lang="en-US" sz="9600" b="1" dirty="0">
                <a:solidFill>
                  <a:srgbClr val="F5C242"/>
                </a:solidFill>
                <a:latin typeface="Calibri" pitchFamily="34" charset="0"/>
                <a:ea typeface="Calibri" pitchFamily="34" charset="-122"/>
                <a:cs typeface="Calibri" pitchFamily="34" charset="-120"/>
              </a:rPr>
              <a:t>02</a:t>
            </a:r>
            <a:endParaRPr lang="en-US" sz="9600" dirty="0"/>
          </a:p>
        </p:txBody>
      </p:sp>
      <p:sp>
        <p:nvSpPr>
          <p:cNvPr id="5" name="Text 3"/>
          <p:cNvSpPr txBox="1"/>
          <p:nvPr/>
        </p:nvSpPr>
        <p:spPr>
          <a:xfrm>
            <a:off x="548640" y="2286000"/>
            <a:ext cx="5212080" cy="1051560"/>
          </a:xfrm>
          <a:prstGeom prst="rect">
            <a:avLst/>
          </a:prstGeom>
          <a:noFill/>
          <a:ln/>
        </p:spPr>
        <p:txBody>
          <a:bodyPr wrap="square" lIns="0" tIns="0" rIns="0" bIns="0" rtlCol="0" anchor="t"/>
          <a:lstStyle/>
          <a:p>
            <a:pPr marL="0" indent="0">
              <a:buNone/>
            </a:pPr>
            <a:r>
              <a:rPr lang="en-US" sz="3200" b="1" dirty="0">
                <a:solidFill>
                  <a:srgbClr val="FFFFFF"/>
                </a:solidFill>
                <a:latin typeface="Calibri" pitchFamily="34" charset="0"/>
                <a:ea typeface="Calibri" pitchFamily="34" charset="-122"/>
                <a:cs typeface="Calibri" pitchFamily="34" charset="-120"/>
              </a:rPr>
              <a:t>Au cœur du jeu de données</a:t>
            </a:r>
            <a:endParaRPr lang="en-US" sz="3200" dirty="0"/>
          </a:p>
        </p:txBody>
      </p:sp>
      <p:sp>
        <p:nvSpPr>
          <p:cNvPr id="6" name="Text 4"/>
          <p:cNvSpPr txBox="1"/>
          <p:nvPr/>
        </p:nvSpPr>
        <p:spPr>
          <a:xfrm>
            <a:off x="548640" y="3493008"/>
            <a:ext cx="4937760" cy="640080"/>
          </a:xfrm>
          <a:prstGeom prst="rect">
            <a:avLst/>
          </a:prstGeom>
          <a:noFill/>
          <a:ln/>
        </p:spPr>
        <p:txBody>
          <a:bodyPr wrap="square" lIns="0" tIns="0" rIns="0" bIns="0" rtlCol="0" anchor="t"/>
          <a:lstStyle/>
          <a:p>
            <a:pPr marL="0" indent="0">
              <a:buNone/>
            </a:pPr>
            <a:r>
              <a:rPr lang="en-US" sz="1600" i="1" dirty="0">
                <a:solidFill>
                  <a:srgbClr val="E6F6EE"/>
                </a:solidFill>
                <a:latin typeface="Calibri" pitchFamily="34" charset="0"/>
                <a:ea typeface="Calibri" pitchFamily="34" charset="-122"/>
                <a:cs typeface="Calibri" pitchFamily="34" charset="-120"/>
              </a:rPr>
              <a:t>Que représente exactement une ligne de ces données ?</a:t>
            </a:r>
            <a:endParaRPr lang="en-US" sz="1600" dirty="0"/>
          </a:p>
        </p:txBody>
      </p:sp>
      <p:sp>
        <p:nvSpPr>
          <p:cNvPr id="7" name="Shape 5"/>
          <p:cNvSpPr/>
          <p:nvPr/>
        </p:nvSpPr>
        <p:spPr>
          <a:xfrm>
            <a:off x="5989320" y="960120"/>
            <a:ext cx="2651760" cy="2651760"/>
          </a:xfrm>
          <a:prstGeom prst="ellipse">
            <a:avLst/>
          </a:prstGeom>
          <a:solidFill>
            <a:srgbClr val="FFFFFF">
              <a:alpha val="10000"/>
            </a:srgbClr>
          </a:solidFill>
          <a:ln/>
        </p:spPr>
      </p:sp>
      <p:sp>
        <p:nvSpPr>
          <p:cNvPr id="8" name="Shape 6"/>
          <p:cNvSpPr/>
          <p:nvPr/>
        </p:nvSpPr>
        <p:spPr>
          <a:xfrm>
            <a:off x="6309360" y="1280160"/>
            <a:ext cx="2011680" cy="2011680"/>
          </a:xfrm>
          <a:prstGeom prst="ellipse">
            <a:avLst/>
          </a:prstGeom>
          <a:solidFill>
            <a:srgbClr val="FFFFFF">
              <a:alpha val="18000"/>
            </a:srgbClr>
          </a:solidFill>
          <a:ln/>
        </p:spPr>
      </p:sp>
      <p:sp>
        <p:nvSpPr>
          <p:cNvPr id="9" name="Shape 7"/>
          <p:cNvSpPr/>
          <p:nvPr/>
        </p:nvSpPr>
        <p:spPr>
          <a:xfrm>
            <a:off x="6629400" y="1600200"/>
            <a:ext cx="1371600" cy="1371600"/>
          </a:xfrm>
          <a:prstGeom prst="ellipse">
            <a:avLst/>
          </a:prstGeom>
          <a:solidFill>
            <a:srgbClr val="FFFFFF"/>
          </a:solidFill>
          <a:ln/>
        </p:spPr>
      </p:sp>
      <p:pic>
        <p:nvPicPr>
          <p:cNvPr id="10" name="Image 0" descr="preencoded.png"/>
          <p:cNvPicPr>
            <a:picLocks noChangeAspect="1"/>
          </p:cNvPicPr>
          <p:nvPr/>
        </p:nvPicPr>
        <p:blipFill>
          <a:blip r:embed="rId4"/>
          <a:stretch>
            <a:fillRect/>
          </a:stretch>
        </p:blipFill>
        <p:spPr>
          <a:xfrm>
            <a:off x="6995160" y="1965960"/>
            <a:ext cx="640080" cy="640080"/>
          </a:xfrm>
          <a:prstGeom prst="rect">
            <a:avLst/>
          </a:prstGeom>
        </p:spPr>
      </p:pic>
      <p:sp>
        <p:nvSpPr>
          <p:cNvPr id="11" name="Shape 8"/>
          <p:cNvSpPr/>
          <p:nvPr/>
        </p:nvSpPr>
        <p:spPr>
          <a:xfrm>
            <a:off x="566928" y="4315968"/>
            <a:ext cx="118872" cy="118872"/>
          </a:xfrm>
          <a:prstGeom prst="ellipse">
            <a:avLst/>
          </a:prstGeom>
          <a:solidFill>
            <a:srgbClr val="FFFFFF">
              <a:alpha val="40000"/>
            </a:srgbClr>
          </a:solidFill>
          <a:ln/>
        </p:spPr>
      </p:sp>
      <p:sp>
        <p:nvSpPr>
          <p:cNvPr id="12" name="Shape 9"/>
          <p:cNvSpPr/>
          <p:nvPr/>
        </p:nvSpPr>
        <p:spPr>
          <a:xfrm>
            <a:off x="804672" y="4315968"/>
            <a:ext cx="118872" cy="118872"/>
          </a:xfrm>
          <a:prstGeom prst="ellipse">
            <a:avLst/>
          </a:prstGeom>
          <a:solidFill>
            <a:srgbClr val="F5C242"/>
          </a:solidFill>
          <a:ln/>
        </p:spPr>
      </p:sp>
      <p:sp>
        <p:nvSpPr>
          <p:cNvPr id="13" name="Shape 10"/>
          <p:cNvSpPr/>
          <p:nvPr/>
        </p:nvSpPr>
        <p:spPr>
          <a:xfrm>
            <a:off x="1042416" y="4315968"/>
            <a:ext cx="118872" cy="118872"/>
          </a:xfrm>
          <a:prstGeom prst="ellipse">
            <a:avLst/>
          </a:prstGeom>
          <a:solidFill>
            <a:srgbClr val="FFFFFF">
              <a:alpha val="40000"/>
            </a:srgbClr>
          </a:solidFill>
          <a:ln/>
        </p:spPr>
      </p:sp>
      <p:sp>
        <p:nvSpPr>
          <p:cNvPr id="14" name="Shape 11"/>
          <p:cNvSpPr/>
          <p:nvPr/>
        </p:nvSpPr>
        <p:spPr>
          <a:xfrm>
            <a:off x="1280160" y="4315968"/>
            <a:ext cx="118872" cy="118872"/>
          </a:xfrm>
          <a:prstGeom prst="ellipse">
            <a:avLst/>
          </a:prstGeom>
          <a:solidFill>
            <a:srgbClr val="FFFFFF">
              <a:alpha val="40000"/>
            </a:srgbClr>
          </a:solidFill>
          <a:ln/>
        </p:spPr>
      </p:sp>
      <p:sp>
        <p:nvSpPr>
          <p:cNvPr id="15" name="Shape 12"/>
          <p:cNvSpPr/>
          <p:nvPr/>
        </p:nvSpPr>
        <p:spPr>
          <a:xfrm>
            <a:off x="1517904" y="4315968"/>
            <a:ext cx="118872" cy="118872"/>
          </a:xfrm>
          <a:prstGeom prst="ellipse">
            <a:avLst/>
          </a:prstGeom>
          <a:solidFill>
            <a:srgbClr val="FFFFFF">
              <a:alpha val="40000"/>
            </a:srgbClr>
          </a:solidFill>
          <a:ln/>
        </p:spPr>
      </p:sp>
      <p:sp>
        <p:nvSpPr>
          <p:cNvPr id="16" name="Shape 13"/>
          <p:cNvSpPr/>
          <p:nvPr/>
        </p:nvSpPr>
        <p:spPr>
          <a:xfrm>
            <a:off x="1755648" y="4315968"/>
            <a:ext cx="118872" cy="118872"/>
          </a:xfrm>
          <a:prstGeom prst="ellipse">
            <a:avLst/>
          </a:prstGeom>
          <a:solidFill>
            <a:srgbClr val="FFFFFF">
              <a:alpha val="40000"/>
            </a:srgbClr>
          </a:solidFill>
          <a:ln/>
        </p:spPr>
      </p:sp>
      <p:sp>
        <p:nvSpPr>
          <p:cNvPr id="17" name="Text 14"/>
          <p:cNvSpPr txBox="1"/>
          <p:nvPr/>
        </p:nvSpPr>
        <p:spPr>
          <a:xfrm>
            <a:off x="8138160" y="4754880"/>
            <a:ext cx="548640" cy="182880"/>
          </a:xfrm>
          <a:prstGeom prst="rect">
            <a:avLst/>
          </a:prstGeom>
          <a:noFill/>
          <a:ln/>
        </p:spPr>
        <p:txBody>
          <a:bodyPr wrap="square" lIns="0" tIns="0" rIns="0" bIns="0" rtlCol="0" anchor="t"/>
          <a:lstStyle/>
          <a:p>
            <a:pPr marL="0" indent="0" algn="r">
              <a:buNone/>
            </a:pPr>
            <a:r>
              <a:rPr lang="en-US" sz="850" dirty="0">
                <a:solidFill>
                  <a:srgbClr val="E6F6EE"/>
                </a:solidFill>
                <a:latin typeface="Calibri" pitchFamily="34" charset="0"/>
                <a:ea typeface="Calibri" pitchFamily="34" charset="-122"/>
                <a:cs typeface="Calibri" pitchFamily="34" charset="-120"/>
              </a:rPr>
              <a:t>9</a:t>
            </a:r>
            <a:endParaRPr lang="en-US" sz="85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DÉFINITION</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marL="0" indent="0">
              <a:buNone/>
            </a:pPr>
            <a:r>
              <a:rPr lang="en-US" sz="2300" b="1" dirty="0">
                <a:solidFill>
                  <a:srgbClr val="231F20"/>
                </a:solidFill>
                <a:latin typeface="Calibri" pitchFamily="34" charset="0"/>
                <a:ea typeface="Calibri" pitchFamily="34" charset="-122"/>
                <a:cs typeface="Calibri" pitchFamily="34" charset="-120"/>
              </a:rPr>
              <a:t>Comment un test de débit devient une tuile ouverte</a:t>
            </a:r>
            <a:endParaRPr lang="en-US" sz="23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00704A"/>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5DED9"/>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BAD – Data Innovation for Africa (DI4A)  ·  Ookla Open Data et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10</a:t>
            </a:r>
            <a:endParaRPr lang="en-US" sz="850" dirty="0"/>
          </a:p>
        </p:txBody>
      </p:sp>
      <p:sp>
        <p:nvSpPr>
          <p:cNvPr id="17" name="Shape 14"/>
          <p:cNvSpPr/>
          <p:nvPr/>
        </p:nvSpPr>
        <p:spPr>
          <a:xfrm>
            <a:off x="457200" y="1371600"/>
            <a:ext cx="1828800" cy="1783080"/>
          </a:xfrm>
          <a:prstGeom prst="roundRect">
            <a:avLst>
              <a:gd name="adj" fmla="val 4103"/>
            </a:avLst>
          </a:prstGeom>
          <a:solidFill>
            <a:srgbClr val="FFFFFF"/>
          </a:solidFill>
          <a:ln w="12700">
            <a:solidFill>
              <a:srgbClr val="00704A"/>
            </a:solidFill>
            <a:prstDash val="solid"/>
          </a:ln>
        </p:spPr>
      </p:sp>
      <p:sp>
        <p:nvSpPr>
          <p:cNvPr id="18" name="Shape 15"/>
          <p:cNvSpPr/>
          <p:nvPr/>
        </p:nvSpPr>
        <p:spPr>
          <a:xfrm>
            <a:off x="1124712" y="1481328"/>
            <a:ext cx="493776" cy="493776"/>
          </a:xfrm>
          <a:prstGeom prst="ellipse">
            <a:avLst/>
          </a:prstGeom>
          <a:solidFill>
            <a:srgbClr val="00704A">
              <a:alpha val="22000"/>
            </a:srgbClr>
          </a:solidFill>
          <a:ln/>
        </p:spPr>
      </p:sp>
      <p:pic>
        <p:nvPicPr>
          <p:cNvPr id="19" name="Image 0" descr="preencoded.png"/>
          <p:cNvPicPr>
            <a:picLocks noChangeAspect="1"/>
          </p:cNvPicPr>
          <p:nvPr/>
        </p:nvPicPr>
        <p:blipFill>
          <a:blip r:embed="rId3"/>
          <a:stretch>
            <a:fillRect/>
          </a:stretch>
        </p:blipFill>
        <p:spPr>
          <a:xfrm>
            <a:off x="1243218" y="1599834"/>
            <a:ext cx="256764" cy="256764"/>
          </a:xfrm>
          <a:prstGeom prst="rect">
            <a:avLst/>
          </a:prstGeom>
        </p:spPr>
      </p:pic>
      <p:sp>
        <p:nvSpPr>
          <p:cNvPr id="20" name="Text 16"/>
          <p:cNvSpPr txBox="1"/>
          <p:nvPr/>
        </p:nvSpPr>
        <p:spPr>
          <a:xfrm>
            <a:off x="548640" y="2029968"/>
            <a:ext cx="1645920" cy="256032"/>
          </a:xfrm>
          <a:prstGeom prst="rect">
            <a:avLst/>
          </a:prstGeom>
          <a:noFill/>
          <a:ln/>
        </p:spPr>
        <p:txBody>
          <a:bodyPr wrap="square" lIns="0" tIns="0" rIns="0" bIns="0" rtlCol="0" anchor="t"/>
          <a:lstStyle/>
          <a:p>
            <a:pPr marL="0" indent="0" algn="ctr">
              <a:buNone/>
            </a:pPr>
            <a:r>
              <a:rPr lang="en-US" sz="1400" b="1" dirty="0">
                <a:solidFill>
                  <a:srgbClr val="231F20"/>
                </a:solidFill>
                <a:latin typeface="Calibri" pitchFamily="34" charset="0"/>
                <a:ea typeface="Calibri" pitchFamily="34" charset="-122"/>
                <a:cs typeface="Calibri" pitchFamily="34" charset="-120"/>
              </a:rPr>
              <a:t>Tester</a:t>
            </a:r>
            <a:endParaRPr lang="en-US" sz="1400" dirty="0"/>
          </a:p>
        </p:txBody>
      </p:sp>
      <p:sp>
        <p:nvSpPr>
          <p:cNvPr id="21" name="Text 17"/>
          <p:cNvSpPr txBox="1"/>
          <p:nvPr/>
        </p:nvSpPr>
        <p:spPr>
          <a:xfrm>
            <a:off x="594360" y="2304288"/>
            <a:ext cx="1554480" cy="77724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Les utilisateurs lancent Speedtest sur Android et iOS. Des centaines de millions de tests par mois.</a:t>
            </a:r>
            <a:endParaRPr lang="en-US" sz="1000" dirty="0"/>
          </a:p>
        </p:txBody>
      </p:sp>
      <p:pic>
        <p:nvPicPr>
          <p:cNvPr id="22" name="Image 1" descr="preencoded.png"/>
          <p:cNvPicPr>
            <a:picLocks noChangeAspect="1"/>
          </p:cNvPicPr>
          <p:nvPr/>
        </p:nvPicPr>
        <p:blipFill>
          <a:blip r:embed="rId4"/>
          <a:stretch>
            <a:fillRect/>
          </a:stretch>
        </p:blipFill>
        <p:spPr>
          <a:xfrm>
            <a:off x="2350008" y="2148840"/>
            <a:ext cx="182880" cy="182880"/>
          </a:xfrm>
          <a:prstGeom prst="rect">
            <a:avLst/>
          </a:prstGeom>
        </p:spPr>
      </p:pic>
      <p:sp>
        <p:nvSpPr>
          <p:cNvPr id="23" name="Shape 18"/>
          <p:cNvSpPr/>
          <p:nvPr/>
        </p:nvSpPr>
        <p:spPr>
          <a:xfrm>
            <a:off x="2587752" y="1371600"/>
            <a:ext cx="1828800" cy="1783080"/>
          </a:xfrm>
          <a:prstGeom prst="roundRect">
            <a:avLst>
              <a:gd name="adj" fmla="val 4103"/>
            </a:avLst>
          </a:prstGeom>
          <a:solidFill>
            <a:srgbClr val="FFFFFF"/>
          </a:solidFill>
          <a:ln w="12700">
            <a:solidFill>
              <a:srgbClr val="00704A"/>
            </a:solidFill>
            <a:prstDash val="solid"/>
          </a:ln>
        </p:spPr>
      </p:sp>
      <p:sp>
        <p:nvSpPr>
          <p:cNvPr id="24" name="Shape 19"/>
          <p:cNvSpPr/>
          <p:nvPr/>
        </p:nvSpPr>
        <p:spPr>
          <a:xfrm>
            <a:off x="3255264" y="1481328"/>
            <a:ext cx="493776" cy="493776"/>
          </a:xfrm>
          <a:prstGeom prst="ellipse">
            <a:avLst/>
          </a:prstGeom>
          <a:solidFill>
            <a:srgbClr val="00704A">
              <a:alpha val="22000"/>
            </a:srgbClr>
          </a:solidFill>
          <a:ln/>
        </p:spPr>
      </p:sp>
      <p:pic>
        <p:nvPicPr>
          <p:cNvPr id="25" name="Image 2" descr="preencoded.png"/>
          <p:cNvPicPr>
            <a:picLocks noChangeAspect="1"/>
          </p:cNvPicPr>
          <p:nvPr/>
        </p:nvPicPr>
        <p:blipFill>
          <a:blip r:embed="rId5"/>
          <a:stretch>
            <a:fillRect/>
          </a:stretch>
        </p:blipFill>
        <p:spPr>
          <a:xfrm>
            <a:off x="3373770" y="1599834"/>
            <a:ext cx="256764" cy="256764"/>
          </a:xfrm>
          <a:prstGeom prst="rect">
            <a:avLst/>
          </a:prstGeom>
        </p:spPr>
      </p:pic>
      <p:sp>
        <p:nvSpPr>
          <p:cNvPr id="26" name="Text 20"/>
          <p:cNvSpPr txBox="1"/>
          <p:nvPr/>
        </p:nvSpPr>
        <p:spPr>
          <a:xfrm>
            <a:off x="2679192" y="2029968"/>
            <a:ext cx="1645920" cy="256032"/>
          </a:xfrm>
          <a:prstGeom prst="rect">
            <a:avLst/>
          </a:prstGeom>
          <a:noFill/>
          <a:ln/>
        </p:spPr>
        <p:txBody>
          <a:bodyPr wrap="square" lIns="0" tIns="0" rIns="0" bIns="0" rtlCol="0" anchor="t"/>
          <a:lstStyle/>
          <a:p>
            <a:pPr marL="0" indent="0" algn="ctr">
              <a:buNone/>
            </a:pPr>
            <a:r>
              <a:rPr lang="en-US" sz="1400" b="1" dirty="0">
                <a:solidFill>
                  <a:srgbClr val="231F20"/>
                </a:solidFill>
                <a:latin typeface="Calibri" pitchFamily="34" charset="0"/>
                <a:ea typeface="Calibri" pitchFamily="34" charset="-122"/>
                <a:cs typeface="Calibri" pitchFamily="34" charset="-120"/>
              </a:rPr>
              <a:t>Filtrer</a:t>
            </a:r>
            <a:endParaRPr lang="en-US" sz="1400" dirty="0"/>
          </a:p>
        </p:txBody>
      </p:sp>
      <p:sp>
        <p:nvSpPr>
          <p:cNvPr id="27" name="Text 21"/>
          <p:cNvSpPr txBox="1"/>
          <p:nvPr/>
        </p:nvSpPr>
        <p:spPr>
          <a:xfrm>
            <a:off x="2724912" y="2304288"/>
            <a:ext cx="1554480" cy="77724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Seuls les résultats localisés avec une précision GPS sont conservés.</a:t>
            </a:r>
            <a:endParaRPr lang="en-US" sz="1000" dirty="0"/>
          </a:p>
        </p:txBody>
      </p:sp>
      <p:pic>
        <p:nvPicPr>
          <p:cNvPr id="28" name="Image 3" descr="preencoded.png"/>
          <p:cNvPicPr>
            <a:picLocks noChangeAspect="1"/>
          </p:cNvPicPr>
          <p:nvPr/>
        </p:nvPicPr>
        <p:blipFill>
          <a:blip r:embed="rId4"/>
          <a:stretch>
            <a:fillRect/>
          </a:stretch>
        </p:blipFill>
        <p:spPr>
          <a:xfrm>
            <a:off x="4480560" y="2148840"/>
            <a:ext cx="182880" cy="182880"/>
          </a:xfrm>
          <a:prstGeom prst="rect">
            <a:avLst/>
          </a:prstGeom>
        </p:spPr>
      </p:pic>
      <p:sp>
        <p:nvSpPr>
          <p:cNvPr id="29" name="Shape 22"/>
          <p:cNvSpPr/>
          <p:nvPr/>
        </p:nvSpPr>
        <p:spPr>
          <a:xfrm>
            <a:off x="4718304" y="1371600"/>
            <a:ext cx="1828800" cy="1783080"/>
          </a:xfrm>
          <a:prstGeom prst="roundRect">
            <a:avLst>
              <a:gd name="adj" fmla="val 4103"/>
            </a:avLst>
          </a:prstGeom>
          <a:solidFill>
            <a:srgbClr val="FFFFFF"/>
          </a:solidFill>
          <a:ln w="12700">
            <a:solidFill>
              <a:srgbClr val="00704A"/>
            </a:solidFill>
            <a:prstDash val="solid"/>
          </a:ln>
        </p:spPr>
      </p:sp>
      <p:sp>
        <p:nvSpPr>
          <p:cNvPr id="30" name="Shape 23"/>
          <p:cNvSpPr/>
          <p:nvPr/>
        </p:nvSpPr>
        <p:spPr>
          <a:xfrm>
            <a:off x="5385816" y="1481328"/>
            <a:ext cx="493776" cy="493776"/>
          </a:xfrm>
          <a:prstGeom prst="ellipse">
            <a:avLst/>
          </a:prstGeom>
          <a:solidFill>
            <a:srgbClr val="00704A">
              <a:alpha val="22000"/>
            </a:srgbClr>
          </a:solidFill>
          <a:ln/>
        </p:spPr>
      </p:sp>
      <p:pic>
        <p:nvPicPr>
          <p:cNvPr id="31" name="Image 4" descr="preencoded.png"/>
          <p:cNvPicPr>
            <a:picLocks noChangeAspect="1"/>
          </p:cNvPicPr>
          <p:nvPr/>
        </p:nvPicPr>
        <p:blipFill>
          <a:blip r:embed="rId6"/>
          <a:stretch>
            <a:fillRect/>
          </a:stretch>
        </p:blipFill>
        <p:spPr>
          <a:xfrm>
            <a:off x="5504322" y="1599834"/>
            <a:ext cx="256764" cy="256764"/>
          </a:xfrm>
          <a:prstGeom prst="rect">
            <a:avLst/>
          </a:prstGeom>
        </p:spPr>
      </p:pic>
      <p:sp>
        <p:nvSpPr>
          <p:cNvPr id="32" name="Text 24"/>
          <p:cNvSpPr txBox="1"/>
          <p:nvPr/>
        </p:nvSpPr>
        <p:spPr>
          <a:xfrm>
            <a:off x="4809744" y="2029968"/>
            <a:ext cx="1645920" cy="256032"/>
          </a:xfrm>
          <a:prstGeom prst="rect">
            <a:avLst/>
          </a:prstGeom>
          <a:noFill/>
          <a:ln/>
        </p:spPr>
        <p:txBody>
          <a:bodyPr wrap="square" lIns="0" tIns="0" rIns="0" bIns="0" rtlCol="0" anchor="t"/>
          <a:lstStyle/>
          <a:p>
            <a:pPr marL="0" indent="0" algn="ctr">
              <a:buNone/>
            </a:pPr>
            <a:r>
              <a:rPr lang="en-US" sz="1400" b="1" dirty="0">
                <a:solidFill>
                  <a:srgbClr val="231F20"/>
                </a:solidFill>
                <a:latin typeface="Calibri" pitchFamily="34" charset="0"/>
                <a:ea typeface="Calibri" pitchFamily="34" charset="-122"/>
                <a:cs typeface="Calibri" pitchFamily="34" charset="-120"/>
              </a:rPr>
              <a:t>Agréger</a:t>
            </a:r>
            <a:endParaRPr lang="en-US" sz="1400" dirty="0"/>
          </a:p>
        </p:txBody>
      </p:sp>
      <p:sp>
        <p:nvSpPr>
          <p:cNvPr id="33" name="Text 25"/>
          <p:cNvSpPr txBox="1"/>
          <p:nvPr/>
        </p:nvSpPr>
        <p:spPr>
          <a:xfrm>
            <a:off x="4855464" y="2304288"/>
            <a:ext cx="1554480" cy="77724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Moyenne des tests dans des tuiles de zoom 16 (≈ 611 m) pour protéger les testeurs.</a:t>
            </a:r>
            <a:endParaRPr lang="en-US" sz="1000" dirty="0"/>
          </a:p>
        </p:txBody>
      </p:sp>
      <p:pic>
        <p:nvPicPr>
          <p:cNvPr id="34" name="Image 5" descr="preencoded.png"/>
          <p:cNvPicPr>
            <a:picLocks noChangeAspect="1"/>
          </p:cNvPicPr>
          <p:nvPr/>
        </p:nvPicPr>
        <p:blipFill>
          <a:blip r:embed="rId4"/>
          <a:stretch>
            <a:fillRect/>
          </a:stretch>
        </p:blipFill>
        <p:spPr>
          <a:xfrm>
            <a:off x="6611112" y="2148840"/>
            <a:ext cx="182880" cy="182880"/>
          </a:xfrm>
          <a:prstGeom prst="rect">
            <a:avLst/>
          </a:prstGeom>
        </p:spPr>
      </p:pic>
      <p:sp>
        <p:nvSpPr>
          <p:cNvPr id="35" name="Shape 26"/>
          <p:cNvSpPr/>
          <p:nvPr/>
        </p:nvSpPr>
        <p:spPr>
          <a:xfrm>
            <a:off x="6848856" y="1371600"/>
            <a:ext cx="1828800" cy="1783080"/>
          </a:xfrm>
          <a:prstGeom prst="roundRect">
            <a:avLst>
              <a:gd name="adj" fmla="val 4103"/>
            </a:avLst>
          </a:prstGeom>
          <a:solidFill>
            <a:srgbClr val="FFFFFF"/>
          </a:solidFill>
          <a:ln w="12700">
            <a:solidFill>
              <a:srgbClr val="00704A"/>
            </a:solidFill>
            <a:prstDash val="solid"/>
          </a:ln>
        </p:spPr>
      </p:sp>
      <p:sp>
        <p:nvSpPr>
          <p:cNvPr id="36" name="Shape 27"/>
          <p:cNvSpPr/>
          <p:nvPr/>
        </p:nvSpPr>
        <p:spPr>
          <a:xfrm>
            <a:off x="7516368" y="1481328"/>
            <a:ext cx="493776" cy="493776"/>
          </a:xfrm>
          <a:prstGeom prst="ellipse">
            <a:avLst/>
          </a:prstGeom>
          <a:solidFill>
            <a:srgbClr val="00704A">
              <a:alpha val="22000"/>
            </a:srgbClr>
          </a:solidFill>
          <a:ln/>
        </p:spPr>
      </p:sp>
      <p:pic>
        <p:nvPicPr>
          <p:cNvPr id="37" name="Image 6" descr="preencoded.png"/>
          <p:cNvPicPr>
            <a:picLocks noChangeAspect="1"/>
          </p:cNvPicPr>
          <p:nvPr/>
        </p:nvPicPr>
        <p:blipFill>
          <a:blip r:embed="rId7"/>
          <a:stretch>
            <a:fillRect/>
          </a:stretch>
        </p:blipFill>
        <p:spPr>
          <a:xfrm>
            <a:off x="7634874" y="1599834"/>
            <a:ext cx="256764" cy="256764"/>
          </a:xfrm>
          <a:prstGeom prst="rect">
            <a:avLst/>
          </a:prstGeom>
        </p:spPr>
      </p:pic>
      <p:sp>
        <p:nvSpPr>
          <p:cNvPr id="38" name="Text 28"/>
          <p:cNvSpPr txBox="1"/>
          <p:nvPr/>
        </p:nvSpPr>
        <p:spPr>
          <a:xfrm>
            <a:off x="6940296" y="2029968"/>
            <a:ext cx="1645920" cy="256032"/>
          </a:xfrm>
          <a:prstGeom prst="rect">
            <a:avLst/>
          </a:prstGeom>
          <a:noFill/>
          <a:ln/>
        </p:spPr>
        <p:txBody>
          <a:bodyPr wrap="square" lIns="0" tIns="0" rIns="0" bIns="0" rtlCol="0" anchor="t"/>
          <a:lstStyle/>
          <a:p>
            <a:pPr marL="0" indent="0" algn="ctr">
              <a:buNone/>
            </a:pPr>
            <a:r>
              <a:rPr lang="en-US" sz="1400" b="1" dirty="0">
                <a:solidFill>
                  <a:srgbClr val="231F20"/>
                </a:solidFill>
                <a:latin typeface="Calibri" pitchFamily="34" charset="0"/>
                <a:ea typeface="Calibri" pitchFamily="34" charset="-122"/>
                <a:cs typeface="Calibri" pitchFamily="34" charset="-120"/>
              </a:rPr>
              <a:t>Publier</a:t>
            </a:r>
            <a:endParaRPr lang="en-US" sz="1400" dirty="0"/>
          </a:p>
        </p:txBody>
      </p:sp>
      <p:sp>
        <p:nvSpPr>
          <p:cNvPr id="39" name="Text 29"/>
          <p:cNvSpPr txBox="1"/>
          <p:nvPr/>
        </p:nvSpPr>
        <p:spPr>
          <a:xfrm>
            <a:off x="6986016" y="2304288"/>
            <a:ext cx="1554480" cy="77724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Chaque trimestre, sur AWS, en Shapefile et Parquet, gratuitement.</a:t>
            </a:r>
            <a:endParaRPr lang="en-US" sz="1000" dirty="0"/>
          </a:p>
        </p:txBody>
      </p:sp>
      <p:sp>
        <p:nvSpPr>
          <p:cNvPr id="40" name="Shape 30"/>
          <p:cNvSpPr/>
          <p:nvPr/>
        </p:nvSpPr>
        <p:spPr>
          <a:xfrm>
            <a:off x="457200" y="3337560"/>
            <a:ext cx="1828800" cy="566928"/>
          </a:xfrm>
          <a:prstGeom prst="roundRect">
            <a:avLst>
              <a:gd name="adj" fmla="val 19355"/>
            </a:avLst>
          </a:prstGeom>
          <a:solidFill>
            <a:srgbClr val="00A86A">
              <a:alpha val="12000"/>
            </a:srgbClr>
          </a:solidFill>
          <a:ln w="9525">
            <a:solidFill>
              <a:srgbClr val="00A86A"/>
            </a:solidFill>
            <a:prstDash val="solid"/>
          </a:ln>
        </p:spPr>
      </p:sp>
      <p:sp>
        <p:nvSpPr>
          <p:cNvPr id="41" name="Text 31"/>
          <p:cNvSpPr txBox="1"/>
          <p:nvPr/>
        </p:nvSpPr>
        <p:spPr>
          <a:xfrm>
            <a:off x="566928" y="3383280"/>
            <a:ext cx="1645920" cy="228600"/>
          </a:xfrm>
          <a:prstGeom prst="rect">
            <a:avLst/>
          </a:prstGeom>
          <a:noFill/>
          <a:ln/>
        </p:spPr>
        <p:txBody>
          <a:bodyPr wrap="square" lIns="0" tIns="0" rIns="0" bIns="0" rtlCol="0" anchor="t"/>
          <a:lstStyle/>
          <a:p>
            <a:pPr marL="0" indent="0">
              <a:buNone/>
            </a:pPr>
            <a:r>
              <a:rPr lang="en-US" sz="1200" b="1" dirty="0">
                <a:solidFill>
                  <a:srgbClr val="00704A"/>
                </a:solidFill>
                <a:latin typeface="Calibri" pitchFamily="34" charset="0"/>
                <a:ea typeface="Calibri" pitchFamily="34" charset="-122"/>
                <a:cs typeface="Calibri" pitchFamily="34" charset="-120"/>
              </a:rPr>
              <a:t>Mondial</a:t>
            </a:r>
            <a:endParaRPr lang="en-US" sz="1200" dirty="0"/>
          </a:p>
        </p:txBody>
      </p:sp>
      <p:sp>
        <p:nvSpPr>
          <p:cNvPr id="42" name="Text 32"/>
          <p:cNvSpPr txBox="1"/>
          <p:nvPr/>
        </p:nvSpPr>
        <p:spPr>
          <a:xfrm>
            <a:off x="566928" y="3611880"/>
            <a:ext cx="1645920" cy="228600"/>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Même schéma partout</a:t>
            </a:r>
            <a:endParaRPr lang="en-US" sz="1000" dirty="0"/>
          </a:p>
        </p:txBody>
      </p:sp>
      <p:sp>
        <p:nvSpPr>
          <p:cNvPr id="43" name="Shape 33"/>
          <p:cNvSpPr/>
          <p:nvPr/>
        </p:nvSpPr>
        <p:spPr>
          <a:xfrm>
            <a:off x="2587752" y="3337560"/>
            <a:ext cx="1828800" cy="566928"/>
          </a:xfrm>
          <a:prstGeom prst="roundRect">
            <a:avLst>
              <a:gd name="adj" fmla="val 19355"/>
            </a:avLst>
          </a:prstGeom>
          <a:solidFill>
            <a:srgbClr val="00A86A">
              <a:alpha val="12000"/>
            </a:srgbClr>
          </a:solidFill>
          <a:ln w="9525">
            <a:solidFill>
              <a:srgbClr val="00A86A"/>
            </a:solidFill>
            <a:prstDash val="solid"/>
          </a:ln>
        </p:spPr>
      </p:sp>
      <p:sp>
        <p:nvSpPr>
          <p:cNvPr id="44" name="Text 34"/>
          <p:cNvSpPr txBox="1"/>
          <p:nvPr/>
        </p:nvSpPr>
        <p:spPr>
          <a:xfrm>
            <a:off x="2697480" y="3383280"/>
            <a:ext cx="1645920" cy="228600"/>
          </a:xfrm>
          <a:prstGeom prst="rect">
            <a:avLst/>
          </a:prstGeom>
          <a:noFill/>
          <a:ln/>
        </p:spPr>
        <p:txBody>
          <a:bodyPr wrap="square" lIns="0" tIns="0" rIns="0" bIns="0" rtlCol="0" anchor="t"/>
          <a:lstStyle/>
          <a:p>
            <a:pPr marL="0" indent="0">
              <a:buNone/>
            </a:pPr>
            <a:r>
              <a:rPr lang="en-US" sz="1200" b="1" dirty="0">
                <a:solidFill>
                  <a:srgbClr val="00704A"/>
                </a:solidFill>
                <a:latin typeface="Calibri" pitchFamily="34" charset="0"/>
                <a:ea typeface="Calibri" pitchFamily="34" charset="-122"/>
                <a:cs typeface="Calibri" pitchFamily="34" charset="-120"/>
              </a:rPr>
              <a:t>Fin</a:t>
            </a:r>
            <a:endParaRPr lang="en-US" sz="1200" dirty="0"/>
          </a:p>
        </p:txBody>
      </p:sp>
      <p:sp>
        <p:nvSpPr>
          <p:cNvPr id="45" name="Text 35"/>
          <p:cNvSpPr txBox="1"/>
          <p:nvPr/>
        </p:nvSpPr>
        <p:spPr>
          <a:xfrm>
            <a:off x="2697480" y="3611880"/>
            <a:ext cx="1645920" cy="228600"/>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Tuiles ≈ 611 m</a:t>
            </a:r>
            <a:endParaRPr lang="en-US" sz="1000" dirty="0"/>
          </a:p>
        </p:txBody>
      </p:sp>
      <p:sp>
        <p:nvSpPr>
          <p:cNvPr id="46" name="Shape 36"/>
          <p:cNvSpPr/>
          <p:nvPr/>
        </p:nvSpPr>
        <p:spPr>
          <a:xfrm>
            <a:off x="4718304" y="3337560"/>
            <a:ext cx="1828800" cy="566928"/>
          </a:xfrm>
          <a:prstGeom prst="roundRect">
            <a:avLst>
              <a:gd name="adj" fmla="val 19355"/>
            </a:avLst>
          </a:prstGeom>
          <a:solidFill>
            <a:srgbClr val="00A86A">
              <a:alpha val="12000"/>
            </a:srgbClr>
          </a:solidFill>
          <a:ln w="9525">
            <a:solidFill>
              <a:srgbClr val="00A86A"/>
            </a:solidFill>
            <a:prstDash val="solid"/>
          </a:ln>
        </p:spPr>
      </p:sp>
      <p:sp>
        <p:nvSpPr>
          <p:cNvPr id="47" name="Text 37"/>
          <p:cNvSpPr txBox="1"/>
          <p:nvPr/>
        </p:nvSpPr>
        <p:spPr>
          <a:xfrm>
            <a:off x="4828032" y="3383280"/>
            <a:ext cx="1645920" cy="228600"/>
          </a:xfrm>
          <a:prstGeom prst="rect">
            <a:avLst/>
          </a:prstGeom>
          <a:noFill/>
          <a:ln/>
        </p:spPr>
        <p:txBody>
          <a:bodyPr wrap="square" lIns="0" tIns="0" rIns="0" bIns="0" rtlCol="0" anchor="t"/>
          <a:lstStyle/>
          <a:p>
            <a:pPr marL="0" indent="0">
              <a:buNone/>
            </a:pPr>
            <a:r>
              <a:rPr lang="en-US" sz="1200" b="1" dirty="0">
                <a:solidFill>
                  <a:srgbClr val="00704A"/>
                </a:solidFill>
                <a:latin typeface="Calibri" pitchFamily="34" charset="0"/>
                <a:ea typeface="Calibri" pitchFamily="34" charset="-122"/>
                <a:cs typeface="Calibri" pitchFamily="34" charset="-120"/>
              </a:rPr>
              <a:t>Ouvert</a:t>
            </a:r>
            <a:endParaRPr lang="en-US" sz="1200" dirty="0"/>
          </a:p>
        </p:txBody>
      </p:sp>
      <p:sp>
        <p:nvSpPr>
          <p:cNvPr id="48" name="Text 38"/>
          <p:cNvSpPr txBox="1"/>
          <p:nvPr/>
        </p:nvSpPr>
        <p:spPr>
          <a:xfrm>
            <a:off x="4828032" y="3611880"/>
            <a:ext cx="1645920" cy="228600"/>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CC BY-NC-SA 4.0</a:t>
            </a:r>
            <a:endParaRPr lang="en-US" sz="1000" dirty="0"/>
          </a:p>
        </p:txBody>
      </p:sp>
      <p:sp>
        <p:nvSpPr>
          <p:cNvPr id="49" name="Shape 39"/>
          <p:cNvSpPr/>
          <p:nvPr/>
        </p:nvSpPr>
        <p:spPr>
          <a:xfrm>
            <a:off x="6848856" y="3337560"/>
            <a:ext cx="1828800" cy="566928"/>
          </a:xfrm>
          <a:prstGeom prst="roundRect">
            <a:avLst>
              <a:gd name="adj" fmla="val 19355"/>
            </a:avLst>
          </a:prstGeom>
          <a:solidFill>
            <a:srgbClr val="00A86A">
              <a:alpha val="12000"/>
            </a:srgbClr>
          </a:solidFill>
          <a:ln w="9525">
            <a:solidFill>
              <a:srgbClr val="00A86A"/>
            </a:solidFill>
            <a:prstDash val="solid"/>
          </a:ln>
        </p:spPr>
      </p:sp>
      <p:sp>
        <p:nvSpPr>
          <p:cNvPr id="50" name="Text 40"/>
          <p:cNvSpPr txBox="1"/>
          <p:nvPr/>
        </p:nvSpPr>
        <p:spPr>
          <a:xfrm>
            <a:off x="6958584" y="3383280"/>
            <a:ext cx="1645920" cy="228600"/>
          </a:xfrm>
          <a:prstGeom prst="rect">
            <a:avLst/>
          </a:prstGeom>
          <a:noFill/>
          <a:ln/>
        </p:spPr>
        <p:txBody>
          <a:bodyPr wrap="square" lIns="0" tIns="0" rIns="0" bIns="0" rtlCol="0" anchor="t"/>
          <a:lstStyle/>
          <a:p>
            <a:pPr marL="0" indent="0">
              <a:buNone/>
            </a:pPr>
            <a:r>
              <a:rPr lang="en-US" sz="1200" b="1" dirty="0">
                <a:solidFill>
                  <a:srgbClr val="00704A"/>
                </a:solidFill>
                <a:latin typeface="Calibri" pitchFamily="34" charset="0"/>
                <a:ea typeface="Calibri" pitchFamily="34" charset="-122"/>
                <a:cs typeface="Calibri" pitchFamily="34" charset="-120"/>
              </a:rPr>
              <a:t>Régulier</a:t>
            </a:r>
            <a:endParaRPr lang="en-US" sz="1200" dirty="0"/>
          </a:p>
        </p:txBody>
      </p:sp>
      <p:sp>
        <p:nvSpPr>
          <p:cNvPr id="51" name="Text 41"/>
          <p:cNvSpPr txBox="1"/>
          <p:nvPr/>
        </p:nvSpPr>
        <p:spPr>
          <a:xfrm>
            <a:off x="6958584" y="3611880"/>
            <a:ext cx="1645920" cy="228600"/>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Trimestriel depuis T1 2019</a:t>
            </a:r>
            <a:endParaRPr lang="en-US" sz="1000" dirty="0"/>
          </a:p>
        </p:txBody>
      </p:sp>
      <p:sp>
        <p:nvSpPr>
          <p:cNvPr id="52" name="Text 42"/>
          <p:cNvSpPr txBox="1"/>
          <p:nvPr/>
        </p:nvSpPr>
        <p:spPr>
          <a:xfrm>
            <a:off x="457200" y="4041648"/>
            <a:ext cx="8229600" cy="411480"/>
          </a:xfrm>
          <a:prstGeom prst="rect">
            <a:avLst/>
          </a:prstGeom>
          <a:noFill/>
          <a:ln/>
        </p:spPr>
        <p:txBody>
          <a:bodyPr wrap="square" lIns="0" tIns="0" rIns="0" bIns="0" rtlCol="0" anchor="t"/>
          <a:lstStyle/>
          <a:p>
            <a:pPr marL="0" indent="0">
              <a:buNone/>
            </a:pPr>
            <a:r>
              <a:rPr lang="en-US" sz="1100" b="1" dirty="0">
                <a:solidFill>
                  <a:srgbClr val="00704A"/>
                </a:solidFill>
                <a:latin typeface="Calibri" pitchFamily="34" charset="0"/>
                <a:ea typeface="Calibri" pitchFamily="34" charset="-122"/>
                <a:cs typeface="Calibri" pitchFamily="34" charset="-120"/>
              </a:rPr>
              <a:t>Objectif déclaré d’Ookla : </a:t>
            </a:r>
            <a:r>
              <a:rPr lang="en-US" sz="1100" i="1" dirty="0">
                <a:solidFill>
                  <a:srgbClr val="231F20"/>
                </a:solidFill>
                <a:latin typeface="Calibri" pitchFamily="34" charset="0"/>
                <a:ea typeface="Calibri" pitchFamily="34" charset="-122"/>
                <a:cs typeface="Calibri" pitchFamily="34" charset="-120"/>
              </a:rPr>
              <a:t>faciliter l’utilisation des données pour réduire l’écart entre ceux qui ont un accès moderne à Internet et ceux qui ne l’ont pas.</a:t>
            </a:r>
            <a:endParaRPr lang="en-US" sz="1100" dirty="0"/>
          </a:p>
        </p:txBody>
      </p:sp>
      <p:sp>
        <p:nvSpPr>
          <p:cNvPr id="53" name="Text 43"/>
          <p:cNvSpPr txBox="1"/>
          <p:nvPr/>
        </p:nvSpPr>
        <p:spPr>
          <a:xfrm>
            <a:off x="457200" y="4572000"/>
            <a:ext cx="749808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Source : teamookla/ookla-open-data (README GitHub) ; documentation du package ooklaOpenDataR.</a:t>
            </a:r>
            <a:endParaRPr lang="en-US" sz="900" dirty="0"/>
          </a:p>
        </p:txBody>
      </p:sp>
      <p:pic>
        <p:nvPicPr>
          <p:cNvPr id="16" name="Picture 2" descr="Speedtest by Ookla - App on Amazon Appstore">
            <a:extLst>
              <a:ext uri="{FF2B5EF4-FFF2-40B4-BE49-F238E27FC236}">
                <a16:creationId xmlns:a16="http://schemas.microsoft.com/office/drawing/2014/main" id="{A76CA9AB-1F78-F5F7-DA28-54584A59E07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498080" y="598932"/>
            <a:ext cx="1280160" cy="62407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UNITÉ D’ANALYSE</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La tuile et son quadkey, expliqués</a:t>
            </a:r>
            <a:endParaRPr lang="en-US" sz="28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00704A"/>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5DED9"/>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BAD – Data Innovation for Africa (DI4A)  ·  Ookla Open Data et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11</a:t>
            </a:r>
            <a:endParaRPr lang="en-US" sz="850" dirty="0"/>
          </a:p>
        </p:txBody>
      </p:sp>
      <p:sp>
        <p:nvSpPr>
          <p:cNvPr id="17" name="Shape 14"/>
          <p:cNvSpPr/>
          <p:nvPr/>
        </p:nvSpPr>
        <p:spPr>
          <a:xfrm>
            <a:off x="457200" y="1508760"/>
            <a:ext cx="1234440" cy="1234440"/>
          </a:xfrm>
          <a:prstGeom prst="rect">
            <a:avLst/>
          </a:prstGeom>
          <a:solidFill>
            <a:srgbClr val="7BCBA9"/>
          </a:solidFill>
          <a:ln w="19050">
            <a:solidFill>
              <a:srgbClr val="FFFFFF"/>
            </a:solidFill>
            <a:prstDash val="solid"/>
          </a:ln>
        </p:spPr>
      </p:sp>
      <p:sp>
        <p:nvSpPr>
          <p:cNvPr id="18" name="Text 15"/>
          <p:cNvSpPr txBox="1"/>
          <p:nvPr/>
        </p:nvSpPr>
        <p:spPr>
          <a:xfrm>
            <a:off x="457200" y="1508760"/>
            <a:ext cx="1234440" cy="12344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monde</a:t>
            </a:r>
            <a:endParaRPr lang="en-US" sz="1100" dirty="0"/>
          </a:p>
        </p:txBody>
      </p:sp>
      <p:sp>
        <p:nvSpPr>
          <p:cNvPr id="19" name="Shape 16"/>
          <p:cNvSpPr/>
          <p:nvPr/>
        </p:nvSpPr>
        <p:spPr>
          <a:xfrm>
            <a:off x="2148840" y="1508760"/>
            <a:ext cx="617220" cy="617220"/>
          </a:xfrm>
          <a:prstGeom prst="rect">
            <a:avLst/>
          </a:prstGeom>
          <a:solidFill>
            <a:srgbClr val="7BCBA9"/>
          </a:solidFill>
          <a:ln w="19050">
            <a:solidFill>
              <a:srgbClr val="FFFFFF"/>
            </a:solidFill>
            <a:prstDash val="solid"/>
          </a:ln>
        </p:spPr>
      </p:sp>
      <p:sp>
        <p:nvSpPr>
          <p:cNvPr id="20" name="Text 17"/>
          <p:cNvSpPr txBox="1"/>
          <p:nvPr/>
        </p:nvSpPr>
        <p:spPr>
          <a:xfrm>
            <a:off x="2148840" y="1508760"/>
            <a:ext cx="617220" cy="617220"/>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0</a:t>
            </a:r>
            <a:endParaRPr lang="en-US" sz="1400" dirty="0"/>
          </a:p>
        </p:txBody>
      </p:sp>
      <p:sp>
        <p:nvSpPr>
          <p:cNvPr id="21" name="Shape 18"/>
          <p:cNvSpPr/>
          <p:nvPr/>
        </p:nvSpPr>
        <p:spPr>
          <a:xfrm>
            <a:off x="2766060" y="1508760"/>
            <a:ext cx="617220" cy="617220"/>
          </a:xfrm>
          <a:prstGeom prst="rect">
            <a:avLst/>
          </a:prstGeom>
          <a:solidFill>
            <a:srgbClr val="00704A"/>
          </a:solidFill>
          <a:ln w="19050">
            <a:solidFill>
              <a:srgbClr val="FFFFFF"/>
            </a:solidFill>
            <a:prstDash val="solid"/>
          </a:ln>
        </p:spPr>
      </p:sp>
      <p:sp>
        <p:nvSpPr>
          <p:cNvPr id="22" name="Text 19"/>
          <p:cNvSpPr txBox="1"/>
          <p:nvPr/>
        </p:nvSpPr>
        <p:spPr>
          <a:xfrm>
            <a:off x="2766060" y="1508760"/>
            <a:ext cx="617220" cy="617220"/>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1</a:t>
            </a:r>
            <a:endParaRPr lang="en-US" sz="1400" dirty="0"/>
          </a:p>
        </p:txBody>
      </p:sp>
      <p:sp>
        <p:nvSpPr>
          <p:cNvPr id="23" name="Shape 20"/>
          <p:cNvSpPr/>
          <p:nvPr/>
        </p:nvSpPr>
        <p:spPr>
          <a:xfrm>
            <a:off x="2148840" y="2125980"/>
            <a:ext cx="617220" cy="617220"/>
          </a:xfrm>
          <a:prstGeom prst="rect">
            <a:avLst/>
          </a:prstGeom>
          <a:solidFill>
            <a:srgbClr val="7BCBA9"/>
          </a:solidFill>
          <a:ln w="19050">
            <a:solidFill>
              <a:srgbClr val="FFFFFF"/>
            </a:solidFill>
            <a:prstDash val="solid"/>
          </a:ln>
        </p:spPr>
      </p:sp>
      <p:sp>
        <p:nvSpPr>
          <p:cNvPr id="24" name="Text 21"/>
          <p:cNvSpPr txBox="1"/>
          <p:nvPr/>
        </p:nvSpPr>
        <p:spPr>
          <a:xfrm>
            <a:off x="2148840" y="2125980"/>
            <a:ext cx="617220" cy="617220"/>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2</a:t>
            </a:r>
            <a:endParaRPr lang="en-US" sz="1400" dirty="0"/>
          </a:p>
        </p:txBody>
      </p:sp>
      <p:sp>
        <p:nvSpPr>
          <p:cNvPr id="25" name="Shape 22"/>
          <p:cNvSpPr/>
          <p:nvPr/>
        </p:nvSpPr>
        <p:spPr>
          <a:xfrm>
            <a:off x="2766060" y="2125980"/>
            <a:ext cx="617220" cy="617220"/>
          </a:xfrm>
          <a:prstGeom prst="rect">
            <a:avLst/>
          </a:prstGeom>
          <a:solidFill>
            <a:srgbClr val="7BCBA9"/>
          </a:solidFill>
          <a:ln w="19050">
            <a:solidFill>
              <a:srgbClr val="FFFFFF"/>
            </a:solidFill>
            <a:prstDash val="solid"/>
          </a:ln>
        </p:spPr>
      </p:sp>
      <p:sp>
        <p:nvSpPr>
          <p:cNvPr id="26" name="Text 23"/>
          <p:cNvSpPr txBox="1"/>
          <p:nvPr/>
        </p:nvSpPr>
        <p:spPr>
          <a:xfrm>
            <a:off x="2766060" y="2125980"/>
            <a:ext cx="617220" cy="617220"/>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3</a:t>
            </a:r>
            <a:endParaRPr lang="en-US" sz="1400" dirty="0"/>
          </a:p>
        </p:txBody>
      </p:sp>
      <p:sp>
        <p:nvSpPr>
          <p:cNvPr id="27" name="Shape 24"/>
          <p:cNvSpPr/>
          <p:nvPr/>
        </p:nvSpPr>
        <p:spPr>
          <a:xfrm>
            <a:off x="3840480" y="1508760"/>
            <a:ext cx="308610" cy="308610"/>
          </a:xfrm>
          <a:prstGeom prst="rect">
            <a:avLst/>
          </a:prstGeom>
          <a:solidFill>
            <a:srgbClr val="9ED9C0"/>
          </a:solidFill>
          <a:ln w="12700">
            <a:solidFill>
              <a:srgbClr val="FFFFFF"/>
            </a:solidFill>
            <a:prstDash val="solid"/>
          </a:ln>
        </p:spPr>
      </p:sp>
      <p:sp>
        <p:nvSpPr>
          <p:cNvPr id="28" name="Text 25"/>
          <p:cNvSpPr txBox="1"/>
          <p:nvPr/>
        </p:nvSpPr>
        <p:spPr>
          <a:xfrm>
            <a:off x="3840480" y="1508760"/>
            <a:ext cx="308610" cy="308610"/>
          </a:xfrm>
          <a:prstGeom prst="rect">
            <a:avLst/>
          </a:prstGeom>
          <a:noFill/>
          <a:ln/>
        </p:spPr>
        <p:txBody>
          <a:bodyPr wrap="square" lIns="0" tIns="0" rIns="0" bIns="0" rtlCol="0" anchor="ctr"/>
          <a:lstStyle/>
          <a:p>
            <a:pPr marL="0" indent="0" algn="ctr">
              <a:buNone/>
            </a:pPr>
            <a:r>
              <a:rPr lang="en-US" sz="800" dirty="0">
                <a:solidFill>
                  <a:srgbClr val="FFFFFF"/>
                </a:solidFill>
                <a:latin typeface="Courier New" pitchFamily="34" charset="0"/>
                <a:ea typeface="Courier New" pitchFamily="34" charset="-122"/>
                <a:cs typeface="Courier New" pitchFamily="34" charset="-120"/>
              </a:rPr>
              <a:t>00</a:t>
            </a:r>
            <a:endParaRPr lang="en-US" sz="800" dirty="0"/>
          </a:p>
        </p:txBody>
      </p:sp>
      <p:sp>
        <p:nvSpPr>
          <p:cNvPr id="29" name="Shape 26"/>
          <p:cNvSpPr/>
          <p:nvPr/>
        </p:nvSpPr>
        <p:spPr>
          <a:xfrm>
            <a:off x="4149090" y="1508760"/>
            <a:ext cx="308610" cy="308610"/>
          </a:xfrm>
          <a:prstGeom prst="rect">
            <a:avLst/>
          </a:prstGeom>
          <a:solidFill>
            <a:srgbClr val="9ED9C0"/>
          </a:solidFill>
          <a:ln w="12700">
            <a:solidFill>
              <a:srgbClr val="FFFFFF"/>
            </a:solidFill>
            <a:prstDash val="solid"/>
          </a:ln>
        </p:spPr>
      </p:sp>
      <p:sp>
        <p:nvSpPr>
          <p:cNvPr id="30" name="Text 27"/>
          <p:cNvSpPr txBox="1"/>
          <p:nvPr/>
        </p:nvSpPr>
        <p:spPr>
          <a:xfrm>
            <a:off x="4149090" y="1508760"/>
            <a:ext cx="308610" cy="308610"/>
          </a:xfrm>
          <a:prstGeom prst="rect">
            <a:avLst/>
          </a:prstGeom>
          <a:noFill/>
          <a:ln/>
        </p:spPr>
        <p:txBody>
          <a:bodyPr wrap="square" lIns="0" tIns="0" rIns="0" bIns="0" rtlCol="0" anchor="ctr"/>
          <a:lstStyle/>
          <a:p>
            <a:pPr marL="0" indent="0" algn="ctr">
              <a:buNone/>
            </a:pPr>
            <a:r>
              <a:rPr lang="en-US" sz="800" dirty="0">
                <a:solidFill>
                  <a:srgbClr val="FFFFFF"/>
                </a:solidFill>
                <a:latin typeface="Courier New" pitchFamily="34" charset="0"/>
                <a:ea typeface="Courier New" pitchFamily="34" charset="-122"/>
                <a:cs typeface="Courier New" pitchFamily="34" charset="-120"/>
              </a:rPr>
              <a:t>01</a:t>
            </a:r>
            <a:endParaRPr lang="en-US" sz="800" dirty="0"/>
          </a:p>
        </p:txBody>
      </p:sp>
      <p:sp>
        <p:nvSpPr>
          <p:cNvPr id="31" name="Shape 28"/>
          <p:cNvSpPr/>
          <p:nvPr/>
        </p:nvSpPr>
        <p:spPr>
          <a:xfrm>
            <a:off x="4457700" y="1508760"/>
            <a:ext cx="308610" cy="308610"/>
          </a:xfrm>
          <a:prstGeom prst="rect">
            <a:avLst/>
          </a:prstGeom>
          <a:solidFill>
            <a:srgbClr val="10A06A"/>
          </a:solidFill>
          <a:ln w="12700">
            <a:solidFill>
              <a:srgbClr val="FFFFFF"/>
            </a:solidFill>
            <a:prstDash val="solid"/>
          </a:ln>
        </p:spPr>
      </p:sp>
      <p:sp>
        <p:nvSpPr>
          <p:cNvPr id="32" name="Text 29"/>
          <p:cNvSpPr txBox="1"/>
          <p:nvPr/>
        </p:nvSpPr>
        <p:spPr>
          <a:xfrm>
            <a:off x="4457700" y="1508760"/>
            <a:ext cx="308610" cy="308610"/>
          </a:xfrm>
          <a:prstGeom prst="rect">
            <a:avLst/>
          </a:prstGeom>
          <a:noFill/>
          <a:ln/>
        </p:spPr>
        <p:txBody>
          <a:bodyPr wrap="square" lIns="0" tIns="0" rIns="0" bIns="0" rtlCol="0" anchor="ctr"/>
          <a:lstStyle/>
          <a:p>
            <a:pPr marL="0" indent="0" algn="ctr">
              <a:buNone/>
            </a:pPr>
            <a:r>
              <a:rPr lang="en-US" sz="800" dirty="0">
                <a:solidFill>
                  <a:srgbClr val="FFFFFF"/>
                </a:solidFill>
                <a:latin typeface="Courier New" pitchFamily="34" charset="0"/>
                <a:ea typeface="Courier New" pitchFamily="34" charset="-122"/>
                <a:cs typeface="Courier New" pitchFamily="34" charset="-120"/>
              </a:rPr>
              <a:t>10</a:t>
            </a:r>
            <a:endParaRPr lang="en-US" sz="800" dirty="0"/>
          </a:p>
        </p:txBody>
      </p:sp>
      <p:sp>
        <p:nvSpPr>
          <p:cNvPr id="33" name="Shape 30"/>
          <p:cNvSpPr/>
          <p:nvPr/>
        </p:nvSpPr>
        <p:spPr>
          <a:xfrm>
            <a:off x="4766310" y="1508760"/>
            <a:ext cx="308610" cy="308610"/>
          </a:xfrm>
          <a:prstGeom prst="rect">
            <a:avLst/>
          </a:prstGeom>
          <a:solidFill>
            <a:srgbClr val="10A06A"/>
          </a:solidFill>
          <a:ln w="12700">
            <a:solidFill>
              <a:srgbClr val="FFFFFF"/>
            </a:solidFill>
            <a:prstDash val="solid"/>
          </a:ln>
        </p:spPr>
      </p:sp>
      <p:sp>
        <p:nvSpPr>
          <p:cNvPr id="34" name="Text 31"/>
          <p:cNvSpPr txBox="1"/>
          <p:nvPr/>
        </p:nvSpPr>
        <p:spPr>
          <a:xfrm>
            <a:off x="4766310" y="1508760"/>
            <a:ext cx="308610" cy="308610"/>
          </a:xfrm>
          <a:prstGeom prst="rect">
            <a:avLst/>
          </a:prstGeom>
          <a:noFill/>
          <a:ln/>
        </p:spPr>
        <p:txBody>
          <a:bodyPr wrap="square" lIns="0" tIns="0" rIns="0" bIns="0" rtlCol="0" anchor="ctr"/>
          <a:lstStyle/>
          <a:p>
            <a:pPr marL="0" indent="0" algn="ctr">
              <a:buNone/>
            </a:pPr>
            <a:r>
              <a:rPr lang="en-US" sz="800" dirty="0">
                <a:solidFill>
                  <a:srgbClr val="FFFFFF"/>
                </a:solidFill>
                <a:latin typeface="Courier New" pitchFamily="34" charset="0"/>
                <a:ea typeface="Courier New" pitchFamily="34" charset="-122"/>
                <a:cs typeface="Courier New" pitchFamily="34" charset="-120"/>
              </a:rPr>
              <a:t>11</a:t>
            </a:r>
            <a:endParaRPr lang="en-US" sz="800" dirty="0"/>
          </a:p>
        </p:txBody>
      </p:sp>
      <p:sp>
        <p:nvSpPr>
          <p:cNvPr id="35" name="Shape 32"/>
          <p:cNvSpPr/>
          <p:nvPr/>
        </p:nvSpPr>
        <p:spPr>
          <a:xfrm>
            <a:off x="3840480" y="1817370"/>
            <a:ext cx="308610" cy="308610"/>
          </a:xfrm>
          <a:prstGeom prst="rect">
            <a:avLst/>
          </a:prstGeom>
          <a:solidFill>
            <a:srgbClr val="9ED9C0"/>
          </a:solidFill>
          <a:ln w="12700">
            <a:solidFill>
              <a:srgbClr val="FFFFFF"/>
            </a:solidFill>
            <a:prstDash val="solid"/>
          </a:ln>
        </p:spPr>
      </p:sp>
      <p:sp>
        <p:nvSpPr>
          <p:cNvPr id="36" name="Text 33"/>
          <p:cNvSpPr txBox="1"/>
          <p:nvPr/>
        </p:nvSpPr>
        <p:spPr>
          <a:xfrm>
            <a:off x="3840480" y="1817370"/>
            <a:ext cx="308610" cy="308610"/>
          </a:xfrm>
          <a:prstGeom prst="rect">
            <a:avLst/>
          </a:prstGeom>
          <a:noFill/>
          <a:ln/>
        </p:spPr>
        <p:txBody>
          <a:bodyPr wrap="square" lIns="0" tIns="0" rIns="0" bIns="0" rtlCol="0" anchor="ctr"/>
          <a:lstStyle/>
          <a:p>
            <a:pPr marL="0" indent="0" algn="ctr">
              <a:buNone/>
            </a:pPr>
            <a:r>
              <a:rPr lang="en-US" sz="800" dirty="0">
                <a:solidFill>
                  <a:srgbClr val="FFFFFF"/>
                </a:solidFill>
                <a:latin typeface="Courier New" pitchFamily="34" charset="0"/>
                <a:ea typeface="Courier New" pitchFamily="34" charset="-122"/>
                <a:cs typeface="Courier New" pitchFamily="34" charset="-120"/>
              </a:rPr>
              <a:t>02</a:t>
            </a:r>
            <a:endParaRPr lang="en-US" sz="800" dirty="0"/>
          </a:p>
        </p:txBody>
      </p:sp>
      <p:sp>
        <p:nvSpPr>
          <p:cNvPr id="37" name="Shape 34"/>
          <p:cNvSpPr/>
          <p:nvPr/>
        </p:nvSpPr>
        <p:spPr>
          <a:xfrm>
            <a:off x="4149090" y="1817370"/>
            <a:ext cx="308610" cy="308610"/>
          </a:xfrm>
          <a:prstGeom prst="rect">
            <a:avLst/>
          </a:prstGeom>
          <a:solidFill>
            <a:srgbClr val="9ED9C0"/>
          </a:solidFill>
          <a:ln w="12700">
            <a:solidFill>
              <a:srgbClr val="FFFFFF"/>
            </a:solidFill>
            <a:prstDash val="solid"/>
          </a:ln>
        </p:spPr>
      </p:sp>
      <p:sp>
        <p:nvSpPr>
          <p:cNvPr id="38" name="Text 35"/>
          <p:cNvSpPr txBox="1"/>
          <p:nvPr/>
        </p:nvSpPr>
        <p:spPr>
          <a:xfrm>
            <a:off x="4149090" y="1817370"/>
            <a:ext cx="308610" cy="308610"/>
          </a:xfrm>
          <a:prstGeom prst="rect">
            <a:avLst/>
          </a:prstGeom>
          <a:noFill/>
          <a:ln/>
        </p:spPr>
        <p:txBody>
          <a:bodyPr wrap="square" lIns="0" tIns="0" rIns="0" bIns="0" rtlCol="0" anchor="ctr"/>
          <a:lstStyle/>
          <a:p>
            <a:pPr marL="0" indent="0" algn="ctr">
              <a:buNone/>
            </a:pPr>
            <a:r>
              <a:rPr lang="en-US" sz="800" dirty="0">
                <a:solidFill>
                  <a:srgbClr val="FFFFFF"/>
                </a:solidFill>
                <a:latin typeface="Courier New" pitchFamily="34" charset="0"/>
                <a:ea typeface="Courier New" pitchFamily="34" charset="-122"/>
                <a:cs typeface="Courier New" pitchFamily="34" charset="-120"/>
              </a:rPr>
              <a:t>03</a:t>
            </a:r>
            <a:endParaRPr lang="en-US" sz="800" dirty="0"/>
          </a:p>
        </p:txBody>
      </p:sp>
      <p:sp>
        <p:nvSpPr>
          <p:cNvPr id="39" name="Shape 36"/>
          <p:cNvSpPr/>
          <p:nvPr/>
        </p:nvSpPr>
        <p:spPr>
          <a:xfrm>
            <a:off x="4457700" y="1817370"/>
            <a:ext cx="308610" cy="308610"/>
          </a:xfrm>
          <a:prstGeom prst="rect">
            <a:avLst/>
          </a:prstGeom>
          <a:solidFill>
            <a:srgbClr val="F5C242"/>
          </a:solidFill>
          <a:ln w="12700">
            <a:solidFill>
              <a:srgbClr val="FFFFFF"/>
            </a:solidFill>
            <a:prstDash val="solid"/>
          </a:ln>
        </p:spPr>
      </p:sp>
      <p:sp>
        <p:nvSpPr>
          <p:cNvPr id="40" name="Text 37"/>
          <p:cNvSpPr txBox="1"/>
          <p:nvPr/>
        </p:nvSpPr>
        <p:spPr>
          <a:xfrm>
            <a:off x="4457700" y="1817370"/>
            <a:ext cx="308610" cy="308610"/>
          </a:xfrm>
          <a:prstGeom prst="rect">
            <a:avLst/>
          </a:prstGeom>
          <a:noFill/>
          <a:ln/>
        </p:spPr>
        <p:txBody>
          <a:bodyPr wrap="square" lIns="0" tIns="0" rIns="0" bIns="0" rtlCol="0" anchor="ctr"/>
          <a:lstStyle/>
          <a:p>
            <a:pPr marL="0" indent="0" algn="ctr">
              <a:buNone/>
            </a:pPr>
            <a:r>
              <a:rPr lang="en-US" sz="800" b="1" dirty="0">
                <a:solidFill>
                  <a:srgbClr val="231F20"/>
                </a:solidFill>
                <a:latin typeface="Courier New" pitchFamily="34" charset="0"/>
                <a:ea typeface="Courier New" pitchFamily="34" charset="-122"/>
                <a:cs typeface="Courier New" pitchFamily="34" charset="-120"/>
              </a:rPr>
              <a:t>12</a:t>
            </a:r>
            <a:endParaRPr lang="en-US" sz="800" dirty="0"/>
          </a:p>
        </p:txBody>
      </p:sp>
      <p:sp>
        <p:nvSpPr>
          <p:cNvPr id="41" name="Shape 38"/>
          <p:cNvSpPr/>
          <p:nvPr/>
        </p:nvSpPr>
        <p:spPr>
          <a:xfrm>
            <a:off x="4766310" y="1817370"/>
            <a:ext cx="308610" cy="308610"/>
          </a:xfrm>
          <a:prstGeom prst="rect">
            <a:avLst/>
          </a:prstGeom>
          <a:solidFill>
            <a:srgbClr val="10A06A"/>
          </a:solidFill>
          <a:ln w="12700">
            <a:solidFill>
              <a:srgbClr val="FFFFFF"/>
            </a:solidFill>
            <a:prstDash val="solid"/>
          </a:ln>
        </p:spPr>
      </p:sp>
      <p:sp>
        <p:nvSpPr>
          <p:cNvPr id="42" name="Text 39"/>
          <p:cNvSpPr txBox="1"/>
          <p:nvPr/>
        </p:nvSpPr>
        <p:spPr>
          <a:xfrm>
            <a:off x="4766310" y="1817370"/>
            <a:ext cx="308610" cy="308610"/>
          </a:xfrm>
          <a:prstGeom prst="rect">
            <a:avLst/>
          </a:prstGeom>
          <a:noFill/>
          <a:ln/>
        </p:spPr>
        <p:txBody>
          <a:bodyPr wrap="square" lIns="0" tIns="0" rIns="0" bIns="0" rtlCol="0" anchor="ctr"/>
          <a:lstStyle/>
          <a:p>
            <a:pPr marL="0" indent="0" algn="ctr">
              <a:buNone/>
            </a:pPr>
            <a:r>
              <a:rPr lang="en-US" sz="800" dirty="0">
                <a:solidFill>
                  <a:srgbClr val="FFFFFF"/>
                </a:solidFill>
                <a:latin typeface="Courier New" pitchFamily="34" charset="0"/>
                <a:ea typeface="Courier New" pitchFamily="34" charset="-122"/>
                <a:cs typeface="Courier New" pitchFamily="34" charset="-120"/>
              </a:rPr>
              <a:t>13</a:t>
            </a:r>
            <a:endParaRPr lang="en-US" sz="800" dirty="0"/>
          </a:p>
        </p:txBody>
      </p:sp>
      <p:sp>
        <p:nvSpPr>
          <p:cNvPr id="43" name="Shape 40"/>
          <p:cNvSpPr/>
          <p:nvPr/>
        </p:nvSpPr>
        <p:spPr>
          <a:xfrm>
            <a:off x="3840480" y="2125980"/>
            <a:ext cx="308610" cy="308610"/>
          </a:xfrm>
          <a:prstGeom prst="rect">
            <a:avLst/>
          </a:prstGeom>
          <a:solidFill>
            <a:srgbClr val="9ED9C0"/>
          </a:solidFill>
          <a:ln w="12700">
            <a:solidFill>
              <a:srgbClr val="FFFFFF"/>
            </a:solidFill>
            <a:prstDash val="solid"/>
          </a:ln>
        </p:spPr>
      </p:sp>
      <p:sp>
        <p:nvSpPr>
          <p:cNvPr id="44" name="Text 41"/>
          <p:cNvSpPr txBox="1"/>
          <p:nvPr/>
        </p:nvSpPr>
        <p:spPr>
          <a:xfrm>
            <a:off x="3840480" y="2125980"/>
            <a:ext cx="308610" cy="308610"/>
          </a:xfrm>
          <a:prstGeom prst="rect">
            <a:avLst/>
          </a:prstGeom>
          <a:noFill/>
          <a:ln/>
        </p:spPr>
        <p:txBody>
          <a:bodyPr wrap="square" lIns="0" tIns="0" rIns="0" bIns="0" rtlCol="0" anchor="ctr"/>
          <a:lstStyle/>
          <a:p>
            <a:pPr marL="0" indent="0" algn="ctr">
              <a:buNone/>
            </a:pPr>
            <a:r>
              <a:rPr lang="en-US" sz="800" dirty="0">
                <a:solidFill>
                  <a:srgbClr val="FFFFFF"/>
                </a:solidFill>
                <a:latin typeface="Courier New" pitchFamily="34" charset="0"/>
                <a:ea typeface="Courier New" pitchFamily="34" charset="-122"/>
                <a:cs typeface="Courier New" pitchFamily="34" charset="-120"/>
              </a:rPr>
              <a:t>20</a:t>
            </a:r>
            <a:endParaRPr lang="en-US" sz="800" dirty="0"/>
          </a:p>
        </p:txBody>
      </p:sp>
      <p:sp>
        <p:nvSpPr>
          <p:cNvPr id="45" name="Shape 42"/>
          <p:cNvSpPr/>
          <p:nvPr/>
        </p:nvSpPr>
        <p:spPr>
          <a:xfrm>
            <a:off x="4149090" y="2125980"/>
            <a:ext cx="308610" cy="308610"/>
          </a:xfrm>
          <a:prstGeom prst="rect">
            <a:avLst/>
          </a:prstGeom>
          <a:solidFill>
            <a:srgbClr val="9ED9C0"/>
          </a:solidFill>
          <a:ln w="12700">
            <a:solidFill>
              <a:srgbClr val="FFFFFF"/>
            </a:solidFill>
            <a:prstDash val="solid"/>
          </a:ln>
        </p:spPr>
      </p:sp>
      <p:sp>
        <p:nvSpPr>
          <p:cNvPr id="46" name="Text 43"/>
          <p:cNvSpPr txBox="1"/>
          <p:nvPr/>
        </p:nvSpPr>
        <p:spPr>
          <a:xfrm>
            <a:off x="4149090" y="2125980"/>
            <a:ext cx="308610" cy="308610"/>
          </a:xfrm>
          <a:prstGeom prst="rect">
            <a:avLst/>
          </a:prstGeom>
          <a:noFill/>
          <a:ln/>
        </p:spPr>
        <p:txBody>
          <a:bodyPr wrap="square" lIns="0" tIns="0" rIns="0" bIns="0" rtlCol="0" anchor="ctr"/>
          <a:lstStyle/>
          <a:p>
            <a:pPr marL="0" indent="0" algn="ctr">
              <a:buNone/>
            </a:pPr>
            <a:r>
              <a:rPr lang="en-US" sz="800" dirty="0">
                <a:solidFill>
                  <a:srgbClr val="FFFFFF"/>
                </a:solidFill>
                <a:latin typeface="Courier New" pitchFamily="34" charset="0"/>
                <a:ea typeface="Courier New" pitchFamily="34" charset="-122"/>
                <a:cs typeface="Courier New" pitchFamily="34" charset="-120"/>
              </a:rPr>
              <a:t>21</a:t>
            </a:r>
            <a:endParaRPr lang="en-US" sz="800" dirty="0"/>
          </a:p>
        </p:txBody>
      </p:sp>
      <p:sp>
        <p:nvSpPr>
          <p:cNvPr id="47" name="Shape 44"/>
          <p:cNvSpPr/>
          <p:nvPr/>
        </p:nvSpPr>
        <p:spPr>
          <a:xfrm>
            <a:off x="4457700" y="2125980"/>
            <a:ext cx="308610" cy="308610"/>
          </a:xfrm>
          <a:prstGeom prst="rect">
            <a:avLst/>
          </a:prstGeom>
          <a:solidFill>
            <a:srgbClr val="9ED9C0"/>
          </a:solidFill>
          <a:ln w="12700">
            <a:solidFill>
              <a:srgbClr val="FFFFFF"/>
            </a:solidFill>
            <a:prstDash val="solid"/>
          </a:ln>
        </p:spPr>
      </p:sp>
      <p:sp>
        <p:nvSpPr>
          <p:cNvPr id="48" name="Text 45"/>
          <p:cNvSpPr txBox="1"/>
          <p:nvPr/>
        </p:nvSpPr>
        <p:spPr>
          <a:xfrm>
            <a:off x="4457700" y="2125980"/>
            <a:ext cx="308610" cy="308610"/>
          </a:xfrm>
          <a:prstGeom prst="rect">
            <a:avLst/>
          </a:prstGeom>
          <a:noFill/>
          <a:ln/>
        </p:spPr>
        <p:txBody>
          <a:bodyPr wrap="square" lIns="0" tIns="0" rIns="0" bIns="0" rtlCol="0" anchor="ctr"/>
          <a:lstStyle/>
          <a:p>
            <a:pPr marL="0" indent="0" algn="ctr">
              <a:buNone/>
            </a:pPr>
            <a:r>
              <a:rPr lang="en-US" sz="800" dirty="0">
                <a:solidFill>
                  <a:srgbClr val="FFFFFF"/>
                </a:solidFill>
                <a:latin typeface="Courier New" pitchFamily="34" charset="0"/>
                <a:ea typeface="Courier New" pitchFamily="34" charset="-122"/>
                <a:cs typeface="Courier New" pitchFamily="34" charset="-120"/>
              </a:rPr>
              <a:t>30</a:t>
            </a:r>
            <a:endParaRPr lang="en-US" sz="800" dirty="0"/>
          </a:p>
        </p:txBody>
      </p:sp>
      <p:sp>
        <p:nvSpPr>
          <p:cNvPr id="49" name="Shape 46"/>
          <p:cNvSpPr/>
          <p:nvPr/>
        </p:nvSpPr>
        <p:spPr>
          <a:xfrm>
            <a:off x="4766310" y="2125980"/>
            <a:ext cx="308610" cy="308610"/>
          </a:xfrm>
          <a:prstGeom prst="rect">
            <a:avLst/>
          </a:prstGeom>
          <a:solidFill>
            <a:srgbClr val="9ED9C0"/>
          </a:solidFill>
          <a:ln w="12700">
            <a:solidFill>
              <a:srgbClr val="FFFFFF"/>
            </a:solidFill>
            <a:prstDash val="solid"/>
          </a:ln>
        </p:spPr>
      </p:sp>
      <p:sp>
        <p:nvSpPr>
          <p:cNvPr id="50" name="Text 47"/>
          <p:cNvSpPr txBox="1"/>
          <p:nvPr/>
        </p:nvSpPr>
        <p:spPr>
          <a:xfrm>
            <a:off x="4766310" y="2125980"/>
            <a:ext cx="308610" cy="308610"/>
          </a:xfrm>
          <a:prstGeom prst="rect">
            <a:avLst/>
          </a:prstGeom>
          <a:noFill/>
          <a:ln/>
        </p:spPr>
        <p:txBody>
          <a:bodyPr wrap="square" lIns="0" tIns="0" rIns="0" bIns="0" rtlCol="0" anchor="ctr"/>
          <a:lstStyle/>
          <a:p>
            <a:pPr marL="0" indent="0" algn="ctr">
              <a:buNone/>
            </a:pPr>
            <a:r>
              <a:rPr lang="en-US" sz="800" dirty="0">
                <a:solidFill>
                  <a:srgbClr val="FFFFFF"/>
                </a:solidFill>
                <a:latin typeface="Courier New" pitchFamily="34" charset="0"/>
                <a:ea typeface="Courier New" pitchFamily="34" charset="-122"/>
                <a:cs typeface="Courier New" pitchFamily="34" charset="-120"/>
              </a:rPr>
              <a:t>31</a:t>
            </a:r>
            <a:endParaRPr lang="en-US" sz="800" dirty="0"/>
          </a:p>
        </p:txBody>
      </p:sp>
      <p:sp>
        <p:nvSpPr>
          <p:cNvPr id="51" name="Shape 48"/>
          <p:cNvSpPr/>
          <p:nvPr/>
        </p:nvSpPr>
        <p:spPr>
          <a:xfrm>
            <a:off x="3840480" y="2434590"/>
            <a:ext cx="308610" cy="308610"/>
          </a:xfrm>
          <a:prstGeom prst="rect">
            <a:avLst/>
          </a:prstGeom>
          <a:solidFill>
            <a:srgbClr val="9ED9C0"/>
          </a:solidFill>
          <a:ln w="12700">
            <a:solidFill>
              <a:srgbClr val="FFFFFF"/>
            </a:solidFill>
            <a:prstDash val="solid"/>
          </a:ln>
        </p:spPr>
      </p:sp>
      <p:sp>
        <p:nvSpPr>
          <p:cNvPr id="52" name="Text 49"/>
          <p:cNvSpPr txBox="1"/>
          <p:nvPr/>
        </p:nvSpPr>
        <p:spPr>
          <a:xfrm>
            <a:off x="3840480" y="2434590"/>
            <a:ext cx="308610" cy="308610"/>
          </a:xfrm>
          <a:prstGeom prst="rect">
            <a:avLst/>
          </a:prstGeom>
          <a:noFill/>
          <a:ln/>
        </p:spPr>
        <p:txBody>
          <a:bodyPr wrap="square" lIns="0" tIns="0" rIns="0" bIns="0" rtlCol="0" anchor="ctr"/>
          <a:lstStyle/>
          <a:p>
            <a:pPr marL="0" indent="0" algn="ctr">
              <a:buNone/>
            </a:pPr>
            <a:r>
              <a:rPr lang="en-US" sz="800" dirty="0">
                <a:solidFill>
                  <a:srgbClr val="FFFFFF"/>
                </a:solidFill>
                <a:latin typeface="Courier New" pitchFamily="34" charset="0"/>
                <a:ea typeface="Courier New" pitchFamily="34" charset="-122"/>
                <a:cs typeface="Courier New" pitchFamily="34" charset="-120"/>
              </a:rPr>
              <a:t>22</a:t>
            </a:r>
            <a:endParaRPr lang="en-US" sz="800" dirty="0"/>
          </a:p>
        </p:txBody>
      </p:sp>
      <p:sp>
        <p:nvSpPr>
          <p:cNvPr id="53" name="Shape 50"/>
          <p:cNvSpPr/>
          <p:nvPr/>
        </p:nvSpPr>
        <p:spPr>
          <a:xfrm>
            <a:off x="4149090" y="2434590"/>
            <a:ext cx="308610" cy="308610"/>
          </a:xfrm>
          <a:prstGeom prst="rect">
            <a:avLst/>
          </a:prstGeom>
          <a:solidFill>
            <a:srgbClr val="9ED9C0"/>
          </a:solidFill>
          <a:ln w="12700">
            <a:solidFill>
              <a:srgbClr val="FFFFFF"/>
            </a:solidFill>
            <a:prstDash val="solid"/>
          </a:ln>
        </p:spPr>
      </p:sp>
      <p:sp>
        <p:nvSpPr>
          <p:cNvPr id="54" name="Text 51"/>
          <p:cNvSpPr txBox="1"/>
          <p:nvPr/>
        </p:nvSpPr>
        <p:spPr>
          <a:xfrm>
            <a:off x="4149090" y="2434590"/>
            <a:ext cx="308610" cy="308610"/>
          </a:xfrm>
          <a:prstGeom prst="rect">
            <a:avLst/>
          </a:prstGeom>
          <a:noFill/>
          <a:ln/>
        </p:spPr>
        <p:txBody>
          <a:bodyPr wrap="square" lIns="0" tIns="0" rIns="0" bIns="0" rtlCol="0" anchor="ctr"/>
          <a:lstStyle/>
          <a:p>
            <a:pPr marL="0" indent="0" algn="ctr">
              <a:buNone/>
            </a:pPr>
            <a:r>
              <a:rPr lang="en-US" sz="800" dirty="0">
                <a:solidFill>
                  <a:srgbClr val="FFFFFF"/>
                </a:solidFill>
                <a:latin typeface="Courier New" pitchFamily="34" charset="0"/>
                <a:ea typeface="Courier New" pitchFamily="34" charset="-122"/>
                <a:cs typeface="Courier New" pitchFamily="34" charset="-120"/>
              </a:rPr>
              <a:t>23</a:t>
            </a:r>
            <a:endParaRPr lang="en-US" sz="800" dirty="0"/>
          </a:p>
        </p:txBody>
      </p:sp>
      <p:sp>
        <p:nvSpPr>
          <p:cNvPr id="55" name="Shape 52"/>
          <p:cNvSpPr/>
          <p:nvPr/>
        </p:nvSpPr>
        <p:spPr>
          <a:xfrm>
            <a:off x="4457700" y="2434590"/>
            <a:ext cx="308610" cy="308610"/>
          </a:xfrm>
          <a:prstGeom prst="rect">
            <a:avLst/>
          </a:prstGeom>
          <a:solidFill>
            <a:srgbClr val="9ED9C0"/>
          </a:solidFill>
          <a:ln w="12700">
            <a:solidFill>
              <a:srgbClr val="FFFFFF"/>
            </a:solidFill>
            <a:prstDash val="solid"/>
          </a:ln>
        </p:spPr>
      </p:sp>
      <p:sp>
        <p:nvSpPr>
          <p:cNvPr id="56" name="Text 53"/>
          <p:cNvSpPr txBox="1"/>
          <p:nvPr/>
        </p:nvSpPr>
        <p:spPr>
          <a:xfrm>
            <a:off x="4457700" y="2434590"/>
            <a:ext cx="308610" cy="308610"/>
          </a:xfrm>
          <a:prstGeom prst="rect">
            <a:avLst/>
          </a:prstGeom>
          <a:noFill/>
          <a:ln/>
        </p:spPr>
        <p:txBody>
          <a:bodyPr wrap="square" lIns="0" tIns="0" rIns="0" bIns="0" rtlCol="0" anchor="ctr"/>
          <a:lstStyle/>
          <a:p>
            <a:pPr marL="0" indent="0" algn="ctr">
              <a:buNone/>
            </a:pPr>
            <a:r>
              <a:rPr lang="en-US" sz="800" dirty="0">
                <a:solidFill>
                  <a:srgbClr val="FFFFFF"/>
                </a:solidFill>
                <a:latin typeface="Courier New" pitchFamily="34" charset="0"/>
                <a:ea typeface="Courier New" pitchFamily="34" charset="-122"/>
                <a:cs typeface="Courier New" pitchFamily="34" charset="-120"/>
              </a:rPr>
              <a:t>32</a:t>
            </a:r>
            <a:endParaRPr lang="en-US" sz="800" dirty="0"/>
          </a:p>
        </p:txBody>
      </p:sp>
      <p:sp>
        <p:nvSpPr>
          <p:cNvPr id="57" name="Shape 54"/>
          <p:cNvSpPr/>
          <p:nvPr/>
        </p:nvSpPr>
        <p:spPr>
          <a:xfrm>
            <a:off x="4766310" y="2434590"/>
            <a:ext cx="308610" cy="308610"/>
          </a:xfrm>
          <a:prstGeom prst="rect">
            <a:avLst/>
          </a:prstGeom>
          <a:solidFill>
            <a:srgbClr val="9ED9C0"/>
          </a:solidFill>
          <a:ln w="12700">
            <a:solidFill>
              <a:srgbClr val="FFFFFF"/>
            </a:solidFill>
            <a:prstDash val="solid"/>
          </a:ln>
        </p:spPr>
      </p:sp>
      <p:sp>
        <p:nvSpPr>
          <p:cNvPr id="58" name="Text 55"/>
          <p:cNvSpPr txBox="1"/>
          <p:nvPr/>
        </p:nvSpPr>
        <p:spPr>
          <a:xfrm>
            <a:off x="4766310" y="2434590"/>
            <a:ext cx="308610" cy="308610"/>
          </a:xfrm>
          <a:prstGeom prst="rect">
            <a:avLst/>
          </a:prstGeom>
          <a:noFill/>
          <a:ln/>
        </p:spPr>
        <p:txBody>
          <a:bodyPr wrap="square" lIns="0" tIns="0" rIns="0" bIns="0" rtlCol="0" anchor="ctr"/>
          <a:lstStyle/>
          <a:p>
            <a:pPr marL="0" indent="0" algn="ctr">
              <a:buNone/>
            </a:pPr>
            <a:r>
              <a:rPr lang="en-US" sz="800" dirty="0">
                <a:solidFill>
                  <a:srgbClr val="FFFFFF"/>
                </a:solidFill>
                <a:latin typeface="Courier New" pitchFamily="34" charset="0"/>
                <a:ea typeface="Courier New" pitchFamily="34" charset="-122"/>
                <a:cs typeface="Courier New" pitchFamily="34" charset="-120"/>
              </a:rPr>
              <a:t>33</a:t>
            </a:r>
            <a:endParaRPr lang="en-US" sz="800" dirty="0"/>
          </a:p>
        </p:txBody>
      </p:sp>
      <p:sp>
        <p:nvSpPr>
          <p:cNvPr id="59" name="Text 56"/>
          <p:cNvSpPr txBox="1"/>
          <p:nvPr/>
        </p:nvSpPr>
        <p:spPr>
          <a:xfrm>
            <a:off x="457200" y="2816352"/>
            <a:ext cx="1234440" cy="201168"/>
          </a:xfrm>
          <a:prstGeom prst="rect">
            <a:avLst/>
          </a:prstGeom>
          <a:noFill/>
          <a:ln/>
        </p:spPr>
        <p:txBody>
          <a:bodyPr wrap="square" lIns="0" tIns="0" rIns="0" bIns="0" rtlCol="0" anchor="t"/>
          <a:lstStyle/>
          <a:p>
            <a:pPr marL="0" indent="0" algn="ctr">
              <a:buNone/>
            </a:pPr>
            <a:r>
              <a:rPr lang="en-US" sz="1100" b="1" dirty="0">
                <a:solidFill>
                  <a:srgbClr val="231F20"/>
                </a:solidFill>
                <a:latin typeface="Courier New" pitchFamily="34" charset="0"/>
                <a:ea typeface="Courier New" pitchFamily="34" charset="-122"/>
                <a:cs typeface="Courier New" pitchFamily="34" charset="-120"/>
              </a:rPr>
              <a:t>z = 0</a:t>
            </a:r>
            <a:endParaRPr lang="en-US" sz="1100" dirty="0"/>
          </a:p>
        </p:txBody>
      </p:sp>
      <p:sp>
        <p:nvSpPr>
          <p:cNvPr id="60" name="Text 57"/>
          <p:cNvSpPr txBox="1"/>
          <p:nvPr/>
        </p:nvSpPr>
        <p:spPr>
          <a:xfrm>
            <a:off x="2148840" y="2816352"/>
            <a:ext cx="1234440" cy="201168"/>
          </a:xfrm>
          <a:prstGeom prst="rect">
            <a:avLst/>
          </a:prstGeom>
          <a:noFill/>
          <a:ln/>
        </p:spPr>
        <p:txBody>
          <a:bodyPr wrap="square" lIns="0" tIns="0" rIns="0" bIns="0" rtlCol="0" anchor="t"/>
          <a:lstStyle/>
          <a:p>
            <a:pPr marL="0" indent="0" algn="ctr">
              <a:buNone/>
            </a:pPr>
            <a:r>
              <a:rPr lang="en-US" sz="1100" b="1" dirty="0">
                <a:solidFill>
                  <a:srgbClr val="231F20"/>
                </a:solidFill>
                <a:latin typeface="Courier New" pitchFamily="34" charset="0"/>
                <a:ea typeface="Courier New" pitchFamily="34" charset="-122"/>
                <a:cs typeface="Courier New" pitchFamily="34" charset="-120"/>
              </a:rPr>
              <a:t>z = 1</a:t>
            </a:r>
            <a:endParaRPr lang="en-US" sz="1100" dirty="0"/>
          </a:p>
        </p:txBody>
      </p:sp>
      <p:sp>
        <p:nvSpPr>
          <p:cNvPr id="61" name="Text 58"/>
          <p:cNvSpPr txBox="1"/>
          <p:nvPr/>
        </p:nvSpPr>
        <p:spPr>
          <a:xfrm>
            <a:off x="3840480" y="2816352"/>
            <a:ext cx="1234440" cy="201168"/>
          </a:xfrm>
          <a:prstGeom prst="rect">
            <a:avLst/>
          </a:prstGeom>
          <a:noFill/>
          <a:ln/>
        </p:spPr>
        <p:txBody>
          <a:bodyPr wrap="square" lIns="0" tIns="0" rIns="0" bIns="0" rtlCol="0" anchor="t"/>
          <a:lstStyle/>
          <a:p>
            <a:pPr marL="0" indent="0" algn="ctr">
              <a:buNone/>
            </a:pPr>
            <a:r>
              <a:rPr lang="en-US" sz="1100" b="1" dirty="0">
                <a:solidFill>
                  <a:srgbClr val="231F20"/>
                </a:solidFill>
                <a:latin typeface="Courier New" pitchFamily="34" charset="0"/>
                <a:ea typeface="Courier New" pitchFamily="34" charset="-122"/>
                <a:cs typeface="Courier New" pitchFamily="34" charset="-120"/>
              </a:rPr>
              <a:t>z = 2</a:t>
            </a:r>
            <a:endParaRPr lang="en-US" sz="1100" dirty="0"/>
          </a:p>
        </p:txBody>
      </p:sp>
      <p:pic>
        <p:nvPicPr>
          <p:cNvPr id="62" name="Image 0" descr="preencoded.png"/>
          <p:cNvPicPr>
            <a:picLocks noChangeAspect="1"/>
          </p:cNvPicPr>
          <p:nvPr/>
        </p:nvPicPr>
        <p:blipFill>
          <a:blip r:embed="rId3"/>
          <a:stretch>
            <a:fillRect/>
          </a:stretch>
        </p:blipFill>
        <p:spPr>
          <a:xfrm>
            <a:off x="1828800" y="2034540"/>
            <a:ext cx="182880" cy="182880"/>
          </a:xfrm>
          <a:prstGeom prst="rect">
            <a:avLst/>
          </a:prstGeom>
        </p:spPr>
      </p:pic>
      <p:pic>
        <p:nvPicPr>
          <p:cNvPr id="63" name="Image 1" descr="preencoded.png"/>
          <p:cNvPicPr>
            <a:picLocks noChangeAspect="1"/>
          </p:cNvPicPr>
          <p:nvPr/>
        </p:nvPicPr>
        <p:blipFill>
          <a:blip r:embed="rId3"/>
          <a:stretch>
            <a:fillRect/>
          </a:stretch>
        </p:blipFill>
        <p:spPr>
          <a:xfrm>
            <a:off x="3520440" y="2034540"/>
            <a:ext cx="182880" cy="182880"/>
          </a:xfrm>
          <a:prstGeom prst="rect">
            <a:avLst/>
          </a:prstGeom>
        </p:spPr>
      </p:pic>
      <p:sp>
        <p:nvSpPr>
          <p:cNvPr id="64" name="Text 59"/>
          <p:cNvSpPr txBox="1"/>
          <p:nvPr/>
        </p:nvSpPr>
        <p:spPr>
          <a:xfrm>
            <a:off x="457200" y="3063240"/>
            <a:ext cx="4663440" cy="228600"/>
          </a:xfrm>
          <a:prstGeom prst="rect">
            <a:avLst/>
          </a:prstGeom>
          <a:noFill/>
          <a:ln/>
        </p:spPr>
        <p:txBody>
          <a:bodyPr wrap="square" lIns="0" tIns="0" rIns="0" bIns="0" rtlCol="0" anchor="t"/>
          <a:lstStyle/>
          <a:p>
            <a:pPr marL="0" indent="0">
              <a:buNone/>
            </a:pPr>
            <a:r>
              <a:rPr lang="en-US" sz="1050" i="1" dirty="0">
                <a:solidFill>
                  <a:srgbClr val="5E6964"/>
                </a:solidFill>
                <a:latin typeface="Calibri" pitchFamily="34" charset="0"/>
                <a:ea typeface="Calibri" pitchFamily="34" charset="-122"/>
                <a:cs typeface="Calibri" pitchFamily="34" charset="-120"/>
              </a:rPr>
              <a:t>Chaque niveau divise une tuile en quatre et ajoute un chiffre : 0 ↖  1 ↗  2 ↙  3 ↘</a:t>
            </a:r>
            <a:endParaRPr lang="en-US" sz="1050" dirty="0"/>
          </a:p>
        </p:txBody>
      </p:sp>
      <p:sp>
        <p:nvSpPr>
          <p:cNvPr id="65" name="Shape 60"/>
          <p:cNvSpPr/>
          <p:nvPr/>
        </p:nvSpPr>
        <p:spPr>
          <a:xfrm>
            <a:off x="457200" y="3383280"/>
            <a:ext cx="4663440" cy="1051560"/>
          </a:xfrm>
          <a:prstGeom prst="roundRect">
            <a:avLst>
              <a:gd name="adj" fmla="val 6957"/>
            </a:avLst>
          </a:prstGeom>
          <a:solidFill>
            <a:srgbClr val="E8F5EF"/>
          </a:solidFill>
          <a:ln w="15875">
            <a:solidFill>
              <a:srgbClr val="00A86A"/>
            </a:solidFill>
            <a:prstDash val="solid"/>
          </a:ln>
        </p:spPr>
      </p:sp>
      <p:sp>
        <p:nvSpPr>
          <p:cNvPr id="66" name="Text 61"/>
          <p:cNvSpPr txBox="1"/>
          <p:nvPr/>
        </p:nvSpPr>
        <p:spPr>
          <a:xfrm>
            <a:off x="640080" y="3474720"/>
            <a:ext cx="4297680" cy="228600"/>
          </a:xfrm>
          <a:prstGeom prst="rect">
            <a:avLst/>
          </a:prstGeom>
          <a:noFill/>
          <a:ln/>
        </p:spPr>
        <p:txBody>
          <a:bodyPr wrap="square" lIns="0" tIns="0" rIns="0" bIns="0" rtlCol="0" anchor="t"/>
          <a:lstStyle/>
          <a:p>
            <a:pPr marL="0" indent="0">
              <a:buNone/>
            </a:pPr>
            <a:r>
              <a:rPr lang="en-US" sz="1200" b="1" dirty="0">
                <a:solidFill>
                  <a:srgbClr val="00704A"/>
                </a:solidFill>
                <a:latin typeface="Calibri" pitchFamily="34" charset="0"/>
                <a:ea typeface="Calibri" pitchFamily="34" charset="-122"/>
                <a:cs typeface="Calibri" pitchFamily="34" charset="-120"/>
              </a:rPr>
              <a:t>Au zoom 16 (la grille Ookla)</a:t>
            </a:r>
            <a:endParaRPr lang="en-US" sz="1200" dirty="0"/>
          </a:p>
        </p:txBody>
      </p:sp>
      <p:sp>
        <p:nvSpPr>
          <p:cNvPr id="67" name="Text 62"/>
          <p:cNvSpPr txBox="1"/>
          <p:nvPr/>
        </p:nvSpPr>
        <p:spPr>
          <a:xfrm>
            <a:off x="640080" y="3730752"/>
            <a:ext cx="4297680" cy="228600"/>
          </a:xfrm>
          <a:prstGeom prst="rect">
            <a:avLst/>
          </a:prstGeom>
          <a:noFill/>
          <a:ln/>
        </p:spPr>
        <p:txBody>
          <a:bodyPr wrap="square" lIns="0" tIns="0" rIns="0" bIns="0" rtlCol="0" anchor="t"/>
          <a:lstStyle/>
          <a:p>
            <a:pPr marL="0" indent="0">
              <a:buNone/>
            </a:pPr>
            <a:r>
              <a:rPr lang="en-US" sz="1100" dirty="0">
                <a:solidFill>
                  <a:srgbClr val="231F20"/>
                </a:solidFill>
                <a:latin typeface="Courier New" pitchFamily="34" charset="0"/>
                <a:ea typeface="Courier New" pitchFamily="34" charset="-122"/>
                <a:cs typeface="Courier New" pitchFamily="34" charset="-120"/>
              </a:rPr>
              <a:t>quadkey = 16 chiffres, ex. 1220303103213012</a:t>
            </a:r>
            <a:endParaRPr lang="en-US" sz="1100" dirty="0"/>
          </a:p>
        </p:txBody>
      </p:sp>
      <p:sp>
        <p:nvSpPr>
          <p:cNvPr id="68" name="Text 63"/>
          <p:cNvSpPr txBox="1"/>
          <p:nvPr/>
        </p:nvSpPr>
        <p:spPr>
          <a:xfrm>
            <a:off x="640080" y="4023360"/>
            <a:ext cx="4297680" cy="274320"/>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 610,8 m × 610,8 m à l’équateur (blocs de 18 secondes d’arc)</a:t>
            </a:r>
            <a:endParaRPr lang="en-US" sz="1150" dirty="0"/>
          </a:p>
        </p:txBody>
      </p:sp>
      <p:sp>
        <p:nvSpPr>
          <p:cNvPr id="69" name="Shape 64"/>
          <p:cNvSpPr/>
          <p:nvPr/>
        </p:nvSpPr>
        <p:spPr>
          <a:xfrm>
            <a:off x="5440680" y="1444752"/>
            <a:ext cx="420624" cy="420624"/>
          </a:xfrm>
          <a:prstGeom prst="ellipse">
            <a:avLst/>
          </a:prstGeom>
          <a:solidFill>
            <a:srgbClr val="00704A">
              <a:alpha val="22000"/>
            </a:srgbClr>
          </a:solidFill>
          <a:ln/>
        </p:spPr>
      </p:sp>
      <p:pic>
        <p:nvPicPr>
          <p:cNvPr id="70" name="Image 2" descr="preencoded.png"/>
          <p:cNvPicPr>
            <a:picLocks noChangeAspect="1"/>
          </p:cNvPicPr>
          <p:nvPr/>
        </p:nvPicPr>
        <p:blipFill>
          <a:blip r:embed="rId4"/>
          <a:stretch>
            <a:fillRect/>
          </a:stretch>
        </p:blipFill>
        <p:spPr>
          <a:xfrm>
            <a:off x="5541630" y="1545702"/>
            <a:ext cx="218724" cy="218724"/>
          </a:xfrm>
          <a:prstGeom prst="rect">
            <a:avLst/>
          </a:prstGeom>
        </p:spPr>
      </p:pic>
      <p:sp>
        <p:nvSpPr>
          <p:cNvPr id="71" name="Text 65"/>
          <p:cNvSpPr txBox="1"/>
          <p:nvPr/>
        </p:nvSpPr>
        <p:spPr>
          <a:xfrm>
            <a:off x="5989320" y="1399032"/>
            <a:ext cx="269748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Identifiant stable</a:t>
            </a:r>
            <a:endParaRPr lang="en-US" sz="1250" dirty="0"/>
          </a:p>
        </p:txBody>
      </p:sp>
      <p:sp>
        <p:nvSpPr>
          <p:cNvPr id="72" name="Text 66"/>
          <p:cNvSpPr txBox="1"/>
          <p:nvPr/>
        </p:nvSpPr>
        <p:spPr>
          <a:xfrm>
            <a:off x="5989320" y="1645920"/>
            <a:ext cx="2697480" cy="45720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Relier une même tuile entre trimestres via le quadkey, sans opération spatiale.</a:t>
            </a:r>
            <a:endParaRPr lang="en-US" sz="1000" dirty="0"/>
          </a:p>
        </p:txBody>
      </p:sp>
      <p:sp>
        <p:nvSpPr>
          <p:cNvPr id="73" name="Shape 67"/>
          <p:cNvSpPr/>
          <p:nvPr/>
        </p:nvSpPr>
        <p:spPr>
          <a:xfrm>
            <a:off x="5440680" y="2221992"/>
            <a:ext cx="420624" cy="420624"/>
          </a:xfrm>
          <a:prstGeom prst="ellipse">
            <a:avLst/>
          </a:prstGeom>
          <a:solidFill>
            <a:srgbClr val="00704A">
              <a:alpha val="22000"/>
            </a:srgbClr>
          </a:solidFill>
          <a:ln/>
        </p:spPr>
      </p:sp>
      <p:pic>
        <p:nvPicPr>
          <p:cNvPr id="74" name="Image 3" descr="preencoded.png"/>
          <p:cNvPicPr>
            <a:picLocks noChangeAspect="1"/>
          </p:cNvPicPr>
          <p:nvPr/>
        </p:nvPicPr>
        <p:blipFill>
          <a:blip r:embed="rId5"/>
          <a:stretch>
            <a:fillRect/>
          </a:stretch>
        </p:blipFill>
        <p:spPr>
          <a:xfrm>
            <a:off x="5541630" y="2322942"/>
            <a:ext cx="218724" cy="218724"/>
          </a:xfrm>
          <a:prstGeom prst="rect">
            <a:avLst/>
          </a:prstGeom>
        </p:spPr>
      </p:pic>
      <p:sp>
        <p:nvSpPr>
          <p:cNvPr id="75" name="Text 68"/>
          <p:cNvSpPr txBox="1"/>
          <p:nvPr/>
        </p:nvSpPr>
        <p:spPr>
          <a:xfrm>
            <a:off x="5989320" y="2176272"/>
            <a:ext cx="269748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Préfixe = parent</a:t>
            </a:r>
            <a:endParaRPr lang="en-US" sz="1250" dirty="0"/>
          </a:p>
        </p:txBody>
      </p:sp>
      <p:sp>
        <p:nvSpPr>
          <p:cNvPr id="76" name="Text 69"/>
          <p:cNvSpPr txBox="1"/>
          <p:nvPr/>
        </p:nvSpPr>
        <p:spPr>
          <a:xfrm>
            <a:off x="5989320" y="2423160"/>
            <a:ext cx="2697480" cy="45720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Les tuiles d’une tuile parente partagent son préfixe : filtrage par pays rapide.</a:t>
            </a:r>
            <a:endParaRPr lang="en-US" sz="1000" dirty="0"/>
          </a:p>
        </p:txBody>
      </p:sp>
      <p:sp>
        <p:nvSpPr>
          <p:cNvPr id="77" name="Shape 70"/>
          <p:cNvSpPr/>
          <p:nvPr/>
        </p:nvSpPr>
        <p:spPr>
          <a:xfrm>
            <a:off x="5440680" y="2999232"/>
            <a:ext cx="420624" cy="420624"/>
          </a:xfrm>
          <a:prstGeom prst="ellipse">
            <a:avLst/>
          </a:prstGeom>
          <a:solidFill>
            <a:srgbClr val="00704A">
              <a:alpha val="22000"/>
            </a:srgbClr>
          </a:solidFill>
          <a:ln/>
        </p:spPr>
      </p:sp>
      <p:pic>
        <p:nvPicPr>
          <p:cNvPr id="78" name="Image 4" descr="preencoded.png"/>
          <p:cNvPicPr>
            <a:picLocks noChangeAspect="1"/>
          </p:cNvPicPr>
          <p:nvPr/>
        </p:nvPicPr>
        <p:blipFill>
          <a:blip r:embed="rId6"/>
          <a:stretch>
            <a:fillRect/>
          </a:stretch>
        </p:blipFill>
        <p:spPr>
          <a:xfrm>
            <a:off x="5541630" y="3100182"/>
            <a:ext cx="218724" cy="218724"/>
          </a:xfrm>
          <a:prstGeom prst="rect">
            <a:avLst/>
          </a:prstGeom>
        </p:spPr>
      </p:pic>
      <p:sp>
        <p:nvSpPr>
          <p:cNvPr id="79" name="Text 71"/>
          <p:cNvSpPr txBox="1"/>
          <p:nvPr/>
        </p:nvSpPr>
        <p:spPr>
          <a:xfrm>
            <a:off x="5989320" y="2953512"/>
            <a:ext cx="269748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Géométrie WGS 84</a:t>
            </a:r>
            <a:endParaRPr lang="en-US" sz="1250" dirty="0"/>
          </a:p>
        </p:txBody>
      </p:sp>
      <p:sp>
        <p:nvSpPr>
          <p:cNvPr id="80" name="Text 72"/>
          <p:cNvSpPr txBox="1"/>
          <p:nvPr/>
        </p:nvSpPr>
        <p:spPr>
          <a:xfrm>
            <a:off x="5989320" y="3200400"/>
            <a:ext cx="2697480" cy="45720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Stockée en EPSG:4326 ; la grille suit la projection Web Mercator.</a:t>
            </a:r>
            <a:endParaRPr lang="en-US" sz="1000" dirty="0"/>
          </a:p>
        </p:txBody>
      </p:sp>
      <p:sp>
        <p:nvSpPr>
          <p:cNvPr id="81" name="Shape 73"/>
          <p:cNvSpPr/>
          <p:nvPr/>
        </p:nvSpPr>
        <p:spPr>
          <a:xfrm>
            <a:off x="5440680" y="3776472"/>
            <a:ext cx="420624" cy="420624"/>
          </a:xfrm>
          <a:prstGeom prst="ellipse">
            <a:avLst/>
          </a:prstGeom>
          <a:solidFill>
            <a:srgbClr val="00704A">
              <a:alpha val="22000"/>
            </a:srgbClr>
          </a:solidFill>
          <a:ln/>
        </p:spPr>
      </p:sp>
      <p:pic>
        <p:nvPicPr>
          <p:cNvPr id="82" name="Image 5" descr="preencoded.png"/>
          <p:cNvPicPr>
            <a:picLocks noChangeAspect="1"/>
          </p:cNvPicPr>
          <p:nvPr/>
        </p:nvPicPr>
        <p:blipFill>
          <a:blip r:embed="rId7"/>
          <a:stretch>
            <a:fillRect/>
          </a:stretch>
        </p:blipFill>
        <p:spPr>
          <a:xfrm>
            <a:off x="5541630" y="3877422"/>
            <a:ext cx="218724" cy="218724"/>
          </a:xfrm>
          <a:prstGeom prst="rect">
            <a:avLst/>
          </a:prstGeom>
        </p:spPr>
      </p:pic>
      <p:sp>
        <p:nvSpPr>
          <p:cNvPr id="83" name="Text 74"/>
          <p:cNvSpPr txBox="1"/>
          <p:nvPr/>
        </p:nvSpPr>
        <p:spPr>
          <a:xfrm>
            <a:off x="5989320" y="3730752"/>
            <a:ext cx="269748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Taille variable</a:t>
            </a:r>
            <a:endParaRPr lang="en-US" sz="1250" dirty="0"/>
          </a:p>
        </p:txBody>
      </p:sp>
      <p:sp>
        <p:nvSpPr>
          <p:cNvPr id="84" name="Text 75"/>
          <p:cNvSpPr txBox="1"/>
          <p:nvPr/>
        </p:nvSpPr>
        <p:spPr>
          <a:xfrm>
            <a:off x="5989320" y="3977640"/>
            <a:ext cx="2697480" cy="45720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Les tuiles rétrécissent en mètres loin de l’équateur.</a:t>
            </a:r>
            <a:endParaRPr lang="en-US" sz="1000" dirty="0"/>
          </a:p>
        </p:txBody>
      </p:sp>
      <p:sp>
        <p:nvSpPr>
          <p:cNvPr id="85" name="Text 76"/>
          <p:cNvSpPr txBox="1"/>
          <p:nvPr/>
        </p:nvSpPr>
        <p:spPr>
          <a:xfrm>
            <a:off x="457200" y="4572000"/>
            <a:ext cx="749808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Source : README teamookla/ookla-open-data ; Bing Maps Tile System. Le quadkey à 16 chiffres est fictif.</a:t>
            </a:r>
            <a:endParaRPr lang="en-US" sz="90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SCHÉMA</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Ce que dit chaque tuile, et les pièges</a:t>
            </a:r>
            <a:endParaRPr lang="en-US" sz="28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00704A"/>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5DED9"/>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BAD – Data Innovation for Africa (DI4A)  ·  Ookla Open Data et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12</a:t>
            </a:r>
            <a:endParaRPr lang="en-US" sz="850" dirty="0"/>
          </a:p>
        </p:txBody>
      </p:sp>
      <p:sp>
        <p:nvSpPr>
          <p:cNvPr id="17" name="Text 14"/>
          <p:cNvSpPr txBox="1"/>
          <p:nvPr/>
        </p:nvSpPr>
        <p:spPr>
          <a:xfrm>
            <a:off x="594360" y="1325880"/>
            <a:ext cx="2103120" cy="182880"/>
          </a:xfrm>
          <a:prstGeom prst="rect">
            <a:avLst/>
          </a:prstGeom>
          <a:noFill/>
          <a:ln/>
        </p:spPr>
        <p:txBody>
          <a:bodyPr wrap="square" lIns="0" tIns="0" rIns="0" bIns="0" rtlCol="0" anchor="t"/>
          <a:lstStyle/>
          <a:p>
            <a:pPr marL="0" indent="0">
              <a:buNone/>
            </a:pPr>
            <a:r>
              <a:rPr lang="en-US" sz="900" b="1" kern="0" spc="200" dirty="0">
                <a:solidFill>
                  <a:srgbClr val="5E6964"/>
                </a:solidFill>
                <a:latin typeface="Calibri" pitchFamily="34" charset="0"/>
                <a:ea typeface="Calibri" pitchFamily="34" charset="-122"/>
                <a:cs typeface="Calibri" pitchFamily="34" charset="-120"/>
              </a:rPr>
              <a:t>CHAMP</a:t>
            </a:r>
            <a:endParaRPr lang="en-US" sz="900" dirty="0"/>
          </a:p>
        </p:txBody>
      </p:sp>
      <p:sp>
        <p:nvSpPr>
          <p:cNvPr id="18" name="Text 15"/>
          <p:cNvSpPr txBox="1"/>
          <p:nvPr/>
        </p:nvSpPr>
        <p:spPr>
          <a:xfrm>
            <a:off x="2697480" y="1325880"/>
            <a:ext cx="1828800" cy="182880"/>
          </a:xfrm>
          <a:prstGeom prst="rect">
            <a:avLst/>
          </a:prstGeom>
          <a:noFill/>
          <a:ln/>
        </p:spPr>
        <p:txBody>
          <a:bodyPr wrap="square" lIns="0" tIns="0" rIns="0" bIns="0" rtlCol="0" anchor="t"/>
          <a:lstStyle/>
          <a:p>
            <a:pPr marL="0" indent="0">
              <a:buNone/>
            </a:pPr>
            <a:r>
              <a:rPr lang="en-US" sz="900" b="1" kern="0" spc="200" dirty="0">
                <a:solidFill>
                  <a:srgbClr val="5E6964"/>
                </a:solidFill>
                <a:latin typeface="Calibri" pitchFamily="34" charset="0"/>
                <a:ea typeface="Calibri" pitchFamily="34" charset="-122"/>
                <a:cs typeface="Calibri" pitchFamily="34" charset="-120"/>
              </a:rPr>
              <a:t>SIGNIFICATION</a:t>
            </a:r>
            <a:endParaRPr lang="en-US" sz="900" dirty="0"/>
          </a:p>
        </p:txBody>
      </p:sp>
      <p:sp>
        <p:nvSpPr>
          <p:cNvPr id="19" name="Text 16"/>
          <p:cNvSpPr txBox="1"/>
          <p:nvPr/>
        </p:nvSpPr>
        <p:spPr>
          <a:xfrm>
            <a:off x="4343400" y="1325880"/>
            <a:ext cx="1371600" cy="182880"/>
          </a:xfrm>
          <a:prstGeom prst="rect">
            <a:avLst/>
          </a:prstGeom>
          <a:noFill/>
          <a:ln/>
        </p:spPr>
        <p:txBody>
          <a:bodyPr wrap="square" lIns="0" tIns="0" rIns="0" bIns="0" rtlCol="0" anchor="t"/>
          <a:lstStyle/>
          <a:p>
            <a:pPr marL="0" indent="0">
              <a:buNone/>
            </a:pPr>
            <a:r>
              <a:rPr lang="en-US" sz="900" b="1" kern="0" spc="200" dirty="0">
                <a:solidFill>
                  <a:srgbClr val="5E6964"/>
                </a:solidFill>
                <a:latin typeface="Calibri" pitchFamily="34" charset="0"/>
                <a:ea typeface="Calibri" pitchFamily="34" charset="-122"/>
                <a:cs typeface="Calibri" pitchFamily="34" charset="-120"/>
              </a:rPr>
              <a:t>UNITÉ / NOTE</a:t>
            </a:r>
            <a:endParaRPr lang="en-US" sz="900" dirty="0"/>
          </a:p>
        </p:txBody>
      </p:sp>
      <p:sp>
        <p:nvSpPr>
          <p:cNvPr id="20" name="Shape 17"/>
          <p:cNvSpPr/>
          <p:nvPr/>
        </p:nvSpPr>
        <p:spPr>
          <a:xfrm>
            <a:off x="457200" y="1554480"/>
            <a:ext cx="5349240" cy="310896"/>
          </a:xfrm>
          <a:prstGeom prst="roundRect">
            <a:avLst>
              <a:gd name="adj" fmla="val 14706"/>
            </a:avLst>
          </a:prstGeom>
          <a:solidFill>
            <a:srgbClr val="F4F7F5"/>
          </a:solidFill>
          <a:ln w="6350">
            <a:solidFill>
              <a:srgbClr val="D5DED9"/>
            </a:solidFill>
            <a:prstDash val="solid"/>
          </a:ln>
        </p:spPr>
      </p:sp>
      <p:sp>
        <p:nvSpPr>
          <p:cNvPr id="21" name="Shape 18"/>
          <p:cNvSpPr/>
          <p:nvPr/>
        </p:nvSpPr>
        <p:spPr>
          <a:xfrm>
            <a:off x="530352" y="1664208"/>
            <a:ext cx="91440" cy="91440"/>
          </a:xfrm>
          <a:prstGeom prst="ellipse">
            <a:avLst/>
          </a:prstGeom>
          <a:solidFill>
            <a:srgbClr val="00A86A"/>
          </a:solidFill>
          <a:ln/>
        </p:spPr>
      </p:sp>
      <p:sp>
        <p:nvSpPr>
          <p:cNvPr id="22" name="Text 19"/>
          <p:cNvSpPr txBox="1"/>
          <p:nvPr/>
        </p:nvSpPr>
        <p:spPr>
          <a:xfrm>
            <a:off x="685800" y="1554480"/>
            <a:ext cx="2011680" cy="310896"/>
          </a:xfrm>
          <a:prstGeom prst="rect">
            <a:avLst/>
          </a:prstGeom>
          <a:noFill/>
          <a:ln/>
        </p:spPr>
        <p:txBody>
          <a:bodyPr wrap="square" lIns="0" tIns="0" rIns="0" bIns="0" rtlCol="0" anchor="ctr"/>
          <a:lstStyle/>
          <a:p>
            <a:pPr marL="0" indent="0">
              <a:buNone/>
            </a:pPr>
            <a:r>
              <a:rPr lang="en-US" sz="900" b="1" dirty="0">
                <a:solidFill>
                  <a:srgbClr val="231F20"/>
                </a:solidFill>
                <a:latin typeface="Courier New" pitchFamily="34" charset="0"/>
                <a:ea typeface="Courier New" pitchFamily="34" charset="-122"/>
                <a:cs typeface="Courier New" pitchFamily="34" charset="-120"/>
              </a:rPr>
              <a:t>avg_d_kbps</a:t>
            </a:r>
            <a:endParaRPr lang="en-US" sz="900" dirty="0"/>
          </a:p>
        </p:txBody>
      </p:sp>
      <p:sp>
        <p:nvSpPr>
          <p:cNvPr id="23" name="Text 20"/>
          <p:cNvSpPr txBox="1"/>
          <p:nvPr/>
        </p:nvSpPr>
        <p:spPr>
          <a:xfrm>
            <a:off x="2697480" y="1554480"/>
            <a:ext cx="1645920" cy="310896"/>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Débit descendant moyen</a:t>
            </a:r>
            <a:endParaRPr lang="en-US" sz="1000" dirty="0"/>
          </a:p>
        </p:txBody>
      </p:sp>
      <p:sp>
        <p:nvSpPr>
          <p:cNvPr id="24" name="Text 21"/>
          <p:cNvSpPr txBox="1"/>
          <p:nvPr/>
        </p:nvSpPr>
        <p:spPr>
          <a:xfrm>
            <a:off x="4343400" y="1554480"/>
            <a:ext cx="1417320" cy="310896"/>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kbps  ÷ 1000 → Mbps</a:t>
            </a:r>
            <a:endParaRPr lang="en-US" sz="900" dirty="0"/>
          </a:p>
        </p:txBody>
      </p:sp>
      <p:sp>
        <p:nvSpPr>
          <p:cNvPr id="25" name="Shape 22"/>
          <p:cNvSpPr/>
          <p:nvPr/>
        </p:nvSpPr>
        <p:spPr>
          <a:xfrm>
            <a:off x="457200" y="1920240"/>
            <a:ext cx="5349240" cy="310896"/>
          </a:xfrm>
          <a:prstGeom prst="roundRect">
            <a:avLst>
              <a:gd name="adj" fmla="val 14706"/>
            </a:avLst>
          </a:prstGeom>
          <a:solidFill>
            <a:srgbClr val="FFFFFF"/>
          </a:solidFill>
          <a:ln w="6350">
            <a:solidFill>
              <a:srgbClr val="D5DED9"/>
            </a:solidFill>
            <a:prstDash val="solid"/>
          </a:ln>
        </p:spPr>
      </p:sp>
      <p:sp>
        <p:nvSpPr>
          <p:cNvPr id="26" name="Shape 23"/>
          <p:cNvSpPr/>
          <p:nvPr/>
        </p:nvSpPr>
        <p:spPr>
          <a:xfrm>
            <a:off x="530352" y="2029968"/>
            <a:ext cx="91440" cy="91440"/>
          </a:xfrm>
          <a:prstGeom prst="ellipse">
            <a:avLst/>
          </a:prstGeom>
          <a:solidFill>
            <a:srgbClr val="00A86A"/>
          </a:solidFill>
          <a:ln/>
        </p:spPr>
      </p:sp>
      <p:sp>
        <p:nvSpPr>
          <p:cNvPr id="27" name="Text 24"/>
          <p:cNvSpPr txBox="1"/>
          <p:nvPr/>
        </p:nvSpPr>
        <p:spPr>
          <a:xfrm>
            <a:off x="685800" y="1920240"/>
            <a:ext cx="2011680" cy="310896"/>
          </a:xfrm>
          <a:prstGeom prst="rect">
            <a:avLst/>
          </a:prstGeom>
          <a:noFill/>
          <a:ln/>
        </p:spPr>
        <p:txBody>
          <a:bodyPr wrap="square" lIns="0" tIns="0" rIns="0" bIns="0" rtlCol="0" anchor="ctr"/>
          <a:lstStyle/>
          <a:p>
            <a:pPr marL="0" indent="0">
              <a:buNone/>
            </a:pPr>
            <a:r>
              <a:rPr lang="en-US" sz="900" b="1" dirty="0">
                <a:solidFill>
                  <a:srgbClr val="231F20"/>
                </a:solidFill>
                <a:latin typeface="Courier New" pitchFamily="34" charset="0"/>
                <a:ea typeface="Courier New" pitchFamily="34" charset="-122"/>
                <a:cs typeface="Courier New" pitchFamily="34" charset="-120"/>
              </a:rPr>
              <a:t>avg_u_kbps</a:t>
            </a:r>
            <a:endParaRPr lang="en-US" sz="900" dirty="0"/>
          </a:p>
        </p:txBody>
      </p:sp>
      <p:sp>
        <p:nvSpPr>
          <p:cNvPr id="28" name="Text 25"/>
          <p:cNvSpPr txBox="1"/>
          <p:nvPr/>
        </p:nvSpPr>
        <p:spPr>
          <a:xfrm>
            <a:off x="2697480" y="1920240"/>
            <a:ext cx="1645920" cy="310896"/>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Débit montant moyen</a:t>
            </a:r>
            <a:endParaRPr lang="en-US" sz="1000" dirty="0"/>
          </a:p>
        </p:txBody>
      </p:sp>
      <p:sp>
        <p:nvSpPr>
          <p:cNvPr id="29" name="Text 26"/>
          <p:cNvSpPr txBox="1"/>
          <p:nvPr/>
        </p:nvSpPr>
        <p:spPr>
          <a:xfrm>
            <a:off x="4343400" y="1920240"/>
            <a:ext cx="1417320" cy="310896"/>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kbps</a:t>
            </a:r>
            <a:endParaRPr lang="en-US" sz="900" dirty="0"/>
          </a:p>
        </p:txBody>
      </p:sp>
      <p:sp>
        <p:nvSpPr>
          <p:cNvPr id="30" name="Shape 27"/>
          <p:cNvSpPr/>
          <p:nvPr/>
        </p:nvSpPr>
        <p:spPr>
          <a:xfrm>
            <a:off x="457200" y="2286000"/>
            <a:ext cx="5349240" cy="310896"/>
          </a:xfrm>
          <a:prstGeom prst="roundRect">
            <a:avLst>
              <a:gd name="adj" fmla="val 14706"/>
            </a:avLst>
          </a:prstGeom>
          <a:solidFill>
            <a:srgbClr val="F4F7F5"/>
          </a:solidFill>
          <a:ln w="6350">
            <a:solidFill>
              <a:srgbClr val="D5DED9"/>
            </a:solidFill>
            <a:prstDash val="solid"/>
          </a:ln>
        </p:spPr>
      </p:sp>
      <p:sp>
        <p:nvSpPr>
          <p:cNvPr id="31" name="Shape 28"/>
          <p:cNvSpPr/>
          <p:nvPr/>
        </p:nvSpPr>
        <p:spPr>
          <a:xfrm>
            <a:off x="530352" y="2395728"/>
            <a:ext cx="91440" cy="91440"/>
          </a:xfrm>
          <a:prstGeom prst="ellipse">
            <a:avLst/>
          </a:prstGeom>
          <a:solidFill>
            <a:srgbClr val="0E7C86"/>
          </a:solidFill>
          <a:ln/>
        </p:spPr>
      </p:sp>
      <p:sp>
        <p:nvSpPr>
          <p:cNvPr id="32" name="Text 29"/>
          <p:cNvSpPr txBox="1"/>
          <p:nvPr/>
        </p:nvSpPr>
        <p:spPr>
          <a:xfrm>
            <a:off x="685800" y="2286000"/>
            <a:ext cx="2011680" cy="310896"/>
          </a:xfrm>
          <a:prstGeom prst="rect">
            <a:avLst/>
          </a:prstGeom>
          <a:noFill/>
          <a:ln/>
        </p:spPr>
        <p:txBody>
          <a:bodyPr wrap="square" lIns="0" tIns="0" rIns="0" bIns="0" rtlCol="0" anchor="ctr"/>
          <a:lstStyle/>
          <a:p>
            <a:pPr marL="0" indent="0">
              <a:buNone/>
            </a:pPr>
            <a:r>
              <a:rPr lang="en-US" sz="900" b="1" dirty="0">
                <a:solidFill>
                  <a:srgbClr val="231F20"/>
                </a:solidFill>
                <a:latin typeface="Courier New" pitchFamily="34" charset="0"/>
                <a:ea typeface="Courier New" pitchFamily="34" charset="-122"/>
                <a:cs typeface="Courier New" pitchFamily="34" charset="-120"/>
              </a:rPr>
              <a:t>avg_lat_ms</a:t>
            </a:r>
            <a:endParaRPr lang="en-US" sz="900" dirty="0"/>
          </a:p>
        </p:txBody>
      </p:sp>
      <p:sp>
        <p:nvSpPr>
          <p:cNvPr id="33" name="Text 30"/>
          <p:cNvSpPr txBox="1"/>
          <p:nvPr/>
        </p:nvSpPr>
        <p:spPr>
          <a:xfrm>
            <a:off x="2697480" y="2286000"/>
            <a:ext cx="1645920" cy="310896"/>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Latence moyenne au repos</a:t>
            </a:r>
            <a:endParaRPr lang="en-US" sz="1000" dirty="0"/>
          </a:p>
        </p:txBody>
      </p:sp>
      <p:sp>
        <p:nvSpPr>
          <p:cNvPr id="34" name="Text 31"/>
          <p:cNvSpPr txBox="1"/>
          <p:nvPr/>
        </p:nvSpPr>
        <p:spPr>
          <a:xfrm>
            <a:off x="4343400" y="2286000"/>
            <a:ext cx="1417320" cy="310896"/>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millisecondes</a:t>
            </a:r>
            <a:endParaRPr lang="en-US" sz="900" dirty="0"/>
          </a:p>
        </p:txBody>
      </p:sp>
      <p:sp>
        <p:nvSpPr>
          <p:cNvPr id="35" name="Shape 32"/>
          <p:cNvSpPr/>
          <p:nvPr/>
        </p:nvSpPr>
        <p:spPr>
          <a:xfrm>
            <a:off x="457200" y="2651760"/>
            <a:ext cx="5349240" cy="310896"/>
          </a:xfrm>
          <a:prstGeom prst="roundRect">
            <a:avLst>
              <a:gd name="adj" fmla="val 14706"/>
            </a:avLst>
          </a:prstGeom>
          <a:solidFill>
            <a:srgbClr val="FFFFFF"/>
          </a:solidFill>
          <a:ln w="6350">
            <a:solidFill>
              <a:srgbClr val="D5DED9"/>
            </a:solidFill>
            <a:prstDash val="solid"/>
          </a:ln>
        </p:spPr>
      </p:sp>
      <p:sp>
        <p:nvSpPr>
          <p:cNvPr id="36" name="Shape 33"/>
          <p:cNvSpPr/>
          <p:nvPr/>
        </p:nvSpPr>
        <p:spPr>
          <a:xfrm>
            <a:off x="530352" y="2761488"/>
            <a:ext cx="91440" cy="91440"/>
          </a:xfrm>
          <a:prstGeom prst="ellipse">
            <a:avLst/>
          </a:prstGeom>
          <a:solidFill>
            <a:srgbClr val="0E7C86"/>
          </a:solidFill>
          <a:ln/>
        </p:spPr>
      </p:sp>
      <p:sp>
        <p:nvSpPr>
          <p:cNvPr id="37" name="Text 34"/>
          <p:cNvSpPr txBox="1"/>
          <p:nvPr/>
        </p:nvSpPr>
        <p:spPr>
          <a:xfrm>
            <a:off x="685800" y="2651760"/>
            <a:ext cx="2011680" cy="310896"/>
          </a:xfrm>
          <a:prstGeom prst="rect">
            <a:avLst/>
          </a:prstGeom>
          <a:noFill/>
          <a:ln/>
        </p:spPr>
        <p:txBody>
          <a:bodyPr wrap="square" lIns="0" tIns="0" rIns="0" bIns="0" rtlCol="0" anchor="ctr"/>
          <a:lstStyle/>
          <a:p>
            <a:pPr marL="0" indent="0">
              <a:buNone/>
            </a:pPr>
            <a:r>
              <a:rPr lang="en-US" sz="900" b="1" dirty="0">
                <a:solidFill>
                  <a:srgbClr val="231F20"/>
                </a:solidFill>
                <a:latin typeface="Courier New" pitchFamily="34" charset="0"/>
                <a:ea typeface="Courier New" pitchFamily="34" charset="-122"/>
                <a:cs typeface="Courier New" pitchFamily="34" charset="-120"/>
              </a:rPr>
              <a:t>avg_lat_down_ms / _up_ms</a:t>
            </a:r>
            <a:endParaRPr lang="en-US" sz="900" dirty="0"/>
          </a:p>
        </p:txBody>
      </p:sp>
      <p:sp>
        <p:nvSpPr>
          <p:cNvPr id="38" name="Text 35"/>
          <p:cNvSpPr txBox="1"/>
          <p:nvPr/>
        </p:nvSpPr>
        <p:spPr>
          <a:xfrm>
            <a:off x="2697480" y="2651760"/>
            <a:ext cx="1645920" cy="310896"/>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Latence en charge</a:t>
            </a:r>
            <a:endParaRPr lang="en-US" sz="1000" dirty="0"/>
          </a:p>
        </p:txBody>
      </p:sp>
      <p:sp>
        <p:nvSpPr>
          <p:cNvPr id="39" name="Text 36"/>
          <p:cNvSpPr txBox="1"/>
          <p:nvPr/>
        </p:nvSpPr>
        <p:spPr>
          <a:xfrm>
            <a:off x="4343400" y="2651760"/>
            <a:ext cx="1417320" cy="310896"/>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Parquet uniquement · lacunaire</a:t>
            </a:r>
            <a:endParaRPr lang="en-US" sz="900" dirty="0"/>
          </a:p>
        </p:txBody>
      </p:sp>
      <p:sp>
        <p:nvSpPr>
          <p:cNvPr id="40" name="Shape 37"/>
          <p:cNvSpPr/>
          <p:nvPr/>
        </p:nvSpPr>
        <p:spPr>
          <a:xfrm>
            <a:off x="457200" y="3017520"/>
            <a:ext cx="5349240" cy="310896"/>
          </a:xfrm>
          <a:prstGeom prst="roundRect">
            <a:avLst>
              <a:gd name="adj" fmla="val 14706"/>
            </a:avLst>
          </a:prstGeom>
          <a:solidFill>
            <a:srgbClr val="F4F7F5"/>
          </a:solidFill>
          <a:ln w="6350">
            <a:solidFill>
              <a:srgbClr val="D5DED9"/>
            </a:solidFill>
            <a:prstDash val="solid"/>
          </a:ln>
        </p:spPr>
      </p:sp>
      <p:sp>
        <p:nvSpPr>
          <p:cNvPr id="41" name="Shape 38"/>
          <p:cNvSpPr/>
          <p:nvPr/>
        </p:nvSpPr>
        <p:spPr>
          <a:xfrm>
            <a:off x="530352" y="3127248"/>
            <a:ext cx="91440" cy="91440"/>
          </a:xfrm>
          <a:prstGeom prst="ellipse">
            <a:avLst/>
          </a:prstGeom>
          <a:solidFill>
            <a:srgbClr val="D49A00"/>
          </a:solidFill>
          <a:ln/>
        </p:spPr>
      </p:sp>
      <p:sp>
        <p:nvSpPr>
          <p:cNvPr id="42" name="Text 39"/>
          <p:cNvSpPr txBox="1"/>
          <p:nvPr/>
        </p:nvSpPr>
        <p:spPr>
          <a:xfrm>
            <a:off x="685800" y="3017520"/>
            <a:ext cx="2011680" cy="310896"/>
          </a:xfrm>
          <a:prstGeom prst="rect">
            <a:avLst/>
          </a:prstGeom>
          <a:noFill/>
          <a:ln/>
        </p:spPr>
        <p:txBody>
          <a:bodyPr wrap="square" lIns="0" tIns="0" rIns="0" bIns="0" rtlCol="0" anchor="ctr"/>
          <a:lstStyle/>
          <a:p>
            <a:pPr marL="0" indent="0">
              <a:buNone/>
            </a:pPr>
            <a:r>
              <a:rPr lang="en-US" sz="900" b="1" dirty="0">
                <a:solidFill>
                  <a:srgbClr val="231F20"/>
                </a:solidFill>
                <a:latin typeface="Courier New" pitchFamily="34" charset="0"/>
                <a:ea typeface="Courier New" pitchFamily="34" charset="-122"/>
                <a:cs typeface="Courier New" pitchFamily="34" charset="-120"/>
              </a:rPr>
              <a:t>tests</a:t>
            </a:r>
            <a:endParaRPr lang="en-US" sz="900" dirty="0"/>
          </a:p>
        </p:txBody>
      </p:sp>
      <p:sp>
        <p:nvSpPr>
          <p:cNvPr id="43" name="Text 40"/>
          <p:cNvSpPr txBox="1"/>
          <p:nvPr/>
        </p:nvSpPr>
        <p:spPr>
          <a:xfrm>
            <a:off x="2697480" y="3017520"/>
            <a:ext cx="1645920" cy="310896"/>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Nombre de tests dans la tuile</a:t>
            </a:r>
            <a:endParaRPr lang="en-US" sz="1000" dirty="0"/>
          </a:p>
        </p:txBody>
      </p:sp>
      <p:sp>
        <p:nvSpPr>
          <p:cNvPr id="44" name="Text 41"/>
          <p:cNvSpPr txBox="1"/>
          <p:nvPr/>
        </p:nvSpPr>
        <p:spPr>
          <a:xfrm>
            <a:off x="4343400" y="3017520"/>
            <a:ext cx="1417320" cy="310896"/>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poids de confiance</a:t>
            </a:r>
            <a:endParaRPr lang="en-US" sz="900" dirty="0"/>
          </a:p>
        </p:txBody>
      </p:sp>
      <p:sp>
        <p:nvSpPr>
          <p:cNvPr id="45" name="Shape 42"/>
          <p:cNvSpPr/>
          <p:nvPr/>
        </p:nvSpPr>
        <p:spPr>
          <a:xfrm>
            <a:off x="457200" y="3383280"/>
            <a:ext cx="5349240" cy="310896"/>
          </a:xfrm>
          <a:prstGeom prst="roundRect">
            <a:avLst>
              <a:gd name="adj" fmla="val 14706"/>
            </a:avLst>
          </a:prstGeom>
          <a:solidFill>
            <a:srgbClr val="FFFFFF"/>
          </a:solidFill>
          <a:ln w="6350">
            <a:solidFill>
              <a:srgbClr val="D5DED9"/>
            </a:solidFill>
            <a:prstDash val="solid"/>
          </a:ln>
        </p:spPr>
      </p:sp>
      <p:sp>
        <p:nvSpPr>
          <p:cNvPr id="46" name="Shape 43"/>
          <p:cNvSpPr/>
          <p:nvPr/>
        </p:nvSpPr>
        <p:spPr>
          <a:xfrm>
            <a:off x="530352" y="3493008"/>
            <a:ext cx="91440" cy="91440"/>
          </a:xfrm>
          <a:prstGeom prst="ellipse">
            <a:avLst/>
          </a:prstGeom>
          <a:solidFill>
            <a:srgbClr val="D49A00"/>
          </a:solidFill>
          <a:ln/>
        </p:spPr>
      </p:sp>
      <p:sp>
        <p:nvSpPr>
          <p:cNvPr id="47" name="Text 44"/>
          <p:cNvSpPr txBox="1"/>
          <p:nvPr/>
        </p:nvSpPr>
        <p:spPr>
          <a:xfrm>
            <a:off x="685800" y="3383280"/>
            <a:ext cx="2011680" cy="310896"/>
          </a:xfrm>
          <a:prstGeom prst="rect">
            <a:avLst/>
          </a:prstGeom>
          <a:noFill/>
          <a:ln/>
        </p:spPr>
        <p:txBody>
          <a:bodyPr wrap="square" lIns="0" tIns="0" rIns="0" bIns="0" rtlCol="0" anchor="ctr"/>
          <a:lstStyle/>
          <a:p>
            <a:pPr marL="0" indent="0">
              <a:buNone/>
            </a:pPr>
            <a:r>
              <a:rPr lang="en-US" sz="900" b="1" dirty="0">
                <a:solidFill>
                  <a:srgbClr val="231F20"/>
                </a:solidFill>
                <a:latin typeface="Courier New" pitchFamily="34" charset="0"/>
                <a:ea typeface="Courier New" pitchFamily="34" charset="-122"/>
                <a:cs typeface="Courier New" pitchFamily="34" charset="-120"/>
              </a:rPr>
              <a:t>devices</a:t>
            </a:r>
            <a:endParaRPr lang="en-US" sz="900" dirty="0"/>
          </a:p>
        </p:txBody>
      </p:sp>
      <p:sp>
        <p:nvSpPr>
          <p:cNvPr id="48" name="Text 45"/>
          <p:cNvSpPr txBox="1"/>
          <p:nvPr/>
        </p:nvSpPr>
        <p:spPr>
          <a:xfrm>
            <a:off x="2697480" y="3383280"/>
            <a:ext cx="1645920" cy="310896"/>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Nombre d’appareils distincts</a:t>
            </a:r>
            <a:endParaRPr lang="en-US" sz="1000" dirty="0"/>
          </a:p>
        </p:txBody>
      </p:sp>
      <p:sp>
        <p:nvSpPr>
          <p:cNvPr id="49" name="Text 46"/>
          <p:cNvSpPr txBox="1"/>
          <p:nvPr/>
        </p:nvSpPr>
        <p:spPr>
          <a:xfrm>
            <a:off x="4343400" y="3383280"/>
            <a:ext cx="1417320" cy="310896"/>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limite l’effet d’un testeur intensif</a:t>
            </a:r>
            <a:endParaRPr lang="en-US" sz="900" dirty="0"/>
          </a:p>
        </p:txBody>
      </p:sp>
      <p:sp>
        <p:nvSpPr>
          <p:cNvPr id="50" name="Shape 47"/>
          <p:cNvSpPr/>
          <p:nvPr/>
        </p:nvSpPr>
        <p:spPr>
          <a:xfrm>
            <a:off x="457200" y="3749040"/>
            <a:ext cx="5349240" cy="310896"/>
          </a:xfrm>
          <a:prstGeom prst="roundRect">
            <a:avLst>
              <a:gd name="adj" fmla="val 14706"/>
            </a:avLst>
          </a:prstGeom>
          <a:solidFill>
            <a:srgbClr val="F4F7F5"/>
          </a:solidFill>
          <a:ln w="6350">
            <a:solidFill>
              <a:srgbClr val="D5DED9"/>
            </a:solidFill>
            <a:prstDash val="solid"/>
          </a:ln>
        </p:spPr>
      </p:sp>
      <p:sp>
        <p:nvSpPr>
          <p:cNvPr id="51" name="Shape 48"/>
          <p:cNvSpPr/>
          <p:nvPr/>
        </p:nvSpPr>
        <p:spPr>
          <a:xfrm>
            <a:off x="530352" y="3858768"/>
            <a:ext cx="91440" cy="91440"/>
          </a:xfrm>
          <a:prstGeom prst="ellipse">
            <a:avLst/>
          </a:prstGeom>
          <a:solidFill>
            <a:srgbClr val="00704A"/>
          </a:solidFill>
          <a:ln/>
        </p:spPr>
      </p:sp>
      <p:sp>
        <p:nvSpPr>
          <p:cNvPr id="52" name="Text 49"/>
          <p:cNvSpPr txBox="1"/>
          <p:nvPr/>
        </p:nvSpPr>
        <p:spPr>
          <a:xfrm>
            <a:off x="685800" y="3749040"/>
            <a:ext cx="2011680" cy="310896"/>
          </a:xfrm>
          <a:prstGeom prst="rect">
            <a:avLst/>
          </a:prstGeom>
          <a:noFill/>
          <a:ln/>
        </p:spPr>
        <p:txBody>
          <a:bodyPr wrap="square" lIns="0" tIns="0" rIns="0" bIns="0" rtlCol="0" anchor="ctr"/>
          <a:lstStyle/>
          <a:p>
            <a:pPr marL="0" indent="0">
              <a:buNone/>
            </a:pPr>
            <a:r>
              <a:rPr lang="en-US" sz="900" b="1" dirty="0">
                <a:solidFill>
                  <a:srgbClr val="231F20"/>
                </a:solidFill>
                <a:latin typeface="Courier New" pitchFamily="34" charset="0"/>
                <a:ea typeface="Courier New" pitchFamily="34" charset="-122"/>
                <a:cs typeface="Courier New" pitchFamily="34" charset="-120"/>
              </a:rPr>
              <a:t>quadkey</a:t>
            </a:r>
            <a:endParaRPr lang="en-US" sz="900" dirty="0"/>
          </a:p>
        </p:txBody>
      </p:sp>
      <p:sp>
        <p:nvSpPr>
          <p:cNvPr id="53" name="Text 50"/>
          <p:cNvSpPr txBox="1"/>
          <p:nvPr/>
        </p:nvSpPr>
        <p:spPr>
          <a:xfrm>
            <a:off x="2697480" y="3749040"/>
            <a:ext cx="1645920" cy="310896"/>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Identifiant de la tuile</a:t>
            </a:r>
            <a:endParaRPr lang="en-US" sz="1000" dirty="0"/>
          </a:p>
        </p:txBody>
      </p:sp>
      <p:sp>
        <p:nvSpPr>
          <p:cNvPr id="54" name="Text 51"/>
          <p:cNvSpPr txBox="1"/>
          <p:nvPr/>
        </p:nvSpPr>
        <p:spPr>
          <a:xfrm>
            <a:off x="4343400" y="3749040"/>
            <a:ext cx="1417320" cy="310896"/>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clé de jointure entre trimestres</a:t>
            </a:r>
            <a:endParaRPr lang="en-US" sz="900" dirty="0"/>
          </a:p>
        </p:txBody>
      </p:sp>
      <p:sp>
        <p:nvSpPr>
          <p:cNvPr id="55" name="Shape 52"/>
          <p:cNvSpPr/>
          <p:nvPr/>
        </p:nvSpPr>
        <p:spPr>
          <a:xfrm>
            <a:off x="457200" y="4114800"/>
            <a:ext cx="5349240" cy="310896"/>
          </a:xfrm>
          <a:prstGeom prst="roundRect">
            <a:avLst>
              <a:gd name="adj" fmla="val 14706"/>
            </a:avLst>
          </a:prstGeom>
          <a:solidFill>
            <a:srgbClr val="FFFFFF"/>
          </a:solidFill>
          <a:ln w="6350">
            <a:solidFill>
              <a:srgbClr val="D5DED9"/>
            </a:solidFill>
            <a:prstDash val="solid"/>
          </a:ln>
        </p:spPr>
      </p:sp>
      <p:sp>
        <p:nvSpPr>
          <p:cNvPr id="56" name="Shape 53"/>
          <p:cNvSpPr/>
          <p:nvPr/>
        </p:nvSpPr>
        <p:spPr>
          <a:xfrm>
            <a:off x="530352" y="4224528"/>
            <a:ext cx="91440" cy="91440"/>
          </a:xfrm>
          <a:prstGeom prst="ellipse">
            <a:avLst/>
          </a:prstGeom>
          <a:solidFill>
            <a:srgbClr val="00704A"/>
          </a:solidFill>
          <a:ln/>
        </p:spPr>
      </p:sp>
      <p:sp>
        <p:nvSpPr>
          <p:cNvPr id="57" name="Text 54"/>
          <p:cNvSpPr txBox="1"/>
          <p:nvPr/>
        </p:nvSpPr>
        <p:spPr>
          <a:xfrm>
            <a:off x="685800" y="4114800"/>
            <a:ext cx="2011680" cy="310896"/>
          </a:xfrm>
          <a:prstGeom prst="rect">
            <a:avLst/>
          </a:prstGeom>
          <a:noFill/>
          <a:ln/>
        </p:spPr>
        <p:txBody>
          <a:bodyPr wrap="square" lIns="0" tIns="0" rIns="0" bIns="0" rtlCol="0" anchor="ctr"/>
          <a:lstStyle/>
          <a:p>
            <a:pPr marL="0" indent="0">
              <a:buNone/>
            </a:pPr>
            <a:r>
              <a:rPr lang="en-US" sz="900" b="1" dirty="0">
                <a:solidFill>
                  <a:srgbClr val="231F20"/>
                </a:solidFill>
                <a:latin typeface="Courier New" pitchFamily="34" charset="0"/>
                <a:ea typeface="Courier New" pitchFamily="34" charset="-122"/>
                <a:cs typeface="Courier New" pitchFamily="34" charset="-120"/>
              </a:rPr>
              <a:t>tile · tile_x, tile_y</a:t>
            </a:r>
            <a:endParaRPr lang="en-US" sz="900" dirty="0"/>
          </a:p>
        </p:txBody>
      </p:sp>
      <p:sp>
        <p:nvSpPr>
          <p:cNvPr id="58" name="Text 55"/>
          <p:cNvSpPr txBox="1"/>
          <p:nvPr/>
        </p:nvSpPr>
        <p:spPr>
          <a:xfrm>
            <a:off x="2697480" y="4114800"/>
            <a:ext cx="1645920" cy="310896"/>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Géométrie WKT · centroïde</a:t>
            </a:r>
            <a:endParaRPr lang="en-US" sz="1000" dirty="0"/>
          </a:p>
        </p:txBody>
      </p:sp>
      <p:sp>
        <p:nvSpPr>
          <p:cNvPr id="59" name="Text 56"/>
          <p:cNvSpPr txBox="1"/>
          <p:nvPr/>
        </p:nvSpPr>
        <p:spPr>
          <a:xfrm>
            <a:off x="4343400" y="4114800"/>
            <a:ext cx="1417320" cy="310896"/>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centroïde depuis T3 2023</a:t>
            </a:r>
            <a:endParaRPr lang="en-US" sz="900" dirty="0"/>
          </a:p>
        </p:txBody>
      </p:sp>
      <p:sp>
        <p:nvSpPr>
          <p:cNvPr id="60" name="Shape 57"/>
          <p:cNvSpPr/>
          <p:nvPr/>
        </p:nvSpPr>
        <p:spPr>
          <a:xfrm>
            <a:off x="6080760" y="1371600"/>
            <a:ext cx="2606040" cy="896112"/>
          </a:xfrm>
          <a:prstGeom prst="roundRect">
            <a:avLst>
              <a:gd name="adj" fmla="val 8163"/>
            </a:avLst>
          </a:prstGeom>
          <a:solidFill>
            <a:srgbClr val="D49A00">
              <a:alpha val="13000"/>
            </a:srgbClr>
          </a:solidFill>
          <a:ln w="12700">
            <a:solidFill>
              <a:srgbClr val="D49A00"/>
            </a:solidFill>
            <a:prstDash val="solid"/>
          </a:ln>
        </p:spPr>
      </p:sp>
      <p:pic>
        <p:nvPicPr>
          <p:cNvPr id="61" name="Image 0" descr="preencoded.png"/>
          <p:cNvPicPr>
            <a:picLocks noChangeAspect="1"/>
          </p:cNvPicPr>
          <p:nvPr/>
        </p:nvPicPr>
        <p:blipFill>
          <a:blip r:embed="rId3"/>
          <a:stretch>
            <a:fillRect/>
          </a:stretch>
        </p:blipFill>
        <p:spPr>
          <a:xfrm>
            <a:off x="6217920" y="1481328"/>
            <a:ext cx="219456" cy="219456"/>
          </a:xfrm>
          <a:prstGeom prst="rect">
            <a:avLst/>
          </a:prstGeom>
        </p:spPr>
      </p:pic>
      <p:sp>
        <p:nvSpPr>
          <p:cNvPr id="62" name="Text 58"/>
          <p:cNvSpPr txBox="1"/>
          <p:nvPr/>
        </p:nvSpPr>
        <p:spPr>
          <a:xfrm>
            <a:off x="6510528" y="1463040"/>
            <a:ext cx="2011680" cy="256032"/>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Piège de l’unité</a:t>
            </a:r>
            <a:endParaRPr lang="en-US" sz="1200" dirty="0"/>
          </a:p>
        </p:txBody>
      </p:sp>
      <p:sp>
        <p:nvSpPr>
          <p:cNvPr id="63" name="Text 59"/>
          <p:cNvSpPr txBox="1"/>
          <p:nvPr/>
        </p:nvSpPr>
        <p:spPr>
          <a:xfrm>
            <a:off x="6217920" y="1755648"/>
            <a:ext cx="2377440" cy="475488"/>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Les débits sont en kbps. 25 000 kbps = 25 Mbps.</a:t>
            </a:r>
            <a:endParaRPr lang="en-US" sz="1000" dirty="0"/>
          </a:p>
        </p:txBody>
      </p:sp>
      <p:sp>
        <p:nvSpPr>
          <p:cNvPr id="64" name="Shape 60"/>
          <p:cNvSpPr/>
          <p:nvPr/>
        </p:nvSpPr>
        <p:spPr>
          <a:xfrm>
            <a:off x="6080760" y="2395728"/>
            <a:ext cx="2606040" cy="896112"/>
          </a:xfrm>
          <a:prstGeom prst="roundRect">
            <a:avLst>
              <a:gd name="adj" fmla="val 8163"/>
            </a:avLst>
          </a:prstGeom>
          <a:solidFill>
            <a:srgbClr val="D49A00">
              <a:alpha val="13000"/>
            </a:srgbClr>
          </a:solidFill>
          <a:ln w="12700">
            <a:solidFill>
              <a:srgbClr val="D49A00"/>
            </a:solidFill>
            <a:prstDash val="solid"/>
          </a:ln>
        </p:spPr>
      </p:sp>
      <p:pic>
        <p:nvPicPr>
          <p:cNvPr id="65" name="Image 1" descr="preencoded.png"/>
          <p:cNvPicPr>
            <a:picLocks noChangeAspect="1"/>
          </p:cNvPicPr>
          <p:nvPr/>
        </p:nvPicPr>
        <p:blipFill>
          <a:blip r:embed="rId3"/>
          <a:stretch>
            <a:fillRect/>
          </a:stretch>
        </p:blipFill>
        <p:spPr>
          <a:xfrm>
            <a:off x="6217920" y="2505456"/>
            <a:ext cx="219456" cy="219456"/>
          </a:xfrm>
          <a:prstGeom prst="rect">
            <a:avLst/>
          </a:prstGeom>
        </p:spPr>
      </p:pic>
      <p:sp>
        <p:nvSpPr>
          <p:cNvPr id="66" name="Text 61"/>
          <p:cNvSpPr txBox="1"/>
          <p:nvPr/>
        </p:nvSpPr>
        <p:spPr>
          <a:xfrm>
            <a:off x="6510528" y="2487168"/>
            <a:ext cx="2011680" cy="256032"/>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Piège de la statistique</a:t>
            </a:r>
            <a:endParaRPr lang="en-US" sz="1200" dirty="0"/>
          </a:p>
        </p:txBody>
      </p:sp>
      <p:sp>
        <p:nvSpPr>
          <p:cNvPr id="67" name="Text 62"/>
          <p:cNvSpPr txBox="1"/>
          <p:nvPr/>
        </p:nvSpPr>
        <p:spPr>
          <a:xfrm>
            <a:off x="6217920" y="2779776"/>
            <a:ext cx="2377440" cy="475488"/>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Les tuiles donnent des moyennes ; le Speedtest Global Index, des médianes : ne jamais les mélanger.</a:t>
            </a:r>
            <a:endParaRPr lang="en-US" sz="1000" dirty="0"/>
          </a:p>
        </p:txBody>
      </p:sp>
      <p:sp>
        <p:nvSpPr>
          <p:cNvPr id="68" name="Shape 63"/>
          <p:cNvSpPr/>
          <p:nvPr/>
        </p:nvSpPr>
        <p:spPr>
          <a:xfrm>
            <a:off x="6080760" y="3419856"/>
            <a:ext cx="2606040" cy="896112"/>
          </a:xfrm>
          <a:prstGeom prst="roundRect">
            <a:avLst>
              <a:gd name="adj" fmla="val 8163"/>
            </a:avLst>
          </a:prstGeom>
          <a:solidFill>
            <a:srgbClr val="D49A00">
              <a:alpha val="13000"/>
            </a:srgbClr>
          </a:solidFill>
          <a:ln w="12700">
            <a:solidFill>
              <a:srgbClr val="D49A00"/>
            </a:solidFill>
            <a:prstDash val="solid"/>
          </a:ln>
        </p:spPr>
      </p:sp>
      <p:pic>
        <p:nvPicPr>
          <p:cNvPr id="69" name="Image 2" descr="preencoded.png"/>
          <p:cNvPicPr>
            <a:picLocks noChangeAspect="1"/>
          </p:cNvPicPr>
          <p:nvPr/>
        </p:nvPicPr>
        <p:blipFill>
          <a:blip r:embed="rId3"/>
          <a:stretch>
            <a:fillRect/>
          </a:stretch>
        </p:blipFill>
        <p:spPr>
          <a:xfrm>
            <a:off x="6217920" y="3529584"/>
            <a:ext cx="219456" cy="219456"/>
          </a:xfrm>
          <a:prstGeom prst="rect">
            <a:avLst/>
          </a:prstGeom>
        </p:spPr>
      </p:pic>
      <p:sp>
        <p:nvSpPr>
          <p:cNvPr id="70" name="Text 64"/>
          <p:cNvSpPr txBox="1"/>
          <p:nvPr/>
        </p:nvSpPr>
        <p:spPr>
          <a:xfrm>
            <a:off x="6510528" y="3511296"/>
            <a:ext cx="2011680" cy="256032"/>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Piège de l’échantillon</a:t>
            </a:r>
            <a:endParaRPr lang="en-US" sz="1200" dirty="0"/>
          </a:p>
        </p:txBody>
      </p:sp>
      <p:sp>
        <p:nvSpPr>
          <p:cNvPr id="71" name="Text 65"/>
          <p:cNvSpPr txBox="1"/>
          <p:nvPr/>
        </p:nvSpPr>
        <p:spPr>
          <a:xfrm>
            <a:off x="6217920" y="3803904"/>
            <a:ext cx="2377440" cy="475488"/>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Toujours lire tests et devices avant le débit. Fixer et annoncer un minimum.</a:t>
            </a:r>
            <a:endParaRPr lang="en-US" sz="1000" dirty="0"/>
          </a:p>
        </p:txBody>
      </p:sp>
      <p:sp>
        <p:nvSpPr>
          <p:cNvPr id="72" name="Text 66"/>
          <p:cNvSpPr txBox="1"/>
          <p:nvPr/>
        </p:nvSpPr>
        <p:spPr>
          <a:xfrm>
            <a:off x="457200" y="4572000"/>
            <a:ext cx="749808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Source : README teamookla/ookla-open-data (Attributes). Latence en charge ajoutée le 23/02/2023 ; centroïdes le 01/07/2023.</a:t>
            </a:r>
            <a:endParaRPr lang="en-US" sz="90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STRUCTURE</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marL="0" indent="0">
              <a:buNone/>
            </a:pPr>
            <a:r>
              <a:rPr lang="en-US" sz="2300" b="1" dirty="0">
                <a:solidFill>
                  <a:srgbClr val="231F20"/>
                </a:solidFill>
                <a:latin typeface="Calibri" pitchFamily="34" charset="0"/>
                <a:ea typeface="Calibri" pitchFamily="34" charset="-122"/>
                <a:cs typeface="Calibri" pitchFamily="34" charset="-120"/>
              </a:rPr>
              <a:t>Deux couches, diffusées dans des fichiers distincts</a:t>
            </a:r>
            <a:endParaRPr lang="en-US" sz="23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00704A"/>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5DED9"/>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BAD – Data Innovation for Africa (DI4A)  ·  Ookla Open Data et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13</a:t>
            </a:r>
            <a:endParaRPr lang="en-US" sz="850" dirty="0"/>
          </a:p>
        </p:txBody>
      </p:sp>
      <p:sp>
        <p:nvSpPr>
          <p:cNvPr id="17" name="Shape 14"/>
          <p:cNvSpPr/>
          <p:nvPr/>
        </p:nvSpPr>
        <p:spPr>
          <a:xfrm>
            <a:off x="457200" y="1371600"/>
            <a:ext cx="4023360" cy="2331720"/>
          </a:xfrm>
          <a:prstGeom prst="roundRect">
            <a:avLst>
              <a:gd name="adj" fmla="val 3137"/>
            </a:avLst>
          </a:prstGeom>
          <a:solidFill>
            <a:srgbClr val="F4F7F5"/>
          </a:solidFill>
          <a:ln w="9525">
            <a:solidFill>
              <a:srgbClr val="D5DED9"/>
            </a:solidFill>
            <a:prstDash val="solid"/>
          </a:ln>
        </p:spPr>
      </p:sp>
      <p:sp>
        <p:nvSpPr>
          <p:cNvPr id="18" name="Shape 15"/>
          <p:cNvSpPr/>
          <p:nvPr/>
        </p:nvSpPr>
        <p:spPr>
          <a:xfrm>
            <a:off x="640080" y="1508760"/>
            <a:ext cx="493776" cy="493776"/>
          </a:xfrm>
          <a:prstGeom prst="ellipse">
            <a:avLst/>
          </a:prstGeom>
          <a:solidFill>
            <a:srgbClr val="0E7C86">
              <a:alpha val="22000"/>
            </a:srgbClr>
          </a:solidFill>
          <a:ln/>
        </p:spPr>
      </p:sp>
      <p:pic>
        <p:nvPicPr>
          <p:cNvPr id="19" name="Image 0" descr="preencoded.png"/>
          <p:cNvPicPr>
            <a:picLocks noChangeAspect="1"/>
          </p:cNvPicPr>
          <p:nvPr/>
        </p:nvPicPr>
        <p:blipFill>
          <a:blip r:embed="rId3"/>
          <a:stretch>
            <a:fillRect/>
          </a:stretch>
        </p:blipFill>
        <p:spPr>
          <a:xfrm>
            <a:off x="758586" y="1627266"/>
            <a:ext cx="256764" cy="256764"/>
          </a:xfrm>
          <a:prstGeom prst="rect">
            <a:avLst/>
          </a:prstGeom>
        </p:spPr>
      </p:pic>
      <p:sp>
        <p:nvSpPr>
          <p:cNvPr id="20" name="Text 16"/>
          <p:cNvSpPr txBox="1"/>
          <p:nvPr/>
        </p:nvSpPr>
        <p:spPr>
          <a:xfrm>
            <a:off x="1280160" y="1517904"/>
            <a:ext cx="3017520" cy="256032"/>
          </a:xfrm>
          <a:prstGeom prst="rect">
            <a:avLst/>
          </a:prstGeom>
          <a:noFill/>
          <a:ln/>
        </p:spPr>
        <p:txBody>
          <a:bodyPr wrap="square" lIns="0" tIns="0" rIns="0" bIns="0" rtlCol="0" anchor="t"/>
          <a:lstStyle/>
          <a:p>
            <a:pPr marL="0" indent="0">
              <a:buNone/>
            </a:pPr>
            <a:r>
              <a:rPr lang="en-US" sz="1500" b="1" dirty="0">
                <a:solidFill>
                  <a:srgbClr val="231F20"/>
                </a:solidFill>
                <a:latin typeface="Calibri" pitchFamily="34" charset="0"/>
                <a:ea typeface="Calibri" pitchFamily="34" charset="-122"/>
                <a:cs typeface="Calibri" pitchFamily="34" charset="-120"/>
              </a:rPr>
              <a:t>Haut débit fixe</a:t>
            </a:r>
            <a:endParaRPr lang="en-US" sz="1500" dirty="0"/>
          </a:p>
        </p:txBody>
      </p:sp>
      <p:sp>
        <p:nvSpPr>
          <p:cNvPr id="21" name="Text 17"/>
          <p:cNvSpPr txBox="1"/>
          <p:nvPr/>
        </p:nvSpPr>
        <p:spPr>
          <a:xfrm>
            <a:off x="1280160" y="1783080"/>
            <a:ext cx="3017520" cy="219456"/>
          </a:xfrm>
          <a:prstGeom prst="rect">
            <a:avLst/>
          </a:prstGeom>
          <a:noFill/>
          <a:ln/>
        </p:spPr>
        <p:txBody>
          <a:bodyPr wrap="square" lIns="0" tIns="0" rIns="0" bIns="0" rtlCol="0" anchor="t"/>
          <a:lstStyle/>
          <a:p>
            <a:pPr marL="0" indent="0">
              <a:buNone/>
            </a:pPr>
            <a:r>
              <a:rPr lang="en-US" sz="1000" b="1" dirty="0">
                <a:solidFill>
                  <a:srgbClr val="0E7C86"/>
                </a:solidFill>
                <a:latin typeface="Courier New" pitchFamily="34" charset="0"/>
                <a:ea typeface="Courier New" pitchFamily="34" charset="-122"/>
                <a:cs typeface="Courier New" pitchFamily="34" charset="-120"/>
              </a:rPr>
              <a:t>performance_fixed_tiles</a:t>
            </a:r>
            <a:endParaRPr lang="en-US" sz="1000" dirty="0"/>
          </a:p>
        </p:txBody>
      </p:sp>
      <p:sp>
        <p:nvSpPr>
          <p:cNvPr id="22" name="Text 18"/>
          <p:cNvSpPr txBox="1"/>
          <p:nvPr/>
        </p:nvSpPr>
        <p:spPr>
          <a:xfrm>
            <a:off x="685800" y="2194560"/>
            <a:ext cx="3611880" cy="141732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231F20"/>
                </a:solidFill>
                <a:latin typeface="Calibri" pitchFamily="34" charset="0"/>
                <a:ea typeface="Calibri" pitchFamily="34" charset="-122"/>
                <a:cs typeface="Calibri" pitchFamily="34" charset="-120"/>
              </a:rPr>
              <a:t>Tests en Wi-Fi ou Ethernet</a:t>
            </a:r>
            <a:endParaRPr lang="en-US" sz="1250" dirty="0"/>
          </a:p>
          <a:p>
            <a:pPr marL="342900" indent="-342900">
              <a:spcAft>
                <a:spcPts val="800"/>
              </a:spcAft>
              <a:buSzPct val="100000"/>
              <a:buChar char="•"/>
            </a:pPr>
            <a:r>
              <a:rPr lang="en-US" sz="1250" dirty="0">
                <a:solidFill>
                  <a:srgbClr val="231F20"/>
                </a:solidFill>
                <a:latin typeface="Calibri" pitchFamily="34" charset="0"/>
                <a:ea typeface="Calibri" pitchFamily="34" charset="-122"/>
                <a:cs typeface="Calibri" pitchFamily="34" charset="-120"/>
              </a:rPr>
              <a:t>Approche du haut débit à domicile et au bureau</a:t>
            </a:r>
            <a:endParaRPr lang="en-US" sz="1250" dirty="0"/>
          </a:p>
          <a:p>
            <a:pPr marL="342900" indent="-342900">
              <a:spcAft>
                <a:spcPts val="800"/>
              </a:spcAft>
              <a:buSzPct val="100000"/>
              <a:buChar char="•"/>
            </a:pPr>
            <a:r>
              <a:rPr lang="en-US" sz="1250" dirty="0">
                <a:solidFill>
                  <a:srgbClr val="231F20"/>
                </a:solidFill>
                <a:latin typeface="Calibri" pitchFamily="34" charset="0"/>
                <a:ea typeface="Calibri" pitchFamily="34" charset="-122"/>
                <a:cs typeface="Calibri" pitchFamily="34" charset="-120"/>
              </a:rPr>
              <a:t>Attention : en Wi-Fi, on mesure en partie le routeur local, pas la ligne d’accès</a:t>
            </a:r>
            <a:endParaRPr lang="en-US" sz="1250" dirty="0"/>
          </a:p>
        </p:txBody>
      </p:sp>
      <p:sp>
        <p:nvSpPr>
          <p:cNvPr id="23" name="Shape 19"/>
          <p:cNvSpPr/>
          <p:nvPr/>
        </p:nvSpPr>
        <p:spPr>
          <a:xfrm>
            <a:off x="4663440" y="1371600"/>
            <a:ext cx="4023360" cy="2331720"/>
          </a:xfrm>
          <a:prstGeom prst="roundRect">
            <a:avLst>
              <a:gd name="adj" fmla="val 3137"/>
            </a:avLst>
          </a:prstGeom>
          <a:solidFill>
            <a:srgbClr val="F4F7F5"/>
          </a:solidFill>
          <a:ln w="9525">
            <a:solidFill>
              <a:srgbClr val="D5DED9"/>
            </a:solidFill>
            <a:prstDash val="solid"/>
          </a:ln>
        </p:spPr>
      </p:sp>
      <p:sp>
        <p:nvSpPr>
          <p:cNvPr id="24" name="Shape 20"/>
          <p:cNvSpPr/>
          <p:nvPr/>
        </p:nvSpPr>
        <p:spPr>
          <a:xfrm>
            <a:off x="4846320" y="1508760"/>
            <a:ext cx="493776" cy="493776"/>
          </a:xfrm>
          <a:prstGeom prst="ellipse">
            <a:avLst/>
          </a:prstGeom>
          <a:solidFill>
            <a:srgbClr val="00A86A">
              <a:alpha val="22000"/>
            </a:srgbClr>
          </a:solidFill>
          <a:ln/>
        </p:spPr>
      </p:sp>
      <p:pic>
        <p:nvPicPr>
          <p:cNvPr id="25" name="Image 1" descr="preencoded.png"/>
          <p:cNvPicPr>
            <a:picLocks noChangeAspect="1"/>
          </p:cNvPicPr>
          <p:nvPr/>
        </p:nvPicPr>
        <p:blipFill>
          <a:blip r:embed="rId4"/>
          <a:stretch>
            <a:fillRect/>
          </a:stretch>
        </p:blipFill>
        <p:spPr>
          <a:xfrm>
            <a:off x="4964826" y="1627266"/>
            <a:ext cx="256764" cy="256764"/>
          </a:xfrm>
          <a:prstGeom prst="rect">
            <a:avLst/>
          </a:prstGeom>
        </p:spPr>
      </p:pic>
      <p:sp>
        <p:nvSpPr>
          <p:cNvPr id="26" name="Text 21"/>
          <p:cNvSpPr txBox="1"/>
          <p:nvPr/>
        </p:nvSpPr>
        <p:spPr>
          <a:xfrm>
            <a:off x="5486400" y="1517904"/>
            <a:ext cx="3017520" cy="256032"/>
          </a:xfrm>
          <a:prstGeom prst="rect">
            <a:avLst/>
          </a:prstGeom>
          <a:noFill/>
          <a:ln/>
        </p:spPr>
        <p:txBody>
          <a:bodyPr wrap="square" lIns="0" tIns="0" rIns="0" bIns="0" rtlCol="0" anchor="t"/>
          <a:lstStyle/>
          <a:p>
            <a:pPr marL="0" indent="0">
              <a:buNone/>
            </a:pPr>
            <a:r>
              <a:rPr lang="en-US" sz="1500" b="1" dirty="0">
                <a:solidFill>
                  <a:srgbClr val="231F20"/>
                </a:solidFill>
                <a:latin typeface="Calibri" pitchFamily="34" charset="0"/>
                <a:ea typeface="Calibri" pitchFamily="34" charset="-122"/>
                <a:cs typeface="Calibri" pitchFamily="34" charset="-120"/>
              </a:rPr>
              <a:t>Mobile (cellulaire)</a:t>
            </a:r>
            <a:endParaRPr lang="en-US" sz="1500" dirty="0"/>
          </a:p>
        </p:txBody>
      </p:sp>
      <p:sp>
        <p:nvSpPr>
          <p:cNvPr id="27" name="Text 22"/>
          <p:cNvSpPr txBox="1"/>
          <p:nvPr/>
        </p:nvSpPr>
        <p:spPr>
          <a:xfrm>
            <a:off x="5486400" y="1783080"/>
            <a:ext cx="3017520" cy="219456"/>
          </a:xfrm>
          <a:prstGeom prst="rect">
            <a:avLst/>
          </a:prstGeom>
          <a:noFill/>
          <a:ln/>
        </p:spPr>
        <p:txBody>
          <a:bodyPr wrap="square" lIns="0" tIns="0" rIns="0" bIns="0" rtlCol="0" anchor="t"/>
          <a:lstStyle/>
          <a:p>
            <a:pPr marL="0" indent="0">
              <a:buNone/>
            </a:pPr>
            <a:r>
              <a:rPr lang="en-US" sz="1000" b="1" dirty="0">
                <a:solidFill>
                  <a:srgbClr val="00A86A"/>
                </a:solidFill>
                <a:latin typeface="Courier New" pitchFamily="34" charset="0"/>
                <a:ea typeface="Courier New" pitchFamily="34" charset="-122"/>
                <a:cs typeface="Courier New" pitchFamily="34" charset="-120"/>
              </a:rPr>
              <a:t>performance_mobile_tiles</a:t>
            </a:r>
            <a:endParaRPr lang="en-US" sz="1000" dirty="0"/>
          </a:p>
        </p:txBody>
      </p:sp>
      <p:sp>
        <p:nvSpPr>
          <p:cNvPr id="28" name="Text 23"/>
          <p:cNvSpPr txBox="1"/>
          <p:nvPr/>
        </p:nvSpPr>
        <p:spPr>
          <a:xfrm>
            <a:off x="4892040" y="2194560"/>
            <a:ext cx="3611880" cy="141732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231F20"/>
                </a:solidFill>
                <a:latin typeface="Calibri" pitchFamily="34" charset="0"/>
                <a:ea typeface="Calibri" pitchFamily="34" charset="-122"/>
                <a:cs typeface="Calibri" pitchFamily="34" charset="-120"/>
              </a:rPr>
              <a:t>Tests en 4G LTE, 5G NR et autres technologies cellulaires</a:t>
            </a:r>
            <a:endParaRPr lang="en-US" sz="1250" dirty="0"/>
          </a:p>
          <a:p>
            <a:pPr marL="342900" indent="-342900">
              <a:spcAft>
                <a:spcPts val="800"/>
              </a:spcAft>
              <a:buSzPct val="100000"/>
              <a:buChar char="•"/>
            </a:pPr>
            <a:r>
              <a:rPr lang="en-US" sz="1250" dirty="0">
                <a:solidFill>
                  <a:srgbClr val="231F20"/>
                </a:solidFill>
                <a:latin typeface="Calibri" pitchFamily="34" charset="0"/>
                <a:ea typeface="Calibri" pitchFamily="34" charset="-122"/>
                <a:cs typeface="Calibri" pitchFamily="34" charset="-120"/>
              </a:rPr>
              <a:t>Approche de l’expérience là où se trouvent les gens</a:t>
            </a:r>
            <a:endParaRPr lang="en-US" sz="1250" dirty="0"/>
          </a:p>
          <a:p>
            <a:pPr marL="342900" indent="-342900">
              <a:spcAft>
                <a:spcPts val="800"/>
              </a:spcAft>
              <a:buSzPct val="100000"/>
              <a:buChar char="•"/>
            </a:pPr>
            <a:r>
              <a:rPr lang="en-US" sz="1250" dirty="0">
                <a:solidFill>
                  <a:srgbClr val="231F20"/>
                </a:solidFill>
                <a:latin typeface="Calibri" pitchFamily="34" charset="0"/>
                <a:ea typeface="Calibri" pitchFamily="34" charset="-122"/>
                <a:cs typeface="Calibri" pitchFamily="34" charset="-120"/>
              </a:rPr>
              <a:t>Sensible à la réception en intérieur, à la charge des cellules et à l’heure</a:t>
            </a:r>
            <a:endParaRPr lang="en-US" sz="1250" dirty="0"/>
          </a:p>
        </p:txBody>
      </p:sp>
      <p:sp>
        <p:nvSpPr>
          <p:cNvPr id="29" name="Shape 24"/>
          <p:cNvSpPr/>
          <p:nvPr/>
        </p:nvSpPr>
        <p:spPr>
          <a:xfrm>
            <a:off x="457200" y="3840480"/>
            <a:ext cx="8229600" cy="640080"/>
          </a:xfrm>
          <a:prstGeom prst="roundRect">
            <a:avLst>
              <a:gd name="adj" fmla="val 11429"/>
            </a:avLst>
          </a:prstGeom>
          <a:solidFill>
            <a:srgbClr val="E8F5EF"/>
          </a:solidFill>
          <a:ln w="15875">
            <a:solidFill>
              <a:srgbClr val="00A86A"/>
            </a:solidFill>
            <a:prstDash val="solid"/>
          </a:ln>
        </p:spPr>
      </p:sp>
      <p:sp>
        <p:nvSpPr>
          <p:cNvPr id="30" name="Shape 25"/>
          <p:cNvSpPr/>
          <p:nvPr/>
        </p:nvSpPr>
        <p:spPr>
          <a:xfrm>
            <a:off x="594360" y="3950208"/>
            <a:ext cx="420624" cy="420624"/>
          </a:xfrm>
          <a:prstGeom prst="ellipse">
            <a:avLst/>
          </a:prstGeom>
          <a:solidFill>
            <a:srgbClr val="00704A">
              <a:alpha val="22000"/>
            </a:srgbClr>
          </a:solidFill>
          <a:ln/>
        </p:spPr>
      </p:sp>
      <p:pic>
        <p:nvPicPr>
          <p:cNvPr id="31" name="Image 2" descr="preencoded.png"/>
          <p:cNvPicPr>
            <a:picLocks noChangeAspect="1"/>
          </p:cNvPicPr>
          <p:nvPr/>
        </p:nvPicPr>
        <p:blipFill>
          <a:blip r:embed="rId5"/>
          <a:stretch>
            <a:fillRect/>
          </a:stretch>
        </p:blipFill>
        <p:spPr>
          <a:xfrm>
            <a:off x="695310" y="4051158"/>
            <a:ext cx="218724" cy="218724"/>
          </a:xfrm>
          <a:prstGeom prst="rect">
            <a:avLst/>
          </a:prstGeom>
        </p:spPr>
      </p:pic>
      <p:sp>
        <p:nvSpPr>
          <p:cNvPr id="32" name="Text 26"/>
          <p:cNvSpPr txBox="1"/>
          <p:nvPr/>
        </p:nvSpPr>
        <p:spPr>
          <a:xfrm>
            <a:off x="1143000" y="3840480"/>
            <a:ext cx="7406640" cy="640080"/>
          </a:xfrm>
          <a:prstGeom prst="rect">
            <a:avLst/>
          </a:prstGeom>
          <a:noFill/>
          <a:ln/>
        </p:spPr>
        <p:txBody>
          <a:bodyPr wrap="square" lIns="0" tIns="0" rIns="0" bIns="0" rtlCol="0" anchor="ctr"/>
          <a:lstStyle/>
          <a:p>
            <a:pPr marL="0" indent="0">
              <a:buNone/>
            </a:pPr>
            <a:r>
              <a:rPr lang="en-US" sz="1200" b="1" dirty="0">
                <a:solidFill>
                  <a:srgbClr val="00704A"/>
                </a:solidFill>
                <a:latin typeface="Calibri" pitchFamily="34" charset="0"/>
                <a:ea typeface="Calibri" pitchFamily="34" charset="-122"/>
                <a:cs typeface="Calibri" pitchFamily="34" charset="-120"/>
              </a:rPr>
              <a:t>Nommage des fichiers : </a:t>
            </a:r>
            <a:r>
              <a:rPr lang="en-US" sz="1200" dirty="0">
                <a:solidFill>
                  <a:srgbClr val="231F20"/>
                </a:solidFill>
                <a:latin typeface="Calibri" pitchFamily="34" charset="0"/>
                <a:ea typeface="Calibri" pitchFamily="34" charset="-122"/>
                <a:cs typeface="Calibri" pitchFamily="34" charset="-120"/>
              </a:rPr>
              <a:t>date du 1er jour du trimestre, ex. </a:t>
            </a:r>
            <a:r>
              <a:rPr lang="en-US" sz="1050" dirty="0">
                <a:solidFill>
                  <a:srgbClr val="231F20"/>
                </a:solidFill>
                <a:latin typeface="Courier New" pitchFamily="34" charset="0"/>
                <a:ea typeface="Courier New" pitchFamily="34" charset="-122"/>
                <a:cs typeface="Courier New" pitchFamily="34" charset="-120"/>
              </a:rPr>
              <a:t>2025-10-01_performance_mobile_tiles.parquet</a:t>
            </a:r>
            <a:r>
              <a:rPr lang="en-US" sz="1200" dirty="0">
                <a:solidFill>
                  <a:srgbClr val="231F20"/>
                </a:solidFill>
                <a:latin typeface="Calibri" pitchFamily="34" charset="0"/>
                <a:ea typeface="Calibri" pitchFamily="34" charset="-122"/>
                <a:cs typeface="Calibri" pitchFamily="34" charset="-120"/>
              </a:rPr>
              <a:t> = T4 2025.</a:t>
            </a:r>
            <a:endParaRPr lang="en-US" sz="1200" dirty="0"/>
          </a:p>
        </p:txBody>
      </p:sp>
      <p:sp>
        <p:nvSpPr>
          <p:cNvPr id="33" name="Text 27"/>
          <p:cNvSpPr txBox="1"/>
          <p:nvPr/>
        </p:nvSpPr>
        <p:spPr>
          <a:xfrm>
            <a:off x="457200" y="4572000"/>
            <a:ext cx="749808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Source : README teamookla/ookla-open-data.</a:t>
            </a:r>
            <a:endParaRPr lang="en-US" sz="900"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COUVERTURE ET FRÉQUENCE</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Sept ans de trimestres, et ce qui a changé</a:t>
            </a:r>
            <a:endParaRPr lang="en-US" sz="28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00704A"/>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5DED9"/>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BAD – Data Innovation for Africa (DI4A)  ·  Ookla Open Data et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14</a:t>
            </a:r>
            <a:endParaRPr lang="en-US" sz="850" dirty="0"/>
          </a:p>
        </p:txBody>
      </p:sp>
      <p:sp>
        <p:nvSpPr>
          <p:cNvPr id="17" name="Shape 14"/>
          <p:cNvSpPr/>
          <p:nvPr/>
        </p:nvSpPr>
        <p:spPr>
          <a:xfrm>
            <a:off x="822960" y="1828800"/>
            <a:ext cx="7498080" cy="0"/>
          </a:xfrm>
          <a:prstGeom prst="line">
            <a:avLst/>
          </a:prstGeom>
          <a:noFill/>
          <a:ln w="31750">
            <a:solidFill>
              <a:srgbClr val="D5DED9"/>
            </a:solidFill>
            <a:prstDash val="solid"/>
          </a:ln>
        </p:spPr>
      </p:sp>
      <p:sp>
        <p:nvSpPr>
          <p:cNvPr id="18" name="Shape 15"/>
          <p:cNvSpPr/>
          <p:nvPr/>
        </p:nvSpPr>
        <p:spPr>
          <a:xfrm>
            <a:off x="731520" y="1691640"/>
            <a:ext cx="274320" cy="274320"/>
          </a:xfrm>
          <a:prstGeom prst="ellipse">
            <a:avLst/>
          </a:prstGeom>
          <a:solidFill>
            <a:srgbClr val="00704A"/>
          </a:solidFill>
          <a:ln w="25400">
            <a:solidFill>
              <a:srgbClr val="FFFFFF"/>
            </a:solidFill>
            <a:prstDash val="solid"/>
          </a:ln>
        </p:spPr>
      </p:sp>
      <p:sp>
        <p:nvSpPr>
          <p:cNvPr id="19" name="Text 16"/>
          <p:cNvSpPr txBox="1"/>
          <p:nvPr/>
        </p:nvSpPr>
        <p:spPr>
          <a:xfrm>
            <a:off x="365760" y="1325880"/>
            <a:ext cx="1005840" cy="274320"/>
          </a:xfrm>
          <a:prstGeom prst="rect">
            <a:avLst/>
          </a:prstGeom>
          <a:noFill/>
          <a:ln/>
        </p:spPr>
        <p:txBody>
          <a:bodyPr wrap="square" lIns="0" tIns="0" rIns="0" bIns="0" rtlCol="0" anchor="t"/>
          <a:lstStyle/>
          <a:p>
            <a:pPr marL="0" indent="0" algn="ctr">
              <a:buNone/>
            </a:pPr>
            <a:r>
              <a:rPr lang="en-US" sz="1300" b="1" dirty="0">
                <a:solidFill>
                  <a:srgbClr val="00704A"/>
                </a:solidFill>
                <a:latin typeface="Calibri" pitchFamily="34" charset="0"/>
                <a:ea typeface="Calibri" pitchFamily="34" charset="-122"/>
                <a:cs typeface="Calibri" pitchFamily="34" charset="-120"/>
              </a:rPr>
              <a:t>T1 2019</a:t>
            </a:r>
            <a:endParaRPr lang="en-US" sz="1300" dirty="0"/>
          </a:p>
        </p:txBody>
      </p:sp>
      <p:sp>
        <p:nvSpPr>
          <p:cNvPr id="20" name="Shape 17"/>
          <p:cNvSpPr/>
          <p:nvPr/>
        </p:nvSpPr>
        <p:spPr>
          <a:xfrm>
            <a:off x="411480" y="2148840"/>
            <a:ext cx="1554480" cy="914400"/>
          </a:xfrm>
          <a:prstGeom prst="roundRect">
            <a:avLst>
              <a:gd name="adj" fmla="val 8000"/>
            </a:avLst>
          </a:prstGeom>
          <a:solidFill>
            <a:srgbClr val="F4F7F5"/>
          </a:solidFill>
          <a:ln w="9525">
            <a:solidFill>
              <a:srgbClr val="D5DED9"/>
            </a:solidFill>
            <a:prstDash val="solid"/>
          </a:ln>
        </p:spPr>
      </p:sp>
      <p:sp>
        <p:nvSpPr>
          <p:cNvPr id="21" name="Text 18"/>
          <p:cNvSpPr txBox="1"/>
          <p:nvPr/>
        </p:nvSpPr>
        <p:spPr>
          <a:xfrm>
            <a:off x="521208" y="2240280"/>
            <a:ext cx="1335024" cy="777240"/>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Premier trimestre publié ; série continue depuis</a:t>
            </a:r>
            <a:endParaRPr lang="en-US" sz="1000" dirty="0"/>
          </a:p>
        </p:txBody>
      </p:sp>
      <p:sp>
        <p:nvSpPr>
          <p:cNvPr id="22" name="Shape 19"/>
          <p:cNvSpPr/>
          <p:nvPr/>
        </p:nvSpPr>
        <p:spPr>
          <a:xfrm>
            <a:off x="2423160" y="1691640"/>
            <a:ext cx="274320" cy="274320"/>
          </a:xfrm>
          <a:prstGeom prst="ellipse">
            <a:avLst/>
          </a:prstGeom>
          <a:solidFill>
            <a:srgbClr val="00704A"/>
          </a:solidFill>
          <a:ln w="25400">
            <a:solidFill>
              <a:srgbClr val="FFFFFF"/>
            </a:solidFill>
            <a:prstDash val="solid"/>
          </a:ln>
        </p:spPr>
      </p:sp>
      <p:sp>
        <p:nvSpPr>
          <p:cNvPr id="23" name="Text 20"/>
          <p:cNvSpPr txBox="1"/>
          <p:nvPr/>
        </p:nvSpPr>
        <p:spPr>
          <a:xfrm>
            <a:off x="2057400" y="1325880"/>
            <a:ext cx="1005840" cy="274320"/>
          </a:xfrm>
          <a:prstGeom prst="rect">
            <a:avLst/>
          </a:prstGeom>
          <a:noFill/>
          <a:ln/>
        </p:spPr>
        <p:txBody>
          <a:bodyPr wrap="square" lIns="0" tIns="0" rIns="0" bIns="0" rtlCol="0" anchor="t"/>
          <a:lstStyle/>
          <a:p>
            <a:pPr marL="0" indent="0" algn="ctr">
              <a:buNone/>
            </a:pPr>
            <a:r>
              <a:rPr lang="en-US" sz="1300" b="1" dirty="0">
                <a:solidFill>
                  <a:srgbClr val="00704A"/>
                </a:solidFill>
                <a:latin typeface="Calibri" pitchFamily="34" charset="0"/>
                <a:ea typeface="Calibri" pitchFamily="34" charset="-122"/>
                <a:cs typeface="Calibri" pitchFamily="34" charset="-120"/>
              </a:rPr>
              <a:t>Févr. 2023</a:t>
            </a:r>
            <a:endParaRPr lang="en-US" sz="1300" dirty="0"/>
          </a:p>
        </p:txBody>
      </p:sp>
      <p:sp>
        <p:nvSpPr>
          <p:cNvPr id="24" name="Shape 21"/>
          <p:cNvSpPr/>
          <p:nvPr/>
        </p:nvSpPr>
        <p:spPr>
          <a:xfrm>
            <a:off x="2103120" y="2148840"/>
            <a:ext cx="1554480" cy="914400"/>
          </a:xfrm>
          <a:prstGeom prst="roundRect">
            <a:avLst>
              <a:gd name="adj" fmla="val 8000"/>
            </a:avLst>
          </a:prstGeom>
          <a:solidFill>
            <a:srgbClr val="F4F7F5"/>
          </a:solidFill>
          <a:ln w="9525">
            <a:solidFill>
              <a:srgbClr val="D5DED9"/>
            </a:solidFill>
            <a:prstDash val="solid"/>
          </a:ln>
        </p:spPr>
      </p:sp>
      <p:sp>
        <p:nvSpPr>
          <p:cNvPr id="25" name="Text 22"/>
          <p:cNvSpPr txBox="1"/>
          <p:nvPr/>
        </p:nvSpPr>
        <p:spPr>
          <a:xfrm>
            <a:off x="2212848" y="2240280"/>
            <a:ext cx="1335024" cy="777240"/>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Ajout de la latence en charge (Parquet uniquement)</a:t>
            </a:r>
            <a:endParaRPr lang="en-US" sz="1000" dirty="0"/>
          </a:p>
        </p:txBody>
      </p:sp>
      <p:sp>
        <p:nvSpPr>
          <p:cNvPr id="26" name="Shape 23"/>
          <p:cNvSpPr/>
          <p:nvPr/>
        </p:nvSpPr>
        <p:spPr>
          <a:xfrm>
            <a:off x="4114800" y="1691640"/>
            <a:ext cx="274320" cy="274320"/>
          </a:xfrm>
          <a:prstGeom prst="ellipse">
            <a:avLst/>
          </a:prstGeom>
          <a:solidFill>
            <a:srgbClr val="00704A"/>
          </a:solidFill>
          <a:ln w="25400">
            <a:solidFill>
              <a:srgbClr val="FFFFFF"/>
            </a:solidFill>
            <a:prstDash val="solid"/>
          </a:ln>
        </p:spPr>
      </p:sp>
      <p:sp>
        <p:nvSpPr>
          <p:cNvPr id="27" name="Text 24"/>
          <p:cNvSpPr txBox="1"/>
          <p:nvPr/>
        </p:nvSpPr>
        <p:spPr>
          <a:xfrm>
            <a:off x="3749040" y="1325880"/>
            <a:ext cx="1005840" cy="274320"/>
          </a:xfrm>
          <a:prstGeom prst="rect">
            <a:avLst/>
          </a:prstGeom>
          <a:noFill/>
          <a:ln/>
        </p:spPr>
        <p:txBody>
          <a:bodyPr wrap="square" lIns="0" tIns="0" rIns="0" bIns="0" rtlCol="0" anchor="t"/>
          <a:lstStyle/>
          <a:p>
            <a:pPr marL="0" indent="0" algn="ctr">
              <a:buNone/>
            </a:pPr>
            <a:r>
              <a:rPr lang="en-US" sz="1300" b="1" dirty="0">
                <a:solidFill>
                  <a:srgbClr val="00704A"/>
                </a:solidFill>
                <a:latin typeface="Calibri" pitchFamily="34" charset="0"/>
                <a:ea typeface="Calibri" pitchFamily="34" charset="-122"/>
                <a:cs typeface="Calibri" pitchFamily="34" charset="-120"/>
              </a:rPr>
              <a:t>Juil. 2023</a:t>
            </a:r>
            <a:endParaRPr lang="en-US" sz="1300" dirty="0"/>
          </a:p>
        </p:txBody>
      </p:sp>
      <p:sp>
        <p:nvSpPr>
          <p:cNvPr id="28" name="Shape 25"/>
          <p:cNvSpPr/>
          <p:nvPr/>
        </p:nvSpPr>
        <p:spPr>
          <a:xfrm>
            <a:off x="3794760" y="2148840"/>
            <a:ext cx="1554480" cy="914400"/>
          </a:xfrm>
          <a:prstGeom prst="roundRect">
            <a:avLst>
              <a:gd name="adj" fmla="val 8000"/>
            </a:avLst>
          </a:prstGeom>
          <a:solidFill>
            <a:srgbClr val="F4F7F5"/>
          </a:solidFill>
          <a:ln w="9525">
            <a:solidFill>
              <a:srgbClr val="D5DED9"/>
            </a:solidFill>
            <a:prstDash val="solid"/>
          </a:ln>
        </p:spPr>
      </p:sp>
      <p:sp>
        <p:nvSpPr>
          <p:cNvPr id="29" name="Text 26"/>
          <p:cNvSpPr txBox="1"/>
          <p:nvPr/>
        </p:nvSpPr>
        <p:spPr>
          <a:xfrm>
            <a:off x="3904488" y="2240280"/>
            <a:ext cx="1335024" cy="777240"/>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Ajout des centroïdes tile_x, tile_y</a:t>
            </a:r>
            <a:endParaRPr lang="en-US" sz="1000" dirty="0"/>
          </a:p>
        </p:txBody>
      </p:sp>
      <p:sp>
        <p:nvSpPr>
          <p:cNvPr id="30" name="Shape 27"/>
          <p:cNvSpPr/>
          <p:nvPr/>
        </p:nvSpPr>
        <p:spPr>
          <a:xfrm>
            <a:off x="5806440" y="1691640"/>
            <a:ext cx="274320" cy="274320"/>
          </a:xfrm>
          <a:prstGeom prst="ellipse">
            <a:avLst/>
          </a:prstGeom>
          <a:solidFill>
            <a:srgbClr val="B83B2E"/>
          </a:solidFill>
          <a:ln w="25400">
            <a:solidFill>
              <a:srgbClr val="FFFFFF"/>
            </a:solidFill>
            <a:prstDash val="solid"/>
          </a:ln>
        </p:spPr>
      </p:sp>
      <p:sp>
        <p:nvSpPr>
          <p:cNvPr id="31" name="Text 28"/>
          <p:cNvSpPr txBox="1"/>
          <p:nvPr/>
        </p:nvSpPr>
        <p:spPr>
          <a:xfrm>
            <a:off x="5440680" y="1325880"/>
            <a:ext cx="1005840" cy="274320"/>
          </a:xfrm>
          <a:prstGeom prst="rect">
            <a:avLst/>
          </a:prstGeom>
          <a:noFill/>
          <a:ln/>
        </p:spPr>
        <p:txBody>
          <a:bodyPr wrap="square" lIns="0" tIns="0" rIns="0" bIns="0" rtlCol="0" anchor="t"/>
          <a:lstStyle/>
          <a:p>
            <a:pPr marL="0" indent="0" algn="ctr">
              <a:buNone/>
            </a:pPr>
            <a:r>
              <a:rPr lang="en-US" sz="1300" b="1" dirty="0">
                <a:solidFill>
                  <a:srgbClr val="B83B2E"/>
                </a:solidFill>
                <a:latin typeface="Calibri" pitchFamily="34" charset="0"/>
                <a:ea typeface="Calibri" pitchFamily="34" charset="-122"/>
                <a:cs typeface="Calibri" pitchFamily="34" charset="-120"/>
              </a:rPr>
              <a:t>Avr. 2026</a:t>
            </a:r>
            <a:endParaRPr lang="en-US" sz="1300" dirty="0"/>
          </a:p>
        </p:txBody>
      </p:sp>
      <p:sp>
        <p:nvSpPr>
          <p:cNvPr id="32" name="Shape 29"/>
          <p:cNvSpPr/>
          <p:nvPr/>
        </p:nvSpPr>
        <p:spPr>
          <a:xfrm>
            <a:off x="5486400" y="2148840"/>
            <a:ext cx="1554480" cy="914400"/>
          </a:xfrm>
          <a:prstGeom prst="roundRect">
            <a:avLst>
              <a:gd name="adj" fmla="val 8000"/>
            </a:avLst>
          </a:prstGeom>
          <a:solidFill>
            <a:srgbClr val="FBEDEB"/>
          </a:solidFill>
          <a:ln w="15875">
            <a:solidFill>
              <a:srgbClr val="B83B2E"/>
            </a:solidFill>
            <a:prstDash val="solid"/>
          </a:ln>
        </p:spPr>
      </p:sp>
      <p:sp>
        <p:nvSpPr>
          <p:cNvPr id="33" name="Text 30"/>
          <p:cNvSpPr txBox="1"/>
          <p:nvPr/>
        </p:nvSpPr>
        <p:spPr>
          <a:xfrm>
            <a:off x="5596128" y="2240280"/>
            <a:ext cx="1335024" cy="777240"/>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Régions prises en charge révisées : certaines zones retirées</a:t>
            </a:r>
            <a:endParaRPr lang="en-US" sz="1000" dirty="0"/>
          </a:p>
        </p:txBody>
      </p:sp>
      <p:sp>
        <p:nvSpPr>
          <p:cNvPr id="34" name="Shape 31"/>
          <p:cNvSpPr/>
          <p:nvPr/>
        </p:nvSpPr>
        <p:spPr>
          <a:xfrm>
            <a:off x="7498080" y="1691640"/>
            <a:ext cx="274320" cy="274320"/>
          </a:xfrm>
          <a:prstGeom prst="ellipse">
            <a:avLst/>
          </a:prstGeom>
          <a:solidFill>
            <a:srgbClr val="00704A"/>
          </a:solidFill>
          <a:ln w="25400">
            <a:solidFill>
              <a:srgbClr val="FFFFFF"/>
            </a:solidFill>
            <a:prstDash val="solid"/>
          </a:ln>
        </p:spPr>
      </p:sp>
      <p:sp>
        <p:nvSpPr>
          <p:cNvPr id="35" name="Text 32"/>
          <p:cNvSpPr txBox="1"/>
          <p:nvPr/>
        </p:nvSpPr>
        <p:spPr>
          <a:xfrm>
            <a:off x="7132320" y="1325880"/>
            <a:ext cx="1005840" cy="274320"/>
          </a:xfrm>
          <a:prstGeom prst="rect">
            <a:avLst/>
          </a:prstGeom>
          <a:noFill/>
          <a:ln/>
        </p:spPr>
        <p:txBody>
          <a:bodyPr wrap="square" lIns="0" tIns="0" rIns="0" bIns="0" rtlCol="0" anchor="t"/>
          <a:lstStyle/>
          <a:p>
            <a:pPr marL="0" indent="0" algn="ctr">
              <a:buNone/>
            </a:pPr>
            <a:r>
              <a:rPr lang="en-US" sz="1300" b="1" dirty="0">
                <a:solidFill>
                  <a:srgbClr val="00704A"/>
                </a:solidFill>
                <a:latin typeface="Calibri" pitchFamily="34" charset="0"/>
                <a:ea typeface="Calibri" pitchFamily="34" charset="-122"/>
                <a:cs typeface="Calibri" pitchFamily="34" charset="-120"/>
              </a:rPr>
              <a:t>Aujourd’hui</a:t>
            </a:r>
            <a:endParaRPr lang="en-US" sz="1300" dirty="0"/>
          </a:p>
        </p:txBody>
      </p:sp>
      <p:sp>
        <p:nvSpPr>
          <p:cNvPr id="36" name="Shape 33"/>
          <p:cNvSpPr/>
          <p:nvPr/>
        </p:nvSpPr>
        <p:spPr>
          <a:xfrm>
            <a:off x="7178040" y="2148840"/>
            <a:ext cx="1554480" cy="914400"/>
          </a:xfrm>
          <a:prstGeom prst="roundRect">
            <a:avLst>
              <a:gd name="adj" fmla="val 8000"/>
            </a:avLst>
          </a:prstGeom>
          <a:solidFill>
            <a:srgbClr val="F4F7F5"/>
          </a:solidFill>
          <a:ln w="9525">
            <a:solidFill>
              <a:srgbClr val="D5DED9"/>
            </a:solidFill>
            <a:prstDash val="solid"/>
          </a:ln>
        </p:spPr>
      </p:sp>
      <p:sp>
        <p:nvSpPr>
          <p:cNvPr id="37" name="Text 34"/>
          <p:cNvSpPr txBox="1"/>
          <p:nvPr/>
        </p:nvSpPr>
        <p:spPr>
          <a:xfrm>
            <a:off x="7287768" y="2240280"/>
            <a:ext cx="1335024" cy="777240"/>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Vérifier dans le bucket le dernier trimestre publié</a:t>
            </a:r>
            <a:endParaRPr lang="en-US" sz="1000" dirty="0"/>
          </a:p>
        </p:txBody>
      </p:sp>
      <p:sp>
        <p:nvSpPr>
          <p:cNvPr id="38" name="Shape 35"/>
          <p:cNvSpPr/>
          <p:nvPr/>
        </p:nvSpPr>
        <p:spPr>
          <a:xfrm>
            <a:off x="457200" y="3291840"/>
            <a:ext cx="3977640" cy="1188720"/>
          </a:xfrm>
          <a:prstGeom prst="roundRect">
            <a:avLst>
              <a:gd name="adj" fmla="val 6154"/>
            </a:avLst>
          </a:prstGeom>
          <a:solidFill>
            <a:srgbClr val="D49A00">
              <a:alpha val="13000"/>
            </a:srgbClr>
          </a:solidFill>
          <a:ln w="12700">
            <a:solidFill>
              <a:srgbClr val="D49A00"/>
            </a:solidFill>
            <a:prstDash val="solid"/>
          </a:ln>
        </p:spPr>
      </p:sp>
      <p:pic>
        <p:nvPicPr>
          <p:cNvPr id="39" name="Image 0" descr="preencoded.png"/>
          <p:cNvPicPr>
            <a:picLocks noChangeAspect="1"/>
          </p:cNvPicPr>
          <p:nvPr/>
        </p:nvPicPr>
        <p:blipFill>
          <a:blip r:embed="rId3"/>
          <a:stretch>
            <a:fillRect/>
          </a:stretch>
        </p:blipFill>
        <p:spPr>
          <a:xfrm>
            <a:off x="621792" y="3401568"/>
            <a:ext cx="256032" cy="256032"/>
          </a:xfrm>
          <a:prstGeom prst="rect">
            <a:avLst/>
          </a:prstGeom>
        </p:spPr>
      </p:pic>
      <p:sp>
        <p:nvSpPr>
          <p:cNvPr id="40" name="Text 36"/>
          <p:cNvSpPr txBox="1"/>
          <p:nvPr/>
        </p:nvSpPr>
        <p:spPr>
          <a:xfrm>
            <a:off x="960120" y="3401568"/>
            <a:ext cx="3383280" cy="256032"/>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Étape zéro : vérifier la couverture nationale</a:t>
            </a:r>
            <a:endParaRPr lang="en-US" sz="1250" dirty="0"/>
          </a:p>
        </p:txBody>
      </p:sp>
      <p:sp>
        <p:nvSpPr>
          <p:cNvPr id="41" name="Text 37"/>
          <p:cNvSpPr txBox="1"/>
          <p:nvPr/>
        </p:nvSpPr>
        <p:spPr>
          <a:xfrm>
            <a:off x="621792" y="3703320"/>
            <a:ext cx="3703320" cy="731520"/>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Compter tuiles et tests pour votre pays au dernier trimestre et au même trimestre un an plus tôt, avant de concevoir tout indicateur.</a:t>
            </a:r>
            <a:endParaRPr lang="en-US" sz="1050" dirty="0"/>
          </a:p>
        </p:txBody>
      </p:sp>
      <p:sp>
        <p:nvSpPr>
          <p:cNvPr id="42" name="Shape 38"/>
          <p:cNvSpPr/>
          <p:nvPr/>
        </p:nvSpPr>
        <p:spPr>
          <a:xfrm>
            <a:off x="4709160" y="3291840"/>
            <a:ext cx="3977640" cy="1188720"/>
          </a:xfrm>
          <a:prstGeom prst="roundRect">
            <a:avLst>
              <a:gd name="adj" fmla="val 6154"/>
            </a:avLst>
          </a:prstGeom>
          <a:solidFill>
            <a:srgbClr val="F4F7F5"/>
          </a:solidFill>
          <a:ln w="9525">
            <a:solidFill>
              <a:srgbClr val="D5DED9"/>
            </a:solidFill>
            <a:prstDash val="solid"/>
          </a:ln>
        </p:spPr>
      </p:sp>
      <p:sp>
        <p:nvSpPr>
          <p:cNvPr id="43" name="Shape 39"/>
          <p:cNvSpPr/>
          <p:nvPr/>
        </p:nvSpPr>
        <p:spPr>
          <a:xfrm>
            <a:off x="4846320" y="3401568"/>
            <a:ext cx="420624" cy="420624"/>
          </a:xfrm>
          <a:prstGeom prst="ellipse">
            <a:avLst/>
          </a:prstGeom>
          <a:solidFill>
            <a:srgbClr val="0E7C86">
              <a:alpha val="22000"/>
            </a:srgbClr>
          </a:solidFill>
          <a:ln/>
        </p:spPr>
      </p:sp>
      <p:pic>
        <p:nvPicPr>
          <p:cNvPr id="44" name="Image 1" descr="preencoded.png"/>
          <p:cNvPicPr>
            <a:picLocks noChangeAspect="1"/>
          </p:cNvPicPr>
          <p:nvPr/>
        </p:nvPicPr>
        <p:blipFill>
          <a:blip r:embed="rId4"/>
          <a:stretch>
            <a:fillRect/>
          </a:stretch>
        </p:blipFill>
        <p:spPr>
          <a:xfrm>
            <a:off x="4947270" y="3502518"/>
            <a:ext cx="218724" cy="218724"/>
          </a:xfrm>
          <a:prstGeom prst="rect">
            <a:avLst/>
          </a:prstGeom>
        </p:spPr>
      </p:pic>
      <p:sp>
        <p:nvSpPr>
          <p:cNvPr id="45" name="Text 40"/>
          <p:cNvSpPr txBox="1"/>
          <p:nvPr/>
        </p:nvSpPr>
        <p:spPr>
          <a:xfrm>
            <a:off x="5394960" y="3419856"/>
            <a:ext cx="3200400" cy="256032"/>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Ré-agrégation (vie privée)</a:t>
            </a:r>
            <a:endParaRPr lang="en-US" sz="1250" dirty="0"/>
          </a:p>
        </p:txBody>
      </p:sp>
      <p:sp>
        <p:nvSpPr>
          <p:cNvPr id="46" name="Text 41"/>
          <p:cNvSpPr txBox="1"/>
          <p:nvPr/>
        </p:nvSpPr>
        <p:spPr>
          <a:xfrm>
            <a:off x="4846320" y="3840480"/>
            <a:ext cx="3703320" cy="621792"/>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Les données sont ré-agrégées pour respecter RGPD, CCPA et LGPD. Un même trimestre téléchargé deux fois peut différer : notez la date d’accès.</a:t>
            </a:r>
            <a:endParaRPr lang="en-US" sz="1050" dirty="0"/>
          </a:p>
        </p:txBody>
      </p:sp>
      <p:sp>
        <p:nvSpPr>
          <p:cNvPr id="47" name="Text 42"/>
          <p:cNvSpPr txBox="1"/>
          <p:nvPr/>
        </p:nvSpPr>
        <p:spPr>
          <a:xfrm>
            <a:off x="457200" y="4572000"/>
            <a:ext cx="749808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Source : README teamookla/ookla-open-data (journal des modifications, 16 avril 2026). Dernier trimestre disponible à confirmer le jour même.</a:t>
            </a:r>
            <a:endParaRPr lang="en-US" sz="90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p:spPr>
      </p:sp>
      <p:sp>
        <p:nvSpPr>
          <p:cNvPr id="3" name="Text 1"/>
          <p:cNvSpPr txBox="1"/>
          <p:nvPr/>
        </p:nvSpPr>
        <p:spPr>
          <a:xfrm>
            <a:off x="548640" y="822960"/>
            <a:ext cx="3657600" cy="228600"/>
          </a:xfrm>
          <a:prstGeom prst="rect">
            <a:avLst/>
          </a:prstGeom>
          <a:noFill/>
          <a:ln/>
        </p:spPr>
        <p:txBody>
          <a:bodyPr wrap="square" lIns="0" tIns="0" rIns="0" bIns="0" rtlCol="0" anchor="t"/>
          <a:lstStyle/>
          <a:p>
            <a:pPr marL="0" indent="0">
              <a:buNone/>
            </a:pPr>
            <a:r>
              <a:rPr lang="en-US" sz="1100" b="1" kern="0" spc="300" dirty="0">
                <a:solidFill>
                  <a:srgbClr val="F5C242"/>
                </a:solidFill>
                <a:latin typeface="Calibri" pitchFamily="34" charset="0"/>
                <a:ea typeface="Calibri" pitchFamily="34" charset="-122"/>
                <a:cs typeface="Calibri" pitchFamily="34" charset="-120"/>
              </a:rPr>
              <a:t>SECTION 03</a:t>
            </a:r>
            <a:endParaRPr lang="en-US" sz="1100" dirty="0"/>
          </a:p>
        </p:txBody>
      </p:sp>
      <p:sp>
        <p:nvSpPr>
          <p:cNvPr id="4" name="Text 2"/>
          <p:cNvSpPr txBox="1"/>
          <p:nvPr/>
        </p:nvSpPr>
        <p:spPr>
          <a:xfrm>
            <a:off x="502920" y="1051560"/>
            <a:ext cx="2743200" cy="1234440"/>
          </a:xfrm>
          <a:prstGeom prst="rect">
            <a:avLst/>
          </a:prstGeom>
          <a:noFill/>
          <a:ln/>
        </p:spPr>
        <p:txBody>
          <a:bodyPr wrap="square" lIns="0" tIns="0" rIns="0" bIns="0" rtlCol="0" anchor="ctr"/>
          <a:lstStyle/>
          <a:p>
            <a:pPr marL="0" indent="0">
              <a:buNone/>
            </a:pPr>
            <a:r>
              <a:rPr lang="en-US" sz="9600" b="1" dirty="0">
                <a:solidFill>
                  <a:srgbClr val="F5C242"/>
                </a:solidFill>
                <a:latin typeface="Calibri" pitchFamily="34" charset="0"/>
                <a:ea typeface="Calibri" pitchFamily="34" charset="-122"/>
                <a:cs typeface="Calibri" pitchFamily="34" charset="-120"/>
              </a:rPr>
              <a:t>03</a:t>
            </a:r>
            <a:endParaRPr lang="en-US" sz="9600" dirty="0"/>
          </a:p>
        </p:txBody>
      </p:sp>
      <p:sp>
        <p:nvSpPr>
          <p:cNvPr id="5" name="Text 3"/>
          <p:cNvSpPr txBox="1"/>
          <p:nvPr/>
        </p:nvSpPr>
        <p:spPr>
          <a:xfrm>
            <a:off x="548640" y="2286000"/>
            <a:ext cx="5212080" cy="1051560"/>
          </a:xfrm>
          <a:prstGeom prst="rect">
            <a:avLst/>
          </a:prstGeom>
          <a:noFill/>
          <a:ln/>
        </p:spPr>
        <p:txBody>
          <a:bodyPr wrap="square" lIns="0" tIns="0" rIns="0" bIns="0" rtlCol="0" anchor="t"/>
          <a:lstStyle/>
          <a:p>
            <a:pPr marL="0" indent="0">
              <a:buNone/>
            </a:pPr>
            <a:r>
              <a:rPr lang="en-US" sz="3200" b="1" dirty="0">
                <a:solidFill>
                  <a:srgbClr val="FFFFFF"/>
                </a:solidFill>
                <a:latin typeface="Calibri" pitchFamily="34" charset="0"/>
                <a:ea typeface="Calibri" pitchFamily="34" charset="-122"/>
                <a:cs typeface="Calibri" pitchFamily="34" charset="-120"/>
              </a:rPr>
              <a:t>Accès et licence</a:t>
            </a:r>
            <a:endParaRPr lang="en-US" sz="3200" dirty="0"/>
          </a:p>
        </p:txBody>
      </p:sp>
      <p:sp>
        <p:nvSpPr>
          <p:cNvPr id="6" name="Text 4"/>
          <p:cNvSpPr txBox="1"/>
          <p:nvPr/>
        </p:nvSpPr>
        <p:spPr>
          <a:xfrm>
            <a:off x="548640" y="3493008"/>
            <a:ext cx="4937760" cy="640080"/>
          </a:xfrm>
          <a:prstGeom prst="rect">
            <a:avLst/>
          </a:prstGeom>
          <a:noFill/>
          <a:ln/>
        </p:spPr>
        <p:txBody>
          <a:bodyPr wrap="square" lIns="0" tIns="0" rIns="0" bIns="0" rtlCol="0" anchor="t"/>
          <a:lstStyle/>
          <a:p>
            <a:pPr marL="0" indent="0">
              <a:buNone/>
            </a:pPr>
            <a:r>
              <a:rPr lang="en-US" sz="1600" i="1" dirty="0">
                <a:solidFill>
                  <a:srgbClr val="E6F6EE"/>
                </a:solidFill>
                <a:latin typeface="Calibri" pitchFamily="34" charset="0"/>
                <a:ea typeface="Calibri" pitchFamily="34" charset="-122"/>
                <a:cs typeface="Calibri" pitchFamily="34" charset="-120"/>
              </a:rPr>
              <a:t>Libre à télécharger. Mais libre à publier comme statistique officielle ?</a:t>
            </a:r>
            <a:endParaRPr lang="en-US" sz="1600" dirty="0"/>
          </a:p>
        </p:txBody>
      </p:sp>
      <p:sp>
        <p:nvSpPr>
          <p:cNvPr id="7" name="Shape 5"/>
          <p:cNvSpPr/>
          <p:nvPr/>
        </p:nvSpPr>
        <p:spPr>
          <a:xfrm>
            <a:off x="5989320" y="960120"/>
            <a:ext cx="2651760" cy="2651760"/>
          </a:xfrm>
          <a:prstGeom prst="ellipse">
            <a:avLst/>
          </a:prstGeom>
          <a:solidFill>
            <a:srgbClr val="FFFFFF">
              <a:alpha val="10000"/>
            </a:srgbClr>
          </a:solidFill>
          <a:ln/>
        </p:spPr>
      </p:sp>
      <p:sp>
        <p:nvSpPr>
          <p:cNvPr id="8" name="Shape 6"/>
          <p:cNvSpPr/>
          <p:nvPr/>
        </p:nvSpPr>
        <p:spPr>
          <a:xfrm>
            <a:off x="6309360" y="1280160"/>
            <a:ext cx="2011680" cy="2011680"/>
          </a:xfrm>
          <a:prstGeom prst="ellipse">
            <a:avLst/>
          </a:prstGeom>
          <a:solidFill>
            <a:srgbClr val="FFFFFF">
              <a:alpha val="18000"/>
            </a:srgbClr>
          </a:solidFill>
          <a:ln/>
        </p:spPr>
      </p:sp>
      <p:sp>
        <p:nvSpPr>
          <p:cNvPr id="9" name="Shape 7"/>
          <p:cNvSpPr/>
          <p:nvPr/>
        </p:nvSpPr>
        <p:spPr>
          <a:xfrm>
            <a:off x="6629400" y="1600200"/>
            <a:ext cx="1371600" cy="1371600"/>
          </a:xfrm>
          <a:prstGeom prst="ellipse">
            <a:avLst/>
          </a:prstGeom>
          <a:solidFill>
            <a:srgbClr val="FFFFFF"/>
          </a:solidFill>
          <a:ln/>
        </p:spPr>
      </p:sp>
      <p:pic>
        <p:nvPicPr>
          <p:cNvPr id="10" name="Image 0" descr="preencoded.png"/>
          <p:cNvPicPr>
            <a:picLocks noChangeAspect="1"/>
          </p:cNvPicPr>
          <p:nvPr/>
        </p:nvPicPr>
        <p:blipFill>
          <a:blip r:embed="rId4"/>
          <a:stretch>
            <a:fillRect/>
          </a:stretch>
        </p:blipFill>
        <p:spPr>
          <a:xfrm>
            <a:off x="6995160" y="1965960"/>
            <a:ext cx="640080" cy="640080"/>
          </a:xfrm>
          <a:prstGeom prst="rect">
            <a:avLst/>
          </a:prstGeom>
        </p:spPr>
      </p:pic>
      <p:sp>
        <p:nvSpPr>
          <p:cNvPr id="11" name="Shape 8"/>
          <p:cNvSpPr/>
          <p:nvPr/>
        </p:nvSpPr>
        <p:spPr>
          <a:xfrm>
            <a:off x="566928" y="4315968"/>
            <a:ext cx="118872" cy="118872"/>
          </a:xfrm>
          <a:prstGeom prst="ellipse">
            <a:avLst/>
          </a:prstGeom>
          <a:solidFill>
            <a:srgbClr val="FFFFFF">
              <a:alpha val="40000"/>
            </a:srgbClr>
          </a:solidFill>
          <a:ln/>
        </p:spPr>
      </p:sp>
      <p:sp>
        <p:nvSpPr>
          <p:cNvPr id="12" name="Shape 9"/>
          <p:cNvSpPr/>
          <p:nvPr/>
        </p:nvSpPr>
        <p:spPr>
          <a:xfrm>
            <a:off x="804672" y="4315968"/>
            <a:ext cx="118872" cy="118872"/>
          </a:xfrm>
          <a:prstGeom prst="ellipse">
            <a:avLst/>
          </a:prstGeom>
          <a:solidFill>
            <a:srgbClr val="FFFFFF">
              <a:alpha val="40000"/>
            </a:srgbClr>
          </a:solidFill>
          <a:ln/>
        </p:spPr>
      </p:sp>
      <p:sp>
        <p:nvSpPr>
          <p:cNvPr id="13" name="Shape 10"/>
          <p:cNvSpPr/>
          <p:nvPr/>
        </p:nvSpPr>
        <p:spPr>
          <a:xfrm>
            <a:off x="1042416" y="4315968"/>
            <a:ext cx="118872" cy="118872"/>
          </a:xfrm>
          <a:prstGeom prst="ellipse">
            <a:avLst/>
          </a:prstGeom>
          <a:solidFill>
            <a:srgbClr val="F5C242"/>
          </a:solidFill>
          <a:ln/>
        </p:spPr>
      </p:sp>
      <p:sp>
        <p:nvSpPr>
          <p:cNvPr id="14" name="Shape 11"/>
          <p:cNvSpPr/>
          <p:nvPr/>
        </p:nvSpPr>
        <p:spPr>
          <a:xfrm>
            <a:off x="1280160" y="4315968"/>
            <a:ext cx="118872" cy="118872"/>
          </a:xfrm>
          <a:prstGeom prst="ellipse">
            <a:avLst/>
          </a:prstGeom>
          <a:solidFill>
            <a:srgbClr val="FFFFFF">
              <a:alpha val="40000"/>
            </a:srgbClr>
          </a:solidFill>
          <a:ln/>
        </p:spPr>
      </p:sp>
      <p:sp>
        <p:nvSpPr>
          <p:cNvPr id="15" name="Shape 12"/>
          <p:cNvSpPr/>
          <p:nvPr/>
        </p:nvSpPr>
        <p:spPr>
          <a:xfrm>
            <a:off x="1517904" y="4315968"/>
            <a:ext cx="118872" cy="118872"/>
          </a:xfrm>
          <a:prstGeom prst="ellipse">
            <a:avLst/>
          </a:prstGeom>
          <a:solidFill>
            <a:srgbClr val="FFFFFF">
              <a:alpha val="40000"/>
            </a:srgbClr>
          </a:solidFill>
          <a:ln/>
        </p:spPr>
      </p:sp>
      <p:sp>
        <p:nvSpPr>
          <p:cNvPr id="16" name="Shape 13"/>
          <p:cNvSpPr/>
          <p:nvPr/>
        </p:nvSpPr>
        <p:spPr>
          <a:xfrm>
            <a:off x="1755648" y="4315968"/>
            <a:ext cx="118872" cy="118872"/>
          </a:xfrm>
          <a:prstGeom prst="ellipse">
            <a:avLst/>
          </a:prstGeom>
          <a:solidFill>
            <a:srgbClr val="FFFFFF">
              <a:alpha val="40000"/>
            </a:srgbClr>
          </a:solidFill>
          <a:ln/>
        </p:spPr>
      </p:sp>
      <p:sp>
        <p:nvSpPr>
          <p:cNvPr id="17" name="Text 14"/>
          <p:cNvSpPr txBox="1"/>
          <p:nvPr/>
        </p:nvSpPr>
        <p:spPr>
          <a:xfrm>
            <a:off x="8138160" y="4754880"/>
            <a:ext cx="548640" cy="182880"/>
          </a:xfrm>
          <a:prstGeom prst="rect">
            <a:avLst/>
          </a:prstGeom>
          <a:noFill/>
          <a:ln/>
        </p:spPr>
        <p:txBody>
          <a:bodyPr wrap="square" lIns="0" tIns="0" rIns="0" bIns="0" rtlCol="0" anchor="t"/>
          <a:lstStyle/>
          <a:p>
            <a:pPr marL="0" indent="0" algn="r">
              <a:buNone/>
            </a:pPr>
            <a:r>
              <a:rPr lang="en-US" sz="850" dirty="0">
                <a:solidFill>
                  <a:srgbClr val="E6F6EE"/>
                </a:solidFill>
                <a:latin typeface="Calibri" pitchFamily="34" charset="0"/>
                <a:ea typeface="Calibri" pitchFamily="34" charset="-122"/>
                <a:cs typeface="Calibri" pitchFamily="34" charset="-120"/>
              </a:rPr>
              <a:t>15</a:t>
            </a:r>
            <a:endParaRPr lang="en-US" sz="85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ACCÈS</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Quatre façons d’obtenir les fichiers</a:t>
            </a:r>
            <a:endParaRPr lang="en-US" sz="28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0E7C86"/>
          </a:solidFill>
          <a:ln/>
        </p:spPr>
      </p:sp>
      <p:sp>
        <p:nvSpPr>
          <p:cNvPr id="11" name="Shape 9"/>
          <p:cNvSpPr/>
          <p:nvPr/>
        </p:nvSpPr>
        <p:spPr>
          <a:xfrm>
            <a:off x="8138160" y="310896"/>
            <a:ext cx="91440" cy="91440"/>
          </a:xfrm>
          <a:prstGeom prst="ellipse">
            <a:avLst/>
          </a:prstGeom>
          <a:solidFill>
            <a:srgbClr val="D5DED9"/>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BAD – Data Innovation for Africa (DI4A)  ·  Ookla Open Data et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16</a:t>
            </a:r>
            <a:endParaRPr lang="en-US" sz="850" dirty="0"/>
          </a:p>
        </p:txBody>
      </p:sp>
      <p:sp>
        <p:nvSpPr>
          <p:cNvPr id="17" name="Shape 14"/>
          <p:cNvSpPr/>
          <p:nvPr/>
        </p:nvSpPr>
        <p:spPr>
          <a:xfrm>
            <a:off x="457200" y="1371600"/>
            <a:ext cx="1920240" cy="1234440"/>
          </a:xfrm>
          <a:prstGeom prst="roundRect">
            <a:avLst>
              <a:gd name="adj" fmla="val 5926"/>
            </a:avLst>
          </a:prstGeom>
          <a:solidFill>
            <a:srgbClr val="F4F7F5"/>
          </a:solidFill>
          <a:ln w="9525">
            <a:solidFill>
              <a:srgbClr val="D5DED9"/>
            </a:solidFill>
            <a:prstDash val="solid"/>
          </a:ln>
        </p:spPr>
      </p:sp>
      <p:sp>
        <p:nvSpPr>
          <p:cNvPr id="18" name="Shape 15"/>
          <p:cNvSpPr/>
          <p:nvPr/>
        </p:nvSpPr>
        <p:spPr>
          <a:xfrm>
            <a:off x="594360" y="1508760"/>
            <a:ext cx="420624" cy="420624"/>
          </a:xfrm>
          <a:prstGeom prst="ellipse">
            <a:avLst/>
          </a:prstGeom>
          <a:solidFill>
            <a:srgbClr val="0E7C86">
              <a:alpha val="22000"/>
            </a:srgbClr>
          </a:solidFill>
          <a:ln/>
        </p:spPr>
      </p:sp>
      <p:pic>
        <p:nvPicPr>
          <p:cNvPr id="19" name="Image 0" descr="preencoded.png"/>
          <p:cNvPicPr>
            <a:picLocks noChangeAspect="1"/>
          </p:cNvPicPr>
          <p:nvPr/>
        </p:nvPicPr>
        <p:blipFill>
          <a:blip r:embed="rId3"/>
          <a:stretch>
            <a:fillRect/>
          </a:stretch>
        </p:blipFill>
        <p:spPr>
          <a:xfrm>
            <a:off x="695310" y="1609710"/>
            <a:ext cx="218724" cy="218724"/>
          </a:xfrm>
          <a:prstGeom prst="rect">
            <a:avLst/>
          </a:prstGeom>
        </p:spPr>
      </p:pic>
      <p:sp>
        <p:nvSpPr>
          <p:cNvPr id="20" name="Text 16"/>
          <p:cNvSpPr txBox="1"/>
          <p:nvPr/>
        </p:nvSpPr>
        <p:spPr>
          <a:xfrm>
            <a:off x="594360" y="1975104"/>
            <a:ext cx="1691640" cy="228600"/>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Bucket AWS S3</a:t>
            </a:r>
            <a:endParaRPr lang="en-US" sz="1200" dirty="0"/>
          </a:p>
        </p:txBody>
      </p:sp>
      <p:sp>
        <p:nvSpPr>
          <p:cNvPr id="21" name="Text 17"/>
          <p:cNvSpPr txBox="1"/>
          <p:nvPr/>
        </p:nvSpPr>
        <p:spPr>
          <a:xfrm>
            <a:off x="594360" y="2194560"/>
            <a:ext cx="1691640" cy="41148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s3://ookla-open-data, par format, type, année, trimestre.</a:t>
            </a:r>
            <a:endParaRPr lang="en-US" sz="900" dirty="0"/>
          </a:p>
        </p:txBody>
      </p:sp>
      <p:sp>
        <p:nvSpPr>
          <p:cNvPr id="22" name="Shape 18"/>
          <p:cNvSpPr/>
          <p:nvPr/>
        </p:nvSpPr>
        <p:spPr>
          <a:xfrm>
            <a:off x="2514600" y="1371600"/>
            <a:ext cx="1920240" cy="1234440"/>
          </a:xfrm>
          <a:prstGeom prst="roundRect">
            <a:avLst>
              <a:gd name="adj" fmla="val 5926"/>
            </a:avLst>
          </a:prstGeom>
          <a:solidFill>
            <a:srgbClr val="F4F7F5"/>
          </a:solidFill>
          <a:ln w="9525">
            <a:solidFill>
              <a:srgbClr val="D5DED9"/>
            </a:solidFill>
            <a:prstDash val="solid"/>
          </a:ln>
        </p:spPr>
      </p:sp>
      <p:sp>
        <p:nvSpPr>
          <p:cNvPr id="23" name="Shape 19"/>
          <p:cNvSpPr/>
          <p:nvPr/>
        </p:nvSpPr>
        <p:spPr>
          <a:xfrm>
            <a:off x="2651760" y="1508760"/>
            <a:ext cx="420624" cy="420624"/>
          </a:xfrm>
          <a:prstGeom prst="ellipse">
            <a:avLst/>
          </a:prstGeom>
          <a:solidFill>
            <a:srgbClr val="0E7C86">
              <a:alpha val="22000"/>
            </a:srgbClr>
          </a:solidFill>
          <a:ln/>
        </p:spPr>
      </p:sp>
      <p:pic>
        <p:nvPicPr>
          <p:cNvPr id="24" name="Image 1" descr="preencoded.png"/>
          <p:cNvPicPr>
            <a:picLocks noChangeAspect="1"/>
          </p:cNvPicPr>
          <p:nvPr/>
        </p:nvPicPr>
        <p:blipFill>
          <a:blip r:embed="rId4"/>
          <a:stretch>
            <a:fillRect/>
          </a:stretch>
        </p:blipFill>
        <p:spPr>
          <a:xfrm>
            <a:off x="2752710" y="1609710"/>
            <a:ext cx="218724" cy="218724"/>
          </a:xfrm>
          <a:prstGeom prst="rect">
            <a:avLst/>
          </a:prstGeom>
        </p:spPr>
      </p:pic>
      <p:sp>
        <p:nvSpPr>
          <p:cNvPr id="25" name="Text 20"/>
          <p:cNvSpPr txBox="1"/>
          <p:nvPr/>
        </p:nvSpPr>
        <p:spPr>
          <a:xfrm>
            <a:off x="2651760" y="1975104"/>
            <a:ext cx="1691640" cy="228600"/>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HTTPS direct</a:t>
            </a:r>
            <a:endParaRPr lang="en-US" sz="1200" dirty="0"/>
          </a:p>
        </p:txBody>
      </p:sp>
      <p:sp>
        <p:nvSpPr>
          <p:cNvPr id="26" name="Text 21"/>
          <p:cNvSpPr txBox="1"/>
          <p:nvPr/>
        </p:nvSpPr>
        <p:spPr>
          <a:xfrm>
            <a:off x="2651760" y="2194560"/>
            <a:ext cx="1691640" cy="41148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Tout fichier depuis un navigateur, sans compte.</a:t>
            </a:r>
            <a:endParaRPr lang="en-US" sz="900" dirty="0"/>
          </a:p>
        </p:txBody>
      </p:sp>
      <p:sp>
        <p:nvSpPr>
          <p:cNvPr id="27" name="Shape 22"/>
          <p:cNvSpPr/>
          <p:nvPr/>
        </p:nvSpPr>
        <p:spPr>
          <a:xfrm>
            <a:off x="457200" y="2743200"/>
            <a:ext cx="1920240" cy="1234440"/>
          </a:xfrm>
          <a:prstGeom prst="roundRect">
            <a:avLst>
              <a:gd name="adj" fmla="val 5926"/>
            </a:avLst>
          </a:prstGeom>
          <a:solidFill>
            <a:srgbClr val="F4F7F5"/>
          </a:solidFill>
          <a:ln w="9525">
            <a:solidFill>
              <a:srgbClr val="D5DED9"/>
            </a:solidFill>
            <a:prstDash val="solid"/>
          </a:ln>
        </p:spPr>
      </p:sp>
      <p:sp>
        <p:nvSpPr>
          <p:cNvPr id="28" name="Shape 23"/>
          <p:cNvSpPr/>
          <p:nvPr/>
        </p:nvSpPr>
        <p:spPr>
          <a:xfrm>
            <a:off x="594360" y="2880360"/>
            <a:ext cx="420624" cy="420624"/>
          </a:xfrm>
          <a:prstGeom prst="ellipse">
            <a:avLst/>
          </a:prstGeom>
          <a:solidFill>
            <a:srgbClr val="0E7C86">
              <a:alpha val="22000"/>
            </a:srgbClr>
          </a:solidFill>
          <a:ln/>
        </p:spPr>
      </p:sp>
      <p:pic>
        <p:nvPicPr>
          <p:cNvPr id="29" name="Image 2" descr="preencoded.png"/>
          <p:cNvPicPr>
            <a:picLocks noChangeAspect="1"/>
          </p:cNvPicPr>
          <p:nvPr/>
        </p:nvPicPr>
        <p:blipFill>
          <a:blip r:embed="rId5"/>
          <a:stretch>
            <a:fillRect/>
          </a:stretch>
        </p:blipFill>
        <p:spPr>
          <a:xfrm>
            <a:off x="695310" y="2981310"/>
            <a:ext cx="218724" cy="218724"/>
          </a:xfrm>
          <a:prstGeom prst="rect">
            <a:avLst/>
          </a:prstGeom>
        </p:spPr>
      </p:pic>
      <p:sp>
        <p:nvSpPr>
          <p:cNvPr id="30" name="Text 24"/>
          <p:cNvSpPr txBox="1"/>
          <p:nvPr/>
        </p:nvSpPr>
        <p:spPr>
          <a:xfrm>
            <a:off x="594360" y="3346704"/>
            <a:ext cx="1691640" cy="228600"/>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AWS CLI</a:t>
            </a:r>
            <a:endParaRPr lang="en-US" sz="1200" dirty="0"/>
          </a:p>
        </p:txBody>
      </p:sp>
      <p:sp>
        <p:nvSpPr>
          <p:cNvPr id="31" name="Text 25"/>
          <p:cNvSpPr txBox="1"/>
          <p:nvPr/>
        </p:nvSpPr>
        <p:spPr>
          <a:xfrm>
            <a:off x="594360" y="3566160"/>
            <a:ext cx="1691640" cy="41148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Scriptable et reprenable ; sans identifiants.</a:t>
            </a:r>
            <a:endParaRPr lang="en-US" sz="900" dirty="0"/>
          </a:p>
        </p:txBody>
      </p:sp>
      <p:sp>
        <p:nvSpPr>
          <p:cNvPr id="32" name="Shape 26"/>
          <p:cNvSpPr/>
          <p:nvPr/>
        </p:nvSpPr>
        <p:spPr>
          <a:xfrm>
            <a:off x="2514600" y="2743200"/>
            <a:ext cx="1920240" cy="1234440"/>
          </a:xfrm>
          <a:prstGeom prst="roundRect">
            <a:avLst>
              <a:gd name="adj" fmla="val 5926"/>
            </a:avLst>
          </a:prstGeom>
          <a:solidFill>
            <a:srgbClr val="F4F7F5"/>
          </a:solidFill>
          <a:ln w="9525">
            <a:solidFill>
              <a:srgbClr val="D5DED9"/>
            </a:solidFill>
            <a:prstDash val="solid"/>
          </a:ln>
        </p:spPr>
      </p:sp>
      <p:sp>
        <p:nvSpPr>
          <p:cNvPr id="33" name="Shape 27"/>
          <p:cNvSpPr/>
          <p:nvPr/>
        </p:nvSpPr>
        <p:spPr>
          <a:xfrm>
            <a:off x="2651760" y="2880360"/>
            <a:ext cx="420624" cy="420624"/>
          </a:xfrm>
          <a:prstGeom prst="ellipse">
            <a:avLst/>
          </a:prstGeom>
          <a:solidFill>
            <a:srgbClr val="0E7C86">
              <a:alpha val="22000"/>
            </a:srgbClr>
          </a:solidFill>
          <a:ln/>
        </p:spPr>
      </p:sp>
      <p:pic>
        <p:nvPicPr>
          <p:cNvPr id="34" name="Image 3" descr="preencoded.png"/>
          <p:cNvPicPr>
            <a:picLocks noChangeAspect="1"/>
          </p:cNvPicPr>
          <p:nvPr/>
        </p:nvPicPr>
        <p:blipFill>
          <a:blip r:embed="rId6"/>
          <a:stretch>
            <a:fillRect/>
          </a:stretch>
        </p:blipFill>
        <p:spPr>
          <a:xfrm>
            <a:off x="2752710" y="2981310"/>
            <a:ext cx="218724" cy="218724"/>
          </a:xfrm>
          <a:prstGeom prst="rect">
            <a:avLst/>
          </a:prstGeom>
        </p:spPr>
      </p:pic>
      <p:sp>
        <p:nvSpPr>
          <p:cNvPr id="35" name="Text 28"/>
          <p:cNvSpPr txBox="1"/>
          <p:nvPr/>
        </p:nvSpPr>
        <p:spPr>
          <a:xfrm>
            <a:off x="2651760" y="3346704"/>
            <a:ext cx="1691640" cy="228600"/>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Package R</a:t>
            </a:r>
            <a:endParaRPr lang="en-US" sz="1200" dirty="0"/>
          </a:p>
        </p:txBody>
      </p:sp>
      <p:sp>
        <p:nvSpPr>
          <p:cNvPr id="36" name="Text 29"/>
          <p:cNvSpPr txBox="1"/>
          <p:nvPr/>
        </p:nvSpPr>
        <p:spPr>
          <a:xfrm>
            <a:off x="2651760" y="3566160"/>
            <a:ext cx="1691640" cy="41148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ooklaOpenDataR, pour les équipes sous R.</a:t>
            </a:r>
            <a:endParaRPr lang="en-US" sz="900" dirty="0"/>
          </a:p>
        </p:txBody>
      </p:sp>
      <p:sp>
        <p:nvSpPr>
          <p:cNvPr id="37" name="Shape 30"/>
          <p:cNvSpPr/>
          <p:nvPr/>
        </p:nvSpPr>
        <p:spPr>
          <a:xfrm>
            <a:off x="4572000" y="1371600"/>
            <a:ext cx="4114800" cy="2606040"/>
          </a:xfrm>
          <a:prstGeom prst="roundRect">
            <a:avLst>
              <a:gd name="adj" fmla="val 2807"/>
            </a:avLst>
          </a:prstGeom>
          <a:solidFill>
            <a:srgbClr val="F4F7F5"/>
          </a:solidFill>
          <a:ln w="12700">
            <a:solidFill>
              <a:srgbClr val="0E7C86"/>
            </a:solidFill>
            <a:prstDash val="solid"/>
          </a:ln>
        </p:spPr>
      </p:sp>
      <p:sp>
        <p:nvSpPr>
          <p:cNvPr id="38" name="Text 31"/>
          <p:cNvSpPr txBox="1"/>
          <p:nvPr/>
        </p:nvSpPr>
        <p:spPr>
          <a:xfrm>
            <a:off x="4754880" y="1463040"/>
            <a:ext cx="3657600" cy="182880"/>
          </a:xfrm>
          <a:prstGeom prst="rect">
            <a:avLst/>
          </a:prstGeom>
          <a:noFill/>
          <a:ln/>
        </p:spPr>
        <p:txBody>
          <a:bodyPr wrap="square" lIns="0" tIns="0" rIns="0" bIns="0" rtlCol="0" anchor="t"/>
          <a:lstStyle/>
          <a:p>
            <a:pPr marL="0" indent="0">
              <a:buNone/>
            </a:pPr>
            <a:r>
              <a:rPr lang="en-US" sz="950" b="1" kern="0" spc="200" dirty="0">
                <a:solidFill>
                  <a:srgbClr val="0E7C86"/>
                </a:solidFill>
                <a:latin typeface="Calibri" pitchFamily="34" charset="0"/>
                <a:ea typeface="Calibri" pitchFamily="34" charset="-122"/>
                <a:cs typeface="Calibri" pitchFamily="34" charset="-120"/>
              </a:rPr>
              <a:t>TÉLÉCHARGER UN TRIMESTRE (AWS CLI)</a:t>
            </a:r>
            <a:endParaRPr lang="en-US" sz="950" dirty="0"/>
          </a:p>
        </p:txBody>
      </p:sp>
      <p:sp>
        <p:nvSpPr>
          <p:cNvPr id="39" name="Text 32"/>
          <p:cNvSpPr txBox="1"/>
          <p:nvPr/>
        </p:nvSpPr>
        <p:spPr>
          <a:xfrm>
            <a:off x="4754880" y="1737360"/>
            <a:ext cx="3840480" cy="2148840"/>
          </a:xfrm>
          <a:prstGeom prst="rect">
            <a:avLst/>
          </a:prstGeom>
          <a:noFill/>
          <a:ln/>
        </p:spPr>
        <p:txBody>
          <a:bodyPr wrap="square" lIns="0" tIns="0" rIns="0" bIns="0" rtlCol="0" anchor="t"/>
          <a:lstStyle/>
          <a:p>
            <a:pPr marL="0" indent="0">
              <a:buNone/>
            </a:pPr>
            <a:r>
              <a:rPr lang="en-US" sz="950" dirty="0">
                <a:solidFill>
                  <a:srgbClr val="231F20"/>
                </a:solidFill>
                <a:latin typeface="Courier New" pitchFamily="34" charset="0"/>
                <a:ea typeface="Courier New" pitchFamily="34" charset="-122"/>
                <a:cs typeface="Courier New" pitchFamily="34" charset="-120"/>
              </a:rPr>
              <a:t>export FORMAT=parquet  # ou shapefiles</a:t>
            </a:r>
            <a:endParaRPr lang="en-US" sz="950" dirty="0"/>
          </a:p>
          <a:p>
            <a:pPr marL="0" indent="0">
              <a:buNone/>
            </a:pPr>
            <a:r>
              <a:rPr lang="en-US" sz="950" dirty="0">
                <a:solidFill>
                  <a:srgbClr val="231F20"/>
                </a:solidFill>
                <a:latin typeface="Courier New" pitchFamily="34" charset="0"/>
                <a:ea typeface="Courier New" pitchFamily="34" charset="-122"/>
                <a:cs typeface="Courier New" pitchFamily="34" charset="-120"/>
              </a:rPr>
              <a:t>export TYPE=mobile     # ou fixed</a:t>
            </a:r>
            <a:endParaRPr lang="en-US" sz="950" dirty="0"/>
          </a:p>
          <a:p>
            <a:pPr marL="0" indent="0">
              <a:buNone/>
            </a:pPr>
            <a:r>
              <a:rPr lang="en-US" sz="950" dirty="0">
                <a:solidFill>
                  <a:srgbClr val="231F20"/>
                </a:solidFill>
                <a:latin typeface="Courier New" pitchFamily="34" charset="0"/>
                <a:ea typeface="Courier New" pitchFamily="34" charset="-122"/>
                <a:cs typeface="Courier New" pitchFamily="34" charset="-120"/>
              </a:rPr>
              <a:t>export YYYY=2025 Q=4</a:t>
            </a:r>
            <a:endParaRPr lang="en-US" sz="950" dirty="0"/>
          </a:p>
          <a:p>
            <a:pPr marL="0" indent="0">
              <a:buNone/>
            </a:pPr>
            <a:endParaRPr lang="en-US" sz="950" dirty="0"/>
          </a:p>
          <a:p>
            <a:pPr marL="0" indent="0">
              <a:buNone/>
            </a:pPr>
            <a:r>
              <a:rPr lang="en-US" sz="950" dirty="0">
                <a:solidFill>
                  <a:srgbClr val="231F20"/>
                </a:solidFill>
                <a:latin typeface="Courier New" pitchFamily="34" charset="0"/>
                <a:ea typeface="Courier New" pitchFamily="34" charset="-122"/>
                <a:cs typeface="Courier New" pitchFamily="34" charset="-120"/>
              </a:rPr>
              <a:t>aws s3 cp \</a:t>
            </a:r>
            <a:endParaRPr lang="en-US" sz="950" dirty="0"/>
          </a:p>
          <a:p>
            <a:pPr marL="0" indent="0">
              <a:buNone/>
            </a:pPr>
            <a:r>
              <a:rPr lang="en-US" sz="950" dirty="0">
                <a:solidFill>
                  <a:srgbClr val="231F20"/>
                </a:solidFill>
                <a:latin typeface="Courier New" pitchFamily="34" charset="0"/>
                <a:ea typeface="Courier New" pitchFamily="34" charset="-122"/>
                <a:cs typeface="Courier New" pitchFamily="34" charset="-120"/>
              </a:rPr>
              <a:t> s3://ookla-open-data/${FORMAT}/performance/\</a:t>
            </a:r>
            <a:endParaRPr lang="en-US" sz="950" dirty="0"/>
          </a:p>
          <a:p>
            <a:pPr marL="0" indent="0">
              <a:buNone/>
            </a:pPr>
            <a:r>
              <a:rPr lang="en-US" sz="950" dirty="0">
                <a:solidFill>
                  <a:srgbClr val="231F20"/>
                </a:solidFill>
                <a:latin typeface="Courier New" pitchFamily="34" charset="0"/>
                <a:ea typeface="Courier New" pitchFamily="34" charset="-122"/>
                <a:cs typeface="Courier New" pitchFamily="34" charset="-120"/>
              </a:rPr>
              <a:t>type=${TYPE}/year=${YYYY}/quarter=${Q}/ . \</a:t>
            </a:r>
            <a:endParaRPr lang="en-US" sz="950" dirty="0"/>
          </a:p>
          <a:p>
            <a:pPr marL="0" indent="0">
              <a:buNone/>
            </a:pPr>
            <a:r>
              <a:rPr lang="en-US" sz="950" dirty="0">
                <a:solidFill>
                  <a:srgbClr val="231F20"/>
                </a:solidFill>
                <a:latin typeface="Courier New" pitchFamily="34" charset="0"/>
                <a:ea typeface="Courier New" pitchFamily="34" charset="-122"/>
                <a:cs typeface="Courier New" pitchFamily="34" charset="-120"/>
              </a:rPr>
              <a:t> --recursive --no-sign-request</a:t>
            </a:r>
            <a:endParaRPr lang="en-US" sz="950" dirty="0"/>
          </a:p>
        </p:txBody>
      </p:sp>
      <p:sp>
        <p:nvSpPr>
          <p:cNvPr id="40" name="Shape 33"/>
          <p:cNvSpPr/>
          <p:nvPr/>
        </p:nvSpPr>
        <p:spPr>
          <a:xfrm>
            <a:off x="4572000" y="4069080"/>
            <a:ext cx="4114800" cy="438912"/>
          </a:xfrm>
          <a:prstGeom prst="roundRect">
            <a:avLst>
              <a:gd name="adj" fmla="val 16667"/>
            </a:avLst>
          </a:prstGeom>
          <a:solidFill>
            <a:srgbClr val="E8F5EF"/>
          </a:solidFill>
          <a:ln w="12700">
            <a:solidFill>
              <a:srgbClr val="00A86A"/>
            </a:solidFill>
            <a:prstDash val="solid"/>
          </a:ln>
        </p:spPr>
      </p:sp>
      <p:sp>
        <p:nvSpPr>
          <p:cNvPr id="41" name="Text 34"/>
          <p:cNvSpPr txBox="1"/>
          <p:nvPr/>
        </p:nvSpPr>
        <p:spPr>
          <a:xfrm>
            <a:off x="4709160" y="4069080"/>
            <a:ext cx="3931920" cy="438912"/>
          </a:xfrm>
          <a:prstGeom prst="rect">
            <a:avLst/>
          </a:prstGeom>
          <a:noFill/>
          <a:ln/>
        </p:spPr>
        <p:txBody>
          <a:bodyPr wrap="square" lIns="0" tIns="0" rIns="0" bIns="0" rtlCol="0" anchor="ctr"/>
          <a:lstStyle/>
          <a:p>
            <a:pPr marL="0" indent="0">
              <a:buNone/>
            </a:pPr>
            <a:r>
              <a:rPr lang="en-US" sz="1000" b="1" dirty="0">
                <a:solidFill>
                  <a:srgbClr val="00704A"/>
                </a:solidFill>
                <a:latin typeface="Calibri" pitchFamily="34" charset="0"/>
                <a:ea typeface="Calibri" pitchFamily="34" charset="-122"/>
                <a:cs typeface="Calibri" pitchFamily="34" charset="-120"/>
              </a:rPr>
              <a:t>Formats : </a:t>
            </a:r>
            <a:r>
              <a:rPr lang="en-US" sz="1000" dirty="0">
                <a:solidFill>
                  <a:srgbClr val="231F20"/>
                </a:solidFill>
                <a:latin typeface="Calibri" pitchFamily="34" charset="0"/>
                <a:ea typeface="Calibri" pitchFamily="34" charset="-122"/>
                <a:cs typeface="Calibri" pitchFamily="34" charset="-120"/>
              </a:rPr>
              <a:t>Shapefile pour les SIG · Parquet (+ WKT) pour pandas, DuckDB, Athena</a:t>
            </a:r>
            <a:endParaRPr lang="en-US" sz="1000" dirty="0"/>
          </a:p>
        </p:txBody>
      </p:sp>
      <p:sp>
        <p:nvSpPr>
          <p:cNvPr id="42" name="Text 35"/>
          <p:cNvSpPr txBox="1"/>
          <p:nvPr/>
        </p:nvSpPr>
        <p:spPr>
          <a:xfrm>
            <a:off x="457200" y="4572000"/>
            <a:ext cx="749808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Source : README teamookla/ookla-open-data ; teamookla/ooklaOpenDataR.</a:t>
            </a:r>
            <a:endParaRPr lang="en-US" sz="900" dirty="0"/>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LICENCE</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Ce que les licences impliquent pour un INS</a:t>
            </a:r>
            <a:endParaRPr lang="en-US" sz="28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0E7C86"/>
          </a:solidFill>
          <a:ln/>
        </p:spPr>
      </p:sp>
      <p:sp>
        <p:nvSpPr>
          <p:cNvPr id="11" name="Shape 9"/>
          <p:cNvSpPr/>
          <p:nvPr/>
        </p:nvSpPr>
        <p:spPr>
          <a:xfrm>
            <a:off x="8138160" y="310896"/>
            <a:ext cx="91440" cy="91440"/>
          </a:xfrm>
          <a:prstGeom prst="ellipse">
            <a:avLst/>
          </a:prstGeom>
          <a:solidFill>
            <a:srgbClr val="D5DED9"/>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BAD – Data Innovation for Africa (DI4A)  ·  Ookla Open Data et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17</a:t>
            </a:r>
            <a:endParaRPr lang="en-US" sz="850" dirty="0"/>
          </a:p>
        </p:txBody>
      </p:sp>
      <p:sp>
        <p:nvSpPr>
          <p:cNvPr id="17" name="Text 14"/>
          <p:cNvSpPr txBox="1"/>
          <p:nvPr/>
        </p:nvSpPr>
        <p:spPr>
          <a:xfrm>
            <a:off x="457200" y="1325880"/>
            <a:ext cx="4572000" cy="201168"/>
          </a:xfrm>
          <a:prstGeom prst="rect">
            <a:avLst/>
          </a:prstGeom>
          <a:noFill/>
          <a:ln/>
        </p:spPr>
        <p:txBody>
          <a:bodyPr wrap="square" lIns="0" tIns="0" rIns="0" bIns="0" rtlCol="0" anchor="t"/>
          <a:lstStyle/>
          <a:p>
            <a:pPr marL="0" indent="0">
              <a:buNone/>
            </a:pPr>
            <a:r>
              <a:rPr lang="en-US" sz="1000" b="1" kern="0" spc="200" dirty="0">
                <a:solidFill>
                  <a:srgbClr val="0E7C86"/>
                </a:solidFill>
                <a:latin typeface="Calibri" pitchFamily="34" charset="0"/>
                <a:ea typeface="Calibri" pitchFamily="34" charset="-122"/>
                <a:cs typeface="Calibri" pitchFamily="34" charset="-120"/>
              </a:rPr>
              <a:t>OOKLA OPEN DATA  ·  CC BY-NC-SA 4.0</a:t>
            </a:r>
            <a:endParaRPr lang="en-US" sz="1000" dirty="0"/>
          </a:p>
        </p:txBody>
      </p:sp>
      <p:sp>
        <p:nvSpPr>
          <p:cNvPr id="18" name="Shape 15"/>
          <p:cNvSpPr/>
          <p:nvPr/>
        </p:nvSpPr>
        <p:spPr>
          <a:xfrm>
            <a:off x="457200" y="1600200"/>
            <a:ext cx="4754880" cy="640080"/>
          </a:xfrm>
          <a:prstGeom prst="roundRect">
            <a:avLst>
              <a:gd name="adj" fmla="val 11429"/>
            </a:avLst>
          </a:prstGeom>
          <a:solidFill>
            <a:srgbClr val="F4F7F5"/>
          </a:solidFill>
          <a:ln w="9525">
            <a:solidFill>
              <a:srgbClr val="D5DED9"/>
            </a:solidFill>
            <a:prstDash val="solid"/>
          </a:ln>
        </p:spPr>
      </p:sp>
      <p:sp>
        <p:nvSpPr>
          <p:cNvPr id="19" name="Shape 16"/>
          <p:cNvSpPr/>
          <p:nvPr/>
        </p:nvSpPr>
        <p:spPr>
          <a:xfrm>
            <a:off x="566928" y="1691640"/>
            <a:ext cx="457200" cy="457200"/>
          </a:xfrm>
          <a:prstGeom prst="ellipse">
            <a:avLst/>
          </a:prstGeom>
          <a:solidFill>
            <a:srgbClr val="0E7C86"/>
          </a:solidFill>
          <a:ln/>
        </p:spPr>
      </p:sp>
      <p:sp>
        <p:nvSpPr>
          <p:cNvPr id="20" name="Text 17"/>
          <p:cNvSpPr txBox="1"/>
          <p:nvPr/>
        </p:nvSpPr>
        <p:spPr>
          <a:xfrm>
            <a:off x="566928" y="169164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BY</a:t>
            </a:r>
            <a:endParaRPr lang="en-US" sz="1300" dirty="0"/>
          </a:p>
        </p:txBody>
      </p:sp>
      <p:sp>
        <p:nvSpPr>
          <p:cNvPr id="21" name="Text 18"/>
          <p:cNvSpPr txBox="1"/>
          <p:nvPr/>
        </p:nvSpPr>
        <p:spPr>
          <a:xfrm>
            <a:off x="1143000" y="1664208"/>
            <a:ext cx="3931920" cy="228600"/>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Attribution</a:t>
            </a:r>
            <a:endParaRPr lang="en-US" sz="1200" dirty="0"/>
          </a:p>
        </p:txBody>
      </p:sp>
      <p:sp>
        <p:nvSpPr>
          <p:cNvPr id="22" name="Text 19"/>
          <p:cNvSpPr txBox="1"/>
          <p:nvPr/>
        </p:nvSpPr>
        <p:spPr>
          <a:xfrm>
            <a:off x="1143000" y="1911096"/>
            <a:ext cx="3977640" cy="27432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Citer Ookla, la période des données et la date d’accès.</a:t>
            </a:r>
            <a:endParaRPr lang="en-US" sz="1050" dirty="0"/>
          </a:p>
        </p:txBody>
      </p:sp>
      <p:sp>
        <p:nvSpPr>
          <p:cNvPr id="23" name="Shape 20"/>
          <p:cNvSpPr/>
          <p:nvPr/>
        </p:nvSpPr>
        <p:spPr>
          <a:xfrm>
            <a:off x="457200" y="2350008"/>
            <a:ext cx="4754880" cy="640080"/>
          </a:xfrm>
          <a:prstGeom prst="roundRect">
            <a:avLst>
              <a:gd name="adj" fmla="val 11429"/>
            </a:avLst>
          </a:prstGeom>
          <a:solidFill>
            <a:srgbClr val="F4F7F5"/>
          </a:solidFill>
          <a:ln w="9525">
            <a:solidFill>
              <a:srgbClr val="D5DED9"/>
            </a:solidFill>
            <a:prstDash val="solid"/>
          </a:ln>
        </p:spPr>
      </p:sp>
      <p:sp>
        <p:nvSpPr>
          <p:cNvPr id="24" name="Shape 21"/>
          <p:cNvSpPr/>
          <p:nvPr/>
        </p:nvSpPr>
        <p:spPr>
          <a:xfrm>
            <a:off x="566928" y="2441448"/>
            <a:ext cx="457200" cy="457200"/>
          </a:xfrm>
          <a:prstGeom prst="ellipse">
            <a:avLst/>
          </a:prstGeom>
          <a:solidFill>
            <a:srgbClr val="0E7C86"/>
          </a:solidFill>
          <a:ln/>
        </p:spPr>
      </p:sp>
      <p:sp>
        <p:nvSpPr>
          <p:cNvPr id="25" name="Text 22"/>
          <p:cNvSpPr txBox="1"/>
          <p:nvPr/>
        </p:nvSpPr>
        <p:spPr>
          <a:xfrm>
            <a:off x="566928" y="2441448"/>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NC</a:t>
            </a:r>
            <a:endParaRPr lang="en-US" sz="1300" dirty="0"/>
          </a:p>
        </p:txBody>
      </p:sp>
      <p:sp>
        <p:nvSpPr>
          <p:cNvPr id="26" name="Text 23"/>
          <p:cNvSpPr txBox="1"/>
          <p:nvPr/>
        </p:nvSpPr>
        <p:spPr>
          <a:xfrm>
            <a:off x="1143000" y="2414016"/>
            <a:ext cx="3931920" cy="228600"/>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Pas d’utilisation commerciale</a:t>
            </a:r>
            <a:endParaRPr lang="en-US" sz="1200" dirty="0"/>
          </a:p>
        </p:txBody>
      </p:sp>
      <p:sp>
        <p:nvSpPr>
          <p:cNvPr id="27" name="Text 24"/>
          <p:cNvSpPr txBox="1"/>
          <p:nvPr/>
        </p:nvSpPr>
        <p:spPr>
          <a:xfrm>
            <a:off x="1143000" y="2660904"/>
            <a:ext cx="3977640" cy="27432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Exclut tableaux de bord payants et livrables de conseil.</a:t>
            </a:r>
            <a:endParaRPr lang="en-US" sz="1050" dirty="0"/>
          </a:p>
        </p:txBody>
      </p:sp>
      <p:sp>
        <p:nvSpPr>
          <p:cNvPr id="28" name="Shape 25"/>
          <p:cNvSpPr/>
          <p:nvPr/>
        </p:nvSpPr>
        <p:spPr>
          <a:xfrm>
            <a:off x="457200" y="3099816"/>
            <a:ext cx="4754880" cy="640080"/>
          </a:xfrm>
          <a:prstGeom prst="roundRect">
            <a:avLst>
              <a:gd name="adj" fmla="val 11429"/>
            </a:avLst>
          </a:prstGeom>
          <a:solidFill>
            <a:srgbClr val="E8F5EF"/>
          </a:solidFill>
          <a:ln w="15875">
            <a:solidFill>
              <a:srgbClr val="00A86A"/>
            </a:solidFill>
            <a:prstDash val="solid"/>
          </a:ln>
        </p:spPr>
      </p:sp>
      <p:sp>
        <p:nvSpPr>
          <p:cNvPr id="29" name="Shape 26"/>
          <p:cNvSpPr/>
          <p:nvPr/>
        </p:nvSpPr>
        <p:spPr>
          <a:xfrm>
            <a:off x="566928" y="3191256"/>
            <a:ext cx="457200" cy="457200"/>
          </a:xfrm>
          <a:prstGeom prst="ellipse">
            <a:avLst/>
          </a:prstGeom>
          <a:solidFill>
            <a:srgbClr val="0E7C86"/>
          </a:solidFill>
          <a:ln/>
        </p:spPr>
      </p:sp>
      <p:sp>
        <p:nvSpPr>
          <p:cNvPr id="30" name="Text 27"/>
          <p:cNvSpPr txBox="1"/>
          <p:nvPr/>
        </p:nvSpPr>
        <p:spPr>
          <a:xfrm>
            <a:off x="566928" y="3191256"/>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SA</a:t>
            </a:r>
            <a:endParaRPr lang="en-US" sz="1300" dirty="0"/>
          </a:p>
        </p:txBody>
      </p:sp>
      <p:sp>
        <p:nvSpPr>
          <p:cNvPr id="31" name="Text 28"/>
          <p:cNvSpPr txBox="1"/>
          <p:nvPr/>
        </p:nvSpPr>
        <p:spPr>
          <a:xfrm>
            <a:off x="1143000" y="3163824"/>
            <a:ext cx="3931920" cy="228600"/>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Partage dans les mêmes conditions</a:t>
            </a:r>
            <a:endParaRPr lang="en-US" sz="1200" dirty="0"/>
          </a:p>
        </p:txBody>
      </p:sp>
      <p:sp>
        <p:nvSpPr>
          <p:cNvPr id="32" name="Text 29"/>
          <p:cNvSpPr txBox="1"/>
          <p:nvPr/>
        </p:nvSpPr>
        <p:spPr>
          <a:xfrm>
            <a:off x="1143000" y="3410712"/>
            <a:ext cx="3977640" cy="27432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Les œuvres dérivées diffusées gardent la même licence.</a:t>
            </a:r>
            <a:endParaRPr lang="en-US" sz="1050" dirty="0"/>
          </a:p>
        </p:txBody>
      </p:sp>
      <p:sp>
        <p:nvSpPr>
          <p:cNvPr id="33" name="Shape 30"/>
          <p:cNvSpPr/>
          <p:nvPr/>
        </p:nvSpPr>
        <p:spPr>
          <a:xfrm>
            <a:off x="457200" y="3886200"/>
            <a:ext cx="4754880" cy="594360"/>
          </a:xfrm>
          <a:prstGeom prst="roundRect">
            <a:avLst>
              <a:gd name="adj" fmla="val 12308"/>
            </a:avLst>
          </a:prstGeom>
          <a:solidFill>
            <a:srgbClr val="F4F7F5"/>
          </a:solidFill>
          <a:ln w="9525">
            <a:solidFill>
              <a:srgbClr val="D5DED9"/>
            </a:solidFill>
            <a:prstDash val="solid"/>
          </a:ln>
        </p:spPr>
      </p:sp>
      <p:sp>
        <p:nvSpPr>
          <p:cNvPr id="34" name="Shape 31"/>
          <p:cNvSpPr/>
          <p:nvPr/>
        </p:nvSpPr>
        <p:spPr>
          <a:xfrm>
            <a:off x="566928" y="3959352"/>
            <a:ext cx="457200" cy="457200"/>
          </a:xfrm>
          <a:prstGeom prst="ellipse">
            <a:avLst/>
          </a:prstGeom>
          <a:solidFill>
            <a:srgbClr val="00A86A"/>
          </a:solidFill>
          <a:ln/>
        </p:spPr>
      </p:sp>
      <p:sp>
        <p:nvSpPr>
          <p:cNvPr id="35" name="Text 32"/>
          <p:cNvSpPr txBox="1"/>
          <p:nvPr/>
        </p:nvSpPr>
        <p:spPr>
          <a:xfrm>
            <a:off x="566928" y="3959352"/>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BY</a:t>
            </a:r>
            <a:endParaRPr lang="en-US" sz="1300" dirty="0"/>
          </a:p>
        </p:txBody>
      </p:sp>
      <p:sp>
        <p:nvSpPr>
          <p:cNvPr id="36" name="Text 33"/>
          <p:cNvSpPr txBox="1"/>
          <p:nvPr/>
        </p:nvSpPr>
        <p:spPr>
          <a:xfrm>
            <a:off x="1143000" y="3931920"/>
            <a:ext cx="3977640" cy="502920"/>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WorldPop  ·  CC BY 4.0</a:t>
            </a:r>
            <a:endParaRPr lang="en-US" sz="1200" dirty="0"/>
          </a:p>
          <a:p>
            <a:pPr marL="0" indent="0">
              <a:buNone/>
            </a:pPr>
            <a:r>
              <a:rPr lang="en-US" sz="1050" dirty="0">
                <a:solidFill>
                  <a:srgbClr val="5E6964"/>
                </a:solidFill>
                <a:latin typeface="Calibri" pitchFamily="34" charset="0"/>
                <a:ea typeface="Calibri" pitchFamily="34" charset="-122"/>
                <a:cs typeface="Calibri" pitchFamily="34" charset="-120"/>
              </a:rPr>
              <a:t>Attribution seule ; usage commercial autorisé.</a:t>
            </a:r>
            <a:endParaRPr lang="en-US" sz="1200" dirty="0"/>
          </a:p>
        </p:txBody>
      </p:sp>
      <p:sp>
        <p:nvSpPr>
          <p:cNvPr id="37" name="Shape 34"/>
          <p:cNvSpPr/>
          <p:nvPr/>
        </p:nvSpPr>
        <p:spPr>
          <a:xfrm>
            <a:off x="5486400" y="1325880"/>
            <a:ext cx="3200400" cy="3154680"/>
          </a:xfrm>
          <a:prstGeom prst="roundRect">
            <a:avLst>
              <a:gd name="adj" fmla="val 2319"/>
            </a:avLst>
          </a:prstGeom>
          <a:solidFill>
            <a:srgbClr val="FFFFFF"/>
          </a:solidFill>
          <a:ln w="15875">
            <a:solidFill>
              <a:srgbClr val="D49A00"/>
            </a:solidFill>
            <a:prstDash val="solid"/>
          </a:ln>
        </p:spPr>
      </p:sp>
      <p:sp>
        <p:nvSpPr>
          <p:cNvPr id="38" name="Shape 35"/>
          <p:cNvSpPr/>
          <p:nvPr/>
        </p:nvSpPr>
        <p:spPr>
          <a:xfrm>
            <a:off x="5623560" y="1444752"/>
            <a:ext cx="420624" cy="420624"/>
          </a:xfrm>
          <a:prstGeom prst="ellipse">
            <a:avLst/>
          </a:prstGeom>
          <a:solidFill>
            <a:srgbClr val="D49A00">
              <a:alpha val="22000"/>
            </a:srgbClr>
          </a:solidFill>
          <a:ln/>
        </p:spPr>
      </p:sp>
      <p:pic>
        <p:nvPicPr>
          <p:cNvPr id="39" name="Image 0" descr="preencoded.png"/>
          <p:cNvPicPr>
            <a:picLocks noChangeAspect="1"/>
          </p:cNvPicPr>
          <p:nvPr/>
        </p:nvPicPr>
        <p:blipFill>
          <a:blip r:embed="rId3"/>
          <a:stretch>
            <a:fillRect/>
          </a:stretch>
        </p:blipFill>
        <p:spPr>
          <a:xfrm>
            <a:off x="5724510" y="1545702"/>
            <a:ext cx="218724" cy="218724"/>
          </a:xfrm>
          <a:prstGeom prst="rect">
            <a:avLst/>
          </a:prstGeom>
        </p:spPr>
      </p:pic>
      <p:sp>
        <p:nvSpPr>
          <p:cNvPr id="40" name="Text 36"/>
          <p:cNvSpPr txBox="1"/>
          <p:nvPr/>
        </p:nvSpPr>
        <p:spPr>
          <a:xfrm>
            <a:off x="6126480" y="1463040"/>
            <a:ext cx="2468880" cy="411480"/>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Trois questions pour votre service juridique</a:t>
            </a:r>
            <a:endParaRPr lang="en-US" sz="1200" dirty="0"/>
          </a:p>
        </p:txBody>
      </p:sp>
      <p:sp>
        <p:nvSpPr>
          <p:cNvPr id="41" name="Text 37"/>
          <p:cNvSpPr txBox="1"/>
          <p:nvPr/>
        </p:nvSpPr>
        <p:spPr>
          <a:xfrm>
            <a:off x="5623560" y="2011680"/>
            <a:ext cx="274320" cy="274320"/>
          </a:xfrm>
          <a:prstGeom prst="rect">
            <a:avLst/>
          </a:prstGeom>
          <a:noFill/>
          <a:ln/>
        </p:spPr>
        <p:txBody>
          <a:bodyPr wrap="square" lIns="0" tIns="0" rIns="0" bIns="0" rtlCol="0" anchor="t"/>
          <a:lstStyle/>
          <a:p>
            <a:pPr marL="0" indent="0">
              <a:buNone/>
            </a:pPr>
            <a:r>
              <a:rPr lang="en-US" sz="1600" b="1" dirty="0">
                <a:solidFill>
                  <a:srgbClr val="D49A00"/>
                </a:solidFill>
                <a:latin typeface="Calibri" pitchFamily="34" charset="0"/>
                <a:ea typeface="Calibri" pitchFamily="34" charset="-122"/>
                <a:cs typeface="Calibri" pitchFamily="34" charset="-120"/>
              </a:rPr>
              <a:t>1</a:t>
            </a:r>
            <a:endParaRPr lang="en-US" sz="1600" dirty="0"/>
          </a:p>
        </p:txBody>
      </p:sp>
      <p:sp>
        <p:nvSpPr>
          <p:cNvPr id="42" name="Text 38"/>
          <p:cNvSpPr txBox="1"/>
          <p:nvPr/>
        </p:nvSpPr>
        <p:spPr>
          <a:xfrm>
            <a:off x="5897880" y="2011680"/>
            <a:ext cx="2697480" cy="749808"/>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Un indicateur dérivé de données CC BY-NC-SA peut-il être diffusé sous notre licence nationale ?</a:t>
            </a:r>
            <a:endParaRPr lang="en-US" sz="1000" dirty="0"/>
          </a:p>
        </p:txBody>
      </p:sp>
      <p:sp>
        <p:nvSpPr>
          <p:cNvPr id="43" name="Text 39"/>
          <p:cNvSpPr txBox="1"/>
          <p:nvPr/>
        </p:nvSpPr>
        <p:spPr>
          <a:xfrm>
            <a:off x="5623560" y="2816352"/>
            <a:ext cx="274320" cy="274320"/>
          </a:xfrm>
          <a:prstGeom prst="rect">
            <a:avLst/>
          </a:prstGeom>
          <a:noFill/>
          <a:ln/>
        </p:spPr>
        <p:txBody>
          <a:bodyPr wrap="square" lIns="0" tIns="0" rIns="0" bIns="0" rtlCol="0" anchor="t"/>
          <a:lstStyle/>
          <a:p>
            <a:pPr marL="0" indent="0">
              <a:buNone/>
            </a:pPr>
            <a:r>
              <a:rPr lang="en-US" sz="1600" b="1" dirty="0">
                <a:solidFill>
                  <a:srgbClr val="D49A00"/>
                </a:solidFill>
                <a:latin typeface="Calibri" pitchFamily="34" charset="0"/>
                <a:ea typeface="Calibri" pitchFamily="34" charset="-122"/>
                <a:cs typeface="Calibri" pitchFamily="34" charset="-120"/>
              </a:rPr>
              <a:t>2</a:t>
            </a:r>
            <a:endParaRPr lang="en-US" sz="1600" dirty="0"/>
          </a:p>
        </p:txBody>
      </p:sp>
      <p:sp>
        <p:nvSpPr>
          <p:cNvPr id="44" name="Text 40"/>
          <p:cNvSpPr txBox="1"/>
          <p:nvPr/>
        </p:nvSpPr>
        <p:spPr>
          <a:xfrm>
            <a:off x="5897880" y="2816352"/>
            <a:ext cx="2697480" cy="749808"/>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Une publication officielle est-elle « non commerciale » si des tiers la réutilisent commercialement ?</a:t>
            </a:r>
            <a:endParaRPr lang="en-US" sz="1000" dirty="0"/>
          </a:p>
        </p:txBody>
      </p:sp>
      <p:sp>
        <p:nvSpPr>
          <p:cNvPr id="45" name="Text 41"/>
          <p:cNvSpPr txBox="1"/>
          <p:nvPr/>
        </p:nvSpPr>
        <p:spPr>
          <a:xfrm>
            <a:off x="5623560" y="3621024"/>
            <a:ext cx="274320" cy="274320"/>
          </a:xfrm>
          <a:prstGeom prst="rect">
            <a:avLst/>
          </a:prstGeom>
          <a:noFill/>
          <a:ln/>
        </p:spPr>
        <p:txBody>
          <a:bodyPr wrap="square" lIns="0" tIns="0" rIns="0" bIns="0" rtlCol="0" anchor="t"/>
          <a:lstStyle/>
          <a:p>
            <a:pPr marL="0" indent="0">
              <a:buNone/>
            </a:pPr>
            <a:r>
              <a:rPr lang="en-US" sz="1600" b="1" dirty="0">
                <a:solidFill>
                  <a:srgbClr val="D49A00"/>
                </a:solidFill>
                <a:latin typeface="Calibri" pitchFamily="34" charset="0"/>
                <a:ea typeface="Calibri" pitchFamily="34" charset="-122"/>
                <a:cs typeface="Calibri" pitchFamily="34" charset="-120"/>
              </a:rPr>
              <a:t>3</a:t>
            </a:r>
            <a:endParaRPr lang="en-US" sz="1600" dirty="0"/>
          </a:p>
        </p:txBody>
      </p:sp>
      <p:sp>
        <p:nvSpPr>
          <p:cNvPr id="46" name="Text 42"/>
          <p:cNvSpPr txBox="1"/>
          <p:nvPr/>
        </p:nvSpPr>
        <p:spPr>
          <a:xfrm>
            <a:off x="5897880" y="3621024"/>
            <a:ext cx="2697480" cy="749808"/>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Faut-il un accord de partage avec Ookla ou les opérateurs pour une production régulière ?</a:t>
            </a:r>
            <a:endParaRPr lang="en-US" sz="1000" dirty="0"/>
          </a:p>
        </p:txBody>
      </p:sp>
      <p:sp>
        <p:nvSpPr>
          <p:cNvPr id="47" name="Text 43"/>
          <p:cNvSpPr txBox="1"/>
          <p:nvPr/>
        </p:nvSpPr>
        <p:spPr>
          <a:xfrm>
            <a:off x="457200" y="4572000"/>
            <a:ext cx="749808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Sources : README Ookla Open Data (licence et attribution) ; FAQ et licence WorldPop. Ceci n’est pas un avis juridique.</a:t>
            </a:r>
            <a:endParaRPr lang="en-US" sz="900" dirty="0"/>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p:spPr>
      </p:sp>
      <p:sp>
        <p:nvSpPr>
          <p:cNvPr id="3" name="Text 1"/>
          <p:cNvSpPr txBox="1"/>
          <p:nvPr/>
        </p:nvSpPr>
        <p:spPr>
          <a:xfrm>
            <a:off x="548640" y="822960"/>
            <a:ext cx="3657600" cy="228600"/>
          </a:xfrm>
          <a:prstGeom prst="rect">
            <a:avLst/>
          </a:prstGeom>
          <a:noFill/>
          <a:ln/>
        </p:spPr>
        <p:txBody>
          <a:bodyPr wrap="square" lIns="0" tIns="0" rIns="0" bIns="0" rtlCol="0" anchor="t"/>
          <a:lstStyle/>
          <a:p>
            <a:pPr marL="0" indent="0">
              <a:buNone/>
            </a:pPr>
            <a:r>
              <a:rPr lang="en-US" sz="1100" b="1" kern="0" spc="300" dirty="0">
                <a:solidFill>
                  <a:srgbClr val="F5C242"/>
                </a:solidFill>
                <a:latin typeface="Calibri" pitchFamily="34" charset="0"/>
                <a:ea typeface="Calibri" pitchFamily="34" charset="-122"/>
                <a:cs typeface="Calibri" pitchFamily="34" charset="-120"/>
              </a:rPr>
              <a:t>SECTION 04</a:t>
            </a:r>
            <a:endParaRPr lang="en-US" sz="1100" dirty="0"/>
          </a:p>
        </p:txBody>
      </p:sp>
      <p:sp>
        <p:nvSpPr>
          <p:cNvPr id="4" name="Text 2"/>
          <p:cNvSpPr txBox="1"/>
          <p:nvPr/>
        </p:nvSpPr>
        <p:spPr>
          <a:xfrm>
            <a:off x="502920" y="1051560"/>
            <a:ext cx="2743200" cy="1234440"/>
          </a:xfrm>
          <a:prstGeom prst="rect">
            <a:avLst/>
          </a:prstGeom>
          <a:noFill/>
          <a:ln/>
        </p:spPr>
        <p:txBody>
          <a:bodyPr wrap="square" lIns="0" tIns="0" rIns="0" bIns="0" rtlCol="0" anchor="ctr"/>
          <a:lstStyle/>
          <a:p>
            <a:pPr marL="0" indent="0">
              <a:buNone/>
            </a:pPr>
            <a:r>
              <a:rPr lang="en-US" sz="9600" b="1" dirty="0">
                <a:solidFill>
                  <a:srgbClr val="F5C242"/>
                </a:solidFill>
                <a:latin typeface="Calibri" pitchFamily="34" charset="0"/>
                <a:ea typeface="Calibri" pitchFamily="34" charset="-122"/>
                <a:cs typeface="Calibri" pitchFamily="34" charset="-120"/>
              </a:rPr>
              <a:t>04</a:t>
            </a:r>
            <a:endParaRPr lang="en-US" sz="9600" dirty="0"/>
          </a:p>
        </p:txBody>
      </p:sp>
      <p:sp>
        <p:nvSpPr>
          <p:cNvPr id="5" name="Text 3"/>
          <p:cNvSpPr txBox="1"/>
          <p:nvPr/>
        </p:nvSpPr>
        <p:spPr>
          <a:xfrm>
            <a:off x="548640" y="2286000"/>
            <a:ext cx="5212080" cy="1051560"/>
          </a:xfrm>
          <a:prstGeom prst="rect">
            <a:avLst/>
          </a:prstGeom>
          <a:noFill/>
          <a:ln/>
        </p:spPr>
        <p:txBody>
          <a:bodyPr wrap="square" lIns="0" tIns="0" rIns="0" bIns="0" rtlCol="0" anchor="t"/>
          <a:lstStyle/>
          <a:p>
            <a:pPr marL="0" indent="0">
              <a:buNone/>
            </a:pPr>
            <a:r>
              <a:rPr lang="en-US" sz="3200" b="1" dirty="0">
                <a:solidFill>
                  <a:srgbClr val="FFFFFF"/>
                </a:solidFill>
                <a:latin typeface="Calibri" pitchFamily="34" charset="0"/>
                <a:ea typeface="Calibri" pitchFamily="34" charset="-122"/>
                <a:cs typeface="Calibri" pitchFamily="34" charset="-120"/>
              </a:rPr>
              <a:t>Construire l’indicateur</a:t>
            </a:r>
            <a:endParaRPr lang="en-US" sz="3200" dirty="0"/>
          </a:p>
        </p:txBody>
      </p:sp>
      <p:sp>
        <p:nvSpPr>
          <p:cNvPr id="6" name="Text 4"/>
          <p:cNvSpPr txBox="1"/>
          <p:nvPr/>
        </p:nvSpPr>
        <p:spPr>
          <a:xfrm>
            <a:off x="548640" y="3493008"/>
            <a:ext cx="4937760" cy="640080"/>
          </a:xfrm>
          <a:prstGeom prst="rect">
            <a:avLst/>
          </a:prstGeom>
          <a:noFill/>
          <a:ln/>
        </p:spPr>
        <p:txBody>
          <a:bodyPr wrap="square" lIns="0" tIns="0" rIns="0" bIns="0" rtlCol="0" anchor="t"/>
          <a:lstStyle/>
          <a:p>
            <a:pPr marL="0" indent="0">
              <a:buNone/>
            </a:pPr>
            <a:r>
              <a:rPr lang="en-US" sz="1600" i="1" dirty="0">
                <a:solidFill>
                  <a:srgbClr val="E6F6EE"/>
                </a:solidFill>
                <a:latin typeface="Calibri" pitchFamily="34" charset="0"/>
                <a:ea typeface="Calibri" pitchFamily="34" charset="-122"/>
                <a:cs typeface="Calibri" pitchFamily="34" charset="-120"/>
              </a:rPr>
              <a:t>Un débit sans population n’est pas encore une statistique.</a:t>
            </a:r>
            <a:endParaRPr lang="en-US" sz="1600" dirty="0"/>
          </a:p>
        </p:txBody>
      </p:sp>
      <p:sp>
        <p:nvSpPr>
          <p:cNvPr id="7" name="Shape 5"/>
          <p:cNvSpPr/>
          <p:nvPr/>
        </p:nvSpPr>
        <p:spPr>
          <a:xfrm>
            <a:off x="5989320" y="960120"/>
            <a:ext cx="2651760" cy="2651760"/>
          </a:xfrm>
          <a:prstGeom prst="ellipse">
            <a:avLst/>
          </a:prstGeom>
          <a:solidFill>
            <a:srgbClr val="FFFFFF">
              <a:alpha val="10000"/>
            </a:srgbClr>
          </a:solidFill>
          <a:ln/>
        </p:spPr>
      </p:sp>
      <p:sp>
        <p:nvSpPr>
          <p:cNvPr id="8" name="Shape 6"/>
          <p:cNvSpPr/>
          <p:nvPr/>
        </p:nvSpPr>
        <p:spPr>
          <a:xfrm>
            <a:off x="6309360" y="1280160"/>
            <a:ext cx="2011680" cy="2011680"/>
          </a:xfrm>
          <a:prstGeom prst="ellipse">
            <a:avLst/>
          </a:prstGeom>
          <a:solidFill>
            <a:srgbClr val="FFFFFF">
              <a:alpha val="18000"/>
            </a:srgbClr>
          </a:solidFill>
          <a:ln/>
        </p:spPr>
      </p:sp>
      <p:sp>
        <p:nvSpPr>
          <p:cNvPr id="9" name="Shape 7"/>
          <p:cNvSpPr/>
          <p:nvPr/>
        </p:nvSpPr>
        <p:spPr>
          <a:xfrm>
            <a:off x="6629400" y="1600200"/>
            <a:ext cx="1371600" cy="1371600"/>
          </a:xfrm>
          <a:prstGeom prst="ellipse">
            <a:avLst/>
          </a:prstGeom>
          <a:solidFill>
            <a:srgbClr val="FFFFFF"/>
          </a:solidFill>
          <a:ln/>
        </p:spPr>
      </p:sp>
      <p:pic>
        <p:nvPicPr>
          <p:cNvPr id="10" name="Image 0" descr="preencoded.png"/>
          <p:cNvPicPr>
            <a:picLocks noChangeAspect="1"/>
          </p:cNvPicPr>
          <p:nvPr/>
        </p:nvPicPr>
        <p:blipFill>
          <a:blip r:embed="rId4"/>
          <a:stretch>
            <a:fillRect/>
          </a:stretch>
        </p:blipFill>
        <p:spPr>
          <a:xfrm>
            <a:off x="6995160" y="1965960"/>
            <a:ext cx="640080" cy="640080"/>
          </a:xfrm>
          <a:prstGeom prst="rect">
            <a:avLst/>
          </a:prstGeom>
        </p:spPr>
      </p:pic>
      <p:sp>
        <p:nvSpPr>
          <p:cNvPr id="11" name="Shape 8"/>
          <p:cNvSpPr/>
          <p:nvPr/>
        </p:nvSpPr>
        <p:spPr>
          <a:xfrm>
            <a:off x="566928" y="4315968"/>
            <a:ext cx="118872" cy="118872"/>
          </a:xfrm>
          <a:prstGeom prst="ellipse">
            <a:avLst/>
          </a:prstGeom>
          <a:solidFill>
            <a:srgbClr val="FFFFFF">
              <a:alpha val="40000"/>
            </a:srgbClr>
          </a:solidFill>
          <a:ln/>
        </p:spPr>
      </p:sp>
      <p:sp>
        <p:nvSpPr>
          <p:cNvPr id="12" name="Shape 9"/>
          <p:cNvSpPr/>
          <p:nvPr/>
        </p:nvSpPr>
        <p:spPr>
          <a:xfrm>
            <a:off x="804672" y="4315968"/>
            <a:ext cx="118872" cy="118872"/>
          </a:xfrm>
          <a:prstGeom prst="ellipse">
            <a:avLst/>
          </a:prstGeom>
          <a:solidFill>
            <a:srgbClr val="FFFFFF">
              <a:alpha val="40000"/>
            </a:srgbClr>
          </a:solidFill>
          <a:ln/>
        </p:spPr>
      </p:sp>
      <p:sp>
        <p:nvSpPr>
          <p:cNvPr id="13" name="Shape 10"/>
          <p:cNvSpPr/>
          <p:nvPr/>
        </p:nvSpPr>
        <p:spPr>
          <a:xfrm>
            <a:off x="1042416" y="4315968"/>
            <a:ext cx="118872" cy="118872"/>
          </a:xfrm>
          <a:prstGeom prst="ellipse">
            <a:avLst/>
          </a:prstGeom>
          <a:solidFill>
            <a:srgbClr val="FFFFFF">
              <a:alpha val="40000"/>
            </a:srgbClr>
          </a:solidFill>
          <a:ln/>
        </p:spPr>
      </p:sp>
      <p:sp>
        <p:nvSpPr>
          <p:cNvPr id="14" name="Shape 11"/>
          <p:cNvSpPr/>
          <p:nvPr/>
        </p:nvSpPr>
        <p:spPr>
          <a:xfrm>
            <a:off x="1280160" y="4315968"/>
            <a:ext cx="118872" cy="118872"/>
          </a:xfrm>
          <a:prstGeom prst="ellipse">
            <a:avLst/>
          </a:prstGeom>
          <a:solidFill>
            <a:srgbClr val="F5C242"/>
          </a:solidFill>
          <a:ln/>
        </p:spPr>
      </p:sp>
      <p:sp>
        <p:nvSpPr>
          <p:cNvPr id="15" name="Shape 12"/>
          <p:cNvSpPr/>
          <p:nvPr/>
        </p:nvSpPr>
        <p:spPr>
          <a:xfrm>
            <a:off x="1517904" y="4315968"/>
            <a:ext cx="118872" cy="118872"/>
          </a:xfrm>
          <a:prstGeom prst="ellipse">
            <a:avLst/>
          </a:prstGeom>
          <a:solidFill>
            <a:srgbClr val="FFFFFF">
              <a:alpha val="40000"/>
            </a:srgbClr>
          </a:solidFill>
          <a:ln/>
        </p:spPr>
      </p:sp>
      <p:sp>
        <p:nvSpPr>
          <p:cNvPr id="16" name="Shape 13"/>
          <p:cNvSpPr/>
          <p:nvPr/>
        </p:nvSpPr>
        <p:spPr>
          <a:xfrm>
            <a:off x="1755648" y="4315968"/>
            <a:ext cx="118872" cy="118872"/>
          </a:xfrm>
          <a:prstGeom prst="ellipse">
            <a:avLst/>
          </a:prstGeom>
          <a:solidFill>
            <a:srgbClr val="FFFFFF">
              <a:alpha val="40000"/>
            </a:srgbClr>
          </a:solidFill>
          <a:ln/>
        </p:spPr>
      </p:sp>
      <p:sp>
        <p:nvSpPr>
          <p:cNvPr id="17" name="Text 14"/>
          <p:cNvSpPr txBox="1"/>
          <p:nvPr/>
        </p:nvSpPr>
        <p:spPr>
          <a:xfrm>
            <a:off x="8138160" y="4754880"/>
            <a:ext cx="548640" cy="182880"/>
          </a:xfrm>
          <a:prstGeom prst="rect">
            <a:avLst/>
          </a:prstGeom>
          <a:noFill/>
          <a:ln/>
        </p:spPr>
        <p:txBody>
          <a:bodyPr wrap="square" lIns="0" tIns="0" rIns="0" bIns="0" rtlCol="0" anchor="t"/>
          <a:lstStyle/>
          <a:p>
            <a:pPr marL="0" indent="0" algn="r">
              <a:buNone/>
            </a:pPr>
            <a:r>
              <a:rPr lang="en-US" sz="850" dirty="0">
                <a:solidFill>
                  <a:srgbClr val="E6F6EE"/>
                </a:solidFill>
                <a:latin typeface="Calibri" pitchFamily="34" charset="0"/>
                <a:ea typeface="Calibri" pitchFamily="34" charset="-122"/>
                <a:cs typeface="Calibri" pitchFamily="34" charset="-120"/>
              </a:rPr>
              <a:t>18</a:t>
            </a:r>
            <a:endParaRPr lang="en-US" sz="85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LE SECOND JEU DE DONNÉES</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marL="0" indent="0">
              <a:buNone/>
            </a:pPr>
            <a:r>
              <a:rPr lang="en-US" sz="2300" b="1" dirty="0">
                <a:solidFill>
                  <a:srgbClr val="231F20"/>
                </a:solidFill>
                <a:latin typeface="Calibri" pitchFamily="34" charset="0"/>
                <a:ea typeface="Calibri" pitchFamily="34" charset="-122"/>
                <a:cs typeface="Calibri" pitchFamily="34" charset="-120"/>
              </a:rPr>
              <a:t>WorldPop : le dénominateur qui manque à Ookla</a:t>
            </a:r>
            <a:endParaRPr lang="en-US" sz="23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49A00"/>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BAD – Data Innovation for Africa (DI4A)  ·  Ookla Open Data et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19</a:t>
            </a:r>
            <a:endParaRPr lang="en-US" sz="850" dirty="0"/>
          </a:p>
        </p:txBody>
      </p:sp>
      <p:sp>
        <p:nvSpPr>
          <p:cNvPr id="17" name="Shape 14"/>
          <p:cNvSpPr/>
          <p:nvPr/>
        </p:nvSpPr>
        <p:spPr>
          <a:xfrm>
            <a:off x="502920" y="1463040"/>
            <a:ext cx="384048" cy="384048"/>
          </a:xfrm>
          <a:prstGeom prst="rect">
            <a:avLst/>
          </a:prstGeom>
          <a:solidFill>
            <a:srgbClr val="F4F7F5"/>
          </a:solidFill>
          <a:ln w="12700">
            <a:solidFill>
              <a:srgbClr val="FFFFFF"/>
            </a:solidFill>
            <a:prstDash val="solid"/>
          </a:ln>
        </p:spPr>
      </p:sp>
      <p:sp>
        <p:nvSpPr>
          <p:cNvPr id="18" name="Shape 15"/>
          <p:cNvSpPr/>
          <p:nvPr/>
        </p:nvSpPr>
        <p:spPr>
          <a:xfrm>
            <a:off x="886968" y="1463040"/>
            <a:ext cx="384048" cy="384048"/>
          </a:xfrm>
          <a:prstGeom prst="rect">
            <a:avLst/>
          </a:prstGeom>
          <a:solidFill>
            <a:srgbClr val="7BCBA9"/>
          </a:solidFill>
          <a:ln w="12700">
            <a:solidFill>
              <a:srgbClr val="FFFFFF"/>
            </a:solidFill>
            <a:prstDash val="solid"/>
          </a:ln>
        </p:spPr>
      </p:sp>
      <p:sp>
        <p:nvSpPr>
          <p:cNvPr id="19" name="Shape 16"/>
          <p:cNvSpPr/>
          <p:nvPr/>
        </p:nvSpPr>
        <p:spPr>
          <a:xfrm>
            <a:off x="1271016" y="1463040"/>
            <a:ext cx="384048" cy="384048"/>
          </a:xfrm>
          <a:prstGeom prst="rect">
            <a:avLst/>
          </a:prstGeom>
          <a:solidFill>
            <a:srgbClr val="57BD92"/>
          </a:solidFill>
          <a:ln w="12700">
            <a:solidFill>
              <a:srgbClr val="FFFFFF"/>
            </a:solidFill>
            <a:prstDash val="solid"/>
          </a:ln>
        </p:spPr>
      </p:sp>
      <p:sp>
        <p:nvSpPr>
          <p:cNvPr id="20" name="Shape 17"/>
          <p:cNvSpPr/>
          <p:nvPr/>
        </p:nvSpPr>
        <p:spPr>
          <a:xfrm>
            <a:off x="1655064" y="1463040"/>
            <a:ext cx="384048" cy="384048"/>
          </a:xfrm>
          <a:prstGeom prst="rect">
            <a:avLst/>
          </a:prstGeom>
          <a:solidFill>
            <a:srgbClr val="7BCBA9"/>
          </a:solidFill>
          <a:ln w="12700">
            <a:solidFill>
              <a:srgbClr val="FFFFFF"/>
            </a:solidFill>
            <a:prstDash val="solid"/>
          </a:ln>
        </p:spPr>
      </p:sp>
      <p:sp>
        <p:nvSpPr>
          <p:cNvPr id="21" name="Shape 18"/>
          <p:cNvSpPr/>
          <p:nvPr/>
        </p:nvSpPr>
        <p:spPr>
          <a:xfrm>
            <a:off x="2039112" y="1463040"/>
            <a:ext cx="384048" cy="384048"/>
          </a:xfrm>
          <a:prstGeom prst="rect">
            <a:avLst/>
          </a:prstGeom>
          <a:solidFill>
            <a:srgbClr val="F4F7F5"/>
          </a:solidFill>
          <a:ln w="12700">
            <a:solidFill>
              <a:srgbClr val="FFFFFF"/>
            </a:solidFill>
            <a:prstDash val="solid"/>
          </a:ln>
        </p:spPr>
      </p:sp>
      <p:sp>
        <p:nvSpPr>
          <p:cNvPr id="22" name="Shape 19"/>
          <p:cNvSpPr/>
          <p:nvPr/>
        </p:nvSpPr>
        <p:spPr>
          <a:xfrm>
            <a:off x="2423160" y="1463040"/>
            <a:ext cx="384048" cy="384048"/>
          </a:xfrm>
          <a:prstGeom prst="rect">
            <a:avLst/>
          </a:prstGeom>
          <a:solidFill>
            <a:srgbClr val="F4F7F5"/>
          </a:solidFill>
          <a:ln w="12700">
            <a:solidFill>
              <a:srgbClr val="FFFFFF"/>
            </a:solidFill>
            <a:prstDash val="solid"/>
          </a:ln>
        </p:spPr>
      </p:sp>
      <p:sp>
        <p:nvSpPr>
          <p:cNvPr id="23" name="Shape 20"/>
          <p:cNvSpPr/>
          <p:nvPr/>
        </p:nvSpPr>
        <p:spPr>
          <a:xfrm>
            <a:off x="502920" y="1847088"/>
            <a:ext cx="384048" cy="384048"/>
          </a:xfrm>
          <a:prstGeom prst="rect">
            <a:avLst/>
          </a:prstGeom>
          <a:solidFill>
            <a:srgbClr val="7BCBA9"/>
          </a:solidFill>
          <a:ln w="12700">
            <a:solidFill>
              <a:srgbClr val="FFFFFF"/>
            </a:solidFill>
            <a:prstDash val="solid"/>
          </a:ln>
        </p:spPr>
      </p:sp>
      <p:sp>
        <p:nvSpPr>
          <p:cNvPr id="24" name="Shape 21"/>
          <p:cNvSpPr/>
          <p:nvPr/>
        </p:nvSpPr>
        <p:spPr>
          <a:xfrm>
            <a:off x="886968" y="1847088"/>
            <a:ext cx="384048" cy="384048"/>
          </a:xfrm>
          <a:prstGeom prst="rect">
            <a:avLst/>
          </a:prstGeom>
          <a:solidFill>
            <a:srgbClr val="33AF7C"/>
          </a:solidFill>
          <a:ln w="12700">
            <a:solidFill>
              <a:srgbClr val="FFFFFF"/>
            </a:solidFill>
            <a:prstDash val="solid"/>
          </a:ln>
        </p:spPr>
      </p:sp>
      <p:sp>
        <p:nvSpPr>
          <p:cNvPr id="25" name="Shape 22"/>
          <p:cNvSpPr/>
          <p:nvPr/>
        </p:nvSpPr>
        <p:spPr>
          <a:xfrm>
            <a:off x="1271016" y="1847088"/>
            <a:ext cx="384048" cy="384048"/>
          </a:xfrm>
          <a:prstGeom prst="rect">
            <a:avLst/>
          </a:prstGeom>
          <a:solidFill>
            <a:srgbClr val="008A5B"/>
          </a:solidFill>
          <a:ln w="12700">
            <a:solidFill>
              <a:srgbClr val="FFFFFF"/>
            </a:solidFill>
            <a:prstDash val="solid"/>
          </a:ln>
        </p:spPr>
      </p:sp>
      <p:sp>
        <p:nvSpPr>
          <p:cNvPr id="26" name="Shape 23"/>
          <p:cNvSpPr/>
          <p:nvPr/>
        </p:nvSpPr>
        <p:spPr>
          <a:xfrm>
            <a:off x="1655064" y="1847088"/>
            <a:ext cx="384048" cy="384048"/>
          </a:xfrm>
          <a:prstGeom prst="rect">
            <a:avLst/>
          </a:prstGeom>
          <a:solidFill>
            <a:srgbClr val="10A06A"/>
          </a:solidFill>
          <a:ln w="12700">
            <a:solidFill>
              <a:srgbClr val="FFFFFF"/>
            </a:solidFill>
            <a:prstDash val="solid"/>
          </a:ln>
        </p:spPr>
      </p:sp>
      <p:sp>
        <p:nvSpPr>
          <p:cNvPr id="27" name="Shape 24"/>
          <p:cNvSpPr/>
          <p:nvPr/>
        </p:nvSpPr>
        <p:spPr>
          <a:xfrm>
            <a:off x="2039112" y="1847088"/>
            <a:ext cx="384048" cy="384048"/>
          </a:xfrm>
          <a:prstGeom prst="rect">
            <a:avLst/>
          </a:prstGeom>
          <a:solidFill>
            <a:srgbClr val="7BCBA9"/>
          </a:solidFill>
          <a:ln w="12700">
            <a:solidFill>
              <a:srgbClr val="FFFFFF"/>
            </a:solidFill>
            <a:prstDash val="solid"/>
          </a:ln>
        </p:spPr>
      </p:sp>
      <p:sp>
        <p:nvSpPr>
          <p:cNvPr id="28" name="Shape 25"/>
          <p:cNvSpPr/>
          <p:nvPr/>
        </p:nvSpPr>
        <p:spPr>
          <a:xfrm>
            <a:off x="2423160" y="1847088"/>
            <a:ext cx="384048" cy="384048"/>
          </a:xfrm>
          <a:prstGeom prst="rect">
            <a:avLst/>
          </a:prstGeom>
          <a:solidFill>
            <a:srgbClr val="F4F7F5"/>
          </a:solidFill>
          <a:ln w="12700">
            <a:solidFill>
              <a:srgbClr val="FFFFFF"/>
            </a:solidFill>
            <a:prstDash val="solid"/>
          </a:ln>
        </p:spPr>
      </p:sp>
      <p:sp>
        <p:nvSpPr>
          <p:cNvPr id="29" name="Shape 26"/>
          <p:cNvSpPr/>
          <p:nvPr/>
        </p:nvSpPr>
        <p:spPr>
          <a:xfrm>
            <a:off x="502920" y="2231136"/>
            <a:ext cx="384048" cy="384048"/>
          </a:xfrm>
          <a:prstGeom prst="rect">
            <a:avLst/>
          </a:prstGeom>
          <a:solidFill>
            <a:srgbClr val="57BD92"/>
          </a:solidFill>
          <a:ln w="12700">
            <a:solidFill>
              <a:srgbClr val="FFFFFF"/>
            </a:solidFill>
            <a:prstDash val="solid"/>
          </a:ln>
        </p:spPr>
      </p:sp>
      <p:sp>
        <p:nvSpPr>
          <p:cNvPr id="30" name="Shape 27"/>
          <p:cNvSpPr/>
          <p:nvPr/>
        </p:nvSpPr>
        <p:spPr>
          <a:xfrm>
            <a:off x="886968" y="2231136"/>
            <a:ext cx="384048" cy="384048"/>
          </a:xfrm>
          <a:prstGeom prst="rect">
            <a:avLst/>
          </a:prstGeom>
          <a:solidFill>
            <a:srgbClr val="008A5B"/>
          </a:solidFill>
          <a:ln w="12700">
            <a:solidFill>
              <a:srgbClr val="FFFFFF"/>
            </a:solidFill>
            <a:prstDash val="solid"/>
          </a:ln>
        </p:spPr>
      </p:sp>
      <p:sp>
        <p:nvSpPr>
          <p:cNvPr id="31" name="Shape 28"/>
          <p:cNvSpPr/>
          <p:nvPr/>
        </p:nvSpPr>
        <p:spPr>
          <a:xfrm>
            <a:off x="1271016" y="2231136"/>
            <a:ext cx="384048" cy="384048"/>
          </a:xfrm>
          <a:prstGeom prst="rect">
            <a:avLst/>
          </a:prstGeom>
          <a:solidFill>
            <a:srgbClr val="00664A"/>
          </a:solidFill>
          <a:ln w="12700">
            <a:solidFill>
              <a:srgbClr val="FFFFFF"/>
            </a:solidFill>
            <a:prstDash val="solid"/>
          </a:ln>
        </p:spPr>
      </p:sp>
      <p:sp>
        <p:nvSpPr>
          <p:cNvPr id="32" name="Shape 29"/>
          <p:cNvSpPr/>
          <p:nvPr/>
        </p:nvSpPr>
        <p:spPr>
          <a:xfrm>
            <a:off x="1655064" y="2231136"/>
            <a:ext cx="384048" cy="384048"/>
          </a:xfrm>
          <a:prstGeom prst="rect">
            <a:avLst/>
          </a:prstGeom>
          <a:solidFill>
            <a:srgbClr val="008A5B"/>
          </a:solidFill>
          <a:ln w="12700">
            <a:solidFill>
              <a:srgbClr val="FFFFFF"/>
            </a:solidFill>
            <a:prstDash val="solid"/>
          </a:ln>
        </p:spPr>
      </p:sp>
      <p:sp>
        <p:nvSpPr>
          <p:cNvPr id="33" name="Shape 30"/>
          <p:cNvSpPr/>
          <p:nvPr/>
        </p:nvSpPr>
        <p:spPr>
          <a:xfrm>
            <a:off x="2039112" y="2231136"/>
            <a:ext cx="384048" cy="384048"/>
          </a:xfrm>
          <a:prstGeom prst="rect">
            <a:avLst/>
          </a:prstGeom>
          <a:solidFill>
            <a:srgbClr val="57BD92"/>
          </a:solidFill>
          <a:ln w="12700">
            <a:solidFill>
              <a:srgbClr val="FFFFFF"/>
            </a:solidFill>
            <a:prstDash val="solid"/>
          </a:ln>
        </p:spPr>
      </p:sp>
      <p:sp>
        <p:nvSpPr>
          <p:cNvPr id="34" name="Shape 31"/>
          <p:cNvSpPr/>
          <p:nvPr/>
        </p:nvSpPr>
        <p:spPr>
          <a:xfrm>
            <a:off x="2423160" y="2231136"/>
            <a:ext cx="384048" cy="384048"/>
          </a:xfrm>
          <a:prstGeom prst="rect">
            <a:avLst/>
          </a:prstGeom>
          <a:solidFill>
            <a:srgbClr val="F4F7F5"/>
          </a:solidFill>
          <a:ln w="12700">
            <a:solidFill>
              <a:srgbClr val="FFFFFF"/>
            </a:solidFill>
            <a:prstDash val="solid"/>
          </a:ln>
        </p:spPr>
      </p:sp>
      <p:sp>
        <p:nvSpPr>
          <p:cNvPr id="35" name="Shape 32"/>
          <p:cNvSpPr/>
          <p:nvPr/>
        </p:nvSpPr>
        <p:spPr>
          <a:xfrm>
            <a:off x="502920" y="2615184"/>
            <a:ext cx="384048" cy="384048"/>
          </a:xfrm>
          <a:prstGeom prst="rect">
            <a:avLst/>
          </a:prstGeom>
          <a:solidFill>
            <a:srgbClr val="7BCBA9"/>
          </a:solidFill>
          <a:ln w="12700">
            <a:solidFill>
              <a:srgbClr val="FFFFFF"/>
            </a:solidFill>
            <a:prstDash val="solid"/>
          </a:ln>
        </p:spPr>
      </p:sp>
      <p:sp>
        <p:nvSpPr>
          <p:cNvPr id="36" name="Shape 33"/>
          <p:cNvSpPr/>
          <p:nvPr/>
        </p:nvSpPr>
        <p:spPr>
          <a:xfrm>
            <a:off x="886968" y="2615184"/>
            <a:ext cx="384048" cy="384048"/>
          </a:xfrm>
          <a:prstGeom prst="rect">
            <a:avLst/>
          </a:prstGeom>
          <a:solidFill>
            <a:srgbClr val="10A06A"/>
          </a:solidFill>
          <a:ln w="12700">
            <a:solidFill>
              <a:srgbClr val="FFFFFF"/>
            </a:solidFill>
            <a:prstDash val="solid"/>
          </a:ln>
        </p:spPr>
      </p:sp>
      <p:sp>
        <p:nvSpPr>
          <p:cNvPr id="37" name="Shape 34"/>
          <p:cNvSpPr/>
          <p:nvPr/>
        </p:nvSpPr>
        <p:spPr>
          <a:xfrm>
            <a:off x="1271016" y="2615184"/>
            <a:ext cx="384048" cy="384048"/>
          </a:xfrm>
          <a:prstGeom prst="rect">
            <a:avLst/>
          </a:prstGeom>
          <a:solidFill>
            <a:srgbClr val="00664A"/>
          </a:solidFill>
          <a:ln w="12700">
            <a:solidFill>
              <a:srgbClr val="FFFFFF"/>
            </a:solidFill>
            <a:prstDash val="solid"/>
          </a:ln>
        </p:spPr>
      </p:sp>
      <p:sp>
        <p:nvSpPr>
          <p:cNvPr id="38" name="Shape 35"/>
          <p:cNvSpPr/>
          <p:nvPr/>
        </p:nvSpPr>
        <p:spPr>
          <a:xfrm>
            <a:off x="1655064" y="2615184"/>
            <a:ext cx="384048" cy="384048"/>
          </a:xfrm>
          <a:prstGeom prst="rect">
            <a:avLst/>
          </a:prstGeom>
          <a:solidFill>
            <a:srgbClr val="10A06A"/>
          </a:solidFill>
          <a:ln w="12700">
            <a:solidFill>
              <a:srgbClr val="FFFFFF"/>
            </a:solidFill>
            <a:prstDash val="solid"/>
          </a:ln>
        </p:spPr>
      </p:sp>
      <p:sp>
        <p:nvSpPr>
          <p:cNvPr id="39" name="Shape 36"/>
          <p:cNvSpPr/>
          <p:nvPr/>
        </p:nvSpPr>
        <p:spPr>
          <a:xfrm>
            <a:off x="2039112" y="2615184"/>
            <a:ext cx="384048" cy="384048"/>
          </a:xfrm>
          <a:prstGeom prst="rect">
            <a:avLst/>
          </a:prstGeom>
          <a:solidFill>
            <a:srgbClr val="7BCBA9"/>
          </a:solidFill>
          <a:ln w="12700">
            <a:solidFill>
              <a:srgbClr val="FFFFFF"/>
            </a:solidFill>
            <a:prstDash val="solid"/>
          </a:ln>
        </p:spPr>
      </p:sp>
      <p:sp>
        <p:nvSpPr>
          <p:cNvPr id="40" name="Shape 37"/>
          <p:cNvSpPr/>
          <p:nvPr/>
        </p:nvSpPr>
        <p:spPr>
          <a:xfrm>
            <a:off x="2423160" y="2615184"/>
            <a:ext cx="384048" cy="384048"/>
          </a:xfrm>
          <a:prstGeom prst="rect">
            <a:avLst/>
          </a:prstGeom>
          <a:solidFill>
            <a:srgbClr val="F4F7F5"/>
          </a:solidFill>
          <a:ln w="12700">
            <a:solidFill>
              <a:srgbClr val="FFFFFF"/>
            </a:solidFill>
            <a:prstDash val="solid"/>
          </a:ln>
        </p:spPr>
      </p:sp>
      <p:sp>
        <p:nvSpPr>
          <p:cNvPr id="41" name="Shape 38"/>
          <p:cNvSpPr/>
          <p:nvPr/>
        </p:nvSpPr>
        <p:spPr>
          <a:xfrm>
            <a:off x="502920" y="2999232"/>
            <a:ext cx="384048" cy="384048"/>
          </a:xfrm>
          <a:prstGeom prst="rect">
            <a:avLst/>
          </a:prstGeom>
          <a:solidFill>
            <a:srgbClr val="F4F7F5"/>
          </a:solidFill>
          <a:ln w="12700">
            <a:solidFill>
              <a:srgbClr val="FFFFFF"/>
            </a:solidFill>
            <a:prstDash val="solid"/>
          </a:ln>
        </p:spPr>
      </p:sp>
      <p:sp>
        <p:nvSpPr>
          <p:cNvPr id="42" name="Shape 39"/>
          <p:cNvSpPr/>
          <p:nvPr/>
        </p:nvSpPr>
        <p:spPr>
          <a:xfrm>
            <a:off x="886968" y="2999232"/>
            <a:ext cx="384048" cy="384048"/>
          </a:xfrm>
          <a:prstGeom prst="rect">
            <a:avLst/>
          </a:prstGeom>
          <a:solidFill>
            <a:srgbClr val="7BCBA9"/>
          </a:solidFill>
          <a:ln w="12700">
            <a:solidFill>
              <a:srgbClr val="FFFFFF"/>
            </a:solidFill>
            <a:prstDash val="solid"/>
          </a:ln>
        </p:spPr>
      </p:sp>
      <p:sp>
        <p:nvSpPr>
          <p:cNvPr id="43" name="Shape 40"/>
          <p:cNvSpPr/>
          <p:nvPr/>
        </p:nvSpPr>
        <p:spPr>
          <a:xfrm>
            <a:off x="1271016" y="2999232"/>
            <a:ext cx="384048" cy="384048"/>
          </a:xfrm>
          <a:prstGeom prst="rect">
            <a:avLst/>
          </a:prstGeom>
          <a:solidFill>
            <a:srgbClr val="33AF7C"/>
          </a:solidFill>
          <a:ln w="12700">
            <a:solidFill>
              <a:srgbClr val="FFFFFF"/>
            </a:solidFill>
            <a:prstDash val="solid"/>
          </a:ln>
        </p:spPr>
      </p:sp>
      <p:sp>
        <p:nvSpPr>
          <p:cNvPr id="44" name="Shape 41"/>
          <p:cNvSpPr/>
          <p:nvPr/>
        </p:nvSpPr>
        <p:spPr>
          <a:xfrm>
            <a:off x="1655064" y="2999232"/>
            <a:ext cx="384048" cy="384048"/>
          </a:xfrm>
          <a:prstGeom prst="rect">
            <a:avLst/>
          </a:prstGeom>
          <a:solidFill>
            <a:srgbClr val="57BD92"/>
          </a:solidFill>
          <a:ln w="12700">
            <a:solidFill>
              <a:srgbClr val="FFFFFF"/>
            </a:solidFill>
            <a:prstDash val="solid"/>
          </a:ln>
        </p:spPr>
      </p:sp>
      <p:sp>
        <p:nvSpPr>
          <p:cNvPr id="45" name="Shape 42"/>
          <p:cNvSpPr/>
          <p:nvPr/>
        </p:nvSpPr>
        <p:spPr>
          <a:xfrm>
            <a:off x="2039112" y="2999232"/>
            <a:ext cx="384048" cy="384048"/>
          </a:xfrm>
          <a:prstGeom prst="rect">
            <a:avLst/>
          </a:prstGeom>
          <a:solidFill>
            <a:srgbClr val="7BCBA9"/>
          </a:solidFill>
          <a:ln w="12700">
            <a:solidFill>
              <a:srgbClr val="FFFFFF"/>
            </a:solidFill>
            <a:prstDash val="solid"/>
          </a:ln>
        </p:spPr>
      </p:sp>
      <p:sp>
        <p:nvSpPr>
          <p:cNvPr id="46" name="Shape 43"/>
          <p:cNvSpPr/>
          <p:nvPr/>
        </p:nvSpPr>
        <p:spPr>
          <a:xfrm>
            <a:off x="2423160" y="2999232"/>
            <a:ext cx="384048" cy="384048"/>
          </a:xfrm>
          <a:prstGeom prst="rect">
            <a:avLst/>
          </a:prstGeom>
          <a:solidFill>
            <a:srgbClr val="F4F7F5"/>
          </a:solidFill>
          <a:ln w="12700">
            <a:solidFill>
              <a:srgbClr val="FFFFFF"/>
            </a:solidFill>
            <a:prstDash val="solid"/>
          </a:ln>
        </p:spPr>
      </p:sp>
      <p:sp>
        <p:nvSpPr>
          <p:cNvPr id="47" name="Shape 44"/>
          <p:cNvSpPr/>
          <p:nvPr/>
        </p:nvSpPr>
        <p:spPr>
          <a:xfrm>
            <a:off x="502920" y="3383280"/>
            <a:ext cx="384048" cy="384048"/>
          </a:xfrm>
          <a:prstGeom prst="rect">
            <a:avLst/>
          </a:prstGeom>
          <a:solidFill>
            <a:srgbClr val="F4F7F5"/>
          </a:solidFill>
          <a:ln w="12700">
            <a:solidFill>
              <a:srgbClr val="FFFFFF"/>
            </a:solidFill>
            <a:prstDash val="solid"/>
          </a:ln>
        </p:spPr>
      </p:sp>
      <p:sp>
        <p:nvSpPr>
          <p:cNvPr id="48" name="Shape 45"/>
          <p:cNvSpPr/>
          <p:nvPr/>
        </p:nvSpPr>
        <p:spPr>
          <a:xfrm>
            <a:off x="886968" y="3383280"/>
            <a:ext cx="384048" cy="384048"/>
          </a:xfrm>
          <a:prstGeom prst="rect">
            <a:avLst/>
          </a:prstGeom>
          <a:solidFill>
            <a:srgbClr val="F4F7F5"/>
          </a:solidFill>
          <a:ln w="12700">
            <a:solidFill>
              <a:srgbClr val="FFFFFF"/>
            </a:solidFill>
            <a:prstDash val="solid"/>
          </a:ln>
        </p:spPr>
      </p:sp>
      <p:sp>
        <p:nvSpPr>
          <p:cNvPr id="49" name="Shape 46"/>
          <p:cNvSpPr/>
          <p:nvPr/>
        </p:nvSpPr>
        <p:spPr>
          <a:xfrm>
            <a:off x="1271016" y="3383280"/>
            <a:ext cx="384048" cy="384048"/>
          </a:xfrm>
          <a:prstGeom prst="rect">
            <a:avLst/>
          </a:prstGeom>
          <a:solidFill>
            <a:srgbClr val="7BCBA9"/>
          </a:solidFill>
          <a:ln w="12700">
            <a:solidFill>
              <a:srgbClr val="FFFFFF"/>
            </a:solidFill>
            <a:prstDash val="solid"/>
          </a:ln>
        </p:spPr>
      </p:sp>
      <p:sp>
        <p:nvSpPr>
          <p:cNvPr id="50" name="Shape 47"/>
          <p:cNvSpPr/>
          <p:nvPr/>
        </p:nvSpPr>
        <p:spPr>
          <a:xfrm>
            <a:off x="1655064" y="3383280"/>
            <a:ext cx="384048" cy="384048"/>
          </a:xfrm>
          <a:prstGeom prst="rect">
            <a:avLst/>
          </a:prstGeom>
          <a:solidFill>
            <a:srgbClr val="F4F7F5"/>
          </a:solidFill>
          <a:ln w="12700">
            <a:solidFill>
              <a:srgbClr val="FFFFFF"/>
            </a:solidFill>
            <a:prstDash val="solid"/>
          </a:ln>
        </p:spPr>
      </p:sp>
      <p:sp>
        <p:nvSpPr>
          <p:cNvPr id="51" name="Shape 48"/>
          <p:cNvSpPr/>
          <p:nvPr/>
        </p:nvSpPr>
        <p:spPr>
          <a:xfrm>
            <a:off x="2039112" y="3383280"/>
            <a:ext cx="384048" cy="384048"/>
          </a:xfrm>
          <a:prstGeom prst="rect">
            <a:avLst/>
          </a:prstGeom>
          <a:solidFill>
            <a:srgbClr val="F4F7F5"/>
          </a:solidFill>
          <a:ln w="12700">
            <a:solidFill>
              <a:srgbClr val="FFFFFF"/>
            </a:solidFill>
            <a:prstDash val="solid"/>
          </a:ln>
        </p:spPr>
      </p:sp>
      <p:sp>
        <p:nvSpPr>
          <p:cNvPr id="52" name="Shape 49"/>
          <p:cNvSpPr/>
          <p:nvPr/>
        </p:nvSpPr>
        <p:spPr>
          <a:xfrm>
            <a:off x="2423160" y="3383280"/>
            <a:ext cx="384048" cy="384048"/>
          </a:xfrm>
          <a:prstGeom prst="rect">
            <a:avLst/>
          </a:prstGeom>
          <a:solidFill>
            <a:srgbClr val="F4F7F5"/>
          </a:solidFill>
          <a:ln w="12700">
            <a:solidFill>
              <a:srgbClr val="FFFFFF"/>
            </a:solidFill>
            <a:prstDash val="solid"/>
          </a:ln>
        </p:spPr>
      </p:sp>
      <p:sp>
        <p:nvSpPr>
          <p:cNvPr id="53" name="Shape 50"/>
          <p:cNvSpPr/>
          <p:nvPr/>
        </p:nvSpPr>
        <p:spPr>
          <a:xfrm>
            <a:off x="502920" y="1463040"/>
            <a:ext cx="2304288" cy="2304288"/>
          </a:xfrm>
          <a:prstGeom prst="rect">
            <a:avLst/>
          </a:prstGeom>
          <a:ln w="31750">
            <a:solidFill>
              <a:srgbClr val="D49A00"/>
            </a:solidFill>
            <a:prstDash val="dash"/>
          </a:ln>
        </p:spPr>
      </p:sp>
      <p:sp>
        <p:nvSpPr>
          <p:cNvPr id="54" name="Text 51"/>
          <p:cNvSpPr txBox="1"/>
          <p:nvPr/>
        </p:nvSpPr>
        <p:spPr>
          <a:xfrm>
            <a:off x="457200" y="3840480"/>
            <a:ext cx="2514600" cy="658368"/>
          </a:xfrm>
          <a:prstGeom prst="rect">
            <a:avLst/>
          </a:prstGeom>
          <a:noFill/>
          <a:ln/>
        </p:spPr>
        <p:txBody>
          <a:bodyPr wrap="square" lIns="0" tIns="0" rIns="0" bIns="0" rtlCol="0" anchor="t"/>
          <a:lstStyle/>
          <a:p>
            <a:pPr marL="0" indent="0">
              <a:buNone/>
            </a:pPr>
            <a:r>
              <a:rPr lang="en-US" sz="950" i="1" dirty="0">
                <a:solidFill>
                  <a:srgbClr val="5E6964"/>
                </a:solidFill>
                <a:latin typeface="Calibri" pitchFamily="34" charset="0"/>
                <a:ea typeface="Calibri" pitchFamily="34" charset="-122"/>
                <a:cs typeface="Calibri" pitchFamily="34" charset="-120"/>
              </a:rPr>
              <a:t>Une tuile Ookla (≈ 611 m) contient environ 36 cellules WorldPop (≈ 100 m). Leur somme donne la population de la tuile.</a:t>
            </a:r>
            <a:endParaRPr lang="en-US" sz="950" dirty="0"/>
          </a:p>
        </p:txBody>
      </p:sp>
      <p:sp>
        <p:nvSpPr>
          <p:cNvPr id="55" name="Shape 52"/>
          <p:cNvSpPr/>
          <p:nvPr/>
        </p:nvSpPr>
        <p:spPr>
          <a:xfrm>
            <a:off x="3246120" y="1371600"/>
            <a:ext cx="2606040" cy="914400"/>
          </a:xfrm>
          <a:prstGeom prst="roundRect">
            <a:avLst>
              <a:gd name="adj" fmla="val 8000"/>
            </a:avLst>
          </a:prstGeom>
          <a:solidFill>
            <a:srgbClr val="F4F7F5"/>
          </a:solidFill>
          <a:ln w="9525">
            <a:solidFill>
              <a:srgbClr val="D5DED9"/>
            </a:solidFill>
            <a:prstDash val="solid"/>
          </a:ln>
        </p:spPr>
      </p:sp>
      <p:sp>
        <p:nvSpPr>
          <p:cNvPr id="56" name="Shape 53"/>
          <p:cNvSpPr/>
          <p:nvPr/>
        </p:nvSpPr>
        <p:spPr>
          <a:xfrm>
            <a:off x="3355848" y="1499616"/>
            <a:ext cx="402336" cy="402336"/>
          </a:xfrm>
          <a:prstGeom prst="ellipse">
            <a:avLst/>
          </a:prstGeom>
          <a:solidFill>
            <a:srgbClr val="D49A00">
              <a:alpha val="22000"/>
            </a:srgbClr>
          </a:solidFill>
          <a:ln/>
        </p:spPr>
      </p:sp>
      <p:pic>
        <p:nvPicPr>
          <p:cNvPr id="57" name="Image 0" descr="preencoded.png"/>
          <p:cNvPicPr>
            <a:picLocks noChangeAspect="1"/>
          </p:cNvPicPr>
          <p:nvPr/>
        </p:nvPicPr>
        <p:blipFill>
          <a:blip r:embed="rId3"/>
          <a:stretch>
            <a:fillRect/>
          </a:stretch>
        </p:blipFill>
        <p:spPr>
          <a:xfrm>
            <a:off x="3452409" y="1596177"/>
            <a:ext cx="209215" cy="209215"/>
          </a:xfrm>
          <a:prstGeom prst="rect">
            <a:avLst/>
          </a:prstGeom>
        </p:spPr>
      </p:pic>
      <p:sp>
        <p:nvSpPr>
          <p:cNvPr id="58" name="Text 54"/>
          <p:cNvSpPr txBox="1"/>
          <p:nvPr/>
        </p:nvSpPr>
        <p:spPr>
          <a:xfrm>
            <a:off x="3849624" y="1481328"/>
            <a:ext cx="192024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Grille de 100 m</a:t>
            </a:r>
            <a:endParaRPr lang="en-US" sz="1250" dirty="0"/>
          </a:p>
        </p:txBody>
      </p:sp>
      <p:sp>
        <p:nvSpPr>
          <p:cNvPr id="59" name="Text 55"/>
          <p:cNvSpPr txBox="1"/>
          <p:nvPr/>
        </p:nvSpPr>
        <p:spPr>
          <a:xfrm>
            <a:off x="3849624" y="1737360"/>
            <a:ext cx="1920240" cy="512064"/>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Personnes par cellule à 3 secondes d’arc ; versions à 1 km aussi.</a:t>
            </a:r>
            <a:endParaRPr lang="en-US" sz="950" dirty="0"/>
          </a:p>
        </p:txBody>
      </p:sp>
      <p:sp>
        <p:nvSpPr>
          <p:cNvPr id="60" name="Shape 56"/>
          <p:cNvSpPr/>
          <p:nvPr/>
        </p:nvSpPr>
        <p:spPr>
          <a:xfrm>
            <a:off x="5989320" y="1371600"/>
            <a:ext cx="2606040" cy="914400"/>
          </a:xfrm>
          <a:prstGeom prst="roundRect">
            <a:avLst>
              <a:gd name="adj" fmla="val 8000"/>
            </a:avLst>
          </a:prstGeom>
          <a:solidFill>
            <a:srgbClr val="F4F7F5"/>
          </a:solidFill>
          <a:ln w="9525">
            <a:solidFill>
              <a:srgbClr val="D5DED9"/>
            </a:solidFill>
            <a:prstDash val="solid"/>
          </a:ln>
        </p:spPr>
      </p:sp>
      <p:sp>
        <p:nvSpPr>
          <p:cNvPr id="61" name="Shape 57"/>
          <p:cNvSpPr/>
          <p:nvPr/>
        </p:nvSpPr>
        <p:spPr>
          <a:xfrm>
            <a:off x="6099048" y="1499616"/>
            <a:ext cx="402336" cy="402336"/>
          </a:xfrm>
          <a:prstGeom prst="ellipse">
            <a:avLst/>
          </a:prstGeom>
          <a:solidFill>
            <a:srgbClr val="D49A00">
              <a:alpha val="22000"/>
            </a:srgbClr>
          </a:solidFill>
          <a:ln/>
        </p:spPr>
      </p:sp>
      <p:pic>
        <p:nvPicPr>
          <p:cNvPr id="62" name="Image 1" descr="preencoded.png"/>
          <p:cNvPicPr>
            <a:picLocks noChangeAspect="1"/>
          </p:cNvPicPr>
          <p:nvPr/>
        </p:nvPicPr>
        <p:blipFill>
          <a:blip r:embed="rId4"/>
          <a:stretch>
            <a:fillRect/>
          </a:stretch>
        </p:blipFill>
        <p:spPr>
          <a:xfrm>
            <a:off x="6195609" y="1596177"/>
            <a:ext cx="209215" cy="209215"/>
          </a:xfrm>
          <a:prstGeom prst="rect">
            <a:avLst/>
          </a:prstGeom>
        </p:spPr>
      </p:pic>
      <p:sp>
        <p:nvSpPr>
          <p:cNvPr id="63" name="Text 58"/>
          <p:cNvSpPr txBox="1"/>
          <p:nvPr/>
        </p:nvSpPr>
        <p:spPr>
          <a:xfrm>
            <a:off x="6592824" y="1481328"/>
            <a:ext cx="192024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2015 – 2030</a:t>
            </a:r>
            <a:endParaRPr lang="en-US" sz="1250" dirty="0"/>
          </a:p>
        </p:txBody>
      </p:sp>
      <p:sp>
        <p:nvSpPr>
          <p:cNvPr id="64" name="Text 59"/>
          <p:cNvSpPr txBox="1"/>
          <p:nvPr/>
        </p:nvSpPr>
        <p:spPr>
          <a:xfrm>
            <a:off x="6592824" y="1737360"/>
            <a:ext cx="1920240" cy="512064"/>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Estimations annuelles, ventilations par âge et sexe.</a:t>
            </a:r>
            <a:endParaRPr lang="en-US" sz="950" dirty="0"/>
          </a:p>
        </p:txBody>
      </p:sp>
      <p:sp>
        <p:nvSpPr>
          <p:cNvPr id="65" name="Shape 60"/>
          <p:cNvSpPr/>
          <p:nvPr/>
        </p:nvSpPr>
        <p:spPr>
          <a:xfrm>
            <a:off x="3246120" y="2423160"/>
            <a:ext cx="2606040" cy="914400"/>
          </a:xfrm>
          <a:prstGeom prst="roundRect">
            <a:avLst>
              <a:gd name="adj" fmla="val 8000"/>
            </a:avLst>
          </a:prstGeom>
          <a:solidFill>
            <a:srgbClr val="F4F7F5"/>
          </a:solidFill>
          <a:ln w="9525">
            <a:solidFill>
              <a:srgbClr val="D5DED9"/>
            </a:solidFill>
            <a:prstDash val="solid"/>
          </a:ln>
        </p:spPr>
      </p:sp>
      <p:sp>
        <p:nvSpPr>
          <p:cNvPr id="66" name="Shape 61"/>
          <p:cNvSpPr/>
          <p:nvPr/>
        </p:nvSpPr>
        <p:spPr>
          <a:xfrm>
            <a:off x="3355848" y="2551176"/>
            <a:ext cx="402336" cy="402336"/>
          </a:xfrm>
          <a:prstGeom prst="ellipse">
            <a:avLst/>
          </a:prstGeom>
          <a:solidFill>
            <a:srgbClr val="D49A00">
              <a:alpha val="22000"/>
            </a:srgbClr>
          </a:solidFill>
          <a:ln/>
        </p:spPr>
      </p:sp>
      <p:pic>
        <p:nvPicPr>
          <p:cNvPr id="67" name="Image 2" descr="preencoded.png"/>
          <p:cNvPicPr>
            <a:picLocks noChangeAspect="1"/>
          </p:cNvPicPr>
          <p:nvPr/>
        </p:nvPicPr>
        <p:blipFill>
          <a:blip r:embed="rId5"/>
          <a:stretch>
            <a:fillRect/>
          </a:stretch>
        </p:blipFill>
        <p:spPr>
          <a:xfrm>
            <a:off x="3452409" y="2647737"/>
            <a:ext cx="209215" cy="209215"/>
          </a:xfrm>
          <a:prstGeom prst="rect">
            <a:avLst/>
          </a:prstGeom>
        </p:spPr>
      </p:pic>
      <p:sp>
        <p:nvSpPr>
          <p:cNvPr id="68" name="Text 62"/>
          <p:cNvSpPr txBox="1"/>
          <p:nvPr/>
        </p:nvSpPr>
        <p:spPr>
          <a:xfrm>
            <a:off x="3849624" y="2532888"/>
            <a:ext cx="192024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Contraint</a:t>
            </a:r>
            <a:endParaRPr lang="en-US" sz="1250" dirty="0"/>
          </a:p>
        </p:txBody>
      </p:sp>
      <p:sp>
        <p:nvSpPr>
          <p:cNvPr id="69" name="Text 63"/>
          <p:cNvSpPr txBox="1"/>
          <p:nvPr/>
        </p:nvSpPr>
        <p:spPr>
          <a:xfrm>
            <a:off x="3849624" y="2788920"/>
            <a:ext cx="1920240" cy="512064"/>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Population placée uniquement dans les cellules bâties.</a:t>
            </a:r>
            <a:endParaRPr lang="en-US" sz="950" dirty="0"/>
          </a:p>
        </p:txBody>
      </p:sp>
      <p:sp>
        <p:nvSpPr>
          <p:cNvPr id="70" name="Shape 64"/>
          <p:cNvSpPr/>
          <p:nvPr/>
        </p:nvSpPr>
        <p:spPr>
          <a:xfrm>
            <a:off x="5989320" y="2423160"/>
            <a:ext cx="2606040" cy="914400"/>
          </a:xfrm>
          <a:prstGeom prst="roundRect">
            <a:avLst>
              <a:gd name="adj" fmla="val 8000"/>
            </a:avLst>
          </a:prstGeom>
          <a:solidFill>
            <a:srgbClr val="F4F7F5"/>
          </a:solidFill>
          <a:ln w="9525">
            <a:solidFill>
              <a:srgbClr val="D5DED9"/>
            </a:solidFill>
            <a:prstDash val="solid"/>
          </a:ln>
        </p:spPr>
      </p:sp>
      <p:sp>
        <p:nvSpPr>
          <p:cNvPr id="71" name="Shape 65"/>
          <p:cNvSpPr/>
          <p:nvPr/>
        </p:nvSpPr>
        <p:spPr>
          <a:xfrm>
            <a:off x="6099048" y="2551176"/>
            <a:ext cx="402336" cy="402336"/>
          </a:xfrm>
          <a:prstGeom prst="ellipse">
            <a:avLst/>
          </a:prstGeom>
          <a:solidFill>
            <a:srgbClr val="D49A00">
              <a:alpha val="22000"/>
            </a:srgbClr>
          </a:solidFill>
          <a:ln/>
        </p:spPr>
      </p:sp>
      <p:pic>
        <p:nvPicPr>
          <p:cNvPr id="72" name="Image 3" descr="preencoded.png"/>
          <p:cNvPicPr>
            <a:picLocks noChangeAspect="1"/>
          </p:cNvPicPr>
          <p:nvPr/>
        </p:nvPicPr>
        <p:blipFill>
          <a:blip r:embed="rId6"/>
          <a:stretch>
            <a:fillRect/>
          </a:stretch>
        </p:blipFill>
        <p:spPr>
          <a:xfrm>
            <a:off x="6195609" y="2647737"/>
            <a:ext cx="209215" cy="209215"/>
          </a:xfrm>
          <a:prstGeom prst="rect">
            <a:avLst/>
          </a:prstGeom>
        </p:spPr>
      </p:pic>
      <p:sp>
        <p:nvSpPr>
          <p:cNvPr id="73" name="Text 66"/>
          <p:cNvSpPr txBox="1"/>
          <p:nvPr/>
        </p:nvSpPr>
        <p:spPr>
          <a:xfrm>
            <a:off x="6592824" y="2532888"/>
            <a:ext cx="192024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Aligné sur l’ONU</a:t>
            </a:r>
            <a:endParaRPr lang="en-US" sz="1250" dirty="0"/>
          </a:p>
        </p:txBody>
      </p:sp>
      <p:sp>
        <p:nvSpPr>
          <p:cNvPr id="74" name="Text 67"/>
          <p:cNvSpPr txBox="1"/>
          <p:nvPr/>
        </p:nvSpPr>
        <p:spPr>
          <a:xfrm>
            <a:off x="6592824" y="2788920"/>
            <a:ext cx="1920240" cy="512064"/>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Totaux nationaux alignés sur les WPP 2024 de l’ONU.</a:t>
            </a:r>
            <a:endParaRPr lang="en-US" sz="950" dirty="0"/>
          </a:p>
        </p:txBody>
      </p:sp>
      <p:sp>
        <p:nvSpPr>
          <p:cNvPr id="75" name="Shape 68"/>
          <p:cNvSpPr/>
          <p:nvPr/>
        </p:nvSpPr>
        <p:spPr>
          <a:xfrm>
            <a:off x="3246120" y="3474720"/>
            <a:ext cx="2606040" cy="914400"/>
          </a:xfrm>
          <a:prstGeom prst="roundRect">
            <a:avLst>
              <a:gd name="adj" fmla="val 8000"/>
            </a:avLst>
          </a:prstGeom>
          <a:solidFill>
            <a:srgbClr val="F4F7F5"/>
          </a:solidFill>
          <a:ln w="9525">
            <a:solidFill>
              <a:srgbClr val="D5DED9"/>
            </a:solidFill>
            <a:prstDash val="solid"/>
          </a:ln>
        </p:spPr>
      </p:sp>
      <p:sp>
        <p:nvSpPr>
          <p:cNvPr id="76" name="Shape 69"/>
          <p:cNvSpPr/>
          <p:nvPr/>
        </p:nvSpPr>
        <p:spPr>
          <a:xfrm>
            <a:off x="3355848" y="3602736"/>
            <a:ext cx="402336" cy="402336"/>
          </a:xfrm>
          <a:prstGeom prst="ellipse">
            <a:avLst/>
          </a:prstGeom>
          <a:solidFill>
            <a:srgbClr val="D49A00">
              <a:alpha val="22000"/>
            </a:srgbClr>
          </a:solidFill>
          <a:ln/>
        </p:spPr>
      </p:sp>
      <p:pic>
        <p:nvPicPr>
          <p:cNvPr id="77" name="Image 4" descr="preencoded.png"/>
          <p:cNvPicPr>
            <a:picLocks noChangeAspect="1"/>
          </p:cNvPicPr>
          <p:nvPr/>
        </p:nvPicPr>
        <p:blipFill>
          <a:blip r:embed="rId7"/>
          <a:stretch>
            <a:fillRect/>
          </a:stretch>
        </p:blipFill>
        <p:spPr>
          <a:xfrm>
            <a:off x="3452409" y="3699297"/>
            <a:ext cx="209215" cy="209215"/>
          </a:xfrm>
          <a:prstGeom prst="rect">
            <a:avLst/>
          </a:prstGeom>
        </p:spPr>
      </p:pic>
      <p:sp>
        <p:nvSpPr>
          <p:cNvPr id="78" name="Text 70"/>
          <p:cNvSpPr txBox="1"/>
          <p:nvPr/>
        </p:nvSpPr>
        <p:spPr>
          <a:xfrm>
            <a:off x="3849624" y="3584448"/>
            <a:ext cx="192024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CC BY 4.0</a:t>
            </a:r>
            <a:endParaRPr lang="en-US" sz="1250" dirty="0"/>
          </a:p>
        </p:txBody>
      </p:sp>
      <p:sp>
        <p:nvSpPr>
          <p:cNvPr id="79" name="Text 71"/>
          <p:cNvSpPr txBox="1"/>
          <p:nvPr/>
        </p:nvSpPr>
        <p:spPr>
          <a:xfrm>
            <a:off x="3849624" y="3840480"/>
            <a:ext cx="1920240" cy="512064"/>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Réutilisation libre avec attribution, format GeoTIFF.</a:t>
            </a:r>
            <a:endParaRPr lang="en-US" sz="950" dirty="0"/>
          </a:p>
        </p:txBody>
      </p:sp>
      <p:sp>
        <p:nvSpPr>
          <p:cNvPr id="80" name="Shape 72"/>
          <p:cNvSpPr/>
          <p:nvPr/>
        </p:nvSpPr>
        <p:spPr>
          <a:xfrm>
            <a:off x="5989320" y="3474720"/>
            <a:ext cx="2606040" cy="914400"/>
          </a:xfrm>
          <a:prstGeom prst="roundRect">
            <a:avLst>
              <a:gd name="adj" fmla="val 8000"/>
            </a:avLst>
          </a:prstGeom>
          <a:solidFill>
            <a:srgbClr val="FBF3DF"/>
          </a:solidFill>
          <a:ln w="12700">
            <a:solidFill>
              <a:srgbClr val="D49A00"/>
            </a:solidFill>
            <a:prstDash val="solid"/>
          </a:ln>
        </p:spPr>
      </p:sp>
      <p:sp>
        <p:nvSpPr>
          <p:cNvPr id="81" name="Shape 73"/>
          <p:cNvSpPr/>
          <p:nvPr/>
        </p:nvSpPr>
        <p:spPr>
          <a:xfrm>
            <a:off x="6099048" y="3602736"/>
            <a:ext cx="402336" cy="402336"/>
          </a:xfrm>
          <a:prstGeom prst="ellipse">
            <a:avLst/>
          </a:prstGeom>
          <a:solidFill>
            <a:srgbClr val="D49A00">
              <a:alpha val="22000"/>
            </a:srgbClr>
          </a:solidFill>
          <a:ln/>
        </p:spPr>
      </p:sp>
      <p:pic>
        <p:nvPicPr>
          <p:cNvPr id="82" name="Image 5" descr="preencoded.png"/>
          <p:cNvPicPr>
            <a:picLocks noChangeAspect="1"/>
          </p:cNvPicPr>
          <p:nvPr/>
        </p:nvPicPr>
        <p:blipFill>
          <a:blip r:embed="rId8"/>
          <a:stretch>
            <a:fillRect/>
          </a:stretch>
        </p:blipFill>
        <p:spPr>
          <a:xfrm>
            <a:off x="6195609" y="3699297"/>
            <a:ext cx="209215" cy="209215"/>
          </a:xfrm>
          <a:prstGeom prst="rect">
            <a:avLst/>
          </a:prstGeom>
        </p:spPr>
      </p:pic>
      <p:sp>
        <p:nvSpPr>
          <p:cNvPr id="83" name="Text 74"/>
          <p:cNvSpPr txBox="1"/>
          <p:nvPr/>
        </p:nvSpPr>
        <p:spPr>
          <a:xfrm>
            <a:off x="6592824" y="3584448"/>
            <a:ext cx="192024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Résultat de modèle</a:t>
            </a:r>
            <a:endParaRPr lang="en-US" sz="1250" dirty="0"/>
          </a:p>
        </p:txBody>
      </p:sp>
      <p:sp>
        <p:nvSpPr>
          <p:cNvPr id="84" name="Text 75"/>
          <p:cNvSpPr txBox="1"/>
          <p:nvPr/>
        </p:nvSpPr>
        <p:spPr>
          <a:xfrm>
            <a:off x="6592824" y="3840480"/>
            <a:ext cx="1920240" cy="512064"/>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Pas un recensement ; incertitude croissante loin des recensements.</a:t>
            </a:r>
            <a:endParaRPr lang="en-US" sz="950" dirty="0"/>
          </a:p>
        </p:txBody>
      </p:sp>
      <p:sp>
        <p:nvSpPr>
          <p:cNvPr id="85" name="Text 76"/>
          <p:cNvSpPr txBox="1"/>
          <p:nvPr/>
        </p:nvSpPr>
        <p:spPr>
          <a:xfrm>
            <a:off x="457200" y="4572000"/>
            <a:ext cx="749808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Source : note de diffusion et plateforme WorldPop Global2 R2025A v1 (DOI 10.5258/SOTON/WP00839) ; licence WorldPop.</a:t>
            </a:r>
            <a:endParaRPr lang="en-US" sz="900"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POURQUOI LA PONDÉRATION COMPTE</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Une région, trois moyennes, trois récits</a:t>
            </a:r>
            <a:endParaRPr lang="en-US" sz="28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49A00"/>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BAD – Data Innovation for Africa (DI4A)  ·  Ookla Open Data et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20</a:t>
            </a:r>
            <a:endParaRPr lang="en-US" sz="850" dirty="0"/>
          </a:p>
        </p:txBody>
      </p:sp>
      <p:sp>
        <p:nvSpPr>
          <p:cNvPr id="17" name="Text 14"/>
          <p:cNvSpPr txBox="1"/>
          <p:nvPr/>
        </p:nvSpPr>
        <p:spPr>
          <a:xfrm>
            <a:off x="530352" y="1353312"/>
            <a:ext cx="1234440" cy="201168"/>
          </a:xfrm>
          <a:prstGeom prst="rect">
            <a:avLst/>
          </a:prstGeom>
          <a:noFill/>
          <a:ln/>
        </p:spPr>
        <p:txBody>
          <a:bodyPr wrap="square" lIns="0" tIns="0" rIns="0" bIns="0" rtlCol="0" anchor="t"/>
          <a:lstStyle/>
          <a:p>
            <a:pPr marL="0" indent="0" algn="l">
              <a:buNone/>
            </a:pPr>
            <a:r>
              <a:rPr lang="en-US" sz="900" b="1" kern="0" spc="100" dirty="0">
                <a:solidFill>
                  <a:srgbClr val="5E6964"/>
                </a:solidFill>
                <a:latin typeface="Calibri" pitchFamily="34" charset="0"/>
                <a:ea typeface="Calibri" pitchFamily="34" charset="-122"/>
                <a:cs typeface="Calibri" pitchFamily="34" charset="-120"/>
              </a:rPr>
              <a:t>TUILE</a:t>
            </a:r>
            <a:endParaRPr lang="en-US" sz="900" dirty="0"/>
          </a:p>
        </p:txBody>
      </p:sp>
      <p:sp>
        <p:nvSpPr>
          <p:cNvPr id="18" name="Text 15"/>
          <p:cNvSpPr txBox="1"/>
          <p:nvPr/>
        </p:nvSpPr>
        <p:spPr>
          <a:xfrm>
            <a:off x="1856232" y="1353312"/>
            <a:ext cx="594360" cy="201168"/>
          </a:xfrm>
          <a:prstGeom prst="rect">
            <a:avLst/>
          </a:prstGeom>
          <a:noFill/>
          <a:ln/>
        </p:spPr>
        <p:txBody>
          <a:bodyPr wrap="square" lIns="0" tIns="0" rIns="0" bIns="0" rtlCol="0" anchor="t"/>
          <a:lstStyle/>
          <a:p>
            <a:pPr marL="0" indent="0" algn="r">
              <a:buNone/>
            </a:pPr>
            <a:r>
              <a:rPr lang="en-US" sz="900" b="1" kern="0" spc="100" dirty="0">
                <a:solidFill>
                  <a:srgbClr val="5E6964"/>
                </a:solidFill>
                <a:latin typeface="Calibri" pitchFamily="34" charset="0"/>
                <a:ea typeface="Calibri" pitchFamily="34" charset="-122"/>
                <a:cs typeface="Calibri" pitchFamily="34" charset="-120"/>
              </a:rPr>
              <a:t>MBPS</a:t>
            </a:r>
            <a:endParaRPr lang="en-US" sz="900" dirty="0"/>
          </a:p>
        </p:txBody>
      </p:sp>
      <p:sp>
        <p:nvSpPr>
          <p:cNvPr id="19" name="Text 16"/>
          <p:cNvSpPr txBox="1"/>
          <p:nvPr/>
        </p:nvSpPr>
        <p:spPr>
          <a:xfrm>
            <a:off x="2542032" y="1353312"/>
            <a:ext cx="594360" cy="201168"/>
          </a:xfrm>
          <a:prstGeom prst="rect">
            <a:avLst/>
          </a:prstGeom>
          <a:noFill/>
          <a:ln/>
        </p:spPr>
        <p:txBody>
          <a:bodyPr wrap="square" lIns="0" tIns="0" rIns="0" bIns="0" rtlCol="0" anchor="t"/>
          <a:lstStyle/>
          <a:p>
            <a:pPr marL="0" indent="0" algn="r">
              <a:buNone/>
            </a:pPr>
            <a:r>
              <a:rPr lang="en-US" sz="900" b="1" kern="0" spc="100" dirty="0">
                <a:solidFill>
                  <a:srgbClr val="5E6964"/>
                </a:solidFill>
                <a:latin typeface="Calibri" pitchFamily="34" charset="0"/>
                <a:ea typeface="Calibri" pitchFamily="34" charset="-122"/>
                <a:cs typeface="Calibri" pitchFamily="34" charset="-120"/>
              </a:rPr>
              <a:t>TESTS</a:t>
            </a:r>
            <a:endParaRPr lang="en-US" sz="900" dirty="0"/>
          </a:p>
        </p:txBody>
      </p:sp>
      <p:sp>
        <p:nvSpPr>
          <p:cNvPr id="20" name="Text 17"/>
          <p:cNvSpPr txBox="1"/>
          <p:nvPr/>
        </p:nvSpPr>
        <p:spPr>
          <a:xfrm>
            <a:off x="3227832" y="1353312"/>
            <a:ext cx="685800" cy="201168"/>
          </a:xfrm>
          <a:prstGeom prst="rect">
            <a:avLst/>
          </a:prstGeom>
          <a:noFill/>
          <a:ln/>
        </p:spPr>
        <p:txBody>
          <a:bodyPr wrap="square" lIns="0" tIns="0" rIns="0" bIns="0" rtlCol="0" anchor="t"/>
          <a:lstStyle/>
          <a:p>
            <a:pPr marL="0" indent="0" algn="r">
              <a:buNone/>
            </a:pPr>
            <a:r>
              <a:rPr lang="en-US" sz="900" b="1" kern="0" spc="100" dirty="0">
                <a:solidFill>
                  <a:srgbClr val="5E6964"/>
                </a:solidFill>
                <a:latin typeface="Calibri" pitchFamily="34" charset="0"/>
                <a:ea typeface="Calibri" pitchFamily="34" charset="-122"/>
                <a:cs typeface="Calibri" pitchFamily="34" charset="-120"/>
              </a:rPr>
              <a:t>HABITANTS</a:t>
            </a:r>
            <a:endParaRPr lang="en-US" sz="900" dirty="0"/>
          </a:p>
        </p:txBody>
      </p:sp>
      <p:sp>
        <p:nvSpPr>
          <p:cNvPr id="21" name="Shape 18"/>
          <p:cNvSpPr/>
          <p:nvPr/>
        </p:nvSpPr>
        <p:spPr>
          <a:xfrm>
            <a:off x="457200" y="1600200"/>
            <a:ext cx="3474720" cy="347472"/>
          </a:xfrm>
          <a:prstGeom prst="roundRect">
            <a:avLst>
              <a:gd name="adj" fmla="val 13158"/>
            </a:avLst>
          </a:prstGeom>
          <a:solidFill>
            <a:srgbClr val="F4F7F5"/>
          </a:solidFill>
          <a:ln w="6350">
            <a:solidFill>
              <a:srgbClr val="D5DED9"/>
            </a:solidFill>
            <a:prstDash val="solid"/>
          </a:ln>
        </p:spPr>
      </p:sp>
      <p:sp>
        <p:nvSpPr>
          <p:cNvPr id="22" name="Text 19"/>
          <p:cNvSpPr txBox="1"/>
          <p:nvPr/>
        </p:nvSpPr>
        <p:spPr>
          <a:xfrm>
            <a:off x="530352" y="1600200"/>
            <a:ext cx="1179576" cy="347472"/>
          </a:xfrm>
          <a:prstGeom prst="rect">
            <a:avLst/>
          </a:prstGeom>
          <a:noFill/>
          <a:ln/>
        </p:spPr>
        <p:txBody>
          <a:bodyPr wrap="square" lIns="0" tIns="0" rIns="0" bIns="0" rtlCol="0" anchor="ctr"/>
          <a:lstStyle/>
          <a:p>
            <a:pPr marL="0" indent="0" algn="l">
              <a:buNone/>
            </a:pPr>
            <a:r>
              <a:rPr lang="en-US" sz="1100" b="1" dirty="0">
                <a:solidFill>
                  <a:srgbClr val="231F20"/>
                </a:solidFill>
                <a:latin typeface="Calibri" pitchFamily="34" charset="0"/>
                <a:ea typeface="Calibri" pitchFamily="34" charset="-122"/>
                <a:cs typeface="Calibri" pitchFamily="34" charset="-120"/>
              </a:rPr>
              <a:t>A · ville</a:t>
            </a:r>
            <a:endParaRPr lang="en-US" sz="1100" dirty="0"/>
          </a:p>
        </p:txBody>
      </p:sp>
      <p:sp>
        <p:nvSpPr>
          <p:cNvPr id="23" name="Text 20"/>
          <p:cNvSpPr txBox="1"/>
          <p:nvPr/>
        </p:nvSpPr>
        <p:spPr>
          <a:xfrm>
            <a:off x="1856232" y="1600200"/>
            <a:ext cx="539496" cy="347472"/>
          </a:xfrm>
          <a:prstGeom prst="rect">
            <a:avLst/>
          </a:prstGeom>
          <a:noFill/>
          <a:ln/>
        </p:spPr>
        <p:txBody>
          <a:bodyPr wrap="square" lIns="0" tIns="0" rIns="0" bIns="0" rtlCol="0" anchor="ctr"/>
          <a:lstStyle/>
          <a:p>
            <a:pPr marL="0" indent="0" algn="r">
              <a:buNone/>
            </a:pPr>
            <a:r>
              <a:rPr lang="en-US" sz="1100" dirty="0">
                <a:solidFill>
                  <a:srgbClr val="231F20"/>
                </a:solidFill>
                <a:latin typeface="Calibri" pitchFamily="34" charset="0"/>
                <a:ea typeface="Calibri" pitchFamily="34" charset="-122"/>
                <a:cs typeface="Calibri" pitchFamily="34" charset="-120"/>
              </a:rPr>
              <a:t>40</a:t>
            </a:r>
            <a:endParaRPr lang="en-US" sz="1100" dirty="0"/>
          </a:p>
        </p:txBody>
      </p:sp>
      <p:sp>
        <p:nvSpPr>
          <p:cNvPr id="24" name="Text 21"/>
          <p:cNvSpPr txBox="1"/>
          <p:nvPr/>
        </p:nvSpPr>
        <p:spPr>
          <a:xfrm>
            <a:off x="2542032" y="1600200"/>
            <a:ext cx="539496" cy="347472"/>
          </a:xfrm>
          <a:prstGeom prst="rect">
            <a:avLst/>
          </a:prstGeom>
          <a:noFill/>
          <a:ln/>
        </p:spPr>
        <p:txBody>
          <a:bodyPr wrap="square" lIns="0" tIns="0" rIns="0" bIns="0" rtlCol="0" anchor="ctr"/>
          <a:lstStyle/>
          <a:p>
            <a:pPr marL="0" indent="0" algn="r">
              <a:buNone/>
            </a:pPr>
            <a:r>
              <a:rPr lang="en-US" sz="1100" dirty="0">
                <a:solidFill>
                  <a:srgbClr val="231F20"/>
                </a:solidFill>
                <a:latin typeface="Calibri" pitchFamily="34" charset="0"/>
                <a:ea typeface="Calibri" pitchFamily="34" charset="-122"/>
                <a:cs typeface="Calibri" pitchFamily="34" charset="-120"/>
              </a:rPr>
              <a:t>120</a:t>
            </a:r>
            <a:endParaRPr lang="en-US" sz="1100" dirty="0"/>
          </a:p>
        </p:txBody>
      </p:sp>
      <p:sp>
        <p:nvSpPr>
          <p:cNvPr id="25" name="Text 22"/>
          <p:cNvSpPr txBox="1"/>
          <p:nvPr/>
        </p:nvSpPr>
        <p:spPr>
          <a:xfrm>
            <a:off x="3227832" y="1600200"/>
            <a:ext cx="630936" cy="347472"/>
          </a:xfrm>
          <a:prstGeom prst="rect">
            <a:avLst/>
          </a:prstGeom>
          <a:noFill/>
          <a:ln/>
        </p:spPr>
        <p:txBody>
          <a:bodyPr wrap="square" lIns="0" tIns="0" rIns="0" bIns="0" rtlCol="0" anchor="ctr"/>
          <a:lstStyle/>
          <a:p>
            <a:pPr marL="0" indent="0" algn="r">
              <a:buNone/>
            </a:pPr>
            <a:r>
              <a:rPr lang="en-US" sz="1100" dirty="0">
                <a:solidFill>
                  <a:srgbClr val="231F20"/>
                </a:solidFill>
                <a:latin typeface="Calibri" pitchFamily="34" charset="0"/>
                <a:ea typeface="Calibri" pitchFamily="34" charset="-122"/>
                <a:cs typeface="Calibri" pitchFamily="34" charset="-120"/>
              </a:rPr>
              <a:t>8 000</a:t>
            </a:r>
            <a:endParaRPr lang="en-US" sz="1100" dirty="0"/>
          </a:p>
        </p:txBody>
      </p:sp>
      <p:sp>
        <p:nvSpPr>
          <p:cNvPr id="26" name="Shape 23"/>
          <p:cNvSpPr/>
          <p:nvPr/>
        </p:nvSpPr>
        <p:spPr>
          <a:xfrm>
            <a:off x="457200" y="2002536"/>
            <a:ext cx="3474720" cy="347472"/>
          </a:xfrm>
          <a:prstGeom prst="roundRect">
            <a:avLst>
              <a:gd name="adj" fmla="val 13158"/>
            </a:avLst>
          </a:prstGeom>
          <a:solidFill>
            <a:srgbClr val="FFFFFF"/>
          </a:solidFill>
          <a:ln w="6350">
            <a:solidFill>
              <a:srgbClr val="D5DED9"/>
            </a:solidFill>
            <a:prstDash val="solid"/>
          </a:ln>
        </p:spPr>
      </p:sp>
      <p:sp>
        <p:nvSpPr>
          <p:cNvPr id="27" name="Text 24"/>
          <p:cNvSpPr txBox="1"/>
          <p:nvPr/>
        </p:nvSpPr>
        <p:spPr>
          <a:xfrm>
            <a:off x="530352" y="2002536"/>
            <a:ext cx="1179576" cy="347472"/>
          </a:xfrm>
          <a:prstGeom prst="rect">
            <a:avLst/>
          </a:prstGeom>
          <a:noFill/>
          <a:ln/>
        </p:spPr>
        <p:txBody>
          <a:bodyPr wrap="square" lIns="0" tIns="0" rIns="0" bIns="0" rtlCol="0" anchor="ctr"/>
          <a:lstStyle/>
          <a:p>
            <a:pPr marL="0" indent="0" algn="l">
              <a:buNone/>
            </a:pPr>
            <a:r>
              <a:rPr lang="en-US" sz="1100" b="1" dirty="0">
                <a:solidFill>
                  <a:srgbClr val="231F20"/>
                </a:solidFill>
                <a:latin typeface="Calibri" pitchFamily="34" charset="0"/>
                <a:ea typeface="Calibri" pitchFamily="34" charset="-122"/>
                <a:cs typeface="Calibri" pitchFamily="34" charset="-120"/>
              </a:rPr>
              <a:t>B · périurbain</a:t>
            </a:r>
            <a:endParaRPr lang="en-US" sz="1100" dirty="0"/>
          </a:p>
        </p:txBody>
      </p:sp>
      <p:sp>
        <p:nvSpPr>
          <p:cNvPr id="28" name="Text 25"/>
          <p:cNvSpPr txBox="1"/>
          <p:nvPr/>
        </p:nvSpPr>
        <p:spPr>
          <a:xfrm>
            <a:off x="1856232" y="2002536"/>
            <a:ext cx="539496" cy="347472"/>
          </a:xfrm>
          <a:prstGeom prst="rect">
            <a:avLst/>
          </a:prstGeom>
          <a:noFill/>
          <a:ln/>
        </p:spPr>
        <p:txBody>
          <a:bodyPr wrap="square" lIns="0" tIns="0" rIns="0" bIns="0" rtlCol="0" anchor="ctr"/>
          <a:lstStyle/>
          <a:p>
            <a:pPr marL="0" indent="0" algn="r">
              <a:buNone/>
            </a:pPr>
            <a:r>
              <a:rPr lang="en-US" sz="1100" dirty="0">
                <a:solidFill>
                  <a:srgbClr val="231F20"/>
                </a:solidFill>
                <a:latin typeface="Calibri" pitchFamily="34" charset="0"/>
                <a:ea typeface="Calibri" pitchFamily="34" charset="-122"/>
                <a:cs typeface="Calibri" pitchFamily="34" charset="-120"/>
              </a:rPr>
              <a:t>12</a:t>
            </a:r>
            <a:endParaRPr lang="en-US" sz="1100" dirty="0"/>
          </a:p>
        </p:txBody>
      </p:sp>
      <p:sp>
        <p:nvSpPr>
          <p:cNvPr id="29" name="Text 26"/>
          <p:cNvSpPr txBox="1"/>
          <p:nvPr/>
        </p:nvSpPr>
        <p:spPr>
          <a:xfrm>
            <a:off x="2542032" y="2002536"/>
            <a:ext cx="539496" cy="347472"/>
          </a:xfrm>
          <a:prstGeom prst="rect">
            <a:avLst/>
          </a:prstGeom>
          <a:noFill/>
          <a:ln/>
        </p:spPr>
        <p:txBody>
          <a:bodyPr wrap="square" lIns="0" tIns="0" rIns="0" bIns="0" rtlCol="0" anchor="ctr"/>
          <a:lstStyle/>
          <a:p>
            <a:pPr marL="0" indent="0" algn="r">
              <a:buNone/>
            </a:pPr>
            <a:r>
              <a:rPr lang="en-US" sz="1100" dirty="0">
                <a:solidFill>
                  <a:srgbClr val="231F20"/>
                </a:solidFill>
                <a:latin typeface="Calibri" pitchFamily="34" charset="0"/>
                <a:ea typeface="Calibri" pitchFamily="34" charset="-122"/>
                <a:cs typeface="Calibri" pitchFamily="34" charset="-120"/>
              </a:rPr>
              <a:t>15</a:t>
            </a:r>
            <a:endParaRPr lang="en-US" sz="1100" dirty="0"/>
          </a:p>
        </p:txBody>
      </p:sp>
      <p:sp>
        <p:nvSpPr>
          <p:cNvPr id="30" name="Text 27"/>
          <p:cNvSpPr txBox="1"/>
          <p:nvPr/>
        </p:nvSpPr>
        <p:spPr>
          <a:xfrm>
            <a:off x="3227832" y="2002536"/>
            <a:ext cx="630936" cy="347472"/>
          </a:xfrm>
          <a:prstGeom prst="rect">
            <a:avLst/>
          </a:prstGeom>
          <a:noFill/>
          <a:ln/>
        </p:spPr>
        <p:txBody>
          <a:bodyPr wrap="square" lIns="0" tIns="0" rIns="0" bIns="0" rtlCol="0" anchor="ctr"/>
          <a:lstStyle/>
          <a:p>
            <a:pPr marL="0" indent="0" algn="r">
              <a:buNone/>
            </a:pPr>
            <a:r>
              <a:rPr lang="en-US" sz="1100" dirty="0">
                <a:solidFill>
                  <a:srgbClr val="231F20"/>
                </a:solidFill>
                <a:latin typeface="Calibri" pitchFamily="34" charset="0"/>
                <a:ea typeface="Calibri" pitchFamily="34" charset="-122"/>
                <a:cs typeface="Calibri" pitchFamily="34" charset="-120"/>
              </a:rPr>
              <a:t>6 000</a:t>
            </a:r>
            <a:endParaRPr lang="en-US" sz="1100" dirty="0"/>
          </a:p>
        </p:txBody>
      </p:sp>
      <p:sp>
        <p:nvSpPr>
          <p:cNvPr id="31" name="Shape 28"/>
          <p:cNvSpPr/>
          <p:nvPr/>
        </p:nvSpPr>
        <p:spPr>
          <a:xfrm>
            <a:off x="457200" y="2404872"/>
            <a:ext cx="3474720" cy="347472"/>
          </a:xfrm>
          <a:prstGeom prst="roundRect">
            <a:avLst>
              <a:gd name="adj" fmla="val 13158"/>
            </a:avLst>
          </a:prstGeom>
          <a:solidFill>
            <a:srgbClr val="F4F7F5"/>
          </a:solidFill>
          <a:ln w="6350">
            <a:solidFill>
              <a:srgbClr val="D5DED9"/>
            </a:solidFill>
            <a:prstDash val="solid"/>
          </a:ln>
        </p:spPr>
      </p:sp>
      <p:sp>
        <p:nvSpPr>
          <p:cNvPr id="32" name="Text 29"/>
          <p:cNvSpPr txBox="1"/>
          <p:nvPr/>
        </p:nvSpPr>
        <p:spPr>
          <a:xfrm>
            <a:off x="530352" y="2404872"/>
            <a:ext cx="1179576" cy="347472"/>
          </a:xfrm>
          <a:prstGeom prst="rect">
            <a:avLst/>
          </a:prstGeom>
          <a:noFill/>
          <a:ln/>
        </p:spPr>
        <p:txBody>
          <a:bodyPr wrap="square" lIns="0" tIns="0" rIns="0" bIns="0" rtlCol="0" anchor="ctr"/>
          <a:lstStyle/>
          <a:p>
            <a:pPr marL="0" indent="0" algn="l">
              <a:buNone/>
            </a:pPr>
            <a:r>
              <a:rPr lang="en-US" sz="1100" b="1" dirty="0">
                <a:solidFill>
                  <a:srgbClr val="231F20"/>
                </a:solidFill>
                <a:latin typeface="Calibri" pitchFamily="34" charset="0"/>
                <a:ea typeface="Calibri" pitchFamily="34" charset="-122"/>
                <a:cs typeface="Calibri" pitchFamily="34" charset="-120"/>
              </a:rPr>
              <a:t>C · rural</a:t>
            </a:r>
            <a:endParaRPr lang="en-US" sz="1100" dirty="0"/>
          </a:p>
        </p:txBody>
      </p:sp>
      <p:sp>
        <p:nvSpPr>
          <p:cNvPr id="33" name="Text 30"/>
          <p:cNvSpPr txBox="1"/>
          <p:nvPr/>
        </p:nvSpPr>
        <p:spPr>
          <a:xfrm>
            <a:off x="1856232" y="2404872"/>
            <a:ext cx="539496" cy="347472"/>
          </a:xfrm>
          <a:prstGeom prst="rect">
            <a:avLst/>
          </a:prstGeom>
          <a:noFill/>
          <a:ln/>
        </p:spPr>
        <p:txBody>
          <a:bodyPr wrap="square" lIns="0" tIns="0" rIns="0" bIns="0" rtlCol="0" anchor="ctr"/>
          <a:lstStyle/>
          <a:p>
            <a:pPr marL="0" indent="0" algn="r">
              <a:buNone/>
            </a:pPr>
            <a:r>
              <a:rPr lang="en-US" sz="1100" dirty="0">
                <a:solidFill>
                  <a:srgbClr val="231F20"/>
                </a:solidFill>
                <a:latin typeface="Calibri" pitchFamily="34" charset="0"/>
                <a:ea typeface="Calibri" pitchFamily="34" charset="-122"/>
                <a:cs typeface="Calibri" pitchFamily="34" charset="-120"/>
              </a:rPr>
              <a:t>3</a:t>
            </a:r>
            <a:endParaRPr lang="en-US" sz="1100" dirty="0"/>
          </a:p>
        </p:txBody>
      </p:sp>
      <p:sp>
        <p:nvSpPr>
          <p:cNvPr id="34" name="Text 31"/>
          <p:cNvSpPr txBox="1"/>
          <p:nvPr/>
        </p:nvSpPr>
        <p:spPr>
          <a:xfrm>
            <a:off x="2542032" y="2404872"/>
            <a:ext cx="539496" cy="347472"/>
          </a:xfrm>
          <a:prstGeom prst="rect">
            <a:avLst/>
          </a:prstGeom>
          <a:noFill/>
          <a:ln/>
        </p:spPr>
        <p:txBody>
          <a:bodyPr wrap="square" lIns="0" tIns="0" rIns="0" bIns="0" rtlCol="0" anchor="ctr"/>
          <a:lstStyle/>
          <a:p>
            <a:pPr marL="0" indent="0" algn="r">
              <a:buNone/>
            </a:pPr>
            <a:r>
              <a:rPr lang="en-US" sz="1100" dirty="0">
                <a:solidFill>
                  <a:srgbClr val="231F20"/>
                </a:solidFill>
                <a:latin typeface="Calibri" pitchFamily="34" charset="0"/>
                <a:ea typeface="Calibri" pitchFamily="34" charset="-122"/>
                <a:cs typeface="Calibri" pitchFamily="34" charset="-120"/>
              </a:rPr>
              <a:t>2</a:t>
            </a:r>
            <a:endParaRPr lang="en-US" sz="1100" dirty="0"/>
          </a:p>
        </p:txBody>
      </p:sp>
      <p:sp>
        <p:nvSpPr>
          <p:cNvPr id="35" name="Text 32"/>
          <p:cNvSpPr txBox="1"/>
          <p:nvPr/>
        </p:nvSpPr>
        <p:spPr>
          <a:xfrm>
            <a:off x="3227832" y="2404872"/>
            <a:ext cx="630936" cy="347472"/>
          </a:xfrm>
          <a:prstGeom prst="rect">
            <a:avLst/>
          </a:prstGeom>
          <a:noFill/>
          <a:ln/>
        </p:spPr>
        <p:txBody>
          <a:bodyPr wrap="square" lIns="0" tIns="0" rIns="0" bIns="0" rtlCol="0" anchor="ctr"/>
          <a:lstStyle/>
          <a:p>
            <a:pPr marL="0" indent="0" algn="r">
              <a:buNone/>
            </a:pPr>
            <a:r>
              <a:rPr lang="en-US" sz="1100" dirty="0">
                <a:solidFill>
                  <a:srgbClr val="231F20"/>
                </a:solidFill>
                <a:latin typeface="Calibri" pitchFamily="34" charset="0"/>
                <a:ea typeface="Calibri" pitchFamily="34" charset="-122"/>
                <a:cs typeface="Calibri" pitchFamily="34" charset="-120"/>
              </a:rPr>
              <a:t>5 000</a:t>
            </a:r>
            <a:endParaRPr lang="en-US" sz="1100" dirty="0"/>
          </a:p>
        </p:txBody>
      </p:sp>
      <p:sp>
        <p:nvSpPr>
          <p:cNvPr id="36" name="Shape 33"/>
          <p:cNvSpPr/>
          <p:nvPr/>
        </p:nvSpPr>
        <p:spPr>
          <a:xfrm>
            <a:off x="457200" y="2807208"/>
            <a:ext cx="3474720" cy="347472"/>
          </a:xfrm>
          <a:prstGeom prst="roundRect">
            <a:avLst>
              <a:gd name="adj" fmla="val 13158"/>
            </a:avLst>
          </a:prstGeom>
          <a:solidFill>
            <a:srgbClr val="FBEDEB"/>
          </a:solidFill>
          <a:ln w="12700">
            <a:solidFill>
              <a:srgbClr val="B83B2E"/>
            </a:solidFill>
            <a:prstDash val="solid"/>
          </a:ln>
        </p:spPr>
      </p:sp>
      <p:sp>
        <p:nvSpPr>
          <p:cNvPr id="37" name="Text 34"/>
          <p:cNvSpPr txBox="1"/>
          <p:nvPr/>
        </p:nvSpPr>
        <p:spPr>
          <a:xfrm>
            <a:off x="530352" y="2807208"/>
            <a:ext cx="1179576" cy="347472"/>
          </a:xfrm>
          <a:prstGeom prst="rect">
            <a:avLst/>
          </a:prstGeom>
          <a:noFill/>
          <a:ln/>
        </p:spPr>
        <p:txBody>
          <a:bodyPr wrap="square" lIns="0" tIns="0" rIns="0" bIns="0" rtlCol="0" anchor="ctr"/>
          <a:lstStyle/>
          <a:p>
            <a:pPr marL="0" indent="0" algn="l">
              <a:buNone/>
            </a:pPr>
            <a:r>
              <a:rPr lang="en-US" sz="1100" b="1" dirty="0">
                <a:solidFill>
                  <a:srgbClr val="231F20"/>
                </a:solidFill>
                <a:latin typeface="Calibri" pitchFamily="34" charset="0"/>
                <a:ea typeface="Calibri" pitchFamily="34" charset="-122"/>
                <a:cs typeface="Calibri" pitchFamily="34" charset="-120"/>
              </a:rPr>
              <a:t>D · rural</a:t>
            </a:r>
            <a:endParaRPr lang="en-US" sz="1100" dirty="0"/>
          </a:p>
        </p:txBody>
      </p:sp>
      <p:sp>
        <p:nvSpPr>
          <p:cNvPr id="38" name="Text 35"/>
          <p:cNvSpPr txBox="1"/>
          <p:nvPr/>
        </p:nvSpPr>
        <p:spPr>
          <a:xfrm>
            <a:off x="1856232" y="2807208"/>
            <a:ext cx="539496" cy="347472"/>
          </a:xfrm>
          <a:prstGeom prst="rect">
            <a:avLst/>
          </a:prstGeom>
          <a:noFill/>
          <a:ln/>
        </p:spPr>
        <p:txBody>
          <a:bodyPr wrap="square" lIns="0" tIns="0" rIns="0" bIns="0" rtlCol="0" anchor="ctr"/>
          <a:lstStyle/>
          <a:p>
            <a:pPr marL="0" indent="0" algn="r">
              <a:buNone/>
            </a:pPr>
            <a:r>
              <a:rPr lang="en-US" sz="1100" dirty="0">
                <a:solidFill>
                  <a:srgbClr val="B83B2E"/>
                </a:solidFill>
                <a:latin typeface="Calibri" pitchFamily="34" charset="0"/>
                <a:ea typeface="Calibri" pitchFamily="34" charset="-122"/>
                <a:cs typeface="Calibri" pitchFamily="34" charset="-120"/>
              </a:rPr>
              <a:t>—</a:t>
            </a:r>
            <a:endParaRPr lang="en-US" sz="1100" dirty="0"/>
          </a:p>
        </p:txBody>
      </p:sp>
      <p:sp>
        <p:nvSpPr>
          <p:cNvPr id="39" name="Text 36"/>
          <p:cNvSpPr txBox="1"/>
          <p:nvPr/>
        </p:nvSpPr>
        <p:spPr>
          <a:xfrm>
            <a:off x="2542032" y="2807208"/>
            <a:ext cx="539496" cy="347472"/>
          </a:xfrm>
          <a:prstGeom prst="rect">
            <a:avLst/>
          </a:prstGeom>
          <a:noFill/>
          <a:ln/>
        </p:spPr>
        <p:txBody>
          <a:bodyPr wrap="square" lIns="0" tIns="0" rIns="0" bIns="0" rtlCol="0" anchor="ctr"/>
          <a:lstStyle/>
          <a:p>
            <a:pPr marL="0" indent="0" algn="r">
              <a:buNone/>
            </a:pPr>
            <a:r>
              <a:rPr lang="en-US" sz="1100" dirty="0">
                <a:solidFill>
                  <a:srgbClr val="B83B2E"/>
                </a:solidFill>
                <a:latin typeface="Calibri" pitchFamily="34" charset="0"/>
                <a:ea typeface="Calibri" pitchFamily="34" charset="-122"/>
                <a:cs typeface="Calibri" pitchFamily="34" charset="-120"/>
              </a:rPr>
              <a:t>0</a:t>
            </a:r>
            <a:endParaRPr lang="en-US" sz="1100" dirty="0"/>
          </a:p>
        </p:txBody>
      </p:sp>
      <p:sp>
        <p:nvSpPr>
          <p:cNvPr id="40" name="Text 37"/>
          <p:cNvSpPr txBox="1"/>
          <p:nvPr/>
        </p:nvSpPr>
        <p:spPr>
          <a:xfrm>
            <a:off x="3227832" y="2807208"/>
            <a:ext cx="630936" cy="347472"/>
          </a:xfrm>
          <a:prstGeom prst="rect">
            <a:avLst/>
          </a:prstGeom>
          <a:noFill/>
          <a:ln/>
        </p:spPr>
        <p:txBody>
          <a:bodyPr wrap="square" lIns="0" tIns="0" rIns="0" bIns="0" rtlCol="0" anchor="ctr"/>
          <a:lstStyle/>
          <a:p>
            <a:pPr marL="0" indent="0" algn="r">
              <a:buNone/>
            </a:pPr>
            <a:r>
              <a:rPr lang="en-US" sz="1100" dirty="0">
                <a:solidFill>
                  <a:srgbClr val="B83B2E"/>
                </a:solidFill>
                <a:latin typeface="Calibri" pitchFamily="34" charset="0"/>
                <a:ea typeface="Calibri" pitchFamily="34" charset="-122"/>
                <a:cs typeface="Calibri" pitchFamily="34" charset="-120"/>
              </a:rPr>
              <a:t>4 000</a:t>
            </a:r>
            <a:endParaRPr lang="en-US" sz="1100" dirty="0"/>
          </a:p>
        </p:txBody>
      </p:sp>
      <p:sp>
        <p:nvSpPr>
          <p:cNvPr id="41" name="Shape 38"/>
          <p:cNvSpPr/>
          <p:nvPr/>
        </p:nvSpPr>
        <p:spPr>
          <a:xfrm>
            <a:off x="457200" y="3291840"/>
            <a:ext cx="3474720" cy="1188720"/>
          </a:xfrm>
          <a:prstGeom prst="roundRect">
            <a:avLst>
              <a:gd name="adj" fmla="val 6154"/>
            </a:avLst>
          </a:prstGeom>
          <a:solidFill>
            <a:srgbClr val="E8F5EF"/>
          </a:solidFill>
          <a:ln w="15875">
            <a:solidFill>
              <a:srgbClr val="00A86A"/>
            </a:solidFill>
            <a:prstDash val="solid"/>
          </a:ln>
        </p:spPr>
      </p:sp>
      <p:sp>
        <p:nvSpPr>
          <p:cNvPr id="42" name="Text 39"/>
          <p:cNvSpPr txBox="1"/>
          <p:nvPr/>
        </p:nvSpPr>
        <p:spPr>
          <a:xfrm>
            <a:off x="594360" y="3364992"/>
            <a:ext cx="3200400" cy="228600"/>
          </a:xfrm>
          <a:prstGeom prst="rect">
            <a:avLst/>
          </a:prstGeom>
          <a:noFill/>
          <a:ln/>
        </p:spPr>
        <p:txBody>
          <a:bodyPr wrap="square" lIns="0" tIns="0" rIns="0" bIns="0" rtlCol="0" anchor="t"/>
          <a:lstStyle/>
          <a:p>
            <a:pPr marL="0" indent="0">
              <a:buNone/>
            </a:pPr>
            <a:r>
              <a:rPr lang="en-US" sz="1100" b="1" dirty="0">
                <a:solidFill>
                  <a:srgbClr val="00704A"/>
                </a:solidFill>
                <a:latin typeface="Calibri" pitchFamily="34" charset="0"/>
                <a:ea typeface="Calibri" pitchFamily="34" charset="-122"/>
                <a:cs typeface="Calibri" pitchFamily="34" charset="-120"/>
              </a:rPr>
              <a:t>À publier avec le débit</a:t>
            </a:r>
            <a:endParaRPr lang="en-US" sz="1100" dirty="0"/>
          </a:p>
        </p:txBody>
      </p:sp>
      <p:sp>
        <p:nvSpPr>
          <p:cNvPr id="43" name="Text 40"/>
          <p:cNvSpPr txBox="1"/>
          <p:nvPr/>
        </p:nvSpPr>
        <p:spPr>
          <a:xfrm>
            <a:off x="594360" y="3611880"/>
            <a:ext cx="1371600" cy="411480"/>
          </a:xfrm>
          <a:prstGeom prst="rect">
            <a:avLst/>
          </a:prstGeom>
          <a:noFill/>
          <a:ln/>
        </p:spPr>
        <p:txBody>
          <a:bodyPr wrap="square" lIns="0" tIns="0" rIns="0" bIns="0" rtlCol="0" anchor="t"/>
          <a:lstStyle/>
          <a:p>
            <a:pPr marL="0" indent="0">
              <a:buNone/>
            </a:pPr>
            <a:r>
              <a:rPr lang="en-US" sz="2600" b="1" dirty="0">
                <a:solidFill>
                  <a:srgbClr val="00A86A"/>
                </a:solidFill>
                <a:latin typeface="Calibri" pitchFamily="34" charset="0"/>
                <a:ea typeface="Calibri" pitchFamily="34" charset="-122"/>
                <a:cs typeface="Calibri" pitchFamily="34" charset="-120"/>
              </a:rPr>
              <a:t>82,6 %</a:t>
            </a:r>
            <a:endParaRPr lang="en-US" sz="2600" dirty="0"/>
          </a:p>
        </p:txBody>
      </p:sp>
      <p:sp>
        <p:nvSpPr>
          <p:cNvPr id="44" name="Text 41"/>
          <p:cNvSpPr txBox="1"/>
          <p:nvPr/>
        </p:nvSpPr>
        <p:spPr>
          <a:xfrm>
            <a:off x="1783080" y="3639312"/>
            <a:ext cx="2103120" cy="41148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de la population vit dans une tuile mesurée (19 000 sur 23 000)</a:t>
            </a:r>
            <a:endParaRPr lang="en-US" sz="950" dirty="0"/>
          </a:p>
        </p:txBody>
      </p:sp>
      <p:sp>
        <p:nvSpPr>
          <p:cNvPr id="45" name="Text 42"/>
          <p:cNvSpPr txBox="1"/>
          <p:nvPr/>
        </p:nvSpPr>
        <p:spPr>
          <a:xfrm>
            <a:off x="594360" y="4023360"/>
            <a:ext cx="1371600" cy="411480"/>
          </a:xfrm>
          <a:prstGeom prst="rect">
            <a:avLst/>
          </a:prstGeom>
          <a:noFill/>
          <a:ln/>
        </p:spPr>
        <p:txBody>
          <a:bodyPr wrap="square" lIns="0" tIns="0" rIns="0" bIns="0" rtlCol="0" anchor="t"/>
          <a:lstStyle/>
          <a:p>
            <a:pPr marL="0" indent="0">
              <a:buNone/>
            </a:pPr>
            <a:r>
              <a:rPr lang="en-US" sz="2600" b="1" dirty="0">
                <a:solidFill>
                  <a:srgbClr val="D49A00"/>
                </a:solidFill>
                <a:latin typeface="Calibri" pitchFamily="34" charset="0"/>
                <a:ea typeface="Calibri" pitchFamily="34" charset="-122"/>
                <a:cs typeface="Calibri" pitchFamily="34" charset="-120"/>
              </a:rPr>
              <a:t>60,9 %</a:t>
            </a:r>
            <a:endParaRPr lang="en-US" sz="2600" dirty="0"/>
          </a:p>
        </p:txBody>
      </p:sp>
      <p:sp>
        <p:nvSpPr>
          <p:cNvPr id="46" name="Text 43"/>
          <p:cNvSpPr txBox="1"/>
          <p:nvPr/>
        </p:nvSpPr>
        <p:spPr>
          <a:xfrm>
            <a:off x="1783080" y="4050792"/>
            <a:ext cx="2103120" cy="41148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de la population vit dans une tuile ≥ 10 Mbps (14 000 sur 23 000)</a:t>
            </a:r>
            <a:endParaRPr lang="en-US" sz="950" dirty="0"/>
          </a:p>
        </p:txBody>
      </p:sp>
      <p:graphicFrame>
        <p:nvGraphicFramePr>
          <p:cNvPr id="47" name="Chart 0"/>
          <p:cNvGraphicFramePr/>
          <p:nvPr/>
        </p:nvGraphicFramePr>
        <p:xfrm>
          <a:off x="4206240" y="1325880"/>
          <a:ext cx="4480560" cy="2331720"/>
        </p:xfrm>
        <a:graphic>
          <a:graphicData uri="http://schemas.openxmlformats.org/drawingml/2006/chart">
            <c:chart xmlns:c="http://schemas.openxmlformats.org/drawingml/2006/chart" xmlns:r="http://schemas.openxmlformats.org/officeDocument/2006/relationships" r:id="rId3"/>
          </a:graphicData>
        </a:graphic>
      </p:graphicFrame>
      <p:sp>
        <p:nvSpPr>
          <p:cNvPr id="48" name="Shape 44"/>
          <p:cNvSpPr/>
          <p:nvPr/>
        </p:nvSpPr>
        <p:spPr>
          <a:xfrm>
            <a:off x="4315968" y="3858768"/>
            <a:ext cx="128016" cy="128016"/>
          </a:xfrm>
          <a:prstGeom prst="ellipse">
            <a:avLst/>
          </a:prstGeom>
          <a:solidFill>
            <a:srgbClr val="B83B2E"/>
          </a:solidFill>
          <a:ln/>
        </p:spPr>
      </p:sp>
      <p:sp>
        <p:nvSpPr>
          <p:cNvPr id="49" name="Text 45"/>
          <p:cNvSpPr txBox="1"/>
          <p:nvPr/>
        </p:nvSpPr>
        <p:spPr>
          <a:xfrm>
            <a:off x="4526280" y="3767328"/>
            <a:ext cx="4160520" cy="310896"/>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Les tests surpondèrent la ville : </a:t>
            </a:r>
            <a:r>
              <a:rPr lang="en-US" sz="1050" dirty="0">
                <a:solidFill>
                  <a:srgbClr val="5E6964"/>
                </a:solidFill>
                <a:latin typeface="Calibri" pitchFamily="34" charset="0"/>
                <a:ea typeface="Calibri" pitchFamily="34" charset="-122"/>
                <a:cs typeface="Calibri" pitchFamily="34" charset="-120"/>
              </a:rPr>
              <a:t>les mieux connectés testent davantage.</a:t>
            </a:r>
            <a:endParaRPr lang="en-US" sz="1050" dirty="0"/>
          </a:p>
        </p:txBody>
      </p:sp>
      <p:sp>
        <p:nvSpPr>
          <p:cNvPr id="50" name="Shape 46"/>
          <p:cNvSpPr/>
          <p:nvPr/>
        </p:nvSpPr>
        <p:spPr>
          <a:xfrm>
            <a:off x="4315968" y="4224528"/>
            <a:ext cx="128016" cy="128016"/>
          </a:xfrm>
          <a:prstGeom prst="ellipse">
            <a:avLst/>
          </a:prstGeom>
          <a:solidFill>
            <a:srgbClr val="00A86A"/>
          </a:solidFill>
          <a:ln/>
        </p:spPr>
      </p:sp>
      <p:sp>
        <p:nvSpPr>
          <p:cNvPr id="51" name="Text 47"/>
          <p:cNvSpPr txBox="1"/>
          <p:nvPr/>
        </p:nvSpPr>
        <p:spPr>
          <a:xfrm>
            <a:off x="4526280" y="4133088"/>
            <a:ext cx="4160520" cy="310896"/>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La population répond à la question politique : </a:t>
            </a:r>
            <a:r>
              <a:rPr lang="en-US" sz="1050" dirty="0">
                <a:solidFill>
                  <a:srgbClr val="5E6964"/>
                </a:solidFill>
                <a:latin typeface="Calibri" pitchFamily="34" charset="0"/>
                <a:ea typeface="Calibri" pitchFamily="34" charset="-122"/>
                <a:cs typeface="Calibri" pitchFamily="34" charset="-120"/>
              </a:rPr>
              <a:t>que reçoit l’habitant typique ?</a:t>
            </a:r>
            <a:endParaRPr lang="en-US" sz="1050" dirty="0"/>
          </a:p>
        </p:txBody>
      </p:sp>
      <p:sp>
        <p:nvSpPr>
          <p:cNvPr id="52" name="Text 48"/>
          <p:cNvSpPr txBox="1"/>
          <p:nvPr/>
        </p:nvSpPr>
        <p:spPr>
          <a:xfrm>
            <a:off x="457200" y="4572000"/>
            <a:ext cx="749808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Chiffres fictifs à visée pédagogique. Moyenne pondérée = Σ(débit × habitants) / Σ habitants, sur les tuiles mesurées.</a:t>
            </a:r>
            <a:endParaRPr lang="en-US" sz="900" dirty="0"/>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DÉROULÉ DU LABORATOIRE</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marL="0" indent="0">
              <a:buNone/>
            </a:pPr>
            <a:r>
              <a:rPr lang="en-US" sz="2300" b="1" dirty="0">
                <a:solidFill>
                  <a:srgbClr val="231F20"/>
                </a:solidFill>
                <a:latin typeface="Calibri" pitchFamily="34" charset="0"/>
                <a:ea typeface="Calibri" pitchFamily="34" charset="-122"/>
                <a:cs typeface="Calibri" pitchFamily="34" charset="-120"/>
              </a:rPr>
              <a:t>Six étapes, des tuiles brutes à l’indicateur régional</a:t>
            </a:r>
            <a:endParaRPr lang="en-US" sz="23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49A00"/>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BAD – Data Innovation for Africa (DI4A)  ·  Ookla Open Data et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21</a:t>
            </a:r>
            <a:endParaRPr lang="en-US" sz="850" dirty="0"/>
          </a:p>
        </p:txBody>
      </p:sp>
      <p:sp>
        <p:nvSpPr>
          <p:cNvPr id="17" name="Shape 14"/>
          <p:cNvSpPr/>
          <p:nvPr/>
        </p:nvSpPr>
        <p:spPr>
          <a:xfrm>
            <a:off x="457200" y="1371600"/>
            <a:ext cx="2560320" cy="1371600"/>
          </a:xfrm>
          <a:prstGeom prst="roundRect">
            <a:avLst>
              <a:gd name="adj" fmla="val 5333"/>
            </a:avLst>
          </a:prstGeom>
          <a:solidFill>
            <a:srgbClr val="FFFFFF"/>
          </a:solidFill>
          <a:ln w="12700">
            <a:solidFill>
              <a:srgbClr val="D49A00"/>
            </a:solidFill>
            <a:prstDash val="solid"/>
          </a:ln>
        </p:spPr>
      </p:sp>
      <p:sp>
        <p:nvSpPr>
          <p:cNvPr id="18" name="Shape 15"/>
          <p:cNvSpPr/>
          <p:nvPr/>
        </p:nvSpPr>
        <p:spPr>
          <a:xfrm>
            <a:off x="594360" y="1508760"/>
            <a:ext cx="384048" cy="384048"/>
          </a:xfrm>
          <a:prstGeom prst="ellipse">
            <a:avLst/>
          </a:prstGeom>
          <a:solidFill>
            <a:srgbClr val="D49A00"/>
          </a:solidFill>
          <a:ln/>
        </p:spPr>
      </p:sp>
      <p:sp>
        <p:nvSpPr>
          <p:cNvPr id="19" name="Text 16"/>
          <p:cNvSpPr txBox="1"/>
          <p:nvPr/>
        </p:nvSpPr>
        <p:spPr>
          <a:xfrm>
            <a:off x="594360" y="150876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20" name="Text 17"/>
          <p:cNvSpPr txBox="1"/>
          <p:nvPr/>
        </p:nvSpPr>
        <p:spPr>
          <a:xfrm>
            <a:off x="1078992" y="1536192"/>
            <a:ext cx="1463040" cy="329184"/>
          </a:xfrm>
          <a:prstGeom prst="rect">
            <a:avLst/>
          </a:prstGeom>
          <a:noFill/>
          <a:ln/>
        </p:spPr>
        <p:txBody>
          <a:bodyPr wrap="square" lIns="0" tIns="0" rIns="0" bIns="0"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Charger</a:t>
            </a:r>
            <a:endParaRPr lang="en-US" sz="1400" dirty="0"/>
          </a:p>
        </p:txBody>
      </p:sp>
      <p:pic>
        <p:nvPicPr>
          <p:cNvPr id="21" name="Image 0" descr="preencoded.png"/>
          <p:cNvPicPr>
            <a:picLocks noChangeAspect="1"/>
          </p:cNvPicPr>
          <p:nvPr/>
        </p:nvPicPr>
        <p:blipFill>
          <a:blip r:embed="rId3"/>
          <a:stretch>
            <a:fillRect/>
          </a:stretch>
        </p:blipFill>
        <p:spPr>
          <a:xfrm>
            <a:off x="2624328" y="1572768"/>
            <a:ext cx="256032" cy="256032"/>
          </a:xfrm>
          <a:prstGeom prst="rect">
            <a:avLst/>
          </a:prstGeom>
        </p:spPr>
      </p:pic>
      <p:sp>
        <p:nvSpPr>
          <p:cNvPr id="22" name="Text 18"/>
          <p:cNvSpPr txBox="1"/>
          <p:nvPr/>
        </p:nvSpPr>
        <p:spPr>
          <a:xfrm>
            <a:off x="621792" y="1993392"/>
            <a:ext cx="2286000" cy="457200"/>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Lire un trimestre du fichier Parquet mobile.</a:t>
            </a:r>
            <a:endParaRPr lang="en-US" sz="1050" dirty="0"/>
          </a:p>
        </p:txBody>
      </p:sp>
      <p:sp>
        <p:nvSpPr>
          <p:cNvPr id="23" name="Shape 19"/>
          <p:cNvSpPr/>
          <p:nvPr/>
        </p:nvSpPr>
        <p:spPr>
          <a:xfrm>
            <a:off x="621792" y="2414016"/>
            <a:ext cx="1005840" cy="219456"/>
          </a:xfrm>
          <a:prstGeom prst="roundRect">
            <a:avLst>
              <a:gd name="adj" fmla="val 50000"/>
            </a:avLst>
          </a:prstGeom>
          <a:solidFill>
            <a:srgbClr val="D49A00">
              <a:alpha val="13000"/>
            </a:srgbClr>
          </a:solidFill>
          <a:ln w="6350">
            <a:solidFill>
              <a:srgbClr val="D49A00"/>
            </a:solidFill>
            <a:prstDash val="solid"/>
          </a:ln>
        </p:spPr>
      </p:sp>
      <p:sp>
        <p:nvSpPr>
          <p:cNvPr id="24" name="Text 20"/>
          <p:cNvSpPr txBox="1"/>
          <p:nvPr/>
        </p:nvSpPr>
        <p:spPr>
          <a:xfrm>
            <a:off x="621792" y="2414016"/>
            <a:ext cx="1005840" cy="219456"/>
          </a:xfrm>
          <a:prstGeom prst="rect">
            <a:avLst/>
          </a:prstGeom>
          <a:noFill/>
          <a:ln/>
        </p:spPr>
        <p:txBody>
          <a:bodyPr wrap="square" lIns="0" tIns="0" rIns="0" bIns="0" rtlCol="0" anchor="ctr"/>
          <a:lstStyle/>
          <a:p>
            <a:pPr marL="0" indent="0" algn="ctr">
              <a:buNone/>
            </a:pPr>
            <a:r>
              <a:rPr lang="en-US" sz="900" dirty="0">
                <a:solidFill>
                  <a:srgbClr val="231F20"/>
                </a:solidFill>
                <a:latin typeface="Courier New" pitchFamily="34" charset="0"/>
                <a:ea typeface="Courier New" pitchFamily="34" charset="-122"/>
                <a:cs typeface="Courier New" pitchFamily="34" charset="-120"/>
              </a:rPr>
              <a:t>pandas</a:t>
            </a:r>
            <a:endParaRPr lang="en-US" sz="900" dirty="0"/>
          </a:p>
        </p:txBody>
      </p:sp>
      <p:pic>
        <p:nvPicPr>
          <p:cNvPr id="25" name="Image 1" descr="preencoded.png"/>
          <p:cNvPicPr>
            <a:picLocks noChangeAspect="1"/>
          </p:cNvPicPr>
          <p:nvPr/>
        </p:nvPicPr>
        <p:blipFill>
          <a:blip r:embed="rId4"/>
          <a:stretch>
            <a:fillRect/>
          </a:stretch>
        </p:blipFill>
        <p:spPr>
          <a:xfrm>
            <a:off x="3072384" y="1956816"/>
            <a:ext cx="164592" cy="164592"/>
          </a:xfrm>
          <a:prstGeom prst="rect">
            <a:avLst/>
          </a:prstGeom>
        </p:spPr>
      </p:pic>
      <p:sp>
        <p:nvSpPr>
          <p:cNvPr id="26" name="Shape 21"/>
          <p:cNvSpPr/>
          <p:nvPr/>
        </p:nvSpPr>
        <p:spPr>
          <a:xfrm>
            <a:off x="3291840" y="1371600"/>
            <a:ext cx="2560320" cy="1371600"/>
          </a:xfrm>
          <a:prstGeom prst="roundRect">
            <a:avLst>
              <a:gd name="adj" fmla="val 5333"/>
            </a:avLst>
          </a:prstGeom>
          <a:solidFill>
            <a:srgbClr val="FFFFFF"/>
          </a:solidFill>
          <a:ln w="12700">
            <a:solidFill>
              <a:srgbClr val="D49A00"/>
            </a:solidFill>
            <a:prstDash val="solid"/>
          </a:ln>
        </p:spPr>
      </p:sp>
      <p:sp>
        <p:nvSpPr>
          <p:cNvPr id="27" name="Shape 22"/>
          <p:cNvSpPr/>
          <p:nvPr/>
        </p:nvSpPr>
        <p:spPr>
          <a:xfrm>
            <a:off x="3429000" y="1508760"/>
            <a:ext cx="384048" cy="384048"/>
          </a:xfrm>
          <a:prstGeom prst="ellipse">
            <a:avLst/>
          </a:prstGeom>
          <a:solidFill>
            <a:srgbClr val="D49A00"/>
          </a:solidFill>
          <a:ln/>
        </p:spPr>
      </p:sp>
      <p:sp>
        <p:nvSpPr>
          <p:cNvPr id="28" name="Text 23"/>
          <p:cNvSpPr txBox="1"/>
          <p:nvPr/>
        </p:nvSpPr>
        <p:spPr>
          <a:xfrm>
            <a:off x="3429000" y="150876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9" name="Text 24"/>
          <p:cNvSpPr txBox="1"/>
          <p:nvPr/>
        </p:nvSpPr>
        <p:spPr>
          <a:xfrm>
            <a:off x="3913632" y="1536192"/>
            <a:ext cx="1463040" cy="329184"/>
          </a:xfrm>
          <a:prstGeom prst="rect">
            <a:avLst/>
          </a:prstGeom>
          <a:noFill/>
          <a:ln/>
        </p:spPr>
        <p:txBody>
          <a:bodyPr wrap="square" lIns="0" tIns="0" rIns="0" bIns="0"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Découper</a:t>
            </a:r>
            <a:endParaRPr lang="en-US" sz="1400" dirty="0"/>
          </a:p>
        </p:txBody>
      </p:sp>
      <p:pic>
        <p:nvPicPr>
          <p:cNvPr id="30" name="Image 2" descr="preencoded.png"/>
          <p:cNvPicPr>
            <a:picLocks noChangeAspect="1"/>
          </p:cNvPicPr>
          <p:nvPr/>
        </p:nvPicPr>
        <p:blipFill>
          <a:blip r:embed="rId5"/>
          <a:stretch>
            <a:fillRect/>
          </a:stretch>
        </p:blipFill>
        <p:spPr>
          <a:xfrm>
            <a:off x="5458968" y="1572768"/>
            <a:ext cx="256032" cy="256032"/>
          </a:xfrm>
          <a:prstGeom prst="rect">
            <a:avLst/>
          </a:prstGeom>
        </p:spPr>
      </p:pic>
      <p:sp>
        <p:nvSpPr>
          <p:cNvPr id="31" name="Text 25"/>
          <p:cNvSpPr txBox="1"/>
          <p:nvPr/>
        </p:nvSpPr>
        <p:spPr>
          <a:xfrm>
            <a:off x="3456432" y="1993392"/>
            <a:ext cx="2286000" cy="457200"/>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Garder les tuiles du rectangle englobant du pays (tile_x / tile_y).</a:t>
            </a:r>
            <a:endParaRPr lang="en-US" sz="1050" dirty="0"/>
          </a:p>
        </p:txBody>
      </p:sp>
      <p:sp>
        <p:nvSpPr>
          <p:cNvPr id="32" name="Shape 26"/>
          <p:cNvSpPr/>
          <p:nvPr/>
        </p:nvSpPr>
        <p:spPr>
          <a:xfrm>
            <a:off x="3456432" y="2414016"/>
            <a:ext cx="1005840" cy="219456"/>
          </a:xfrm>
          <a:prstGeom prst="roundRect">
            <a:avLst>
              <a:gd name="adj" fmla="val 50000"/>
            </a:avLst>
          </a:prstGeom>
          <a:solidFill>
            <a:srgbClr val="D49A00">
              <a:alpha val="13000"/>
            </a:srgbClr>
          </a:solidFill>
          <a:ln w="6350">
            <a:solidFill>
              <a:srgbClr val="D49A00"/>
            </a:solidFill>
            <a:prstDash val="solid"/>
          </a:ln>
        </p:spPr>
      </p:sp>
      <p:sp>
        <p:nvSpPr>
          <p:cNvPr id="33" name="Text 27"/>
          <p:cNvSpPr txBox="1"/>
          <p:nvPr/>
        </p:nvSpPr>
        <p:spPr>
          <a:xfrm>
            <a:off x="3456432" y="2414016"/>
            <a:ext cx="1005840" cy="219456"/>
          </a:xfrm>
          <a:prstGeom prst="rect">
            <a:avLst/>
          </a:prstGeom>
          <a:noFill/>
          <a:ln/>
        </p:spPr>
        <p:txBody>
          <a:bodyPr wrap="square" lIns="0" tIns="0" rIns="0" bIns="0" rtlCol="0" anchor="ctr"/>
          <a:lstStyle/>
          <a:p>
            <a:pPr marL="0" indent="0" algn="ctr">
              <a:buNone/>
            </a:pPr>
            <a:r>
              <a:rPr lang="en-US" sz="900" dirty="0">
                <a:solidFill>
                  <a:srgbClr val="231F20"/>
                </a:solidFill>
                <a:latin typeface="Courier New" pitchFamily="34" charset="0"/>
                <a:ea typeface="Courier New" pitchFamily="34" charset="-122"/>
                <a:cs typeface="Courier New" pitchFamily="34" charset="-120"/>
              </a:rPr>
              <a:t>pandas</a:t>
            </a:r>
            <a:endParaRPr lang="en-US" sz="900" dirty="0"/>
          </a:p>
        </p:txBody>
      </p:sp>
      <p:pic>
        <p:nvPicPr>
          <p:cNvPr id="34" name="Image 3" descr="preencoded.png"/>
          <p:cNvPicPr>
            <a:picLocks noChangeAspect="1"/>
          </p:cNvPicPr>
          <p:nvPr/>
        </p:nvPicPr>
        <p:blipFill>
          <a:blip r:embed="rId4"/>
          <a:stretch>
            <a:fillRect/>
          </a:stretch>
        </p:blipFill>
        <p:spPr>
          <a:xfrm>
            <a:off x="5907024" y="1956816"/>
            <a:ext cx="164592" cy="164592"/>
          </a:xfrm>
          <a:prstGeom prst="rect">
            <a:avLst/>
          </a:prstGeom>
        </p:spPr>
      </p:pic>
      <p:sp>
        <p:nvSpPr>
          <p:cNvPr id="35" name="Shape 28"/>
          <p:cNvSpPr/>
          <p:nvPr/>
        </p:nvSpPr>
        <p:spPr>
          <a:xfrm>
            <a:off x="6126480" y="1371600"/>
            <a:ext cx="2560320" cy="1371600"/>
          </a:xfrm>
          <a:prstGeom prst="roundRect">
            <a:avLst>
              <a:gd name="adj" fmla="val 5333"/>
            </a:avLst>
          </a:prstGeom>
          <a:solidFill>
            <a:srgbClr val="FFFFFF"/>
          </a:solidFill>
          <a:ln w="12700">
            <a:solidFill>
              <a:srgbClr val="D49A00"/>
            </a:solidFill>
            <a:prstDash val="solid"/>
          </a:ln>
        </p:spPr>
      </p:sp>
      <p:sp>
        <p:nvSpPr>
          <p:cNvPr id="36" name="Shape 29"/>
          <p:cNvSpPr/>
          <p:nvPr/>
        </p:nvSpPr>
        <p:spPr>
          <a:xfrm>
            <a:off x="6263640" y="1508760"/>
            <a:ext cx="384048" cy="384048"/>
          </a:xfrm>
          <a:prstGeom prst="ellipse">
            <a:avLst/>
          </a:prstGeom>
          <a:solidFill>
            <a:srgbClr val="D49A00"/>
          </a:solidFill>
          <a:ln/>
        </p:spPr>
      </p:sp>
      <p:sp>
        <p:nvSpPr>
          <p:cNvPr id="37" name="Text 30"/>
          <p:cNvSpPr txBox="1"/>
          <p:nvPr/>
        </p:nvSpPr>
        <p:spPr>
          <a:xfrm>
            <a:off x="6263640" y="150876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38" name="Text 31"/>
          <p:cNvSpPr txBox="1"/>
          <p:nvPr/>
        </p:nvSpPr>
        <p:spPr>
          <a:xfrm>
            <a:off x="6748272" y="1536192"/>
            <a:ext cx="1463040" cy="329184"/>
          </a:xfrm>
          <a:prstGeom prst="rect">
            <a:avLst/>
          </a:prstGeom>
          <a:noFill/>
          <a:ln/>
        </p:spPr>
        <p:txBody>
          <a:bodyPr wrap="square" lIns="0" tIns="0" rIns="0" bIns="0"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Population</a:t>
            </a:r>
            <a:endParaRPr lang="en-US" sz="1400" dirty="0"/>
          </a:p>
        </p:txBody>
      </p:sp>
      <p:pic>
        <p:nvPicPr>
          <p:cNvPr id="39" name="Image 4" descr="preencoded.png"/>
          <p:cNvPicPr>
            <a:picLocks noChangeAspect="1"/>
          </p:cNvPicPr>
          <p:nvPr/>
        </p:nvPicPr>
        <p:blipFill>
          <a:blip r:embed="rId6"/>
          <a:stretch>
            <a:fillRect/>
          </a:stretch>
        </p:blipFill>
        <p:spPr>
          <a:xfrm>
            <a:off x="8293608" y="1572768"/>
            <a:ext cx="256032" cy="256032"/>
          </a:xfrm>
          <a:prstGeom prst="rect">
            <a:avLst/>
          </a:prstGeom>
        </p:spPr>
      </p:pic>
      <p:sp>
        <p:nvSpPr>
          <p:cNvPr id="40" name="Text 32"/>
          <p:cNvSpPr txBox="1"/>
          <p:nvPr/>
        </p:nvSpPr>
        <p:spPr>
          <a:xfrm>
            <a:off x="6291072" y="1993392"/>
            <a:ext cx="2286000" cy="457200"/>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Sommer les cellules WorldPop de chaque tuile (statistiques zonales).</a:t>
            </a:r>
            <a:endParaRPr lang="en-US" sz="1050" dirty="0"/>
          </a:p>
        </p:txBody>
      </p:sp>
      <p:sp>
        <p:nvSpPr>
          <p:cNvPr id="41" name="Shape 33"/>
          <p:cNvSpPr/>
          <p:nvPr/>
        </p:nvSpPr>
        <p:spPr>
          <a:xfrm>
            <a:off x="6291072" y="2414016"/>
            <a:ext cx="1005840" cy="219456"/>
          </a:xfrm>
          <a:prstGeom prst="roundRect">
            <a:avLst>
              <a:gd name="adj" fmla="val 50000"/>
            </a:avLst>
          </a:prstGeom>
          <a:solidFill>
            <a:srgbClr val="D49A00">
              <a:alpha val="13000"/>
            </a:srgbClr>
          </a:solidFill>
          <a:ln w="6350">
            <a:solidFill>
              <a:srgbClr val="D49A00"/>
            </a:solidFill>
            <a:prstDash val="solid"/>
          </a:ln>
        </p:spPr>
      </p:sp>
      <p:sp>
        <p:nvSpPr>
          <p:cNvPr id="42" name="Text 34"/>
          <p:cNvSpPr txBox="1"/>
          <p:nvPr/>
        </p:nvSpPr>
        <p:spPr>
          <a:xfrm>
            <a:off x="6291072" y="2414016"/>
            <a:ext cx="1005840" cy="219456"/>
          </a:xfrm>
          <a:prstGeom prst="rect">
            <a:avLst/>
          </a:prstGeom>
          <a:noFill/>
          <a:ln/>
        </p:spPr>
        <p:txBody>
          <a:bodyPr wrap="square" lIns="0" tIns="0" rIns="0" bIns="0" rtlCol="0" anchor="ctr"/>
          <a:lstStyle/>
          <a:p>
            <a:pPr marL="0" indent="0" algn="ctr">
              <a:buNone/>
            </a:pPr>
            <a:r>
              <a:rPr lang="en-US" sz="900" dirty="0">
                <a:solidFill>
                  <a:srgbClr val="231F20"/>
                </a:solidFill>
                <a:latin typeface="Courier New" pitchFamily="34" charset="0"/>
                <a:ea typeface="Courier New" pitchFamily="34" charset="-122"/>
                <a:cs typeface="Courier New" pitchFamily="34" charset="-120"/>
              </a:rPr>
              <a:t>rasterstats</a:t>
            </a:r>
            <a:endParaRPr lang="en-US" sz="900" dirty="0"/>
          </a:p>
        </p:txBody>
      </p:sp>
      <p:sp>
        <p:nvSpPr>
          <p:cNvPr id="43" name="Shape 35"/>
          <p:cNvSpPr/>
          <p:nvPr/>
        </p:nvSpPr>
        <p:spPr>
          <a:xfrm>
            <a:off x="457200" y="2944368"/>
            <a:ext cx="2560320" cy="1371600"/>
          </a:xfrm>
          <a:prstGeom prst="roundRect">
            <a:avLst>
              <a:gd name="adj" fmla="val 5333"/>
            </a:avLst>
          </a:prstGeom>
          <a:solidFill>
            <a:srgbClr val="FFFFFF"/>
          </a:solidFill>
          <a:ln w="12700">
            <a:solidFill>
              <a:srgbClr val="D49A00"/>
            </a:solidFill>
            <a:prstDash val="solid"/>
          </a:ln>
        </p:spPr>
      </p:sp>
      <p:sp>
        <p:nvSpPr>
          <p:cNvPr id="44" name="Shape 36"/>
          <p:cNvSpPr/>
          <p:nvPr/>
        </p:nvSpPr>
        <p:spPr>
          <a:xfrm>
            <a:off x="594360" y="3081528"/>
            <a:ext cx="384048" cy="384048"/>
          </a:xfrm>
          <a:prstGeom prst="ellipse">
            <a:avLst/>
          </a:prstGeom>
          <a:solidFill>
            <a:srgbClr val="D49A00"/>
          </a:solidFill>
          <a:ln/>
        </p:spPr>
      </p:sp>
      <p:sp>
        <p:nvSpPr>
          <p:cNvPr id="45" name="Text 37"/>
          <p:cNvSpPr txBox="1"/>
          <p:nvPr/>
        </p:nvSpPr>
        <p:spPr>
          <a:xfrm>
            <a:off x="594360" y="308152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46" name="Text 38"/>
          <p:cNvSpPr txBox="1"/>
          <p:nvPr/>
        </p:nvSpPr>
        <p:spPr>
          <a:xfrm>
            <a:off x="1078992" y="3108960"/>
            <a:ext cx="1463040" cy="329184"/>
          </a:xfrm>
          <a:prstGeom prst="rect">
            <a:avLst/>
          </a:prstGeom>
          <a:noFill/>
          <a:ln/>
        </p:spPr>
        <p:txBody>
          <a:bodyPr wrap="square" lIns="0" tIns="0" rIns="0" bIns="0"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Affecter la région</a:t>
            </a:r>
            <a:endParaRPr lang="en-US" sz="1400" dirty="0"/>
          </a:p>
        </p:txBody>
      </p:sp>
      <p:pic>
        <p:nvPicPr>
          <p:cNvPr id="47" name="Image 5" descr="preencoded.png"/>
          <p:cNvPicPr>
            <a:picLocks noChangeAspect="1"/>
          </p:cNvPicPr>
          <p:nvPr/>
        </p:nvPicPr>
        <p:blipFill>
          <a:blip r:embed="rId7"/>
          <a:stretch>
            <a:fillRect/>
          </a:stretch>
        </p:blipFill>
        <p:spPr>
          <a:xfrm>
            <a:off x="2624328" y="3145536"/>
            <a:ext cx="256032" cy="256032"/>
          </a:xfrm>
          <a:prstGeom prst="rect">
            <a:avLst/>
          </a:prstGeom>
        </p:spPr>
      </p:pic>
      <p:sp>
        <p:nvSpPr>
          <p:cNvPr id="48" name="Text 39"/>
          <p:cNvSpPr txBox="1"/>
          <p:nvPr/>
        </p:nvSpPr>
        <p:spPr>
          <a:xfrm>
            <a:off x="621792" y="3566160"/>
            <a:ext cx="2286000" cy="457200"/>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Jointure spatiale des centroïdes aux limites administratives.</a:t>
            </a:r>
            <a:endParaRPr lang="en-US" sz="1050" dirty="0"/>
          </a:p>
        </p:txBody>
      </p:sp>
      <p:sp>
        <p:nvSpPr>
          <p:cNvPr id="49" name="Shape 40"/>
          <p:cNvSpPr/>
          <p:nvPr/>
        </p:nvSpPr>
        <p:spPr>
          <a:xfrm>
            <a:off x="621792" y="3986784"/>
            <a:ext cx="1005840" cy="219456"/>
          </a:xfrm>
          <a:prstGeom prst="roundRect">
            <a:avLst>
              <a:gd name="adj" fmla="val 50000"/>
            </a:avLst>
          </a:prstGeom>
          <a:solidFill>
            <a:srgbClr val="D49A00">
              <a:alpha val="13000"/>
            </a:srgbClr>
          </a:solidFill>
          <a:ln w="6350">
            <a:solidFill>
              <a:srgbClr val="D49A00"/>
            </a:solidFill>
            <a:prstDash val="solid"/>
          </a:ln>
        </p:spPr>
      </p:sp>
      <p:sp>
        <p:nvSpPr>
          <p:cNvPr id="50" name="Text 41"/>
          <p:cNvSpPr txBox="1"/>
          <p:nvPr/>
        </p:nvSpPr>
        <p:spPr>
          <a:xfrm>
            <a:off x="621792" y="3986784"/>
            <a:ext cx="1005840" cy="219456"/>
          </a:xfrm>
          <a:prstGeom prst="rect">
            <a:avLst/>
          </a:prstGeom>
          <a:noFill/>
          <a:ln/>
        </p:spPr>
        <p:txBody>
          <a:bodyPr wrap="square" lIns="0" tIns="0" rIns="0" bIns="0" rtlCol="0" anchor="ctr"/>
          <a:lstStyle/>
          <a:p>
            <a:pPr marL="0" indent="0" algn="ctr">
              <a:buNone/>
            </a:pPr>
            <a:r>
              <a:rPr lang="en-US" sz="900" dirty="0">
                <a:solidFill>
                  <a:srgbClr val="231F20"/>
                </a:solidFill>
                <a:latin typeface="Courier New" pitchFamily="34" charset="0"/>
                <a:ea typeface="Courier New" pitchFamily="34" charset="-122"/>
                <a:cs typeface="Courier New" pitchFamily="34" charset="-120"/>
              </a:rPr>
              <a:t>geopandas</a:t>
            </a:r>
            <a:endParaRPr lang="en-US" sz="900" dirty="0"/>
          </a:p>
        </p:txBody>
      </p:sp>
      <p:pic>
        <p:nvPicPr>
          <p:cNvPr id="51" name="Image 6" descr="preencoded.png"/>
          <p:cNvPicPr>
            <a:picLocks noChangeAspect="1"/>
          </p:cNvPicPr>
          <p:nvPr/>
        </p:nvPicPr>
        <p:blipFill>
          <a:blip r:embed="rId4"/>
          <a:stretch>
            <a:fillRect/>
          </a:stretch>
        </p:blipFill>
        <p:spPr>
          <a:xfrm>
            <a:off x="3072384" y="3529584"/>
            <a:ext cx="164592" cy="164592"/>
          </a:xfrm>
          <a:prstGeom prst="rect">
            <a:avLst/>
          </a:prstGeom>
        </p:spPr>
      </p:pic>
      <p:sp>
        <p:nvSpPr>
          <p:cNvPr id="52" name="Shape 42"/>
          <p:cNvSpPr/>
          <p:nvPr/>
        </p:nvSpPr>
        <p:spPr>
          <a:xfrm>
            <a:off x="3291840" y="2944368"/>
            <a:ext cx="2560320" cy="1371600"/>
          </a:xfrm>
          <a:prstGeom prst="roundRect">
            <a:avLst>
              <a:gd name="adj" fmla="val 5333"/>
            </a:avLst>
          </a:prstGeom>
          <a:solidFill>
            <a:srgbClr val="FFFFFF"/>
          </a:solidFill>
          <a:ln w="12700">
            <a:solidFill>
              <a:srgbClr val="D49A00"/>
            </a:solidFill>
            <a:prstDash val="solid"/>
          </a:ln>
        </p:spPr>
      </p:sp>
      <p:sp>
        <p:nvSpPr>
          <p:cNvPr id="53" name="Shape 43"/>
          <p:cNvSpPr/>
          <p:nvPr/>
        </p:nvSpPr>
        <p:spPr>
          <a:xfrm>
            <a:off x="3429000" y="3081528"/>
            <a:ext cx="384048" cy="384048"/>
          </a:xfrm>
          <a:prstGeom prst="ellipse">
            <a:avLst/>
          </a:prstGeom>
          <a:solidFill>
            <a:srgbClr val="D49A00"/>
          </a:solidFill>
          <a:ln/>
        </p:spPr>
      </p:sp>
      <p:sp>
        <p:nvSpPr>
          <p:cNvPr id="54" name="Text 44"/>
          <p:cNvSpPr txBox="1"/>
          <p:nvPr/>
        </p:nvSpPr>
        <p:spPr>
          <a:xfrm>
            <a:off x="3429000" y="308152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55" name="Text 45"/>
          <p:cNvSpPr txBox="1"/>
          <p:nvPr/>
        </p:nvSpPr>
        <p:spPr>
          <a:xfrm>
            <a:off x="3913632" y="3108960"/>
            <a:ext cx="1463040" cy="329184"/>
          </a:xfrm>
          <a:prstGeom prst="rect">
            <a:avLst/>
          </a:prstGeom>
          <a:noFill/>
          <a:ln/>
        </p:spPr>
        <p:txBody>
          <a:bodyPr wrap="square" lIns="0" tIns="0" rIns="0" bIns="0"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Filtrer</a:t>
            </a:r>
            <a:endParaRPr lang="en-US" sz="1400" dirty="0"/>
          </a:p>
        </p:txBody>
      </p:sp>
      <p:pic>
        <p:nvPicPr>
          <p:cNvPr id="56" name="Image 7" descr="preencoded.png"/>
          <p:cNvPicPr>
            <a:picLocks noChangeAspect="1"/>
          </p:cNvPicPr>
          <p:nvPr/>
        </p:nvPicPr>
        <p:blipFill>
          <a:blip r:embed="rId8"/>
          <a:stretch>
            <a:fillRect/>
          </a:stretch>
        </p:blipFill>
        <p:spPr>
          <a:xfrm>
            <a:off x="5458968" y="3145536"/>
            <a:ext cx="256032" cy="256032"/>
          </a:xfrm>
          <a:prstGeom prst="rect">
            <a:avLst/>
          </a:prstGeom>
        </p:spPr>
      </p:pic>
      <p:sp>
        <p:nvSpPr>
          <p:cNvPr id="57" name="Text 46"/>
          <p:cNvSpPr txBox="1"/>
          <p:nvPr/>
        </p:nvSpPr>
        <p:spPr>
          <a:xfrm>
            <a:off x="3456432" y="3566160"/>
            <a:ext cx="2286000" cy="457200"/>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Écarter les tuiles sous un minimum annoncé de tests et d’appareils.</a:t>
            </a:r>
            <a:endParaRPr lang="en-US" sz="1050" dirty="0"/>
          </a:p>
        </p:txBody>
      </p:sp>
      <p:sp>
        <p:nvSpPr>
          <p:cNvPr id="58" name="Shape 47"/>
          <p:cNvSpPr/>
          <p:nvPr/>
        </p:nvSpPr>
        <p:spPr>
          <a:xfrm>
            <a:off x="3456432" y="3986784"/>
            <a:ext cx="1005840" cy="219456"/>
          </a:xfrm>
          <a:prstGeom prst="roundRect">
            <a:avLst>
              <a:gd name="adj" fmla="val 50000"/>
            </a:avLst>
          </a:prstGeom>
          <a:solidFill>
            <a:srgbClr val="D49A00">
              <a:alpha val="13000"/>
            </a:srgbClr>
          </a:solidFill>
          <a:ln w="6350">
            <a:solidFill>
              <a:srgbClr val="D49A00"/>
            </a:solidFill>
            <a:prstDash val="solid"/>
          </a:ln>
        </p:spPr>
      </p:sp>
      <p:sp>
        <p:nvSpPr>
          <p:cNvPr id="59" name="Text 48"/>
          <p:cNvSpPr txBox="1"/>
          <p:nvPr/>
        </p:nvSpPr>
        <p:spPr>
          <a:xfrm>
            <a:off x="3456432" y="3986784"/>
            <a:ext cx="1005840" cy="219456"/>
          </a:xfrm>
          <a:prstGeom prst="rect">
            <a:avLst/>
          </a:prstGeom>
          <a:noFill/>
          <a:ln/>
        </p:spPr>
        <p:txBody>
          <a:bodyPr wrap="square" lIns="0" tIns="0" rIns="0" bIns="0" rtlCol="0" anchor="ctr"/>
          <a:lstStyle/>
          <a:p>
            <a:pPr marL="0" indent="0" algn="ctr">
              <a:buNone/>
            </a:pPr>
            <a:r>
              <a:rPr lang="en-US" sz="900" dirty="0">
                <a:solidFill>
                  <a:srgbClr val="231F20"/>
                </a:solidFill>
                <a:latin typeface="Courier New" pitchFamily="34" charset="0"/>
                <a:ea typeface="Courier New" pitchFamily="34" charset="-122"/>
                <a:cs typeface="Courier New" pitchFamily="34" charset="-120"/>
              </a:rPr>
              <a:t>pandas</a:t>
            </a:r>
            <a:endParaRPr lang="en-US" sz="900" dirty="0"/>
          </a:p>
        </p:txBody>
      </p:sp>
      <p:pic>
        <p:nvPicPr>
          <p:cNvPr id="60" name="Image 8" descr="preencoded.png"/>
          <p:cNvPicPr>
            <a:picLocks noChangeAspect="1"/>
          </p:cNvPicPr>
          <p:nvPr/>
        </p:nvPicPr>
        <p:blipFill>
          <a:blip r:embed="rId4"/>
          <a:stretch>
            <a:fillRect/>
          </a:stretch>
        </p:blipFill>
        <p:spPr>
          <a:xfrm>
            <a:off x="5907024" y="3529584"/>
            <a:ext cx="164592" cy="164592"/>
          </a:xfrm>
          <a:prstGeom prst="rect">
            <a:avLst/>
          </a:prstGeom>
        </p:spPr>
      </p:pic>
      <p:sp>
        <p:nvSpPr>
          <p:cNvPr id="61" name="Shape 49"/>
          <p:cNvSpPr/>
          <p:nvPr/>
        </p:nvSpPr>
        <p:spPr>
          <a:xfrm>
            <a:off x="6126480" y="2944368"/>
            <a:ext cx="2560320" cy="1371600"/>
          </a:xfrm>
          <a:prstGeom prst="roundRect">
            <a:avLst>
              <a:gd name="adj" fmla="val 5333"/>
            </a:avLst>
          </a:prstGeom>
          <a:solidFill>
            <a:srgbClr val="FFFFFF"/>
          </a:solidFill>
          <a:ln w="12700">
            <a:solidFill>
              <a:srgbClr val="D49A00"/>
            </a:solidFill>
            <a:prstDash val="solid"/>
          </a:ln>
        </p:spPr>
      </p:sp>
      <p:sp>
        <p:nvSpPr>
          <p:cNvPr id="62" name="Shape 50"/>
          <p:cNvSpPr/>
          <p:nvPr/>
        </p:nvSpPr>
        <p:spPr>
          <a:xfrm>
            <a:off x="6263640" y="3081528"/>
            <a:ext cx="384048" cy="384048"/>
          </a:xfrm>
          <a:prstGeom prst="ellipse">
            <a:avLst/>
          </a:prstGeom>
          <a:solidFill>
            <a:srgbClr val="D49A00"/>
          </a:solidFill>
          <a:ln/>
        </p:spPr>
      </p:sp>
      <p:sp>
        <p:nvSpPr>
          <p:cNvPr id="63" name="Text 51"/>
          <p:cNvSpPr txBox="1"/>
          <p:nvPr/>
        </p:nvSpPr>
        <p:spPr>
          <a:xfrm>
            <a:off x="6263640" y="308152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64" name="Text 52"/>
          <p:cNvSpPr txBox="1"/>
          <p:nvPr/>
        </p:nvSpPr>
        <p:spPr>
          <a:xfrm>
            <a:off x="6748272" y="3108960"/>
            <a:ext cx="1463040" cy="329184"/>
          </a:xfrm>
          <a:prstGeom prst="rect">
            <a:avLst/>
          </a:prstGeom>
          <a:noFill/>
          <a:ln/>
        </p:spPr>
        <p:txBody>
          <a:bodyPr wrap="square" lIns="0" tIns="0" rIns="0" bIns="0"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Calculer</a:t>
            </a:r>
            <a:endParaRPr lang="en-US" sz="1400" dirty="0"/>
          </a:p>
        </p:txBody>
      </p:sp>
      <p:pic>
        <p:nvPicPr>
          <p:cNvPr id="65" name="Image 9" descr="preencoded.png"/>
          <p:cNvPicPr>
            <a:picLocks noChangeAspect="1"/>
          </p:cNvPicPr>
          <p:nvPr/>
        </p:nvPicPr>
        <p:blipFill>
          <a:blip r:embed="rId9"/>
          <a:stretch>
            <a:fillRect/>
          </a:stretch>
        </p:blipFill>
        <p:spPr>
          <a:xfrm>
            <a:off x="8293608" y="3145536"/>
            <a:ext cx="256032" cy="256032"/>
          </a:xfrm>
          <a:prstGeom prst="rect">
            <a:avLst/>
          </a:prstGeom>
        </p:spPr>
      </p:pic>
      <p:sp>
        <p:nvSpPr>
          <p:cNvPr id="66" name="Text 53"/>
          <p:cNvSpPr txBox="1"/>
          <p:nvPr/>
        </p:nvSpPr>
        <p:spPr>
          <a:xfrm>
            <a:off x="6291072" y="3566160"/>
            <a:ext cx="2286000" cy="457200"/>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Indicateurs pondérés par région, puis contrôles de cohérence.</a:t>
            </a:r>
            <a:endParaRPr lang="en-US" sz="1050" dirty="0"/>
          </a:p>
        </p:txBody>
      </p:sp>
      <p:sp>
        <p:nvSpPr>
          <p:cNvPr id="67" name="Shape 54"/>
          <p:cNvSpPr/>
          <p:nvPr/>
        </p:nvSpPr>
        <p:spPr>
          <a:xfrm>
            <a:off x="6291072" y="3986784"/>
            <a:ext cx="1005840" cy="219456"/>
          </a:xfrm>
          <a:prstGeom prst="roundRect">
            <a:avLst>
              <a:gd name="adj" fmla="val 50000"/>
            </a:avLst>
          </a:prstGeom>
          <a:solidFill>
            <a:srgbClr val="D49A00">
              <a:alpha val="13000"/>
            </a:srgbClr>
          </a:solidFill>
          <a:ln w="6350">
            <a:solidFill>
              <a:srgbClr val="D49A00"/>
            </a:solidFill>
            <a:prstDash val="solid"/>
          </a:ln>
        </p:spPr>
      </p:sp>
      <p:sp>
        <p:nvSpPr>
          <p:cNvPr id="68" name="Text 55"/>
          <p:cNvSpPr txBox="1"/>
          <p:nvPr/>
        </p:nvSpPr>
        <p:spPr>
          <a:xfrm>
            <a:off x="6291072" y="3986784"/>
            <a:ext cx="1005840" cy="219456"/>
          </a:xfrm>
          <a:prstGeom prst="rect">
            <a:avLst/>
          </a:prstGeom>
          <a:noFill/>
          <a:ln/>
        </p:spPr>
        <p:txBody>
          <a:bodyPr wrap="square" lIns="0" tIns="0" rIns="0" bIns="0" rtlCol="0" anchor="ctr"/>
          <a:lstStyle/>
          <a:p>
            <a:pPr marL="0" indent="0" algn="ctr">
              <a:buNone/>
            </a:pPr>
            <a:r>
              <a:rPr lang="en-US" sz="900" dirty="0">
                <a:solidFill>
                  <a:srgbClr val="231F20"/>
                </a:solidFill>
                <a:latin typeface="Courier New" pitchFamily="34" charset="0"/>
                <a:ea typeface="Courier New" pitchFamily="34" charset="-122"/>
                <a:cs typeface="Courier New" pitchFamily="34" charset="-120"/>
              </a:rPr>
              <a:t>pandas</a:t>
            </a:r>
            <a:endParaRPr lang="en-US" sz="900" dirty="0"/>
          </a:p>
        </p:txBody>
      </p:sp>
      <p:sp>
        <p:nvSpPr>
          <p:cNvPr id="69" name="Text 56"/>
          <p:cNvSpPr txBox="1"/>
          <p:nvPr/>
        </p:nvSpPr>
        <p:spPr>
          <a:xfrm>
            <a:off x="457200" y="4572000"/>
            <a:ext cx="749808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Étape 0, avant tout : vérifier la couverture nationale (tuiles et tests) pour les trimestres utilisés.</a:t>
            </a:r>
            <a:endParaRPr lang="en-US" sz="900" dirty="0"/>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EN CODE</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Toute la chaîne en une vingtaine de lignes</a:t>
            </a:r>
            <a:endParaRPr lang="en-US" sz="28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49A00"/>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BAD – Data Innovation for Africa (DI4A)  ·  Ookla Open Data et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22</a:t>
            </a:r>
            <a:endParaRPr lang="en-US" sz="850" dirty="0"/>
          </a:p>
        </p:txBody>
      </p:sp>
      <p:sp>
        <p:nvSpPr>
          <p:cNvPr id="17" name="Shape 14"/>
          <p:cNvSpPr/>
          <p:nvPr/>
        </p:nvSpPr>
        <p:spPr>
          <a:xfrm>
            <a:off x="457200" y="1325880"/>
            <a:ext cx="5577840" cy="3154680"/>
          </a:xfrm>
          <a:prstGeom prst="roundRect">
            <a:avLst>
              <a:gd name="adj" fmla="val 2319"/>
            </a:avLst>
          </a:prstGeom>
          <a:solidFill>
            <a:srgbClr val="F4F7F5"/>
          </a:solidFill>
          <a:ln w="9525">
            <a:solidFill>
              <a:srgbClr val="D5DED9"/>
            </a:solidFill>
            <a:prstDash val="solid"/>
          </a:ln>
        </p:spPr>
      </p:sp>
      <p:sp>
        <p:nvSpPr>
          <p:cNvPr id="18" name="Text 15"/>
          <p:cNvSpPr txBox="1"/>
          <p:nvPr/>
        </p:nvSpPr>
        <p:spPr>
          <a:xfrm>
            <a:off x="594360" y="1463040"/>
            <a:ext cx="5349240" cy="2971800"/>
          </a:xfrm>
          <a:prstGeom prst="rect">
            <a:avLst/>
          </a:prstGeom>
          <a:noFill/>
          <a:ln/>
        </p:spPr>
        <p:txBody>
          <a:bodyPr wrap="square" lIns="0" tIns="0" rIns="0" bIns="0" rtlCol="0" anchor="t"/>
          <a:lstStyle/>
          <a:p>
            <a:pPr marL="0" indent="0">
              <a:buNone/>
            </a:pPr>
            <a:r>
              <a:rPr lang="en-US" sz="900" dirty="0">
                <a:solidFill>
                  <a:srgbClr val="231F20"/>
                </a:solidFill>
                <a:latin typeface="Courier New" pitchFamily="34" charset="0"/>
                <a:ea typeface="Courier New" pitchFamily="34" charset="-122"/>
                <a:cs typeface="Courier New" pitchFamily="34" charset="-120"/>
              </a:rPr>
              <a:t>import pandas as pd, geopandas as gpd</a:t>
            </a:r>
            <a:endParaRPr lang="en-US" sz="900" dirty="0"/>
          </a:p>
          <a:p>
            <a:pPr marL="0" indent="0">
              <a:buNone/>
            </a:pPr>
            <a:r>
              <a:rPr lang="en-US" sz="900" dirty="0">
                <a:solidFill>
                  <a:srgbClr val="231F20"/>
                </a:solidFill>
                <a:latin typeface="Courier New" pitchFamily="34" charset="0"/>
                <a:ea typeface="Courier New" pitchFamily="34" charset="-122"/>
                <a:cs typeface="Courier New" pitchFamily="34" charset="-120"/>
              </a:rPr>
              <a:t>from rasterstats import zonal_stats</a:t>
            </a:r>
            <a:endParaRPr lang="en-US" sz="900" dirty="0"/>
          </a:p>
          <a:p>
            <a:pPr marL="0" indent="0">
              <a:buNone/>
            </a:pPr>
            <a:endParaRPr lang="en-US" sz="900" dirty="0"/>
          </a:p>
          <a:p>
            <a:pPr marL="0" indent="0">
              <a:buNone/>
            </a:pPr>
            <a:r>
              <a:rPr lang="en-US" sz="900" dirty="0">
                <a:solidFill>
                  <a:srgbClr val="231F20"/>
                </a:solidFill>
                <a:latin typeface="Courier New" pitchFamily="34" charset="0"/>
                <a:ea typeface="Courier New" pitchFamily="34" charset="-122"/>
                <a:cs typeface="Courier New" pitchFamily="34" charset="-120"/>
              </a:rPr>
              <a:t>URL = ("https://ookla-open-data.s3.amazonaws.com/parquet/"</a:t>
            </a:r>
            <a:endParaRPr lang="en-US" sz="900" dirty="0"/>
          </a:p>
          <a:p>
            <a:pPr marL="0" indent="0">
              <a:buNone/>
            </a:pPr>
            <a:r>
              <a:rPr lang="en-US" sz="900" dirty="0">
                <a:solidFill>
                  <a:srgbClr val="231F20"/>
                </a:solidFill>
                <a:latin typeface="Courier New" pitchFamily="34" charset="0"/>
                <a:ea typeface="Courier New" pitchFamily="34" charset="-122"/>
                <a:cs typeface="Courier New" pitchFamily="34" charset="-120"/>
              </a:rPr>
              <a:t>       "performance/type=mobile/year=2025/quarter=4/"</a:t>
            </a:r>
            <a:endParaRPr lang="en-US" sz="900" dirty="0"/>
          </a:p>
          <a:p>
            <a:pPr marL="0" indent="0">
              <a:buNone/>
            </a:pPr>
            <a:r>
              <a:rPr lang="en-US" sz="900" dirty="0">
                <a:solidFill>
                  <a:srgbClr val="231F20"/>
                </a:solidFill>
                <a:latin typeface="Courier New" pitchFamily="34" charset="0"/>
                <a:ea typeface="Courier New" pitchFamily="34" charset="-122"/>
                <a:cs typeface="Courier New" pitchFamily="34" charset="-120"/>
              </a:rPr>
              <a:t>       "2025-10-01_performance_mobile_tiles.parquet")</a:t>
            </a:r>
            <a:endParaRPr lang="en-US" sz="900" dirty="0"/>
          </a:p>
          <a:p>
            <a:pPr marL="0" indent="0">
              <a:buNone/>
            </a:pPr>
            <a:r>
              <a:rPr lang="en-US" sz="900" dirty="0">
                <a:solidFill>
                  <a:srgbClr val="231F20"/>
                </a:solidFill>
                <a:latin typeface="Courier New" pitchFamily="34" charset="0"/>
                <a:ea typeface="Courier New" pitchFamily="34" charset="-122"/>
                <a:cs typeface="Courier New" pitchFamily="34" charset="-120"/>
              </a:rPr>
              <a:t>adm = gpd.read_file("adm2.gpkg").to_crs(4326)</a:t>
            </a:r>
            <a:endParaRPr lang="en-US" sz="900" dirty="0"/>
          </a:p>
          <a:p>
            <a:pPr marL="0" indent="0">
              <a:buNone/>
            </a:pPr>
            <a:r>
              <a:rPr lang="en-US" sz="900" dirty="0">
                <a:solidFill>
                  <a:srgbClr val="231F20"/>
                </a:solidFill>
                <a:latin typeface="Courier New" pitchFamily="34" charset="0"/>
                <a:ea typeface="Courier New" pitchFamily="34" charset="-122"/>
                <a:cs typeface="Courier New" pitchFamily="34" charset="-120"/>
              </a:rPr>
              <a:t>x0, y0, x1, y1 = adm.total_bounds</a:t>
            </a:r>
            <a:endParaRPr lang="en-US" sz="900" dirty="0"/>
          </a:p>
          <a:p>
            <a:pPr marL="0" indent="0">
              <a:buNone/>
            </a:pPr>
            <a:endParaRPr lang="en-US" sz="900" dirty="0"/>
          </a:p>
          <a:p>
            <a:pPr marL="0" indent="0">
              <a:buNone/>
            </a:pPr>
            <a:r>
              <a:rPr lang="en-US" sz="900" dirty="0">
                <a:solidFill>
                  <a:srgbClr val="231F20"/>
                </a:solidFill>
                <a:latin typeface="Courier New" pitchFamily="34" charset="0"/>
                <a:ea typeface="Courier New" pitchFamily="34" charset="-122"/>
                <a:cs typeface="Courier New" pitchFamily="34" charset="-120"/>
              </a:rPr>
              <a:t>df = pd.read_parquet(URL)                          # 1 charger</a:t>
            </a:r>
            <a:endParaRPr lang="en-US" sz="900" dirty="0"/>
          </a:p>
          <a:p>
            <a:pPr marL="0" indent="0">
              <a:buNone/>
            </a:pPr>
            <a:r>
              <a:rPr lang="en-US" sz="900" dirty="0">
                <a:solidFill>
                  <a:srgbClr val="231F20"/>
                </a:solidFill>
                <a:latin typeface="Courier New" pitchFamily="34" charset="0"/>
                <a:ea typeface="Courier New" pitchFamily="34" charset="-122"/>
                <a:cs typeface="Courier New" pitchFamily="34" charset="-120"/>
              </a:rPr>
              <a:t>df = df[df.tile_x.between(x0, x1)</a:t>
            </a:r>
            <a:endParaRPr lang="en-US" sz="900" dirty="0"/>
          </a:p>
          <a:p>
            <a:pPr marL="0" indent="0">
              <a:buNone/>
            </a:pPr>
            <a:r>
              <a:rPr lang="en-US" sz="900" dirty="0">
                <a:solidFill>
                  <a:srgbClr val="231F20"/>
                </a:solidFill>
                <a:latin typeface="Courier New" pitchFamily="34" charset="0"/>
                <a:ea typeface="Courier New" pitchFamily="34" charset="-122"/>
                <a:cs typeface="Courier New" pitchFamily="34" charset="-120"/>
              </a:rPr>
              <a:t>        &amp; df.tile_y.between(y0, y1)]               # 2 découper</a:t>
            </a:r>
            <a:endParaRPr lang="en-US" sz="900" dirty="0"/>
          </a:p>
          <a:p>
            <a:pPr marL="0" indent="0">
              <a:buNone/>
            </a:pPr>
            <a:r>
              <a:rPr lang="en-US" sz="900" dirty="0">
                <a:solidFill>
                  <a:srgbClr val="231F20"/>
                </a:solidFill>
                <a:latin typeface="Courier New" pitchFamily="34" charset="0"/>
                <a:ea typeface="Courier New" pitchFamily="34" charset="-122"/>
                <a:cs typeface="Courier New" pitchFamily="34" charset="-120"/>
              </a:rPr>
              <a:t>t = gpd.GeoDataFrame(df, crs=4326,</a:t>
            </a:r>
            <a:endParaRPr lang="en-US" sz="900" dirty="0"/>
          </a:p>
          <a:p>
            <a:pPr marL="0" indent="0">
              <a:buNone/>
            </a:pPr>
            <a:r>
              <a:rPr lang="en-US" sz="900" dirty="0">
                <a:solidFill>
                  <a:srgbClr val="231F20"/>
                </a:solidFill>
                <a:latin typeface="Courier New" pitchFamily="34" charset="0"/>
                <a:ea typeface="Courier New" pitchFamily="34" charset="-122"/>
                <a:cs typeface="Courier New" pitchFamily="34" charset="-120"/>
              </a:rPr>
              <a:t>        geometry=gpd.GeoSeries.from_wkt(df.tile))</a:t>
            </a:r>
            <a:endParaRPr lang="en-US" sz="900" dirty="0"/>
          </a:p>
          <a:p>
            <a:pPr marL="0" indent="0">
              <a:buNone/>
            </a:pPr>
            <a:r>
              <a:rPr lang="en-US" sz="900" dirty="0">
                <a:solidFill>
                  <a:srgbClr val="231F20"/>
                </a:solidFill>
                <a:latin typeface="Courier New" pitchFamily="34" charset="0"/>
                <a:ea typeface="Courier New" pitchFamily="34" charset="-122"/>
                <a:cs typeface="Courier New" pitchFamily="34" charset="-120"/>
              </a:rPr>
              <a:t>t["pop"] = [z["sum"] or 0 for z in zonal_stats(   # 3 population</a:t>
            </a:r>
            <a:endParaRPr lang="en-US" sz="900" dirty="0"/>
          </a:p>
          <a:p>
            <a:pPr marL="0" indent="0">
              <a:buNone/>
            </a:pPr>
            <a:r>
              <a:rPr lang="en-US" sz="900" dirty="0">
                <a:solidFill>
                  <a:srgbClr val="231F20"/>
                </a:solidFill>
                <a:latin typeface="Courier New" pitchFamily="34" charset="0"/>
                <a:ea typeface="Courier New" pitchFamily="34" charset="-122"/>
                <a:cs typeface="Courier New" pitchFamily="34" charset="-120"/>
              </a:rPr>
              <a:t>            t, "worldpop_2025_100m.tif", stats="sum")]</a:t>
            </a:r>
            <a:endParaRPr lang="en-US" sz="900" dirty="0"/>
          </a:p>
          <a:p>
            <a:pPr marL="0" indent="0">
              <a:buNone/>
            </a:pPr>
            <a:r>
              <a:rPr lang="en-US" sz="900" dirty="0">
                <a:solidFill>
                  <a:srgbClr val="231F20"/>
                </a:solidFill>
                <a:latin typeface="Courier New" pitchFamily="34" charset="0"/>
                <a:ea typeface="Courier New" pitchFamily="34" charset="-122"/>
                <a:cs typeface="Courier New" pitchFamily="34" charset="-120"/>
              </a:rPr>
              <a:t>t = gpd.sjoin(t.set_geometry(t.centroid),         # 4 région</a:t>
            </a:r>
            <a:endParaRPr lang="en-US" sz="900" dirty="0"/>
          </a:p>
          <a:p>
            <a:pPr marL="0" indent="0">
              <a:buNone/>
            </a:pPr>
            <a:r>
              <a:rPr lang="en-US" sz="900" dirty="0">
                <a:solidFill>
                  <a:srgbClr val="231F20"/>
                </a:solidFill>
                <a:latin typeface="Courier New" pitchFamily="34" charset="0"/>
                <a:ea typeface="Courier New" pitchFamily="34" charset="-122"/>
                <a:cs typeface="Courier New" pitchFamily="34" charset="-120"/>
              </a:rPr>
              <a:t>              adm[["adm2", "geometry"]])</a:t>
            </a:r>
            <a:endParaRPr lang="en-US" sz="900" dirty="0"/>
          </a:p>
          <a:p>
            <a:pPr marL="0" indent="0">
              <a:buNone/>
            </a:pPr>
            <a:r>
              <a:rPr lang="en-US" sz="900" dirty="0">
                <a:solidFill>
                  <a:srgbClr val="231F20"/>
                </a:solidFill>
                <a:latin typeface="Courier New" pitchFamily="34" charset="0"/>
                <a:ea typeface="Courier New" pitchFamily="34" charset="-122"/>
                <a:cs typeface="Courier New" pitchFamily="34" charset="-120"/>
              </a:rPr>
              <a:t>t = t[(t.tests &gt;= 3) &amp; (t.devices &gt;= 2)]          # 5 filtrer</a:t>
            </a:r>
            <a:endParaRPr lang="en-US" sz="900" dirty="0"/>
          </a:p>
          <a:p>
            <a:pPr marL="0" indent="0">
              <a:buNone/>
            </a:pPr>
            <a:r>
              <a:rPr lang="en-US" sz="900" dirty="0">
                <a:solidFill>
                  <a:srgbClr val="231F20"/>
                </a:solidFill>
                <a:latin typeface="Courier New" pitchFamily="34" charset="0"/>
                <a:ea typeface="Courier New" pitchFamily="34" charset="-122"/>
                <a:cs typeface="Courier New" pitchFamily="34" charset="-120"/>
              </a:rPr>
              <a:t>t["w"] = t.avg_d_kbps / 1000 * t["pop"]           # 6 calculer</a:t>
            </a:r>
            <a:endParaRPr lang="en-US" sz="900" dirty="0"/>
          </a:p>
          <a:p>
            <a:pPr marL="0" indent="0">
              <a:buNone/>
            </a:pPr>
            <a:r>
              <a:rPr lang="en-US" sz="900" dirty="0">
                <a:solidFill>
                  <a:srgbClr val="231F20"/>
                </a:solidFill>
                <a:latin typeface="Courier New" pitchFamily="34" charset="0"/>
                <a:ea typeface="Courier New" pitchFamily="34" charset="-122"/>
                <a:cs typeface="Courier New" pitchFamily="34" charset="-120"/>
              </a:rPr>
              <a:t>pw = t.groupby("adm2")["w"].sum() / t.groupby("adm2")["pop"].sum()</a:t>
            </a:r>
            <a:endParaRPr lang="en-US" sz="900" dirty="0"/>
          </a:p>
        </p:txBody>
      </p:sp>
      <p:sp>
        <p:nvSpPr>
          <p:cNvPr id="19" name="Shape 16"/>
          <p:cNvSpPr/>
          <p:nvPr/>
        </p:nvSpPr>
        <p:spPr>
          <a:xfrm>
            <a:off x="6263640" y="1371600"/>
            <a:ext cx="402336" cy="402336"/>
          </a:xfrm>
          <a:prstGeom prst="ellipse">
            <a:avLst/>
          </a:prstGeom>
          <a:solidFill>
            <a:srgbClr val="D49A00">
              <a:alpha val="22000"/>
            </a:srgbClr>
          </a:solidFill>
          <a:ln/>
        </p:spPr>
      </p:sp>
      <p:pic>
        <p:nvPicPr>
          <p:cNvPr id="20" name="Image 0" descr="preencoded.png"/>
          <p:cNvPicPr>
            <a:picLocks noChangeAspect="1"/>
          </p:cNvPicPr>
          <p:nvPr/>
        </p:nvPicPr>
        <p:blipFill>
          <a:blip r:embed="rId3"/>
          <a:stretch>
            <a:fillRect/>
          </a:stretch>
        </p:blipFill>
        <p:spPr>
          <a:xfrm>
            <a:off x="6360201" y="1468161"/>
            <a:ext cx="209215" cy="209215"/>
          </a:xfrm>
          <a:prstGeom prst="rect">
            <a:avLst/>
          </a:prstGeom>
        </p:spPr>
      </p:pic>
      <p:sp>
        <p:nvSpPr>
          <p:cNvPr id="21" name="Text 17"/>
          <p:cNvSpPr txBox="1"/>
          <p:nvPr/>
        </p:nvSpPr>
        <p:spPr>
          <a:xfrm>
            <a:off x="6766560" y="1325880"/>
            <a:ext cx="1920240"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Filtrer avant la géométrie</a:t>
            </a:r>
            <a:endParaRPr lang="en-US" sz="1150" dirty="0"/>
          </a:p>
        </p:txBody>
      </p:sp>
      <p:sp>
        <p:nvSpPr>
          <p:cNvPr id="22" name="Text 18"/>
          <p:cNvSpPr txBox="1"/>
          <p:nvPr/>
        </p:nvSpPr>
        <p:spPr>
          <a:xfrm>
            <a:off x="6766560" y="1572768"/>
            <a:ext cx="1920240" cy="50292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Construire les géométries WKT du fichier mondial est l’étape la plus lente.</a:t>
            </a:r>
            <a:endParaRPr lang="en-US" sz="950" dirty="0"/>
          </a:p>
        </p:txBody>
      </p:sp>
      <p:sp>
        <p:nvSpPr>
          <p:cNvPr id="23" name="Shape 19"/>
          <p:cNvSpPr/>
          <p:nvPr/>
        </p:nvSpPr>
        <p:spPr>
          <a:xfrm>
            <a:off x="6263640" y="2176272"/>
            <a:ext cx="402336" cy="402336"/>
          </a:xfrm>
          <a:prstGeom prst="ellipse">
            <a:avLst/>
          </a:prstGeom>
          <a:solidFill>
            <a:srgbClr val="D49A00">
              <a:alpha val="22000"/>
            </a:srgbClr>
          </a:solidFill>
          <a:ln/>
        </p:spPr>
      </p:sp>
      <p:pic>
        <p:nvPicPr>
          <p:cNvPr id="24" name="Image 1" descr="preencoded.png"/>
          <p:cNvPicPr>
            <a:picLocks noChangeAspect="1"/>
          </p:cNvPicPr>
          <p:nvPr/>
        </p:nvPicPr>
        <p:blipFill>
          <a:blip r:embed="rId4"/>
          <a:stretch>
            <a:fillRect/>
          </a:stretch>
        </p:blipFill>
        <p:spPr>
          <a:xfrm>
            <a:off x="6360201" y="2272833"/>
            <a:ext cx="209215" cy="209215"/>
          </a:xfrm>
          <a:prstGeom prst="rect">
            <a:avLst/>
          </a:prstGeom>
        </p:spPr>
      </p:pic>
      <p:sp>
        <p:nvSpPr>
          <p:cNvPr id="25" name="Text 20"/>
          <p:cNvSpPr txBox="1"/>
          <p:nvPr/>
        </p:nvSpPr>
        <p:spPr>
          <a:xfrm>
            <a:off x="6766560" y="2130552"/>
            <a:ext cx="1920240"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Eau et cellules vides</a:t>
            </a:r>
            <a:endParaRPr lang="en-US" sz="1150" dirty="0"/>
          </a:p>
        </p:txBody>
      </p:sp>
      <p:sp>
        <p:nvSpPr>
          <p:cNvPr id="26" name="Text 21"/>
          <p:cNvSpPr txBox="1"/>
          <p:nvPr/>
        </p:nvSpPr>
        <p:spPr>
          <a:xfrm>
            <a:off x="6766560" y="2377440"/>
            <a:ext cx="1920240" cy="50292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zonal_stats renvoie None sans population : compter 0.</a:t>
            </a:r>
            <a:endParaRPr lang="en-US" sz="950" dirty="0"/>
          </a:p>
        </p:txBody>
      </p:sp>
      <p:sp>
        <p:nvSpPr>
          <p:cNvPr id="27" name="Shape 22"/>
          <p:cNvSpPr/>
          <p:nvPr/>
        </p:nvSpPr>
        <p:spPr>
          <a:xfrm>
            <a:off x="6263640" y="2980944"/>
            <a:ext cx="402336" cy="402336"/>
          </a:xfrm>
          <a:prstGeom prst="ellipse">
            <a:avLst/>
          </a:prstGeom>
          <a:solidFill>
            <a:srgbClr val="D49A00">
              <a:alpha val="22000"/>
            </a:srgbClr>
          </a:solidFill>
          <a:ln/>
        </p:spPr>
      </p:sp>
      <p:pic>
        <p:nvPicPr>
          <p:cNvPr id="28" name="Image 2" descr="preencoded.png"/>
          <p:cNvPicPr>
            <a:picLocks noChangeAspect="1"/>
          </p:cNvPicPr>
          <p:nvPr/>
        </p:nvPicPr>
        <p:blipFill>
          <a:blip r:embed="rId5"/>
          <a:stretch>
            <a:fillRect/>
          </a:stretch>
        </p:blipFill>
        <p:spPr>
          <a:xfrm>
            <a:off x="6360201" y="3077505"/>
            <a:ext cx="209215" cy="209215"/>
          </a:xfrm>
          <a:prstGeom prst="rect">
            <a:avLst/>
          </a:prstGeom>
        </p:spPr>
      </p:pic>
      <p:sp>
        <p:nvSpPr>
          <p:cNvPr id="29" name="Text 23"/>
          <p:cNvSpPr txBox="1"/>
          <p:nvPr/>
        </p:nvSpPr>
        <p:spPr>
          <a:xfrm>
            <a:off x="6766560" y="2935224"/>
            <a:ext cx="1920240"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Les seuils sont des choix</a:t>
            </a:r>
            <a:endParaRPr lang="en-US" sz="1150" dirty="0"/>
          </a:p>
        </p:txBody>
      </p:sp>
      <p:sp>
        <p:nvSpPr>
          <p:cNvPr id="30" name="Text 24"/>
          <p:cNvSpPr txBox="1"/>
          <p:nvPr/>
        </p:nvSpPr>
        <p:spPr>
          <a:xfrm>
            <a:off x="6766560" y="3182112"/>
            <a:ext cx="1920240" cy="50292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3 tests / 2 appareils est un exemple. Choisissez, testez, documentez.</a:t>
            </a:r>
            <a:endParaRPr lang="en-US" sz="950" dirty="0"/>
          </a:p>
        </p:txBody>
      </p:sp>
      <p:sp>
        <p:nvSpPr>
          <p:cNvPr id="31" name="Shape 25"/>
          <p:cNvSpPr/>
          <p:nvPr/>
        </p:nvSpPr>
        <p:spPr>
          <a:xfrm>
            <a:off x="6263640" y="3785616"/>
            <a:ext cx="402336" cy="402336"/>
          </a:xfrm>
          <a:prstGeom prst="ellipse">
            <a:avLst/>
          </a:prstGeom>
          <a:solidFill>
            <a:srgbClr val="D49A00">
              <a:alpha val="22000"/>
            </a:srgbClr>
          </a:solidFill>
          <a:ln/>
        </p:spPr>
      </p:sp>
      <p:pic>
        <p:nvPicPr>
          <p:cNvPr id="32" name="Image 3" descr="preencoded.png"/>
          <p:cNvPicPr>
            <a:picLocks noChangeAspect="1"/>
          </p:cNvPicPr>
          <p:nvPr/>
        </p:nvPicPr>
        <p:blipFill>
          <a:blip r:embed="rId6"/>
          <a:stretch>
            <a:fillRect/>
          </a:stretch>
        </p:blipFill>
        <p:spPr>
          <a:xfrm>
            <a:off x="6360201" y="3882177"/>
            <a:ext cx="209215" cy="209215"/>
          </a:xfrm>
          <a:prstGeom prst="rect">
            <a:avLst/>
          </a:prstGeom>
        </p:spPr>
      </p:pic>
      <p:sp>
        <p:nvSpPr>
          <p:cNvPr id="33" name="Text 26"/>
          <p:cNvSpPr txBox="1"/>
          <p:nvPr/>
        </p:nvSpPr>
        <p:spPr>
          <a:xfrm>
            <a:off x="6766560" y="3739896"/>
            <a:ext cx="1920240"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Notebook complet</a:t>
            </a:r>
            <a:endParaRPr lang="en-US" sz="1150" dirty="0"/>
          </a:p>
        </p:txBody>
      </p:sp>
      <p:sp>
        <p:nvSpPr>
          <p:cNvPr id="34" name="Text 27"/>
          <p:cNvSpPr txBox="1"/>
          <p:nvPr/>
        </p:nvSpPr>
        <p:spPr>
          <a:xfrm>
            <a:off x="6766560" y="3986784"/>
            <a:ext cx="1920240" cy="50292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Disponible dans l’organisation GitHub DI4A.</a:t>
            </a:r>
            <a:endParaRPr lang="en-US" sz="950" dirty="0"/>
          </a:p>
        </p:txBody>
      </p:sp>
      <p:sp>
        <p:nvSpPr>
          <p:cNvPr id="35" name="Text 28"/>
          <p:cNvSpPr txBox="1"/>
          <p:nvPr/>
        </p:nvSpPr>
        <p:spPr>
          <a:xfrm>
            <a:off x="457200" y="4572000"/>
            <a:ext cx="749808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Python 3 avec pandas, geopandas ≥ 1.0 et rasterstats. Les noms des fichiers de limites et WorldPop sont à adapter.</a:t>
            </a:r>
            <a:endParaRPr lang="en-US" sz="900" dirty="0"/>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QUE CALCULER</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marL="0" indent="0">
              <a:buNone/>
            </a:pPr>
            <a:r>
              <a:rPr lang="en-US" sz="2300" b="1" dirty="0">
                <a:solidFill>
                  <a:srgbClr val="231F20"/>
                </a:solidFill>
                <a:latin typeface="Calibri" pitchFamily="34" charset="0"/>
                <a:ea typeface="Calibri" pitchFamily="34" charset="-122"/>
                <a:cs typeface="Calibri" pitchFamily="34" charset="-120"/>
              </a:rPr>
              <a:t>Un jeu d’indicateurs régionaux sobre et honnête</a:t>
            </a:r>
            <a:endParaRPr lang="en-US" sz="23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49A00"/>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BAD – Data Innovation for Africa (DI4A)  ·  Ookla Open Data et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23</a:t>
            </a:r>
            <a:endParaRPr lang="en-US" sz="850" dirty="0"/>
          </a:p>
        </p:txBody>
      </p:sp>
      <p:sp>
        <p:nvSpPr>
          <p:cNvPr id="17" name="Shape 14"/>
          <p:cNvSpPr/>
          <p:nvPr/>
        </p:nvSpPr>
        <p:spPr>
          <a:xfrm>
            <a:off x="457200" y="1371600"/>
            <a:ext cx="4023360" cy="1234440"/>
          </a:xfrm>
          <a:prstGeom prst="roundRect">
            <a:avLst>
              <a:gd name="adj" fmla="val 5926"/>
            </a:avLst>
          </a:prstGeom>
          <a:solidFill>
            <a:srgbClr val="E8F5EF"/>
          </a:solidFill>
          <a:ln w="19050">
            <a:solidFill>
              <a:srgbClr val="00A86A"/>
            </a:solidFill>
            <a:prstDash val="solid"/>
          </a:ln>
        </p:spPr>
      </p:sp>
      <p:sp>
        <p:nvSpPr>
          <p:cNvPr id="18" name="Shape 15"/>
          <p:cNvSpPr/>
          <p:nvPr/>
        </p:nvSpPr>
        <p:spPr>
          <a:xfrm>
            <a:off x="594360" y="1508760"/>
            <a:ext cx="457200" cy="457200"/>
          </a:xfrm>
          <a:prstGeom prst="ellipse">
            <a:avLst/>
          </a:prstGeom>
          <a:solidFill>
            <a:srgbClr val="00A86A">
              <a:alpha val="22000"/>
            </a:srgbClr>
          </a:solidFill>
          <a:ln/>
        </p:spPr>
      </p:sp>
      <p:pic>
        <p:nvPicPr>
          <p:cNvPr id="19" name="Image 0" descr="preencoded.png"/>
          <p:cNvPicPr>
            <a:picLocks noChangeAspect="1"/>
          </p:cNvPicPr>
          <p:nvPr/>
        </p:nvPicPr>
        <p:blipFill>
          <a:blip r:embed="rId3"/>
          <a:stretch>
            <a:fillRect/>
          </a:stretch>
        </p:blipFill>
        <p:spPr>
          <a:xfrm>
            <a:off x="704088" y="1618488"/>
            <a:ext cx="237744" cy="237744"/>
          </a:xfrm>
          <a:prstGeom prst="rect">
            <a:avLst/>
          </a:prstGeom>
        </p:spPr>
      </p:pic>
      <p:sp>
        <p:nvSpPr>
          <p:cNvPr id="20" name="Text 16"/>
          <p:cNvSpPr txBox="1"/>
          <p:nvPr/>
        </p:nvSpPr>
        <p:spPr>
          <a:xfrm>
            <a:off x="1188720" y="1499616"/>
            <a:ext cx="3200400" cy="256032"/>
          </a:xfrm>
          <a:prstGeom prst="rect">
            <a:avLst/>
          </a:prstGeom>
          <a:noFill/>
          <a:ln/>
        </p:spPr>
        <p:txBody>
          <a:bodyPr wrap="square" lIns="0" tIns="0" rIns="0" bIns="0" rtlCol="0" anchor="t"/>
          <a:lstStyle/>
          <a:p>
            <a:pPr marL="0" indent="0">
              <a:buNone/>
            </a:pPr>
            <a:r>
              <a:rPr lang="en-US" sz="1350" b="1" dirty="0">
                <a:solidFill>
                  <a:srgbClr val="231F20"/>
                </a:solidFill>
                <a:latin typeface="Calibri" pitchFamily="34" charset="0"/>
                <a:ea typeface="Calibri" pitchFamily="34" charset="-122"/>
                <a:cs typeface="Calibri" pitchFamily="34" charset="-120"/>
              </a:rPr>
              <a:t>Débit pondéré par la population</a:t>
            </a:r>
            <a:endParaRPr lang="en-US" sz="1350" dirty="0"/>
          </a:p>
        </p:txBody>
      </p:sp>
      <p:sp>
        <p:nvSpPr>
          <p:cNvPr id="21" name="Shape 17"/>
          <p:cNvSpPr/>
          <p:nvPr/>
        </p:nvSpPr>
        <p:spPr>
          <a:xfrm>
            <a:off x="1188720" y="1810512"/>
            <a:ext cx="3154680" cy="292608"/>
          </a:xfrm>
          <a:prstGeom prst="roundRect">
            <a:avLst>
              <a:gd name="adj" fmla="val 18750"/>
            </a:avLst>
          </a:prstGeom>
          <a:solidFill>
            <a:srgbClr val="FFFFFF"/>
          </a:solidFill>
          <a:ln w="6350">
            <a:solidFill>
              <a:srgbClr val="D5DED9"/>
            </a:solidFill>
            <a:prstDash val="solid"/>
          </a:ln>
        </p:spPr>
      </p:sp>
      <p:sp>
        <p:nvSpPr>
          <p:cNvPr id="22" name="Text 18"/>
          <p:cNvSpPr txBox="1"/>
          <p:nvPr/>
        </p:nvSpPr>
        <p:spPr>
          <a:xfrm>
            <a:off x="1280160" y="1810512"/>
            <a:ext cx="3017520" cy="292608"/>
          </a:xfrm>
          <a:prstGeom prst="rect">
            <a:avLst/>
          </a:prstGeom>
          <a:noFill/>
          <a:ln/>
        </p:spPr>
        <p:txBody>
          <a:bodyPr wrap="square" lIns="0" tIns="0" rIns="0" bIns="0" rtlCol="0" anchor="ctr"/>
          <a:lstStyle/>
          <a:p>
            <a:pPr marL="0" indent="0">
              <a:buNone/>
            </a:pPr>
            <a:r>
              <a:rPr lang="en-US" sz="1000" b="1" dirty="0">
                <a:solidFill>
                  <a:srgbClr val="00A86A"/>
                </a:solidFill>
                <a:latin typeface="Courier New" pitchFamily="34" charset="0"/>
                <a:ea typeface="Courier New" pitchFamily="34" charset="-122"/>
                <a:cs typeface="Courier New" pitchFamily="34" charset="-120"/>
              </a:rPr>
              <a:t>Σ (Mbps × pop) / Σ pop</a:t>
            </a:r>
            <a:endParaRPr lang="en-US" sz="1000" dirty="0"/>
          </a:p>
        </p:txBody>
      </p:sp>
      <p:sp>
        <p:nvSpPr>
          <p:cNvPr id="23" name="Text 19"/>
          <p:cNvSpPr txBox="1"/>
          <p:nvPr/>
        </p:nvSpPr>
        <p:spPr>
          <a:xfrm>
            <a:off x="1188720" y="2176272"/>
            <a:ext cx="3200400" cy="384048"/>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Ce que connaît l’habitant typique des zones mesurées.</a:t>
            </a:r>
            <a:endParaRPr lang="en-US" sz="1050" dirty="0"/>
          </a:p>
        </p:txBody>
      </p:sp>
      <p:sp>
        <p:nvSpPr>
          <p:cNvPr id="24" name="Shape 20"/>
          <p:cNvSpPr/>
          <p:nvPr/>
        </p:nvSpPr>
        <p:spPr>
          <a:xfrm>
            <a:off x="4663440" y="1371600"/>
            <a:ext cx="4023360" cy="1234440"/>
          </a:xfrm>
          <a:prstGeom prst="roundRect">
            <a:avLst>
              <a:gd name="adj" fmla="val 5926"/>
            </a:avLst>
          </a:prstGeom>
          <a:solidFill>
            <a:srgbClr val="F4F7F5"/>
          </a:solidFill>
          <a:ln w="9525">
            <a:solidFill>
              <a:srgbClr val="D5DED9"/>
            </a:solidFill>
            <a:prstDash val="solid"/>
          </a:ln>
        </p:spPr>
      </p:sp>
      <p:sp>
        <p:nvSpPr>
          <p:cNvPr id="25" name="Shape 21"/>
          <p:cNvSpPr/>
          <p:nvPr/>
        </p:nvSpPr>
        <p:spPr>
          <a:xfrm>
            <a:off x="4800600" y="1508760"/>
            <a:ext cx="457200" cy="457200"/>
          </a:xfrm>
          <a:prstGeom prst="ellipse">
            <a:avLst/>
          </a:prstGeom>
          <a:solidFill>
            <a:srgbClr val="0E7C86">
              <a:alpha val="22000"/>
            </a:srgbClr>
          </a:solidFill>
          <a:ln/>
        </p:spPr>
      </p:sp>
      <p:pic>
        <p:nvPicPr>
          <p:cNvPr id="26" name="Image 1" descr="preencoded.png"/>
          <p:cNvPicPr>
            <a:picLocks noChangeAspect="1"/>
          </p:cNvPicPr>
          <p:nvPr/>
        </p:nvPicPr>
        <p:blipFill>
          <a:blip r:embed="rId4"/>
          <a:stretch>
            <a:fillRect/>
          </a:stretch>
        </p:blipFill>
        <p:spPr>
          <a:xfrm>
            <a:off x="4910328" y="1618488"/>
            <a:ext cx="237744" cy="237744"/>
          </a:xfrm>
          <a:prstGeom prst="rect">
            <a:avLst/>
          </a:prstGeom>
        </p:spPr>
      </p:pic>
      <p:sp>
        <p:nvSpPr>
          <p:cNvPr id="27" name="Text 22"/>
          <p:cNvSpPr txBox="1"/>
          <p:nvPr/>
        </p:nvSpPr>
        <p:spPr>
          <a:xfrm>
            <a:off x="5394960" y="1499616"/>
            <a:ext cx="3200400" cy="256032"/>
          </a:xfrm>
          <a:prstGeom prst="rect">
            <a:avLst/>
          </a:prstGeom>
          <a:noFill/>
          <a:ln/>
        </p:spPr>
        <p:txBody>
          <a:bodyPr wrap="square" lIns="0" tIns="0" rIns="0" bIns="0" rtlCol="0" anchor="t"/>
          <a:lstStyle/>
          <a:p>
            <a:pPr marL="0" indent="0">
              <a:buNone/>
            </a:pPr>
            <a:r>
              <a:rPr lang="en-US" sz="1350" b="1" dirty="0">
                <a:solidFill>
                  <a:srgbClr val="231F20"/>
                </a:solidFill>
                <a:latin typeface="Calibri" pitchFamily="34" charset="0"/>
                <a:ea typeface="Calibri" pitchFamily="34" charset="-122"/>
                <a:cs typeface="Calibri" pitchFamily="34" charset="-120"/>
              </a:rPr>
              <a:t>Part de population mesurée</a:t>
            </a:r>
            <a:endParaRPr lang="en-US" sz="1350" dirty="0"/>
          </a:p>
        </p:txBody>
      </p:sp>
      <p:sp>
        <p:nvSpPr>
          <p:cNvPr id="28" name="Shape 23"/>
          <p:cNvSpPr/>
          <p:nvPr/>
        </p:nvSpPr>
        <p:spPr>
          <a:xfrm>
            <a:off x="5394960" y="1810512"/>
            <a:ext cx="3154680" cy="292608"/>
          </a:xfrm>
          <a:prstGeom prst="roundRect">
            <a:avLst>
              <a:gd name="adj" fmla="val 18750"/>
            </a:avLst>
          </a:prstGeom>
          <a:solidFill>
            <a:srgbClr val="FFFFFF"/>
          </a:solidFill>
          <a:ln w="6350">
            <a:solidFill>
              <a:srgbClr val="D5DED9"/>
            </a:solidFill>
            <a:prstDash val="solid"/>
          </a:ln>
        </p:spPr>
      </p:sp>
      <p:sp>
        <p:nvSpPr>
          <p:cNvPr id="29" name="Text 24"/>
          <p:cNvSpPr txBox="1"/>
          <p:nvPr/>
        </p:nvSpPr>
        <p:spPr>
          <a:xfrm>
            <a:off x="5486400" y="1810512"/>
            <a:ext cx="3017520" cy="292608"/>
          </a:xfrm>
          <a:prstGeom prst="rect">
            <a:avLst/>
          </a:prstGeom>
          <a:noFill/>
          <a:ln/>
        </p:spPr>
        <p:txBody>
          <a:bodyPr wrap="square" lIns="0" tIns="0" rIns="0" bIns="0" rtlCol="0" anchor="ctr"/>
          <a:lstStyle/>
          <a:p>
            <a:pPr marL="0" indent="0">
              <a:buNone/>
            </a:pPr>
            <a:r>
              <a:rPr lang="en-US" sz="1000" b="1" dirty="0">
                <a:solidFill>
                  <a:srgbClr val="0E7C86"/>
                </a:solidFill>
                <a:latin typeface="Courier New" pitchFamily="34" charset="0"/>
                <a:ea typeface="Courier New" pitchFamily="34" charset="-122"/>
                <a:cs typeface="Courier New" pitchFamily="34" charset="-120"/>
              </a:rPr>
              <a:t>pop des tuiles mesurées / pop totale</a:t>
            </a:r>
            <a:endParaRPr lang="en-US" sz="1000" dirty="0"/>
          </a:p>
        </p:txBody>
      </p:sp>
      <p:sp>
        <p:nvSpPr>
          <p:cNvPr id="30" name="Text 25"/>
          <p:cNvSpPr txBox="1"/>
          <p:nvPr/>
        </p:nvSpPr>
        <p:spPr>
          <a:xfrm>
            <a:off x="5394960" y="2176272"/>
            <a:ext cx="3200400" cy="384048"/>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La part de la région que le débit représente réellement.</a:t>
            </a:r>
            <a:endParaRPr lang="en-US" sz="1050" dirty="0"/>
          </a:p>
        </p:txBody>
      </p:sp>
      <p:sp>
        <p:nvSpPr>
          <p:cNvPr id="31" name="Shape 26"/>
          <p:cNvSpPr/>
          <p:nvPr/>
        </p:nvSpPr>
        <p:spPr>
          <a:xfrm>
            <a:off x="457200" y="2761488"/>
            <a:ext cx="4023360" cy="1234440"/>
          </a:xfrm>
          <a:prstGeom prst="roundRect">
            <a:avLst>
              <a:gd name="adj" fmla="val 5926"/>
            </a:avLst>
          </a:prstGeom>
          <a:solidFill>
            <a:srgbClr val="F4F7F5"/>
          </a:solidFill>
          <a:ln w="9525">
            <a:solidFill>
              <a:srgbClr val="D5DED9"/>
            </a:solidFill>
            <a:prstDash val="solid"/>
          </a:ln>
        </p:spPr>
      </p:sp>
      <p:sp>
        <p:nvSpPr>
          <p:cNvPr id="32" name="Shape 27"/>
          <p:cNvSpPr/>
          <p:nvPr/>
        </p:nvSpPr>
        <p:spPr>
          <a:xfrm>
            <a:off x="594360" y="2898648"/>
            <a:ext cx="457200" cy="457200"/>
          </a:xfrm>
          <a:prstGeom prst="ellipse">
            <a:avLst/>
          </a:prstGeom>
          <a:solidFill>
            <a:srgbClr val="D49A00">
              <a:alpha val="22000"/>
            </a:srgbClr>
          </a:solidFill>
          <a:ln/>
        </p:spPr>
      </p:sp>
      <p:pic>
        <p:nvPicPr>
          <p:cNvPr id="33" name="Image 2" descr="preencoded.png"/>
          <p:cNvPicPr>
            <a:picLocks noChangeAspect="1"/>
          </p:cNvPicPr>
          <p:nvPr/>
        </p:nvPicPr>
        <p:blipFill>
          <a:blip r:embed="rId5"/>
          <a:stretch>
            <a:fillRect/>
          </a:stretch>
        </p:blipFill>
        <p:spPr>
          <a:xfrm>
            <a:off x="704088" y="3008376"/>
            <a:ext cx="237744" cy="237744"/>
          </a:xfrm>
          <a:prstGeom prst="rect">
            <a:avLst/>
          </a:prstGeom>
        </p:spPr>
      </p:pic>
      <p:sp>
        <p:nvSpPr>
          <p:cNvPr id="34" name="Text 28"/>
          <p:cNvSpPr txBox="1"/>
          <p:nvPr/>
        </p:nvSpPr>
        <p:spPr>
          <a:xfrm>
            <a:off x="1188720" y="2889504"/>
            <a:ext cx="3200400" cy="256032"/>
          </a:xfrm>
          <a:prstGeom prst="rect">
            <a:avLst/>
          </a:prstGeom>
          <a:noFill/>
          <a:ln/>
        </p:spPr>
        <p:txBody>
          <a:bodyPr wrap="square" lIns="0" tIns="0" rIns="0" bIns="0" rtlCol="0" anchor="t"/>
          <a:lstStyle/>
          <a:p>
            <a:pPr marL="0" indent="0">
              <a:buNone/>
            </a:pPr>
            <a:r>
              <a:rPr lang="en-US" sz="1350" b="1" dirty="0">
                <a:solidFill>
                  <a:srgbClr val="231F20"/>
                </a:solidFill>
                <a:latin typeface="Calibri" pitchFamily="34" charset="0"/>
                <a:ea typeface="Calibri" pitchFamily="34" charset="-122"/>
                <a:cs typeface="Calibri" pitchFamily="34" charset="-120"/>
              </a:rPr>
              <a:t>Part de la population au-dessus d’un seuil</a:t>
            </a:r>
            <a:endParaRPr lang="en-US" sz="1350" dirty="0"/>
          </a:p>
        </p:txBody>
      </p:sp>
      <p:sp>
        <p:nvSpPr>
          <p:cNvPr id="35" name="Shape 29"/>
          <p:cNvSpPr/>
          <p:nvPr/>
        </p:nvSpPr>
        <p:spPr>
          <a:xfrm>
            <a:off x="1188720" y="3200400"/>
            <a:ext cx="3154680" cy="292608"/>
          </a:xfrm>
          <a:prstGeom prst="roundRect">
            <a:avLst>
              <a:gd name="adj" fmla="val 18750"/>
            </a:avLst>
          </a:prstGeom>
          <a:solidFill>
            <a:srgbClr val="FFFFFF"/>
          </a:solidFill>
          <a:ln w="6350">
            <a:solidFill>
              <a:srgbClr val="D5DED9"/>
            </a:solidFill>
            <a:prstDash val="solid"/>
          </a:ln>
        </p:spPr>
      </p:sp>
      <p:sp>
        <p:nvSpPr>
          <p:cNvPr id="36" name="Text 30"/>
          <p:cNvSpPr txBox="1"/>
          <p:nvPr/>
        </p:nvSpPr>
        <p:spPr>
          <a:xfrm>
            <a:off x="1280160" y="3200400"/>
            <a:ext cx="3017520" cy="292608"/>
          </a:xfrm>
          <a:prstGeom prst="rect">
            <a:avLst/>
          </a:prstGeom>
          <a:noFill/>
          <a:ln/>
        </p:spPr>
        <p:txBody>
          <a:bodyPr wrap="square" lIns="0" tIns="0" rIns="0" bIns="0" rtlCol="0" anchor="ctr"/>
          <a:lstStyle/>
          <a:p>
            <a:pPr marL="0" indent="0">
              <a:buNone/>
            </a:pPr>
            <a:r>
              <a:rPr lang="en-US" sz="1000" b="1" dirty="0">
                <a:solidFill>
                  <a:srgbClr val="D49A00"/>
                </a:solidFill>
                <a:latin typeface="Courier New" pitchFamily="34" charset="0"/>
                <a:ea typeface="Courier New" pitchFamily="34" charset="-122"/>
                <a:cs typeface="Courier New" pitchFamily="34" charset="-120"/>
              </a:rPr>
              <a:t>pop des tuiles ≥ X Mbps / pop totale</a:t>
            </a:r>
            <a:endParaRPr lang="en-US" sz="1000" dirty="0"/>
          </a:p>
        </p:txBody>
      </p:sp>
      <p:sp>
        <p:nvSpPr>
          <p:cNvPr id="37" name="Text 31"/>
          <p:cNvSpPr txBox="1"/>
          <p:nvPr/>
        </p:nvSpPr>
        <p:spPr>
          <a:xfrm>
            <a:off x="1188720" y="3566160"/>
            <a:ext cx="3200400" cy="384048"/>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Facile à communiquer. X est un choix politique : l’annoncer.</a:t>
            </a:r>
            <a:endParaRPr lang="en-US" sz="1050" dirty="0"/>
          </a:p>
        </p:txBody>
      </p:sp>
      <p:sp>
        <p:nvSpPr>
          <p:cNvPr id="38" name="Shape 32"/>
          <p:cNvSpPr/>
          <p:nvPr/>
        </p:nvSpPr>
        <p:spPr>
          <a:xfrm>
            <a:off x="4663440" y="2761488"/>
            <a:ext cx="4023360" cy="1234440"/>
          </a:xfrm>
          <a:prstGeom prst="roundRect">
            <a:avLst>
              <a:gd name="adj" fmla="val 5926"/>
            </a:avLst>
          </a:prstGeom>
          <a:solidFill>
            <a:srgbClr val="F4F7F5"/>
          </a:solidFill>
          <a:ln w="9525">
            <a:solidFill>
              <a:srgbClr val="D5DED9"/>
            </a:solidFill>
            <a:prstDash val="solid"/>
          </a:ln>
        </p:spPr>
      </p:sp>
      <p:sp>
        <p:nvSpPr>
          <p:cNvPr id="39" name="Shape 33"/>
          <p:cNvSpPr/>
          <p:nvPr/>
        </p:nvSpPr>
        <p:spPr>
          <a:xfrm>
            <a:off x="4800600" y="2898648"/>
            <a:ext cx="457200" cy="457200"/>
          </a:xfrm>
          <a:prstGeom prst="ellipse">
            <a:avLst/>
          </a:prstGeom>
          <a:solidFill>
            <a:srgbClr val="00704A">
              <a:alpha val="22000"/>
            </a:srgbClr>
          </a:solidFill>
          <a:ln/>
        </p:spPr>
      </p:sp>
      <p:pic>
        <p:nvPicPr>
          <p:cNvPr id="40" name="Image 3" descr="preencoded.png"/>
          <p:cNvPicPr>
            <a:picLocks noChangeAspect="1"/>
          </p:cNvPicPr>
          <p:nvPr/>
        </p:nvPicPr>
        <p:blipFill>
          <a:blip r:embed="rId6"/>
          <a:stretch>
            <a:fillRect/>
          </a:stretch>
        </p:blipFill>
        <p:spPr>
          <a:xfrm>
            <a:off x="4910328" y="3008376"/>
            <a:ext cx="237744" cy="237744"/>
          </a:xfrm>
          <a:prstGeom prst="rect">
            <a:avLst/>
          </a:prstGeom>
        </p:spPr>
      </p:pic>
      <p:sp>
        <p:nvSpPr>
          <p:cNvPr id="41" name="Text 34"/>
          <p:cNvSpPr txBox="1"/>
          <p:nvPr/>
        </p:nvSpPr>
        <p:spPr>
          <a:xfrm>
            <a:off x="5394960" y="2889504"/>
            <a:ext cx="3200400" cy="256032"/>
          </a:xfrm>
          <a:prstGeom prst="rect">
            <a:avLst/>
          </a:prstGeom>
          <a:noFill/>
          <a:ln/>
        </p:spPr>
        <p:txBody>
          <a:bodyPr wrap="square" lIns="0" tIns="0" rIns="0" bIns="0" rtlCol="0" anchor="t"/>
          <a:lstStyle/>
          <a:p>
            <a:pPr marL="0" indent="0">
              <a:buNone/>
            </a:pPr>
            <a:r>
              <a:rPr lang="en-US" sz="1350" b="1" dirty="0">
                <a:solidFill>
                  <a:srgbClr val="231F20"/>
                </a:solidFill>
                <a:latin typeface="Calibri" pitchFamily="34" charset="0"/>
                <a:ea typeface="Calibri" pitchFamily="34" charset="-122"/>
                <a:cs typeface="Calibri" pitchFamily="34" charset="-120"/>
              </a:rPr>
              <a:t>Évolution entre trimestres</a:t>
            </a:r>
            <a:endParaRPr lang="en-US" sz="1350" dirty="0"/>
          </a:p>
        </p:txBody>
      </p:sp>
      <p:sp>
        <p:nvSpPr>
          <p:cNvPr id="42" name="Shape 35"/>
          <p:cNvSpPr/>
          <p:nvPr/>
        </p:nvSpPr>
        <p:spPr>
          <a:xfrm>
            <a:off x="5394960" y="3200400"/>
            <a:ext cx="3154680" cy="292608"/>
          </a:xfrm>
          <a:prstGeom prst="roundRect">
            <a:avLst>
              <a:gd name="adj" fmla="val 18750"/>
            </a:avLst>
          </a:prstGeom>
          <a:solidFill>
            <a:srgbClr val="FFFFFF"/>
          </a:solidFill>
          <a:ln w="6350">
            <a:solidFill>
              <a:srgbClr val="D5DED9"/>
            </a:solidFill>
            <a:prstDash val="solid"/>
          </a:ln>
        </p:spPr>
      </p:sp>
      <p:sp>
        <p:nvSpPr>
          <p:cNvPr id="43" name="Text 36"/>
          <p:cNvSpPr txBox="1"/>
          <p:nvPr/>
        </p:nvSpPr>
        <p:spPr>
          <a:xfrm>
            <a:off x="5486400" y="3200400"/>
            <a:ext cx="3017520" cy="292608"/>
          </a:xfrm>
          <a:prstGeom prst="rect">
            <a:avLst/>
          </a:prstGeom>
          <a:noFill/>
          <a:ln/>
        </p:spPr>
        <p:txBody>
          <a:bodyPr wrap="square" lIns="0" tIns="0" rIns="0" bIns="0" rtlCol="0" anchor="ctr"/>
          <a:lstStyle/>
          <a:p>
            <a:pPr marL="0" indent="0">
              <a:buNone/>
            </a:pPr>
            <a:r>
              <a:rPr lang="en-US" sz="1000" b="1" dirty="0">
                <a:solidFill>
                  <a:srgbClr val="00704A"/>
                </a:solidFill>
                <a:latin typeface="Courier New" pitchFamily="34" charset="0"/>
                <a:ea typeface="Courier New" pitchFamily="34" charset="-122"/>
                <a:cs typeface="Courier New" pitchFamily="34" charset="-120"/>
              </a:rPr>
              <a:t>indicateur(t) − indicateur(t−4)</a:t>
            </a:r>
            <a:endParaRPr lang="en-US" sz="1000" dirty="0"/>
          </a:p>
        </p:txBody>
      </p:sp>
      <p:sp>
        <p:nvSpPr>
          <p:cNvPr id="44" name="Text 37"/>
          <p:cNvSpPr txBox="1"/>
          <p:nvPr/>
        </p:nvSpPr>
        <p:spPr>
          <a:xfrm>
            <a:off x="5394960" y="3566160"/>
            <a:ext cx="3200400" cy="384048"/>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Sur un an, même trimestre, mêmes règles, jointure par quadkey.</a:t>
            </a:r>
            <a:endParaRPr lang="en-US" sz="1050" dirty="0"/>
          </a:p>
        </p:txBody>
      </p:sp>
      <p:sp>
        <p:nvSpPr>
          <p:cNvPr id="45" name="Shape 38"/>
          <p:cNvSpPr/>
          <p:nvPr/>
        </p:nvSpPr>
        <p:spPr>
          <a:xfrm>
            <a:off x="457200" y="4160520"/>
            <a:ext cx="8229600" cy="347472"/>
          </a:xfrm>
          <a:prstGeom prst="roundRect">
            <a:avLst>
              <a:gd name="adj" fmla="val 21053"/>
            </a:avLst>
          </a:prstGeom>
          <a:solidFill>
            <a:srgbClr val="FFFFFF"/>
          </a:solidFill>
          <a:ln w="9525">
            <a:solidFill>
              <a:srgbClr val="00704A"/>
            </a:solidFill>
            <a:prstDash val="solid"/>
          </a:ln>
        </p:spPr>
      </p:sp>
      <p:sp>
        <p:nvSpPr>
          <p:cNvPr id="46" name="Text 39"/>
          <p:cNvSpPr txBox="1"/>
          <p:nvPr/>
        </p:nvSpPr>
        <p:spPr>
          <a:xfrm>
            <a:off x="594360" y="4160520"/>
            <a:ext cx="8046720" cy="347472"/>
          </a:xfrm>
          <a:prstGeom prst="rect">
            <a:avLst/>
          </a:prstGeom>
          <a:noFill/>
          <a:ln/>
        </p:spPr>
        <p:txBody>
          <a:bodyPr wrap="square" lIns="0" tIns="0" rIns="0" bIns="0" rtlCol="0" anchor="ctr"/>
          <a:lstStyle/>
          <a:p>
            <a:pPr marL="0" indent="0">
              <a:buNone/>
            </a:pPr>
            <a:r>
              <a:rPr lang="en-US" sz="1050" b="1" dirty="0">
                <a:solidFill>
                  <a:srgbClr val="00704A"/>
                </a:solidFill>
                <a:latin typeface="Calibri" pitchFamily="34" charset="0"/>
                <a:ea typeface="Calibri" pitchFamily="34" charset="-122"/>
                <a:cs typeface="Calibri" pitchFamily="34" charset="-120"/>
              </a:rPr>
              <a:t>Toujours préciser : </a:t>
            </a:r>
            <a:r>
              <a:rPr lang="en-US" sz="1050" dirty="0">
                <a:solidFill>
                  <a:srgbClr val="231F20"/>
                </a:solidFill>
                <a:latin typeface="Calibri" pitchFamily="34" charset="0"/>
                <a:ea typeface="Calibri" pitchFamily="34" charset="-122"/>
                <a:cs typeface="Calibri" pitchFamily="34" charset="-120"/>
              </a:rPr>
              <a:t>couche (mobile / fixe) · trimestre · date d’accès · minimum de tests et d’appareils · version et année WorldPop</a:t>
            </a:r>
            <a:endParaRPr lang="en-US" sz="1050" dirty="0"/>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p:spPr>
      </p:sp>
      <p:sp>
        <p:nvSpPr>
          <p:cNvPr id="3" name="Text 1"/>
          <p:cNvSpPr txBox="1"/>
          <p:nvPr/>
        </p:nvSpPr>
        <p:spPr>
          <a:xfrm>
            <a:off x="548640" y="822960"/>
            <a:ext cx="3657600" cy="228600"/>
          </a:xfrm>
          <a:prstGeom prst="rect">
            <a:avLst/>
          </a:prstGeom>
          <a:noFill/>
          <a:ln/>
        </p:spPr>
        <p:txBody>
          <a:bodyPr wrap="square" lIns="0" tIns="0" rIns="0" bIns="0" rtlCol="0" anchor="t"/>
          <a:lstStyle/>
          <a:p>
            <a:pPr marL="0" indent="0">
              <a:buNone/>
            </a:pPr>
            <a:r>
              <a:rPr lang="en-US" sz="1100" b="1" kern="0" spc="300" dirty="0">
                <a:solidFill>
                  <a:srgbClr val="F5C242"/>
                </a:solidFill>
                <a:latin typeface="Calibri" pitchFamily="34" charset="0"/>
                <a:ea typeface="Calibri" pitchFamily="34" charset="-122"/>
                <a:cs typeface="Calibri" pitchFamily="34" charset="-120"/>
              </a:rPr>
              <a:t>SECTION 05</a:t>
            </a:r>
            <a:endParaRPr lang="en-US" sz="1100" dirty="0"/>
          </a:p>
        </p:txBody>
      </p:sp>
      <p:sp>
        <p:nvSpPr>
          <p:cNvPr id="4" name="Text 2"/>
          <p:cNvSpPr txBox="1"/>
          <p:nvPr/>
        </p:nvSpPr>
        <p:spPr>
          <a:xfrm>
            <a:off x="502920" y="1051560"/>
            <a:ext cx="2743200" cy="1234440"/>
          </a:xfrm>
          <a:prstGeom prst="rect">
            <a:avLst/>
          </a:prstGeom>
          <a:noFill/>
          <a:ln/>
        </p:spPr>
        <p:txBody>
          <a:bodyPr wrap="square" lIns="0" tIns="0" rIns="0" bIns="0" rtlCol="0" anchor="ctr"/>
          <a:lstStyle/>
          <a:p>
            <a:pPr marL="0" indent="0">
              <a:buNone/>
            </a:pPr>
            <a:r>
              <a:rPr lang="en-US" sz="9600" b="1" dirty="0">
                <a:solidFill>
                  <a:srgbClr val="F5C242"/>
                </a:solidFill>
                <a:latin typeface="Calibri" pitchFamily="34" charset="0"/>
                <a:ea typeface="Calibri" pitchFamily="34" charset="-122"/>
                <a:cs typeface="Calibri" pitchFamily="34" charset="-120"/>
              </a:rPr>
              <a:t>05</a:t>
            </a:r>
            <a:endParaRPr lang="en-US" sz="9600" dirty="0"/>
          </a:p>
        </p:txBody>
      </p:sp>
      <p:sp>
        <p:nvSpPr>
          <p:cNvPr id="5" name="Text 3"/>
          <p:cNvSpPr txBox="1"/>
          <p:nvPr/>
        </p:nvSpPr>
        <p:spPr>
          <a:xfrm>
            <a:off x="548640" y="2286000"/>
            <a:ext cx="5212080" cy="1051560"/>
          </a:xfrm>
          <a:prstGeom prst="rect">
            <a:avLst/>
          </a:prstGeom>
          <a:noFill/>
          <a:ln/>
        </p:spPr>
        <p:txBody>
          <a:bodyPr wrap="square" lIns="0" tIns="0" rIns="0" bIns="0" rtlCol="0" anchor="t"/>
          <a:lstStyle/>
          <a:p>
            <a:pPr marL="0" indent="0">
              <a:buNone/>
            </a:pPr>
            <a:r>
              <a:rPr lang="en-US" sz="3200" b="1" dirty="0">
                <a:solidFill>
                  <a:srgbClr val="FFFFFF"/>
                </a:solidFill>
                <a:latin typeface="Calibri" pitchFamily="34" charset="0"/>
                <a:ea typeface="Calibri" pitchFamily="34" charset="-122"/>
                <a:cs typeface="Calibri" pitchFamily="34" charset="-120"/>
              </a:rPr>
              <a:t>Lire les signaux</a:t>
            </a:r>
            <a:endParaRPr lang="en-US" sz="3200" dirty="0"/>
          </a:p>
        </p:txBody>
      </p:sp>
      <p:sp>
        <p:nvSpPr>
          <p:cNvPr id="6" name="Text 4"/>
          <p:cNvSpPr txBox="1"/>
          <p:nvPr/>
        </p:nvSpPr>
        <p:spPr>
          <a:xfrm>
            <a:off x="548640" y="3493008"/>
            <a:ext cx="4937760" cy="640080"/>
          </a:xfrm>
          <a:prstGeom prst="rect">
            <a:avLst/>
          </a:prstGeom>
          <a:noFill/>
          <a:ln/>
        </p:spPr>
        <p:txBody>
          <a:bodyPr wrap="square" lIns="0" tIns="0" rIns="0" bIns="0" rtlCol="0" anchor="t"/>
          <a:lstStyle/>
          <a:p>
            <a:pPr marL="0" indent="0">
              <a:buNone/>
            </a:pPr>
            <a:r>
              <a:rPr lang="en-US" sz="1600" i="1" dirty="0">
                <a:solidFill>
                  <a:srgbClr val="E6F6EE"/>
                </a:solidFill>
                <a:latin typeface="Calibri" pitchFamily="34" charset="0"/>
                <a:ea typeface="Calibri" pitchFamily="34" charset="-122"/>
                <a:cs typeface="Calibri" pitchFamily="34" charset="-120"/>
              </a:rPr>
              <a:t>Que montrent les tuiles qu’une moyenne nationale cache ?</a:t>
            </a:r>
            <a:endParaRPr lang="en-US" sz="1600" dirty="0"/>
          </a:p>
        </p:txBody>
      </p:sp>
      <p:sp>
        <p:nvSpPr>
          <p:cNvPr id="7" name="Shape 5"/>
          <p:cNvSpPr/>
          <p:nvPr/>
        </p:nvSpPr>
        <p:spPr>
          <a:xfrm>
            <a:off x="5989320" y="960120"/>
            <a:ext cx="2651760" cy="2651760"/>
          </a:xfrm>
          <a:prstGeom prst="ellipse">
            <a:avLst/>
          </a:prstGeom>
          <a:solidFill>
            <a:srgbClr val="FFFFFF">
              <a:alpha val="10000"/>
            </a:srgbClr>
          </a:solidFill>
          <a:ln/>
        </p:spPr>
      </p:sp>
      <p:sp>
        <p:nvSpPr>
          <p:cNvPr id="8" name="Shape 6"/>
          <p:cNvSpPr/>
          <p:nvPr/>
        </p:nvSpPr>
        <p:spPr>
          <a:xfrm>
            <a:off x="6309360" y="1280160"/>
            <a:ext cx="2011680" cy="2011680"/>
          </a:xfrm>
          <a:prstGeom prst="ellipse">
            <a:avLst/>
          </a:prstGeom>
          <a:solidFill>
            <a:srgbClr val="FFFFFF">
              <a:alpha val="18000"/>
            </a:srgbClr>
          </a:solidFill>
          <a:ln/>
        </p:spPr>
      </p:sp>
      <p:sp>
        <p:nvSpPr>
          <p:cNvPr id="9" name="Shape 7"/>
          <p:cNvSpPr/>
          <p:nvPr/>
        </p:nvSpPr>
        <p:spPr>
          <a:xfrm>
            <a:off x="6629400" y="1600200"/>
            <a:ext cx="1371600" cy="1371600"/>
          </a:xfrm>
          <a:prstGeom prst="ellipse">
            <a:avLst/>
          </a:prstGeom>
          <a:solidFill>
            <a:srgbClr val="FFFFFF"/>
          </a:solidFill>
          <a:ln/>
        </p:spPr>
      </p:sp>
      <p:pic>
        <p:nvPicPr>
          <p:cNvPr id="10" name="Image 0" descr="preencoded.png"/>
          <p:cNvPicPr>
            <a:picLocks noChangeAspect="1"/>
          </p:cNvPicPr>
          <p:nvPr/>
        </p:nvPicPr>
        <p:blipFill>
          <a:blip r:embed="rId4"/>
          <a:stretch>
            <a:fillRect/>
          </a:stretch>
        </p:blipFill>
        <p:spPr>
          <a:xfrm>
            <a:off x="6995160" y="1965960"/>
            <a:ext cx="640080" cy="640080"/>
          </a:xfrm>
          <a:prstGeom prst="rect">
            <a:avLst/>
          </a:prstGeom>
        </p:spPr>
      </p:pic>
      <p:sp>
        <p:nvSpPr>
          <p:cNvPr id="11" name="Shape 8"/>
          <p:cNvSpPr/>
          <p:nvPr/>
        </p:nvSpPr>
        <p:spPr>
          <a:xfrm>
            <a:off x="566928" y="4315968"/>
            <a:ext cx="118872" cy="118872"/>
          </a:xfrm>
          <a:prstGeom prst="ellipse">
            <a:avLst/>
          </a:prstGeom>
          <a:solidFill>
            <a:srgbClr val="FFFFFF">
              <a:alpha val="40000"/>
            </a:srgbClr>
          </a:solidFill>
          <a:ln/>
        </p:spPr>
      </p:sp>
      <p:sp>
        <p:nvSpPr>
          <p:cNvPr id="12" name="Shape 9"/>
          <p:cNvSpPr/>
          <p:nvPr/>
        </p:nvSpPr>
        <p:spPr>
          <a:xfrm>
            <a:off x="804672" y="4315968"/>
            <a:ext cx="118872" cy="118872"/>
          </a:xfrm>
          <a:prstGeom prst="ellipse">
            <a:avLst/>
          </a:prstGeom>
          <a:solidFill>
            <a:srgbClr val="FFFFFF">
              <a:alpha val="40000"/>
            </a:srgbClr>
          </a:solidFill>
          <a:ln/>
        </p:spPr>
      </p:sp>
      <p:sp>
        <p:nvSpPr>
          <p:cNvPr id="13" name="Shape 10"/>
          <p:cNvSpPr/>
          <p:nvPr/>
        </p:nvSpPr>
        <p:spPr>
          <a:xfrm>
            <a:off x="1042416" y="4315968"/>
            <a:ext cx="118872" cy="118872"/>
          </a:xfrm>
          <a:prstGeom prst="ellipse">
            <a:avLst/>
          </a:prstGeom>
          <a:solidFill>
            <a:srgbClr val="FFFFFF">
              <a:alpha val="40000"/>
            </a:srgbClr>
          </a:solidFill>
          <a:ln/>
        </p:spPr>
      </p:sp>
      <p:sp>
        <p:nvSpPr>
          <p:cNvPr id="14" name="Shape 11"/>
          <p:cNvSpPr/>
          <p:nvPr/>
        </p:nvSpPr>
        <p:spPr>
          <a:xfrm>
            <a:off x="1280160" y="4315968"/>
            <a:ext cx="118872" cy="118872"/>
          </a:xfrm>
          <a:prstGeom prst="ellipse">
            <a:avLst/>
          </a:prstGeom>
          <a:solidFill>
            <a:srgbClr val="FFFFFF">
              <a:alpha val="40000"/>
            </a:srgbClr>
          </a:solidFill>
          <a:ln/>
        </p:spPr>
      </p:sp>
      <p:sp>
        <p:nvSpPr>
          <p:cNvPr id="15" name="Shape 12"/>
          <p:cNvSpPr/>
          <p:nvPr/>
        </p:nvSpPr>
        <p:spPr>
          <a:xfrm>
            <a:off x="1517904" y="4315968"/>
            <a:ext cx="118872" cy="118872"/>
          </a:xfrm>
          <a:prstGeom prst="ellipse">
            <a:avLst/>
          </a:prstGeom>
          <a:solidFill>
            <a:srgbClr val="F5C242"/>
          </a:solidFill>
          <a:ln/>
        </p:spPr>
      </p:sp>
      <p:sp>
        <p:nvSpPr>
          <p:cNvPr id="16" name="Shape 13"/>
          <p:cNvSpPr/>
          <p:nvPr/>
        </p:nvSpPr>
        <p:spPr>
          <a:xfrm>
            <a:off x="1755648" y="4315968"/>
            <a:ext cx="118872" cy="118872"/>
          </a:xfrm>
          <a:prstGeom prst="ellipse">
            <a:avLst/>
          </a:prstGeom>
          <a:solidFill>
            <a:srgbClr val="FFFFFF">
              <a:alpha val="40000"/>
            </a:srgbClr>
          </a:solidFill>
          <a:ln/>
        </p:spPr>
      </p:sp>
      <p:sp>
        <p:nvSpPr>
          <p:cNvPr id="17" name="Text 14"/>
          <p:cNvSpPr txBox="1"/>
          <p:nvPr/>
        </p:nvSpPr>
        <p:spPr>
          <a:xfrm>
            <a:off x="8138160" y="4754880"/>
            <a:ext cx="548640" cy="182880"/>
          </a:xfrm>
          <a:prstGeom prst="rect">
            <a:avLst/>
          </a:prstGeom>
          <a:noFill/>
          <a:ln/>
        </p:spPr>
        <p:txBody>
          <a:bodyPr wrap="square" lIns="0" tIns="0" rIns="0" bIns="0" rtlCol="0" anchor="t"/>
          <a:lstStyle/>
          <a:p>
            <a:pPr marL="0" indent="0" algn="r">
              <a:buNone/>
            </a:pPr>
            <a:r>
              <a:rPr lang="en-US" sz="850" dirty="0">
                <a:solidFill>
                  <a:srgbClr val="E6F6EE"/>
                </a:solidFill>
                <a:latin typeface="Calibri" pitchFamily="34" charset="0"/>
                <a:ea typeface="Calibri" pitchFamily="34" charset="-122"/>
                <a:cs typeface="Calibri" pitchFamily="34" charset="-120"/>
              </a:rPr>
              <a:t>25</a:t>
            </a:r>
            <a:endParaRPr lang="en-US" sz="850" dirty="0"/>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05 · QUATRE SIGNAUX</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marL="0" indent="0">
              <a:buNone/>
            </a:pPr>
            <a:r>
              <a:rPr lang="en-US" sz="2300" b="1" dirty="0">
                <a:solidFill>
                  <a:srgbClr val="231F20"/>
                </a:solidFill>
                <a:latin typeface="Calibri" pitchFamily="34" charset="0"/>
                <a:ea typeface="Calibri" pitchFamily="34" charset="-122"/>
                <a:cs typeface="Calibri" pitchFamily="34" charset="-120"/>
              </a:rPr>
              <a:t>Quatre motifs à rechercher dans vos résultats</a:t>
            </a:r>
            <a:endParaRPr lang="en-US" sz="23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5DED9"/>
          </a:solidFill>
          <a:ln/>
        </p:spPr>
      </p:sp>
      <p:sp>
        <p:nvSpPr>
          <p:cNvPr id="12" name="Shape 10"/>
          <p:cNvSpPr/>
          <p:nvPr/>
        </p:nvSpPr>
        <p:spPr>
          <a:xfrm>
            <a:off x="8321040" y="310896"/>
            <a:ext cx="91440" cy="91440"/>
          </a:xfrm>
          <a:prstGeom prst="ellipse">
            <a:avLst/>
          </a:prstGeom>
          <a:solidFill>
            <a:srgbClr val="C4621D"/>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BAD – Data Innovation for Africa (DI4A)  ·  Ookla Open Data et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26</a:t>
            </a:r>
            <a:endParaRPr lang="en-US" sz="850" dirty="0"/>
          </a:p>
        </p:txBody>
      </p:sp>
      <p:sp>
        <p:nvSpPr>
          <p:cNvPr id="17" name="Shape 14"/>
          <p:cNvSpPr/>
          <p:nvPr/>
        </p:nvSpPr>
        <p:spPr>
          <a:xfrm>
            <a:off x="457200" y="1371600"/>
            <a:ext cx="4023360" cy="1417320"/>
          </a:xfrm>
          <a:prstGeom prst="roundRect">
            <a:avLst>
              <a:gd name="adj" fmla="val 5161"/>
            </a:avLst>
          </a:prstGeom>
          <a:solidFill>
            <a:srgbClr val="F4F7F5"/>
          </a:solidFill>
          <a:ln w="9525">
            <a:solidFill>
              <a:srgbClr val="D5DED9"/>
            </a:solidFill>
            <a:prstDash val="solid"/>
          </a:ln>
        </p:spPr>
      </p:sp>
      <p:sp>
        <p:nvSpPr>
          <p:cNvPr id="18" name="Text 15"/>
          <p:cNvSpPr txBox="1"/>
          <p:nvPr/>
        </p:nvSpPr>
        <p:spPr>
          <a:xfrm>
            <a:off x="621792" y="1481328"/>
            <a:ext cx="365760" cy="457200"/>
          </a:xfrm>
          <a:prstGeom prst="rect">
            <a:avLst/>
          </a:prstGeom>
          <a:noFill/>
          <a:ln/>
        </p:spPr>
        <p:txBody>
          <a:bodyPr wrap="square" lIns="0" tIns="0" rIns="0" bIns="0" rtlCol="0" anchor="t"/>
          <a:lstStyle/>
          <a:p>
            <a:pPr marL="0" indent="0">
              <a:buNone/>
            </a:pPr>
            <a:r>
              <a:rPr lang="en-US" sz="2800" b="1" dirty="0">
                <a:solidFill>
                  <a:srgbClr val="C4621D"/>
                </a:solidFill>
                <a:latin typeface="Calibri" pitchFamily="34" charset="0"/>
                <a:ea typeface="Calibri" pitchFamily="34" charset="-122"/>
                <a:cs typeface="Calibri" pitchFamily="34" charset="-120"/>
              </a:rPr>
              <a:t>1</a:t>
            </a:r>
            <a:endParaRPr lang="en-US" sz="2800" dirty="0"/>
          </a:p>
        </p:txBody>
      </p:sp>
      <p:sp>
        <p:nvSpPr>
          <p:cNvPr id="19" name="Shape 16"/>
          <p:cNvSpPr/>
          <p:nvPr/>
        </p:nvSpPr>
        <p:spPr>
          <a:xfrm>
            <a:off x="3886200" y="1508760"/>
            <a:ext cx="438912" cy="438912"/>
          </a:xfrm>
          <a:prstGeom prst="ellipse">
            <a:avLst/>
          </a:prstGeom>
          <a:solidFill>
            <a:srgbClr val="C4621D">
              <a:alpha val="22000"/>
            </a:srgbClr>
          </a:solidFill>
          <a:ln/>
        </p:spPr>
      </p:sp>
      <p:pic>
        <p:nvPicPr>
          <p:cNvPr id="20" name="Image 0" descr="preencoded.png"/>
          <p:cNvPicPr>
            <a:picLocks noChangeAspect="1"/>
          </p:cNvPicPr>
          <p:nvPr/>
        </p:nvPicPr>
        <p:blipFill>
          <a:blip r:embed="rId3"/>
          <a:stretch>
            <a:fillRect/>
          </a:stretch>
        </p:blipFill>
        <p:spPr>
          <a:xfrm>
            <a:off x="3991539" y="1614099"/>
            <a:ext cx="228234" cy="228234"/>
          </a:xfrm>
          <a:prstGeom prst="rect">
            <a:avLst/>
          </a:prstGeom>
        </p:spPr>
      </p:pic>
      <p:sp>
        <p:nvSpPr>
          <p:cNvPr id="21" name="Text 17"/>
          <p:cNvSpPr txBox="1"/>
          <p:nvPr/>
        </p:nvSpPr>
        <p:spPr>
          <a:xfrm>
            <a:off x="1051560" y="1554480"/>
            <a:ext cx="2651760" cy="320040"/>
          </a:xfrm>
          <a:prstGeom prst="rect">
            <a:avLst/>
          </a:prstGeom>
          <a:noFill/>
          <a:ln/>
        </p:spPr>
        <p:txBody>
          <a:bodyPr wrap="square" lIns="0" tIns="0" rIns="0" bIns="0" rtlCol="0" anchor="ctr"/>
          <a:lstStyle/>
          <a:p>
            <a:pPr marL="0" indent="0">
              <a:buNone/>
            </a:pPr>
            <a:r>
              <a:rPr lang="en-US" sz="1500" b="1" dirty="0">
                <a:solidFill>
                  <a:srgbClr val="231F20"/>
                </a:solidFill>
                <a:latin typeface="Calibri" pitchFamily="34" charset="0"/>
                <a:ea typeface="Calibri" pitchFamily="34" charset="-122"/>
                <a:cs typeface="Calibri" pitchFamily="34" charset="-120"/>
              </a:rPr>
              <a:t>Absence</a:t>
            </a:r>
            <a:endParaRPr lang="en-US" sz="1500" dirty="0"/>
          </a:p>
        </p:txBody>
      </p:sp>
      <p:sp>
        <p:nvSpPr>
          <p:cNvPr id="22" name="Text 18"/>
          <p:cNvSpPr txBox="1"/>
          <p:nvPr/>
        </p:nvSpPr>
        <p:spPr>
          <a:xfrm>
            <a:off x="640080" y="1993392"/>
            <a:ext cx="3657600" cy="438912"/>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Une tuile manquante est une information, pas une erreur. Où vivent des gens sans aucune mesure ?</a:t>
            </a:r>
            <a:endParaRPr lang="en-US" sz="1050" dirty="0"/>
          </a:p>
        </p:txBody>
      </p:sp>
      <p:sp>
        <p:nvSpPr>
          <p:cNvPr id="23" name="Text 19"/>
          <p:cNvSpPr txBox="1"/>
          <p:nvPr/>
        </p:nvSpPr>
        <p:spPr>
          <a:xfrm>
            <a:off x="640080" y="2441448"/>
            <a:ext cx="3657600" cy="274320"/>
          </a:xfrm>
          <a:prstGeom prst="rect">
            <a:avLst/>
          </a:prstGeom>
          <a:noFill/>
          <a:ln/>
        </p:spPr>
        <p:txBody>
          <a:bodyPr wrap="square" lIns="0" tIns="0" rIns="0" bIns="0" rtlCol="0" anchor="t"/>
          <a:lstStyle/>
          <a:p>
            <a:pPr marL="0" indent="0">
              <a:buNone/>
            </a:pPr>
            <a:r>
              <a:rPr lang="en-US" sz="950" b="1" dirty="0">
                <a:solidFill>
                  <a:srgbClr val="C4621D"/>
                </a:solidFill>
                <a:latin typeface="Calibri" pitchFamily="34" charset="0"/>
                <a:ea typeface="Calibri" pitchFamily="34" charset="-122"/>
                <a:cs typeface="Calibri" pitchFamily="34" charset="-120"/>
              </a:rPr>
              <a:t>Comment : </a:t>
            </a:r>
            <a:r>
              <a:rPr lang="en-US" sz="950" dirty="0">
                <a:solidFill>
                  <a:srgbClr val="5E6964"/>
                </a:solidFill>
                <a:latin typeface="Calibri" pitchFamily="34" charset="0"/>
                <a:ea typeface="Calibri" pitchFamily="34" charset="-122"/>
                <a:cs typeface="Calibri" pitchFamily="34" charset="-120"/>
              </a:rPr>
              <a:t>Cartographier la présence des tuiles sur plusieurs trimestres, face à la population.</a:t>
            </a:r>
            <a:endParaRPr lang="en-US" sz="950" dirty="0"/>
          </a:p>
        </p:txBody>
      </p:sp>
      <p:sp>
        <p:nvSpPr>
          <p:cNvPr id="24" name="Shape 20"/>
          <p:cNvSpPr/>
          <p:nvPr/>
        </p:nvSpPr>
        <p:spPr>
          <a:xfrm>
            <a:off x="4663440" y="1371600"/>
            <a:ext cx="4023360" cy="1417320"/>
          </a:xfrm>
          <a:prstGeom prst="roundRect">
            <a:avLst>
              <a:gd name="adj" fmla="val 5161"/>
            </a:avLst>
          </a:prstGeom>
          <a:solidFill>
            <a:srgbClr val="F4F7F5"/>
          </a:solidFill>
          <a:ln w="9525">
            <a:solidFill>
              <a:srgbClr val="D5DED9"/>
            </a:solidFill>
            <a:prstDash val="solid"/>
          </a:ln>
        </p:spPr>
      </p:sp>
      <p:sp>
        <p:nvSpPr>
          <p:cNvPr id="25" name="Text 21"/>
          <p:cNvSpPr txBox="1"/>
          <p:nvPr/>
        </p:nvSpPr>
        <p:spPr>
          <a:xfrm>
            <a:off x="4828032" y="1481328"/>
            <a:ext cx="365760" cy="457200"/>
          </a:xfrm>
          <a:prstGeom prst="rect">
            <a:avLst/>
          </a:prstGeom>
          <a:noFill/>
          <a:ln/>
        </p:spPr>
        <p:txBody>
          <a:bodyPr wrap="square" lIns="0" tIns="0" rIns="0" bIns="0" rtlCol="0" anchor="t"/>
          <a:lstStyle/>
          <a:p>
            <a:pPr marL="0" indent="0">
              <a:buNone/>
            </a:pPr>
            <a:r>
              <a:rPr lang="en-US" sz="2800" b="1" dirty="0">
                <a:solidFill>
                  <a:srgbClr val="C4621D"/>
                </a:solidFill>
                <a:latin typeface="Calibri" pitchFamily="34" charset="0"/>
                <a:ea typeface="Calibri" pitchFamily="34" charset="-122"/>
                <a:cs typeface="Calibri" pitchFamily="34" charset="-120"/>
              </a:rPr>
              <a:t>2</a:t>
            </a:r>
            <a:endParaRPr lang="en-US" sz="2800" dirty="0"/>
          </a:p>
        </p:txBody>
      </p:sp>
      <p:sp>
        <p:nvSpPr>
          <p:cNvPr id="26" name="Shape 22"/>
          <p:cNvSpPr/>
          <p:nvPr/>
        </p:nvSpPr>
        <p:spPr>
          <a:xfrm>
            <a:off x="8092440" y="1508760"/>
            <a:ext cx="438912" cy="438912"/>
          </a:xfrm>
          <a:prstGeom prst="ellipse">
            <a:avLst/>
          </a:prstGeom>
          <a:solidFill>
            <a:srgbClr val="C4621D">
              <a:alpha val="22000"/>
            </a:srgbClr>
          </a:solidFill>
          <a:ln/>
        </p:spPr>
      </p:sp>
      <p:pic>
        <p:nvPicPr>
          <p:cNvPr id="27" name="Image 1" descr="preencoded.png"/>
          <p:cNvPicPr>
            <a:picLocks noChangeAspect="1"/>
          </p:cNvPicPr>
          <p:nvPr/>
        </p:nvPicPr>
        <p:blipFill>
          <a:blip r:embed="rId4"/>
          <a:stretch>
            <a:fillRect/>
          </a:stretch>
        </p:blipFill>
        <p:spPr>
          <a:xfrm>
            <a:off x="8197779" y="1614099"/>
            <a:ext cx="228234" cy="228234"/>
          </a:xfrm>
          <a:prstGeom prst="rect">
            <a:avLst/>
          </a:prstGeom>
        </p:spPr>
      </p:pic>
      <p:sp>
        <p:nvSpPr>
          <p:cNvPr id="28" name="Text 23"/>
          <p:cNvSpPr txBox="1"/>
          <p:nvPr/>
        </p:nvSpPr>
        <p:spPr>
          <a:xfrm>
            <a:off x="5257800" y="1554480"/>
            <a:ext cx="2651760" cy="320040"/>
          </a:xfrm>
          <a:prstGeom prst="rect">
            <a:avLst/>
          </a:prstGeom>
          <a:noFill/>
          <a:ln/>
        </p:spPr>
        <p:txBody>
          <a:bodyPr wrap="square" lIns="0" tIns="0" rIns="0" bIns="0" rtlCol="0" anchor="ctr"/>
          <a:lstStyle/>
          <a:p>
            <a:pPr marL="0" indent="0">
              <a:buNone/>
            </a:pPr>
            <a:r>
              <a:rPr lang="en-US" sz="1500" b="1" dirty="0">
                <a:solidFill>
                  <a:srgbClr val="231F20"/>
                </a:solidFill>
                <a:latin typeface="Calibri" pitchFamily="34" charset="0"/>
                <a:ea typeface="Calibri" pitchFamily="34" charset="-122"/>
                <a:cs typeface="Calibri" pitchFamily="34" charset="-120"/>
              </a:rPr>
              <a:t>Gradient</a:t>
            </a:r>
            <a:endParaRPr lang="en-US" sz="1500" dirty="0"/>
          </a:p>
        </p:txBody>
      </p:sp>
      <p:sp>
        <p:nvSpPr>
          <p:cNvPr id="29" name="Text 24"/>
          <p:cNvSpPr txBox="1"/>
          <p:nvPr/>
        </p:nvSpPr>
        <p:spPr>
          <a:xfrm>
            <a:off x="4846320" y="1993392"/>
            <a:ext cx="3657600" cy="438912"/>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La performance décroît depuis les centres-villes. Cherchez la rupture, pas la pente.</a:t>
            </a:r>
            <a:endParaRPr lang="en-US" sz="1050" dirty="0"/>
          </a:p>
        </p:txBody>
      </p:sp>
      <p:sp>
        <p:nvSpPr>
          <p:cNvPr id="30" name="Text 25"/>
          <p:cNvSpPr txBox="1"/>
          <p:nvPr/>
        </p:nvSpPr>
        <p:spPr>
          <a:xfrm>
            <a:off x="4846320" y="2441448"/>
            <a:ext cx="3657600" cy="274320"/>
          </a:xfrm>
          <a:prstGeom prst="rect">
            <a:avLst/>
          </a:prstGeom>
          <a:noFill/>
          <a:ln/>
        </p:spPr>
        <p:txBody>
          <a:bodyPr wrap="square" lIns="0" tIns="0" rIns="0" bIns="0" rtlCol="0" anchor="t"/>
          <a:lstStyle/>
          <a:p>
            <a:pPr marL="0" indent="0">
              <a:buNone/>
            </a:pPr>
            <a:r>
              <a:rPr lang="en-US" sz="950" b="1" dirty="0">
                <a:solidFill>
                  <a:srgbClr val="C4621D"/>
                </a:solidFill>
                <a:latin typeface="Calibri" pitchFamily="34" charset="0"/>
                <a:ea typeface="Calibri" pitchFamily="34" charset="-122"/>
                <a:cs typeface="Calibri" pitchFamily="34" charset="-120"/>
              </a:rPr>
              <a:t>Comment : </a:t>
            </a:r>
            <a:r>
              <a:rPr lang="en-US" sz="950" dirty="0">
                <a:solidFill>
                  <a:srgbClr val="5E6964"/>
                </a:solidFill>
                <a:latin typeface="Calibri" pitchFamily="34" charset="0"/>
                <a:ea typeface="Calibri" pitchFamily="34" charset="-122"/>
                <a:cs typeface="Calibri" pitchFamily="34" charset="-120"/>
              </a:rPr>
              <a:t>Tracer le débit par tranche de distance ou décile de densité.</a:t>
            </a:r>
            <a:endParaRPr lang="en-US" sz="950" dirty="0"/>
          </a:p>
        </p:txBody>
      </p:sp>
      <p:sp>
        <p:nvSpPr>
          <p:cNvPr id="31" name="Shape 26"/>
          <p:cNvSpPr/>
          <p:nvPr/>
        </p:nvSpPr>
        <p:spPr>
          <a:xfrm>
            <a:off x="457200" y="2944368"/>
            <a:ext cx="4023360" cy="1417320"/>
          </a:xfrm>
          <a:prstGeom prst="roundRect">
            <a:avLst>
              <a:gd name="adj" fmla="val 5161"/>
            </a:avLst>
          </a:prstGeom>
          <a:solidFill>
            <a:srgbClr val="F4F7F5"/>
          </a:solidFill>
          <a:ln w="9525">
            <a:solidFill>
              <a:srgbClr val="D5DED9"/>
            </a:solidFill>
            <a:prstDash val="solid"/>
          </a:ln>
        </p:spPr>
      </p:sp>
      <p:sp>
        <p:nvSpPr>
          <p:cNvPr id="32" name="Text 27"/>
          <p:cNvSpPr txBox="1"/>
          <p:nvPr/>
        </p:nvSpPr>
        <p:spPr>
          <a:xfrm>
            <a:off x="621792" y="3054096"/>
            <a:ext cx="365760" cy="457200"/>
          </a:xfrm>
          <a:prstGeom prst="rect">
            <a:avLst/>
          </a:prstGeom>
          <a:noFill/>
          <a:ln/>
        </p:spPr>
        <p:txBody>
          <a:bodyPr wrap="square" lIns="0" tIns="0" rIns="0" bIns="0" rtlCol="0" anchor="t"/>
          <a:lstStyle/>
          <a:p>
            <a:pPr marL="0" indent="0">
              <a:buNone/>
            </a:pPr>
            <a:r>
              <a:rPr lang="en-US" sz="2800" b="1" dirty="0">
                <a:solidFill>
                  <a:srgbClr val="C4621D"/>
                </a:solidFill>
                <a:latin typeface="Calibri" pitchFamily="34" charset="0"/>
                <a:ea typeface="Calibri" pitchFamily="34" charset="-122"/>
                <a:cs typeface="Calibri" pitchFamily="34" charset="-120"/>
              </a:rPr>
              <a:t>3</a:t>
            </a:r>
            <a:endParaRPr lang="en-US" sz="2800" dirty="0"/>
          </a:p>
        </p:txBody>
      </p:sp>
      <p:sp>
        <p:nvSpPr>
          <p:cNvPr id="33" name="Shape 28"/>
          <p:cNvSpPr/>
          <p:nvPr/>
        </p:nvSpPr>
        <p:spPr>
          <a:xfrm>
            <a:off x="3886200" y="3081528"/>
            <a:ext cx="438912" cy="438912"/>
          </a:xfrm>
          <a:prstGeom prst="ellipse">
            <a:avLst/>
          </a:prstGeom>
          <a:solidFill>
            <a:srgbClr val="C4621D">
              <a:alpha val="22000"/>
            </a:srgbClr>
          </a:solidFill>
          <a:ln/>
        </p:spPr>
      </p:sp>
      <p:pic>
        <p:nvPicPr>
          <p:cNvPr id="34" name="Image 2" descr="preencoded.png"/>
          <p:cNvPicPr>
            <a:picLocks noChangeAspect="1"/>
          </p:cNvPicPr>
          <p:nvPr/>
        </p:nvPicPr>
        <p:blipFill>
          <a:blip r:embed="rId5"/>
          <a:stretch>
            <a:fillRect/>
          </a:stretch>
        </p:blipFill>
        <p:spPr>
          <a:xfrm>
            <a:off x="3991539" y="3186867"/>
            <a:ext cx="228234" cy="228234"/>
          </a:xfrm>
          <a:prstGeom prst="rect">
            <a:avLst/>
          </a:prstGeom>
        </p:spPr>
      </p:pic>
      <p:sp>
        <p:nvSpPr>
          <p:cNvPr id="35" name="Text 29"/>
          <p:cNvSpPr txBox="1"/>
          <p:nvPr/>
        </p:nvSpPr>
        <p:spPr>
          <a:xfrm>
            <a:off x="1051560" y="3127248"/>
            <a:ext cx="2651760" cy="320040"/>
          </a:xfrm>
          <a:prstGeom prst="rect">
            <a:avLst/>
          </a:prstGeom>
          <a:noFill/>
          <a:ln/>
        </p:spPr>
        <p:txBody>
          <a:bodyPr wrap="square" lIns="0" tIns="0" rIns="0" bIns="0" rtlCol="0" anchor="ctr"/>
          <a:lstStyle/>
          <a:p>
            <a:pPr marL="0" indent="0">
              <a:buNone/>
            </a:pPr>
            <a:r>
              <a:rPr lang="en-US" sz="1500" b="1" dirty="0">
                <a:solidFill>
                  <a:srgbClr val="231F20"/>
                </a:solidFill>
                <a:latin typeface="Calibri" pitchFamily="34" charset="0"/>
                <a:ea typeface="Calibri" pitchFamily="34" charset="-122"/>
                <a:cs typeface="Calibri" pitchFamily="34" charset="-120"/>
              </a:rPr>
              <a:t>Substitution</a:t>
            </a:r>
            <a:endParaRPr lang="en-US" sz="1500" dirty="0"/>
          </a:p>
        </p:txBody>
      </p:sp>
      <p:sp>
        <p:nvSpPr>
          <p:cNvPr id="36" name="Text 30"/>
          <p:cNvSpPr txBox="1"/>
          <p:nvPr/>
        </p:nvSpPr>
        <p:spPr>
          <a:xfrm>
            <a:off x="640080" y="3566160"/>
            <a:ext cx="3657600" cy="438912"/>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Des tuiles avec mobile mais sans fixe suggèrent des ménages dépendants du mobile.</a:t>
            </a:r>
            <a:endParaRPr lang="en-US" sz="1050" dirty="0"/>
          </a:p>
        </p:txBody>
      </p:sp>
      <p:sp>
        <p:nvSpPr>
          <p:cNvPr id="37" name="Text 31"/>
          <p:cNvSpPr txBox="1"/>
          <p:nvPr/>
        </p:nvSpPr>
        <p:spPr>
          <a:xfrm>
            <a:off x="640080" y="4014216"/>
            <a:ext cx="3657600" cy="274320"/>
          </a:xfrm>
          <a:prstGeom prst="rect">
            <a:avLst/>
          </a:prstGeom>
          <a:noFill/>
          <a:ln/>
        </p:spPr>
        <p:txBody>
          <a:bodyPr wrap="square" lIns="0" tIns="0" rIns="0" bIns="0" rtlCol="0" anchor="t"/>
          <a:lstStyle/>
          <a:p>
            <a:pPr marL="0" indent="0">
              <a:buNone/>
            </a:pPr>
            <a:r>
              <a:rPr lang="en-US" sz="950" b="1" dirty="0">
                <a:solidFill>
                  <a:srgbClr val="C4621D"/>
                </a:solidFill>
                <a:latin typeface="Calibri" pitchFamily="34" charset="0"/>
                <a:ea typeface="Calibri" pitchFamily="34" charset="-122"/>
                <a:cs typeface="Calibri" pitchFamily="34" charset="-120"/>
              </a:rPr>
              <a:t>Comment : </a:t>
            </a:r>
            <a:r>
              <a:rPr lang="en-US" sz="950" dirty="0">
                <a:solidFill>
                  <a:srgbClr val="5E6964"/>
                </a:solidFill>
                <a:latin typeface="Calibri" pitchFamily="34" charset="0"/>
                <a:ea typeface="Calibri" pitchFamily="34" charset="-122"/>
                <a:cs typeface="Calibri" pitchFamily="34" charset="-120"/>
              </a:rPr>
              <a:t>Joindre les deux couches par quadkey.</a:t>
            </a:r>
            <a:endParaRPr lang="en-US" sz="950" dirty="0"/>
          </a:p>
        </p:txBody>
      </p:sp>
      <p:sp>
        <p:nvSpPr>
          <p:cNvPr id="38" name="Shape 32"/>
          <p:cNvSpPr/>
          <p:nvPr/>
        </p:nvSpPr>
        <p:spPr>
          <a:xfrm>
            <a:off x="4663440" y="2944368"/>
            <a:ext cx="4023360" cy="1417320"/>
          </a:xfrm>
          <a:prstGeom prst="roundRect">
            <a:avLst>
              <a:gd name="adj" fmla="val 5161"/>
            </a:avLst>
          </a:prstGeom>
          <a:solidFill>
            <a:srgbClr val="F4F7F5"/>
          </a:solidFill>
          <a:ln w="9525">
            <a:solidFill>
              <a:srgbClr val="D5DED9"/>
            </a:solidFill>
            <a:prstDash val="solid"/>
          </a:ln>
        </p:spPr>
      </p:sp>
      <p:sp>
        <p:nvSpPr>
          <p:cNvPr id="39" name="Text 33"/>
          <p:cNvSpPr txBox="1"/>
          <p:nvPr/>
        </p:nvSpPr>
        <p:spPr>
          <a:xfrm>
            <a:off x="4828032" y="3054096"/>
            <a:ext cx="365760" cy="457200"/>
          </a:xfrm>
          <a:prstGeom prst="rect">
            <a:avLst/>
          </a:prstGeom>
          <a:noFill/>
          <a:ln/>
        </p:spPr>
        <p:txBody>
          <a:bodyPr wrap="square" lIns="0" tIns="0" rIns="0" bIns="0" rtlCol="0" anchor="t"/>
          <a:lstStyle/>
          <a:p>
            <a:pPr marL="0" indent="0">
              <a:buNone/>
            </a:pPr>
            <a:r>
              <a:rPr lang="en-US" sz="2800" b="1" dirty="0">
                <a:solidFill>
                  <a:srgbClr val="C4621D"/>
                </a:solidFill>
                <a:latin typeface="Calibri" pitchFamily="34" charset="0"/>
                <a:ea typeface="Calibri" pitchFamily="34" charset="-122"/>
                <a:cs typeface="Calibri" pitchFamily="34" charset="-120"/>
              </a:rPr>
              <a:t>4</a:t>
            </a:r>
            <a:endParaRPr lang="en-US" sz="2800" dirty="0"/>
          </a:p>
        </p:txBody>
      </p:sp>
      <p:sp>
        <p:nvSpPr>
          <p:cNvPr id="40" name="Shape 34"/>
          <p:cNvSpPr/>
          <p:nvPr/>
        </p:nvSpPr>
        <p:spPr>
          <a:xfrm>
            <a:off x="8092440" y="3081528"/>
            <a:ext cx="438912" cy="438912"/>
          </a:xfrm>
          <a:prstGeom prst="ellipse">
            <a:avLst/>
          </a:prstGeom>
          <a:solidFill>
            <a:srgbClr val="C4621D">
              <a:alpha val="22000"/>
            </a:srgbClr>
          </a:solidFill>
          <a:ln/>
        </p:spPr>
      </p:sp>
      <p:pic>
        <p:nvPicPr>
          <p:cNvPr id="41" name="Image 3" descr="preencoded.png"/>
          <p:cNvPicPr>
            <a:picLocks noChangeAspect="1"/>
          </p:cNvPicPr>
          <p:nvPr/>
        </p:nvPicPr>
        <p:blipFill>
          <a:blip r:embed="rId6"/>
          <a:stretch>
            <a:fillRect/>
          </a:stretch>
        </p:blipFill>
        <p:spPr>
          <a:xfrm>
            <a:off x="8197779" y="3186867"/>
            <a:ext cx="228234" cy="228234"/>
          </a:xfrm>
          <a:prstGeom prst="rect">
            <a:avLst/>
          </a:prstGeom>
        </p:spPr>
      </p:pic>
      <p:sp>
        <p:nvSpPr>
          <p:cNvPr id="42" name="Text 35"/>
          <p:cNvSpPr txBox="1"/>
          <p:nvPr/>
        </p:nvSpPr>
        <p:spPr>
          <a:xfrm>
            <a:off x="5257800" y="3127248"/>
            <a:ext cx="2651760" cy="320040"/>
          </a:xfrm>
          <a:prstGeom prst="rect">
            <a:avLst/>
          </a:prstGeom>
          <a:noFill/>
          <a:ln/>
        </p:spPr>
        <p:txBody>
          <a:bodyPr wrap="square" lIns="0" tIns="0" rIns="0" bIns="0" rtlCol="0" anchor="ctr"/>
          <a:lstStyle/>
          <a:p>
            <a:pPr marL="0" indent="0">
              <a:buNone/>
            </a:pPr>
            <a:r>
              <a:rPr lang="en-US" sz="1500" b="1" dirty="0">
                <a:solidFill>
                  <a:srgbClr val="231F20"/>
                </a:solidFill>
                <a:latin typeface="Calibri" pitchFamily="34" charset="0"/>
                <a:ea typeface="Calibri" pitchFamily="34" charset="-122"/>
                <a:cs typeface="Calibri" pitchFamily="34" charset="-120"/>
              </a:rPr>
              <a:t>Réactivité</a:t>
            </a:r>
            <a:endParaRPr lang="en-US" sz="1500" dirty="0"/>
          </a:p>
        </p:txBody>
      </p:sp>
      <p:sp>
        <p:nvSpPr>
          <p:cNvPr id="43" name="Text 36"/>
          <p:cNvSpPr txBox="1"/>
          <p:nvPr/>
        </p:nvSpPr>
        <p:spPr>
          <a:xfrm>
            <a:off x="4846320" y="3566160"/>
            <a:ext cx="3657600" cy="438912"/>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La latence, surtout en charge, révèle une congestion que le débit masque.</a:t>
            </a:r>
            <a:endParaRPr lang="en-US" sz="1050" dirty="0"/>
          </a:p>
        </p:txBody>
      </p:sp>
      <p:sp>
        <p:nvSpPr>
          <p:cNvPr id="44" name="Text 37"/>
          <p:cNvSpPr txBox="1"/>
          <p:nvPr/>
        </p:nvSpPr>
        <p:spPr>
          <a:xfrm>
            <a:off x="4846320" y="4014216"/>
            <a:ext cx="3657600" cy="274320"/>
          </a:xfrm>
          <a:prstGeom prst="rect">
            <a:avLst/>
          </a:prstGeom>
          <a:noFill/>
          <a:ln/>
        </p:spPr>
        <p:txBody>
          <a:bodyPr wrap="square" lIns="0" tIns="0" rIns="0" bIns="0" rtlCol="0" anchor="t"/>
          <a:lstStyle/>
          <a:p>
            <a:pPr marL="0" indent="0">
              <a:buNone/>
            </a:pPr>
            <a:r>
              <a:rPr lang="en-US" sz="950" b="1" dirty="0">
                <a:solidFill>
                  <a:srgbClr val="C4621D"/>
                </a:solidFill>
                <a:latin typeface="Calibri" pitchFamily="34" charset="0"/>
                <a:ea typeface="Calibri" pitchFamily="34" charset="-122"/>
                <a:cs typeface="Calibri" pitchFamily="34" charset="-120"/>
              </a:rPr>
              <a:t>Comment : </a:t>
            </a:r>
            <a:r>
              <a:rPr lang="en-US" sz="950" dirty="0">
                <a:solidFill>
                  <a:srgbClr val="5E6964"/>
                </a:solidFill>
                <a:latin typeface="Calibri" pitchFamily="34" charset="0"/>
                <a:ea typeface="Calibri" pitchFamily="34" charset="-122"/>
                <a:cs typeface="Calibri" pitchFamily="34" charset="-120"/>
              </a:rPr>
              <a:t>Parquet uniquement, depuis 2023, peu renseigné.</a:t>
            </a:r>
            <a:endParaRPr lang="en-US" sz="950" dirty="0"/>
          </a:p>
        </p:txBody>
      </p:sp>
      <p:sp>
        <p:nvSpPr>
          <p:cNvPr id="45" name="Text 38"/>
          <p:cNvSpPr txBox="1"/>
          <p:nvPr/>
        </p:nvSpPr>
        <p:spPr>
          <a:xfrm>
            <a:off x="457200" y="4572000"/>
            <a:ext cx="749808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Champs de latence : README teamookla/ookla-open-data.</a:t>
            </a:r>
            <a:endParaRPr lang="en-US" sz="900" dirty="0"/>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05 · SIGNAL 1</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marL="0" indent="0">
              <a:buNone/>
            </a:pPr>
            <a:r>
              <a:rPr lang="en-US" sz="2100" b="1" dirty="0">
                <a:solidFill>
                  <a:srgbClr val="231F20"/>
                </a:solidFill>
                <a:latin typeface="Calibri" pitchFamily="34" charset="0"/>
                <a:ea typeface="Calibri" pitchFamily="34" charset="-122"/>
                <a:cs typeface="Calibri" pitchFamily="34" charset="-120"/>
              </a:rPr>
              <a:t>Absence : la valeur la plus importante est souvent manquante</a:t>
            </a:r>
            <a:endParaRPr lang="en-US" sz="21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5DED9"/>
          </a:solidFill>
          <a:ln/>
        </p:spPr>
      </p:sp>
      <p:sp>
        <p:nvSpPr>
          <p:cNvPr id="12" name="Shape 10"/>
          <p:cNvSpPr/>
          <p:nvPr/>
        </p:nvSpPr>
        <p:spPr>
          <a:xfrm>
            <a:off x="8321040" y="310896"/>
            <a:ext cx="91440" cy="91440"/>
          </a:xfrm>
          <a:prstGeom prst="ellipse">
            <a:avLst/>
          </a:prstGeom>
          <a:solidFill>
            <a:srgbClr val="C4621D"/>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BAD – Data Innovation for Africa (DI4A)  ·  Ookla Open Data et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27</a:t>
            </a:r>
            <a:endParaRPr lang="en-US" sz="850" dirty="0"/>
          </a:p>
        </p:txBody>
      </p:sp>
      <p:sp>
        <p:nvSpPr>
          <p:cNvPr id="17" name="Shape 14"/>
          <p:cNvSpPr/>
          <p:nvPr/>
        </p:nvSpPr>
        <p:spPr>
          <a:xfrm>
            <a:off x="502920" y="1371600"/>
            <a:ext cx="402336" cy="402336"/>
          </a:xfrm>
          <a:prstGeom prst="rect">
            <a:avLst/>
          </a:prstGeom>
          <a:solidFill>
            <a:srgbClr val="10A06A"/>
          </a:solidFill>
          <a:ln w="12700">
            <a:solidFill>
              <a:srgbClr val="FFFFFF"/>
            </a:solidFill>
            <a:prstDash val="solid"/>
          </a:ln>
        </p:spPr>
      </p:sp>
      <p:sp>
        <p:nvSpPr>
          <p:cNvPr id="18" name="Shape 15"/>
          <p:cNvSpPr/>
          <p:nvPr/>
        </p:nvSpPr>
        <p:spPr>
          <a:xfrm>
            <a:off x="905256" y="1371600"/>
            <a:ext cx="402336" cy="402336"/>
          </a:xfrm>
          <a:prstGeom prst="rect">
            <a:avLst/>
          </a:prstGeom>
          <a:solidFill>
            <a:srgbClr val="10A06A"/>
          </a:solidFill>
          <a:ln w="12700">
            <a:solidFill>
              <a:srgbClr val="FFFFFF"/>
            </a:solidFill>
            <a:prstDash val="solid"/>
          </a:ln>
        </p:spPr>
      </p:sp>
      <p:sp>
        <p:nvSpPr>
          <p:cNvPr id="19" name="Shape 16"/>
          <p:cNvSpPr/>
          <p:nvPr/>
        </p:nvSpPr>
        <p:spPr>
          <a:xfrm>
            <a:off x="1307592" y="1371600"/>
            <a:ext cx="402336" cy="402336"/>
          </a:xfrm>
          <a:prstGeom prst="rect">
            <a:avLst/>
          </a:prstGeom>
          <a:solidFill>
            <a:srgbClr val="10A06A"/>
          </a:solidFill>
          <a:ln w="12700">
            <a:solidFill>
              <a:srgbClr val="FFFFFF"/>
            </a:solidFill>
            <a:prstDash val="solid"/>
          </a:ln>
        </p:spPr>
      </p:sp>
      <p:sp>
        <p:nvSpPr>
          <p:cNvPr id="20" name="Shape 17"/>
          <p:cNvSpPr/>
          <p:nvPr/>
        </p:nvSpPr>
        <p:spPr>
          <a:xfrm>
            <a:off x="1709928" y="1371600"/>
            <a:ext cx="402336" cy="402336"/>
          </a:xfrm>
          <a:prstGeom prst="rect">
            <a:avLst/>
          </a:prstGeom>
          <a:solidFill>
            <a:srgbClr val="10A06A"/>
          </a:solidFill>
          <a:ln w="12700">
            <a:solidFill>
              <a:srgbClr val="FFFFFF"/>
            </a:solidFill>
            <a:prstDash val="solid"/>
          </a:ln>
        </p:spPr>
      </p:sp>
      <p:sp>
        <p:nvSpPr>
          <p:cNvPr id="21" name="Shape 18"/>
          <p:cNvSpPr/>
          <p:nvPr/>
        </p:nvSpPr>
        <p:spPr>
          <a:xfrm>
            <a:off x="2112264" y="1371600"/>
            <a:ext cx="402336" cy="402336"/>
          </a:xfrm>
          <a:prstGeom prst="rect">
            <a:avLst/>
          </a:prstGeom>
          <a:solidFill>
            <a:srgbClr val="FFFFFF"/>
          </a:solidFill>
          <a:ln w="12700">
            <a:solidFill>
              <a:srgbClr val="D5DED9"/>
            </a:solidFill>
            <a:prstDash val="dash"/>
          </a:ln>
        </p:spPr>
      </p:sp>
      <p:sp>
        <p:nvSpPr>
          <p:cNvPr id="22" name="Shape 19"/>
          <p:cNvSpPr/>
          <p:nvPr/>
        </p:nvSpPr>
        <p:spPr>
          <a:xfrm>
            <a:off x="2514600" y="1371600"/>
            <a:ext cx="402336" cy="402336"/>
          </a:xfrm>
          <a:prstGeom prst="rect">
            <a:avLst/>
          </a:prstGeom>
          <a:solidFill>
            <a:srgbClr val="FFFFFF"/>
          </a:solidFill>
          <a:ln w="12700">
            <a:solidFill>
              <a:srgbClr val="D5DED9"/>
            </a:solidFill>
            <a:prstDash val="dash"/>
          </a:ln>
        </p:spPr>
      </p:sp>
      <p:pic>
        <p:nvPicPr>
          <p:cNvPr id="23" name="Image 0" descr="preencoded.png"/>
          <p:cNvPicPr>
            <a:picLocks noChangeAspect="1"/>
          </p:cNvPicPr>
          <p:nvPr/>
        </p:nvPicPr>
        <p:blipFill>
          <a:blip r:embed="rId3"/>
          <a:stretch>
            <a:fillRect/>
          </a:stretch>
        </p:blipFill>
        <p:spPr>
          <a:xfrm>
            <a:off x="2615184" y="1472184"/>
            <a:ext cx="219456" cy="219456"/>
          </a:xfrm>
          <a:prstGeom prst="rect">
            <a:avLst/>
          </a:prstGeom>
        </p:spPr>
      </p:pic>
      <p:sp>
        <p:nvSpPr>
          <p:cNvPr id="24" name="Shape 20"/>
          <p:cNvSpPr/>
          <p:nvPr/>
        </p:nvSpPr>
        <p:spPr>
          <a:xfrm>
            <a:off x="2916936" y="1371600"/>
            <a:ext cx="402336" cy="402336"/>
          </a:xfrm>
          <a:prstGeom prst="rect">
            <a:avLst/>
          </a:prstGeom>
          <a:solidFill>
            <a:srgbClr val="FFFFFF"/>
          </a:solidFill>
          <a:ln w="12700">
            <a:solidFill>
              <a:srgbClr val="D5DED9"/>
            </a:solidFill>
            <a:prstDash val="dash"/>
          </a:ln>
        </p:spPr>
      </p:sp>
      <p:sp>
        <p:nvSpPr>
          <p:cNvPr id="25" name="Shape 21"/>
          <p:cNvSpPr/>
          <p:nvPr/>
        </p:nvSpPr>
        <p:spPr>
          <a:xfrm>
            <a:off x="502920" y="1773936"/>
            <a:ext cx="402336" cy="402336"/>
          </a:xfrm>
          <a:prstGeom prst="rect">
            <a:avLst/>
          </a:prstGeom>
          <a:solidFill>
            <a:srgbClr val="10A06A"/>
          </a:solidFill>
          <a:ln w="12700">
            <a:solidFill>
              <a:srgbClr val="FFFFFF"/>
            </a:solidFill>
            <a:prstDash val="solid"/>
          </a:ln>
        </p:spPr>
      </p:sp>
      <p:sp>
        <p:nvSpPr>
          <p:cNvPr id="26" name="Shape 22"/>
          <p:cNvSpPr/>
          <p:nvPr/>
        </p:nvSpPr>
        <p:spPr>
          <a:xfrm>
            <a:off x="905256" y="1773936"/>
            <a:ext cx="402336" cy="402336"/>
          </a:xfrm>
          <a:prstGeom prst="rect">
            <a:avLst/>
          </a:prstGeom>
          <a:solidFill>
            <a:srgbClr val="10A06A"/>
          </a:solidFill>
          <a:ln w="12700">
            <a:solidFill>
              <a:srgbClr val="FFFFFF"/>
            </a:solidFill>
            <a:prstDash val="solid"/>
          </a:ln>
        </p:spPr>
      </p:sp>
      <p:sp>
        <p:nvSpPr>
          <p:cNvPr id="27" name="Shape 23"/>
          <p:cNvSpPr/>
          <p:nvPr/>
        </p:nvSpPr>
        <p:spPr>
          <a:xfrm>
            <a:off x="1307592" y="1773936"/>
            <a:ext cx="402336" cy="402336"/>
          </a:xfrm>
          <a:prstGeom prst="rect">
            <a:avLst/>
          </a:prstGeom>
          <a:solidFill>
            <a:srgbClr val="10A06A"/>
          </a:solidFill>
          <a:ln w="12700">
            <a:solidFill>
              <a:srgbClr val="FFFFFF"/>
            </a:solidFill>
            <a:prstDash val="solid"/>
          </a:ln>
        </p:spPr>
      </p:sp>
      <p:sp>
        <p:nvSpPr>
          <p:cNvPr id="28" name="Shape 24"/>
          <p:cNvSpPr/>
          <p:nvPr/>
        </p:nvSpPr>
        <p:spPr>
          <a:xfrm>
            <a:off x="1709928" y="1773936"/>
            <a:ext cx="402336" cy="402336"/>
          </a:xfrm>
          <a:prstGeom prst="rect">
            <a:avLst/>
          </a:prstGeom>
          <a:solidFill>
            <a:srgbClr val="10A06A"/>
          </a:solidFill>
          <a:ln w="12700">
            <a:solidFill>
              <a:srgbClr val="FFFFFF"/>
            </a:solidFill>
            <a:prstDash val="solid"/>
          </a:ln>
        </p:spPr>
      </p:sp>
      <p:sp>
        <p:nvSpPr>
          <p:cNvPr id="29" name="Shape 25"/>
          <p:cNvSpPr/>
          <p:nvPr/>
        </p:nvSpPr>
        <p:spPr>
          <a:xfrm>
            <a:off x="2112264" y="1773936"/>
            <a:ext cx="402336" cy="402336"/>
          </a:xfrm>
          <a:prstGeom prst="rect">
            <a:avLst/>
          </a:prstGeom>
          <a:solidFill>
            <a:srgbClr val="10A06A"/>
          </a:solidFill>
          <a:ln w="12700">
            <a:solidFill>
              <a:srgbClr val="FFFFFF"/>
            </a:solidFill>
            <a:prstDash val="solid"/>
          </a:ln>
        </p:spPr>
      </p:sp>
      <p:sp>
        <p:nvSpPr>
          <p:cNvPr id="30" name="Shape 26"/>
          <p:cNvSpPr/>
          <p:nvPr/>
        </p:nvSpPr>
        <p:spPr>
          <a:xfrm>
            <a:off x="2514600" y="1773936"/>
            <a:ext cx="402336" cy="402336"/>
          </a:xfrm>
          <a:prstGeom prst="rect">
            <a:avLst/>
          </a:prstGeom>
          <a:solidFill>
            <a:srgbClr val="FFFFFF"/>
          </a:solidFill>
          <a:ln w="12700">
            <a:solidFill>
              <a:srgbClr val="D5DED9"/>
            </a:solidFill>
            <a:prstDash val="dash"/>
          </a:ln>
        </p:spPr>
      </p:sp>
      <p:sp>
        <p:nvSpPr>
          <p:cNvPr id="31" name="Shape 27"/>
          <p:cNvSpPr/>
          <p:nvPr/>
        </p:nvSpPr>
        <p:spPr>
          <a:xfrm>
            <a:off x="2916936" y="1773936"/>
            <a:ext cx="402336" cy="402336"/>
          </a:xfrm>
          <a:prstGeom prst="rect">
            <a:avLst/>
          </a:prstGeom>
          <a:solidFill>
            <a:srgbClr val="FFFFFF"/>
          </a:solidFill>
          <a:ln w="12700">
            <a:solidFill>
              <a:srgbClr val="D5DED9"/>
            </a:solidFill>
            <a:prstDash val="dash"/>
          </a:ln>
        </p:spPr>
      </p:sp>
      <p:sp>
        <p:nvSpPr>
          <p:cNvPr id="32" name="Shape 28"/>
          <p:cNvSpPr/>
          <p:nvPr/>
        </p:nvSpPr>
        <p:spPr>
          <a:xfrm>
            <a:off x="502920" y="2176272"/>
            <a:ext cx="402336" cy="402336"/>
          </a:xfrm>
          <a:prstGeom prst="rect">
            <a:avLst/>
          </a:prstGeom>
          <a:solidFill>
            <a:srgbClr val="10A06A"/>
          </a:solidFill>
          <a:ln w="12700">
            <a:solidFill>
              <a:srgbClr val="FFFFFF"/>
            </a:solidFill>
            <a:prstDash val="solid"/>
          </a:ln>
        </p:spPr>
      </p:sp>
      <p:sp>
        <p:nvSpPr>
          <p:cNvPr id="33" name="Shape 29"/>
          <p:cNvSpPr/>
          <p:nvPr/>
        </p:nvSpPr>
        <p:spPr>
          <a:xfrm>
            <a:off x="905256" y="2176272"/>
            <a:ext cx="402336" cy="402336"/>
          </a:xfrm>
          <a:prstGeom prst="rect">
            <a:avLst/>
          </a:prstGeom>
          <a:solidFill>
            <a:srgbClr val="10A06A"/>
          </a:solidFill>
          <a:ln w="12700">
            <a:solidFill>
              <a:srgbClr val="FFFFFF"/>
            </a:solidFill>
            <a:prstDash val="solid"/>
          </a:ln>
        </p:spPr>
      </p:sp>
      <p:sp>
        <p:nvSpPr>
          <p:cNvPr id="34" name="Shape 30"/>
          <p:cNvSpPr/>
          <p:nvPr/>
        </p:nvSpPr>
        <p:spPr>
          <a:xfrm>
            <a:off x="1307592" y="2176272"/>
            <a:ext cx="402336" cy="402336"/>
          </a:xfrm>
          <a:prstGeom prst="rect">
            <a:avLst/>
          </a:prstGeom>
          <a:solidFill>
            <a:srgbClr val="10A06A"/>
          </a:solidFill>
          <a:ln w="12700">
            <a:solidFill>
              <a:srgbClr val="FFFFFF"/>
            </a:solidFill>
            <a:prstDash val="solid"/>
          </a:ln>
        </p:spPr>
      </p:sp>
      <p:sp>
        <p:nvSpPr>
          <p:cNvPr id="35" name="Shape 31"/>
          <p:cNvSpPr/>
          <p:nvPr/>
        </p:nvSpPr>
        <p:spPr>
          <a:xfrm>
            <a:off x="1709928" y="2176272"/>
            <a:ext cx="402336" cy="402336"/>
          </a:xfrm>
          <a:prstGeom prst="rect">
            <a:avLst/>
          </a:prstGeom>
          <a:solidFill>
            <a:srgbClr val="10A06A"/>
          </a:solidFill>
          <a:ln w="12700">
            <a:solidFill>
              <a:srgbClr val="FFFFFF"/>
            </a:solidFill>
            <a:prstDash val="solid"/>
          </a:ln>
        </p:spPr>
      </p:sp>
      <p:sp>
        <p:nvSpPr>
          <p:cNvPr id="36" name="Shape 32"/>
          <p:cNvSpPr/>
          <p:nvPr/>
        </p:nvSpPr>
        <p:spPr>
          <a:xfrm>
            <a:off x="2112264" y="2176272"/>
            <a:ext cx="402336" cy="402336"/>
          </a:xfrm>
          <a:prstGeom prst="rect">
            <a:avLst/>
          </a:prstGeom>
          <a:solidFill>
            <a:srgbClr val="FFFFFF"/>
          </a:solidFill>
          <a:ln w="12700">
            <a:solidFill>
              <a:srgbClr val="D5DED9"/>
            </a:solidFill>
            <a:prstDash val="dash"/>
          </a:ln>
        </p:spPr>
      </p:sp>
      <p:pic>
        <p:nvPicPr>
          <p:cNvPr id="37" name="Image 1" descr="preencoded.png"/>
          <p:cNvPicPr>
            <a:picLocks noChangeAspect="1"/>
          </p:cNvPicPr>
          <p:nvPr/>
        </p:nvPicPr>
        <p:blipFill>
          <a:blip r:embed="rId3"/>
          <a:stretch>
            <a:fillRect/>
          </a:stretch>
        </p:blipFill>
        <p:spPr>
          <a:xfrm>
            <a:off x="2212848" y="2276856"/>
            <a:ext cx="219456" cy="219456"/>
          </a:xfrm>
          <a:prstGeom prst="rect">
            <a:avLst/>
          </a:prstGeom>
        </p:spPr>
      </p:pic>
      <p:sp>
        <p:nvSpPr>
          <p:cNvPr id="38" name="Shape 33"/>
          <p:cNvSpPr/>
          <p:nvPr/>
        </p:nvSpPr>
        <p:spPr>
          <a:xfrm>
            <a:off x="2514600" y="2176272"/>
            <a:ext cx="402336" cy="402336"/>
          </a:xfrm>
          <a:prstGeom prst="rect">
            <a:avLst/>
          </a:prstGeom>
          <a:solidFill>
            <a:srgbClr val="FFFFFF"/>
          </a:solidFill>
          <a:ln w="12700">
            <a:solidFill>
              <a:srgbClr val="D5DED9"/>
            </a:solidFill>
            <a:prstDash val="dash"/>
          </a:ln>
        </p:spPr>
      </p:sp>
      <p:sp>
        <p:nvSpPr>
          <p:cNvPr id="39" name="Shape 34"/>
          <p:cNvSpPr/>
          <p:nvPr/>
        </p:nvSpPr>
        <p:spPr>
          <a:xfrm>
            <a:off x="2916936" y="2176272"/>
            <a:ext cx="402336" cy="402336"/>
          </a:xfrm>
          <a:prstGeom prst="rect">
            <a:avLst/>
          </a:prstGeom>
          <a:solidFill>
            <a:srgbClr val="FFFFFF"/>
          </a:solidFill>
          <a:ln w="12700">
            <a:solidFill>
              <a:srgbClr val="D5DED9"/>
            </a:solidFill>
            <a:prstDash val="dash"/>
          </a:ln>
        </p:spPr>
      </p:sp>
      <p:pic>
        <p:nvPicPr>
          <p:cNvPr id="40" name="Image 2" descr="preencoded.png"/>
          <p:cNvPicPr>
            <a:picLocks noChangeAspect="1"/>
          </p:cNvPicPr>
          <p:nvPr/>
        </p:nvPicPr>
        <p:blipFill>
          <a:blip r:embed="rId3"/>
          <a:stretch>
            <a:fillRect/>
          </a:stretch>
        </p:blipFill>
        <p:spPr>
          <a:xfrm>
            <a:off x="3017520" y="2276856"/>
            <a:ext cx="219456" cy="219456"/>
          </a:xfrm>
          <a:prstGeom prst="rect">
            <a:avLst/>
          </a:prstGeom>
        </p:spPr>
      </p:pic>
      <p:sp>
        <p:nvSpPr>
          <p:cNvPr id="41" name="Shape 35"/>
          <p:cNvSpPr/>
          <p:nvPr/>
        </p:nvSpPr>
        <p:spPr>
          <a:xfrm>
            <a:off x="502920" y="2578608"/>
            <a:ext cx="402336" cy="402336"/>
          </a:xfrm>
          <a:prstGeom prst="rect">
            <a:avLst/>
          </a:prstGeom>
          <a:solidFill>
            <a:srgbClr val="10A06A"/>
          </a:solidFill>
          <a:ln w="12700">
            <a:solidFill>
              <a:srgbClr val="FFFFFF"/>
            </a:solidFill>
            <a:prstDash val="solid"/>
          </a:ln>
        </p:spPr>
      </p:sp>
      <p:sp>
        <p:nvSpPr>
          <p:cNvPr id="42" name="Shape 36"/>
          <p:cNvSpPr/>
          <p:nvPr/>
        </p:nvSpPr>
        <p:spPr>
          <a:xfrm>
            <a:off x="905256" y="2578608"/>
            <a:ext cx="402336" cy="402336"/>
          </a:xfrm>
          <a:prstGeom prst="rect">
            <a:avLst/>
          </a:prstGeom>
          <a:solidFill>
            <a:srgbClr val="10A06A"/>
          </a:solidFill>
          <a:ln w="12700">
            <a:solidFill>
              <a:srgbClr val="FFFFFF"/>
            </a:solidFill>
            <a:prstDash val="solid"/>
          </a:ln>
        </p:spPr>
      </p:sp>
      <p:sp>
        <p:nvSpPr>
          <p:cNvPr id="43" name="Shape 37"/>
          <p:cNvSpPr/>
          <p:nvPr/>
        </p:nvSpPr>
        <p:spPr>
          <a:xfrm>
            <a:off x="1307592" y="2578608"/>
            <a:ext cx="402336" cy="402336"/>
          </a:xfrm>
          <a:prstGeom prst="rect">
            <a:avLst/>
          </a:prstGeom>
          <a:solidFill>
            <a:srgbClr val="10A06A"/>
          </a:solidFill>
          <a:ln w="12700">
            <a:solidFill>
              <a:srgbClr val="FFFFFF"/>
            </a:solidFill>
            <a:prstDash val="solid"/>
          </a:ln>
        </p:spPr>
      </p:sp>
      <p:sp>
        <p:nvSpPr>
          <p:cNvPr id="44" name="Shape 38"/>
          <p:cNvSpPr/>
          <p:nvPr/>
        </p:nvSpPr>
        <p:spPr>
          <a:xfrm>
            <a:off x="1709928" y="2578608"/>
            <a:ext cx="402336" cy="402336"/>
          </a:xfrm>
          <a:prstGeom prst="rect">
            <a:avLst/>
          </a:prstGeom>
          <a:solidFill>
            <a:srgbClr val="FFFFFF"/>
          </a:solidFill>
          <a:ln w="12700">
            <a:solidFill>
              <a:srgbClr val="D5DED9"/>
            </a:solidFill>
            <a:prstDash val="dash"/>
          </a:ln>
        </p:spPr>
      </p:sp>
      <p:sp>
        <p:nvSpPr>
          <p:cNvPr id="45" name="Shape 39"/>
          <p:cNvSpPr/>
          <p:nvPr/>
        </p:nvSpPr>
        <p:spPr>
          <a:xfrm>
            <a:off x="2112264" y="2578608"/>
            <a:ext cx="402336" cy="402336"/>
          </a:xfrm>
          <a:prstGeom prst="rect">
            <a:avLst/>
          </a:prstGeom>
          <a:solidFill>
            <a:srgbClr val="FFFFFF"/>
          </a:solidFill>
          <a:ln w="12700">
            <a:solidFill>
              <a:srgbClr val="D5DED9"/>
            </a:solidFill>
            <a:prstDash val="dash"/>
          </a:ln>
        </p:spPr>
      </p:sp>
      <p:pic>
        <p:nvPicPr>
          <p:cNvPr id="46" name="Image 3" descr="preencoded.png"/>
          <p:cNvPicPr>
            <a:picLocks noChangeAspect="1"/>
          </p:cNvPicPr>
          <p:nvPr/>
        </p:nvPicPr>
        <p:blipFill>
          <a:blip r:embed="rId3"/>
          <a:stretch>
            <a:fillRect/>
          </a:stretch>
        </p:blipFill>
        <p:spPr>
          <a:xfrm>
            <a:off x="2212848" y="2679192"/>
            <a:ext cx="219456" cy="219456"/>
          </a:xfrm>
          <a:prstGeom prst="rect">
            <a:avLst/>
          </a:prstGeom>
        </p:spPr>
      </p:pic>
      <p:sp>
        <p:nvSpPr>
          <p:cNvPr id="47" name="Shape 40"/>
          <p:cNvSpPr/>
          <p:nvPr/>
        </p:nvSpPr>
        <p:spPr>
          <a:xfrm>
            <a:off x="2514600" y="2578608"/>
            <a:ext cx="402336" cy="402336"/>
          </a:xfrm>
          <a:prstGeom prst="rect">
            <a:avLst/>
          </a:prstGeom>
          <a:solidFill>
            <a:srgbClr val="FFFFFF"/>
          </a:solidFill>
          <a:ln w="12700">
            <a:solidFill>
              <a:srgbClr val="D5DED9"/>
            </a:solidFill>
            <a:prstDash val="dash"/>
          </a:ln>
        </p:spPr>
      </p:sp>
      <p:pic>
        <p:nvPicPr>
          <p:cNvPr id="48" name="Image 4" descr="preencoded.png"/>
          <p:cNvPicPr>
            <a:picLocks noChangeAspect="1"/>
          </p:cNvPicPr>
          <p:nvPr/>
        </p:nvPicPr>
        <p:blipFill>
          <a:blip r:embed="rId3"/>
          <a:stretch>
            <a:fillRect/>
          </a:stretch>
        </p:blipFill>
        <p:spPr>
          <a:xfrm>
            <a:off x="2615184" y="2679192"/>
            <a:ext cx="219456" cy="219456"/>
          </a:xfrm>
          <a:prstGeom prst="rect">
            <a:avLst/>
          </a:prstGeom>
        </p:spPr>
      </p:pic>
      <p:sp>
        <p:nvSpPr>
          <p:cNvPr id="49" name="Shape 41"/>
          <p:cNvSpPr/>
          <p:nvPr/>
        </p:nvSpPr>
        <p:spPr>
          <a:xfrm>
            <a:off x="2916936" y="2578608"/>
            <a:ext cx="402336" cy="402336"/>
          </a:xfrm>
          <a:prstGeom prst="rect">
            <a:avLst/>
          </a:prstGeom>
          <a:solidFill>
            <a:srgbClr val="FFFFFF"/>
          </a:solidFill>
          <a:ln w="12700">
            <a:solidFill>
              <a:srgbClr val="D5DED9"/>
            </a:solidFill>
            <a:prstDash val="dash"/>
          </a:ln>
        </p:spPr>
      </p:sp>
      <p:sp>
        <p:nvSpPr>
          <p:cNvPr id="50" name="Shape 42"/>
          <p:cNvSpPr/>
          <p:nvPr/>
        </p:nvSpPr>
        <p:spPr>
          <a:xfrm>
            <a:off x="502920" y="2980944"/>
            <a:ext cx="402336" cy="402336"/>
          </a:xfrm>
          <a:prstGeom prst="rect">
            <a:avLst/>
          </a:prstGeom>
          <a:solidFill>
            <a:srgbClr val="10A06A"/>
          </a:solidFill>
          <a:ln w="12700">
            <a:solidFill>
              <a:srgbClr val="FFFFFF"/>
            </a:solidFill>
            <a:prstDash val="solid"/>
          </a:ln>
        </p:spPr>
      </p:sp>
      <p:sp>
        <p:nvSpPr>
          <p:cNvPr id="51" name="Shape 43"/>
          <p:cNvSpPr/>
          <p:nvPr/>
        </p:nvSpPr>
        <p:spPr>
          <a:xfrm>
            <a:off x="905256" y="2980944"/>
            <a:ext cx="402336" cy="402336"/>
          </a:xfrm>
          <a:prstGeom prst="rect">
            <a:avLst/>
          </a:prstGeom>
          <a:solidFill>
            <a:srgbClr val="10A06A"/>
          </a:solidFill>
          <a:ln w="12700">
            <a:solidFill>
              <a:srgbClr val="FFFFFF"/>
            </a:solidFill>
            <a:prstDash val="solid"/>
          </a:ln>
        </p:spPr>
      </p:sp>
      <p:sp>
        <p:nvSpPr>
          <p:cNvPr id="52" name="Shape 44"/>
          <p:cNvSpPr/>
          <p:nvPr/>
        </p:nvSpPr>
        <p:spPr>
          <a:xfrm>
            <a:off x="1307592" y="2980944"/>
            <a:ext cx="402336" cy="402336"/>
          </a:xfrm>
          <a:prstGeom prst="rect">
            <a:avLst/>
          </a:prstGeom>
          <a:solidFill>
            <a:srgbClr val="FFFFFF"/>
          </a:solidFill>
          <a:ln w="12700">
            <a:solidFill>
              <a:srgbClr val="D5DED9"/>
            </a:solidFill>
            <a:prstDash val="dash"/>
          </a:ln>
        </p:spPr>
      </p:sp>
      <p:sp>
        <p:nvSpPr>
          <p:cNvPr id="53" name="Shape 45"/>
          <p:cNvSpPr/>
          <p:nvPr/>
        </p:nvSpPr>
        <p:spPr>
          <a:xfrm>
            <a:off x="1709928" y="2980944"/>
            <a:ext cx="402336" cy="402336"/>
          </a:xfrm>
          <a:prstGeom prst="rect">
            <a:avLst/>
          </a:prstGeom>
          <a:solidFill>
            <a:srgbClr val="FFFFFF"/>
          </a:solidFill>
          <a:ln w="12700">
            <a:solidFill>
              <a:srgbClr val="D5DED9"/>
            </a:solidFill>
            <a:prstDash val="dash"/>
          </a:ln>
        </p:spPr>
      </p:sp>
      <p:pic>
        <p:nvPicPr>
          <p:cNvPr id="54" name="Image 5" descr="preencoded.png"/>
          <p:cNvPicPr>
            <a:picLocks noChangeAspect="1"/>
          </p:cNvPicPr>
          <p:nvPr/>
        </p:nvPicPr>
        <p:blipFill>
          <a:blip r:embed="rId3"/>
          <a:stretch>
            <a:fillRect/>
          </a:stretch>
        </p:blipFill>
        <p:spPr>
          <a:xfrm>
            <a:off x="1810512" y="3081528"/>
            <a:ext cx="219456" cy="219456"/>
          </a:xfrm>
          <a:prstGeom prst="rect">
            <a:avLst/>
          </a:prstGeom>
        </p:spPr>
      </p:pic>
      <p:sp>
        <p:nvSpPr>
          <p:cNvPr id="55" name="Shape 46"/>
          <p:cNvSpPr/>
          <p:nvPr/>
        </p:nvSpPr>
        <p:spPr>
          <a:xfrm>
            <a:off x="2112264" y="2980944"/>
            <a:ext cx="402336" cy="402336"/>
          </a:xfrm>
          <a:prstGeom prst="rect">
            <a:avLst/>
          </a:prstGeom>
          <a:solidFill>
            <a:srgbClr val="FFFFFF"/>
          </a:solidFill>
          <a:ln w="12700">
            <a:solidFill>
              <a:srgbClr val="D5DED9"/>
            </a:solidFill>
            <a:prstDash val="dash"/>
          </a:ln>
        </p:spPr>
      </p:sp>
      <p:sp>
        <p:nvSpPr>
          <p:cNvPr id="56" name="Shape 47"/>
          <p:cNvSpPr/>
          <p:nvPr/>
        </p:nvSpPr>
        <p:spPr>
          <a:xfrm>
            <a:off x="2514600" y="2980944"/>
            <a:ext cx="402336" cy="402336"/>
          </a:xfrm>
          <a:prstGeom prst="rect">
            <a:avLst/>
          </a:prstGeom>
          <a:solidFill>
            <a:srgbClr val="FFFFFF"/>
          </a:solidFill>
          <a:ln w="12700">
            <a:solidFill>
              <a:srgbClr val="D5DED9"/>
            </a:solidFill>
            <a:prstDash val="dash"/>
          </a:ln>
        </p:spPr>
      </p:sp>
      <p:sp>
        <p:nvSpPr>
          <p:cNvPr id="57" name="Shape 48"/>
          <p:cNvSpPr/>
          <p:nvPr/>
        </p:nvSpPr>
        <p:spPr>
          <a:xfrm>
            <a:off x="2916936" y="2980944"/>
            <a:ext cx="402336" cy="402336"/>
          </a:xfrm>
          <a:prstGeom prst="rect">
            <a:avLst/>
          </a:prstGeom>
          <a:solidFill>
            <a:srgbClr val="FFFFFF"/>
          </a:solidFill>
          <a:ln w="12700">
            <a:solidFill>
              <a:srgbClr val="D5DED9"/>
            </a:solidFill>
            <a:prstDash val="dash"/>
          </a:ln>
        </p:spPr>
      </p:sp>
      <p:pic>
        <p:nvPicPr>
          <p:cNvPr id="58" name="Image 6" descr="preencoded.png"/>
          <p:cNvPicPr>
            <a:picLocks noChangeAspect="1"/>
          </p:cNvPicPr>
          <p:nvPr/>
        </p:nvPicPr>
        <p:blipFill>
          <a:blip r:embed="rId3"/>
          <a:stretch>
            <a:fillRect/>
          </a:stretch>
        </p:blipFill>
        <p:spPr>
          <a:xfrm>
            <a:off x="3017520" y="3081528"/>
            <a:ext cx="219456" cy="219456"/>
          </a:xfrm>
          <a:prstGeom prst="rect">
            <a:avLst/>
          </a:prstGeom>
        </p:spPr>
      </p:pic>
      <p:sp>
        <p:nvSpPr>
          <p:cNvPr id="59" name="Shape 49"/>
          <p:cNvSpPr/>
          <p:nvPr/>
        </p:nvSpPr>
        <p:spPr>
          <a:xfrm>
            <a:off x="502920" y="3383280"/>
            <a:ext cx="402336" cy="402336"/>
          </a:xfrm>
          <a:prstGeom prst="rect">
            <a:avLst/>
          </a:prstGeom>
          <a:solidFill>
            <a:srgbClr val="10A06A"/>
          </a:solidFill>
          <a:ln w="12700">
            <a:solidFill>
              <a:srgbClr val="FFFFFF"/>
            </a:solidFill>
            <a:prstDash val="solid"/>
          </a:ln>
        </p:spPr>
      </p:sp>
      <p:sp>
        <p:nvSpPr>
          <p:cNvPr id="60" name="Shape 50"/>
          <p:cNvSpPr/>
          <p:nvPr/>
        </p:nvSpPr>
        <p:spPr>
          <a:xfrm>
            <a:off x="905256" y="3383280"/>
            <a:ext cx="402336" cy="402336"/>
          </a:xfrm>
          <a:prstGeom prst="rect">
            <a:avLst/>
          </a:prstGeom>
          <a:solidFill>
            <a:srgbClr val="FFFFFF"/>
          </a:solidFill>
          <a:ln w="12700">
            <a:solidFill>
              <a:srgbClr val="D5DED9"/>
            </a:solidFill>
            <a:prstDash val="dash"/>
          </a:ln>
        </p:spPr>
      </p:sp>
      <p:sp>
        <p:nvSpPr>
          <p:cNvPr id="61" name="Shape 51"/>
          <p:cNvSpPr/>
          <p:nvPr/>
        </p:nvSpPr>
        <p:spPr>
          <a:xfrm>
            <a:off x="1307592" y="3383280"/>
            <a:ext cx="402336" cy="402336"/>
          </a:xfrm>
          <a:prstGeom prst="rect">
            <a:avLst/>
          </a:prstGeom>
          <a:solidFill>
            <a:srgbClr val="FFFFFF"/>
          </a:solidFill>
          <a:ln w="12700">
            <a:solidFill>
              <a:srgbClr val="D5DED9"/>
            </a:solidFill>
            <a:prstDash val="dash"/>
          </a:ln>
        </p:spPr>
      </p:sp>
      <p:sp>
        <p:nvSpPr>
          <p:cNvPr id="62" name="Shape 52"/>
          <p:cNvSpPr/>
          <p:nvPr/>
        </p:nvSpPr>
        <p:spPr>
          <a:xfrm>
            <a:off x="1709928" y="3383280"/>
            <a:ext cx="402336" cy="402336"/>
          </a:xfrm>
          <a:prstGeom prst="rect">
            <a:avLst/>
          </a:prstGeom>
          <a:solidFill>
            <a:srgbClr val="FFFFFF"/>
          </a:solidFill>
          <a:ln w="12700">
            <a:solidFill>
              <a:srgbClr val="D5DED9"/>
            </a:solidFill>
            <a:prstDash val="dash"/>
          </a:ln>
        </p:spPr>
      </p:sp>
      <p:pic>
        <p:nvPicPr>
          <p:cNvPr id="63" name="Image 7" descr="preencoded.png"/>
          <p:cNvPicPr>
            <a:picLocks noChangeAspect="1"/>
          </p:cNvPicPr>
          <p:nvPr/>
        </p:nvPicPr>
        <p:blipFill>
          <a:blip r:embed="rId3"/>
          <a:stretch>
            <a:fillRect/>
          </a:stretch>
        </p:blipFill>
        <p:spPr>
          <a:xfrm>
            <a:off x="1810512" y="3483864"/>
            <a:ext cx="219456" cy="219456"/>
          </a:xfrm>
          <a:prstGeom prst="rect">
            <a:avLst/>
          </a:prstGeom>
        </p:spPr>
      </p:pic>
      <p:sp>
        <p:nvSpPr>
          <p:cNvPr id="64" name="Shape 53"/>
          <p:cNvSpPr/>
          <p:nvPr/>
        </p:nvSpPr>
        <p:spPr>
          <a:xfrm>
            <a:off x="2112264" y="3383280"/>
            <a:ext cx="402336" cy="402336"/>
          </a:xfrm>
          <a:prstGeom prst="rect">
            <a:avLst/>
          </a:prstGeom>
          <a:solidFill>
            <a:srgbClr val="FFFFFF"/>
          </a:solidFill>
          <a:ln w="12700">
            <a:solidFill>
              <a:srgbClr val="D5DED9"/>
            </a:solidFill>
            <a:prstDash val="dash"/>
          </a:ln>
        </p:spPr>
      </p:sp>
      <p:pic>
        <p:nvPicPr>
          <p:cNvPr id="65" name="Image 8" descr="preencoded.png"/>
          <p:cNvPicPr>
            <a:picLocks noChangeAspect="1"/>
          </p:cNvPicPr>
          <p:nvPr/>
        </p:nvPicPr>
        <p:blipFill>
          <a:blip r:embed="rId3"/>
          <a:stretch>
            <a:fillRect/>
          </a:stretch>
        </p:blipFill>
        <p:spPr>
          <a:xfrm>
            <a:off x="2212848" y="3483864"/>
            <a:ext cx="219456" cy="219456"/>
          </a:xfrm>
          <a:prstGeom prst="rect">
            <a:avLst/>
          </a:prstGeom>
        </p:spPr>
      </p:pic>
      <p:sp>
        <p:nvSpPr>
          <p:cNvPr id="66" name="Shape 54"/>
          <p:cNvSpPr/>
          <p:nvPr/>
        </p:nvSpPr>
        <p:spPr>
          <a:xfrm>
            <a:off x="2514600" y="3383280"/>
            <a:ext cx="402336" cy="402336"/>
          </a:xfrm>
          <a:prstGeom prst="rect">
            <a:avLst/>
          </a:prstGeom>
          <a:solidFill>
            <a:srgbClr val="FFFFFF"/>
          </a:solidFill>
          <a:ln w="12700">
            <a:solidFill>
              <a:srgbClr val="D5DED9"/>
            </a:solidFill>
            <a:prstDash val="dash"/>
          </a:ln>
        </p:spPr>
      </p:sp>
      <p:sp>
        <p:nvSpPr>
          <p:cNvPr id="67" name="Shape 55"/>
          <p:cNvSpPr/>
          <p:nvPr/>
        </p:nvSpPr>
        <p:spPr>
          <a:xfrm>
            <a:off x="2916936" y="3383280"/>
            <a:ext cx="402336" cy="402336"/>
          </a:xfrm>
          <a:prstGeom prst="rect">
            <a:avLst/>
          </a:prstGeom>
          <a:solidFill>
            <a:srgbClr val="FFFFFF"/>
          </a:solidFill>
          <a:ln w="12700">
            <a:solidFill>
              <a:srgbClr val="D5DED9"/>
            </a:solidFill>
            <a:prstDash val="dash"/>
          </a:ln>
        </p:spPr>
      </p:sp>
      <p:sp>
        <p:nvSpPr>
          <p:cNvPr id="68" name="Shape 56"/>
          <p:cNvSpPr/>
          <p:nvPr/>
        </p:nvSpPr>
        <p:spPr>
          <a:xfrm>
            <a:off x="502920" y="3785616"/>
            <a:ext cx="402336" cy="402336"/>
          </a:xfrm>
          <a:prstGeom prst="rect">
            <a:avLst/>
          </a:prstGeom>
          <a:solidFill>
            <a:srgbClr val="FFFFFF"/>
          </a:solidFill>
          <a:ln w="12700">
            <a:solidFill>
              <a:srgbClr val="D5DED9"/>
            </a:solidFill>
            <a:prstDash val="dash"/>
          </a:ln>
        </p:spPr>
      </p:sp>
      <p:sp>
        <p:nvSpPr>
          <p:cNvPr id="69" name="Shape 57"/>
          <p:cNvSpPr/>
          <p:nvPr/>
        </p:nvSpPr>
        <p:spPr>
          <a:xfrm>
            <a:off x="905256" y="3785616"/>
            <a:ext cx="402336" cy="402336"/>
          </a:xfrm>
          <a:prstGeom prst="rect">
            <a:avLst/>
          </a:prstGeom>
          <a:solidFill>
            <a:srgbClr val="FFFFFF"/>
          </a:solidFill>
          <a:ln w="12700">
            <a:solidFill>
              <a:srgbClr val="D5DED9"/>
            </a:solidFill>
            <a:prstDash val="dash"/>
          </a:ln>
        </p:spPr>
      </p:sp>
      <p:sp>
        <p:nvSpPr>
          <p:cNvPr id="70" name="Shape 58"/>
          <p:cNvSpPr/>
          <p:nvPr/>
        </p:nvSpPr>
        <p:spPr>
          <a:xfrm>
            <a:off x="1307592" y="3785616"/>
            <a:ext cx="402336" cy="402336"/>
          </a:xfrm>
          <a:prstGeom prst="rect">
            <a:avLst/>
          </a:prstGeom>
          <a:solidFill>
            <a:srgbClr val="FFFFFF"/>
          </a:solidFill>
          <a:ln w="12700">
            <a:solidFill>
              <a:srgbClr val="D5DED9"/>
            </a:solidFill>
            <a:prstDash val="dash"/>
          </a:ln>
        </p:spPr>
      </p:sp>
      <p:pic>
        <p:nvPicPr>
          <p:cNvPr id="71" name="Image 9" descr="preencoded.png"/>
          <p:cNvPicPr>
            <a:picLocks noChangeAspect="1"/>
          </p:cNvPicPr>
          <p:nvPr/>
        </p:nvPicPr>
        <p:blipFill>
          <a:blip r:embed="rId3"/>
          <a:stretch>
            <a:fillRect/>
          </a:stretch>
        </p:blipFill>
        <p:spPr>
          <a:xfrm>
            <a:off x="1408176" y="3886200"/>
            <a:ext cx="219456" cy="219456"/>
          </a:xfrm>
          <a:prstGeom prst="rect">
            <a:avLst/>
          </a:prstGeom>
        </p:spPr>
      </p:pic>
      <p:sp>
        <p:nvSpPr>
          <p:cNvPr id="72" name="Shape 59"/>
          <p:cNvSpPr/>
          <p:nvPr/>
        </p:nvSpPr>
        <p:spPr>
          <a:xfrm>
            <a:off x="1709928" y="3785616"/>
            <a:ext cx="402336" cy="402336"/>
          </a:xfrm>
          <a:prstGeom prst="rect">
            <a:avLst/>
          </a:prstGeom>
          <a:solidFill>
            <a:srgbClr val="FFFFFF"/>
          </a:solidFill>
          <a:ln w="12700">
            <a:solidFill>
              <a:srgbClr val="D5DED9"/>
            </a:solidFill>
            <a:prstDash val="dash"/>
          </a:ln>
        </p:spPr>
      </p:sp>
      <p:sp>
        <p:nvSpPr>
          <p:cNvPr id="73" name="Shape 60"/>
          <p:cNvSpPr/>
          <p:nvPr/>
        </p:nvSpPr>
        <p:spPr>
          <a:xfrm>
            <a:off x="2112264" y="3785616"/>
            <a:ext cx="402336" cy="402336"/>
          </a:xfrm>
          <a:prstGeom prst="rect">
            <a:avLst/>
          </a:prstGeom>
          <a:solidFill>
            <a:srgbClr val="FFFFFF"/>
          </a:solidFill>
          <a:ln w="12700">
            <a:solidFill>
              <a:srgbClr val="D5DED9"/>
            </a:solidFill>
            <a:prstDash val="dash"/>
          </a:ln>
        </p:spPr>
      </p:sp>
      <p:sp>
        <p:nvSpPr>
          <p:cNvPr id="74" name="Shape 61"/>
          <p:cNvSpPr/>
          <p:nvPr/>
        </p:nvSpPr>
        <p:spPr>
          <a:xfrm>
            <a:off x="2514600" y="3785616"/>
            <a:ext cx="402336" cy="402336"/>
          </a:xfrm>
          <a:prstGeom prst="rect">
            <a:avLst/>
          </a:prstGeom>
          <a:solidFill>
            <a:srgbClr val="FFFFFF"/>
          </a:solidFill>
          <a:ln w="12700">
            <a:solidFill>
              <a:srgbClr val="D5DED9"/>
            </a:solidFill>
            <a:prstDash val="dash"/>
          </a:ln>
        </p:spPr>
      </p:sp>
      <p:sp>
        <p:nvSpPr>
          <p:cNvPr id="75" name="Shape 62"/>
          <p:cNvSpPr/>
          <p:nvPr/>
        </p:nvSpPr>
        <p:spPr>
          <a:xfrm>
            <a:off x="2916936" y="3785616"/>
            <a:ext cx="402336" cy="402336"/>
          </a:xfrm>
          <a:prstGeom prst="rect">
            <a:avLst/>
          </a:prstGeom>
          <a:solidFill>
            <a:srgbClr val="FFFFFF"/>
          </a:solidFill>
          <a:ln w="12700">
            <a:solidFill>
              <a:srgbClr val="D5DED9"/>
            </a:solidFill>
            <a:prstDash val="dash"/>
          </a:ln>
        </p:spPr>
      </p:sp>
      <p:sp>
        <p:nvSpPr>
          <p:cNvPr id="76" name="Shape 63"/>
          <p:cNvSpPr/>
          <p:nvPr/>
        </p:nvSpPr>
        <p:spPr>
          <a:xfrm>
            <a:off x="502920" y="4251960"/>
            <a:ext cx="164592" cy="164592"/>
          </a:xfrm>
          <a:prstGeom prst="rect">
            <a:avLst/>
          </a:prstGeom>
          <a:solidFill>
            <a:srgbClr val="10A06A"/>
          </a:solidFill>
          <a:ln/>
        </p:spPr>
      </p:sp>
      <p:sp>
        <p:nvSpPr>
          <p:cNvPr id="77" name="Text 64"/>
          <p:cNvSpPr txBox="1"/>
          <p:nvPr/>
        </p:nvSpPr>
        <p:spPr>
          <a:xfrm>
            <a:off x="713232" y="4242816"/>
            <a:ext cx="731520" cy="18288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mesurée</a:t>
            </a:r>
            <a:endParaRPr lang="en-US" sz="900" dirty="0"/>
          </a:p>
        </p:txBody>
      </p:sp>
      <p:sp>
        <p:nvSpPr>
          <p:cNvPr id="78" name="Shape 65"/>
          <p:cNvSpPr/>
          <p:nvPr/>
        </p:nvSpPr>
        <p:spPr>
          <a:xfrm>
            <a:off x="1417320" y="4251960"/>
            <a:ext cx="164592" cy="164592"/>
          </a:xfrm>
          <a:prstGeom prst="rect">
            <a:avLst/>
          </a:prstGeom>
          <a:solidFill>
            <a:srgbClr val="FFFFFF"/>
          </a:solidFill>
          <a:ln w="12700">
            <a:solidFill>
              <a:srgbClr val="D5DED9"/>
            </a:solidFill>
            <a:prstDash val="dash"/>
          </a:ln>
        </p:spPr>
      </p:sp>
      <p:sp>
        <p:nvSpPr>
          <p:cNvPr id="79" name="Text 66"/>
          <p:cNvSpPr txBox="1"/>
          <p:nvPr/>
        </p:nvSpPr>
        <p:spPr>
          <a:xfrm>
            <a:off x="1627632" y="4242816"/>
            <a:ext cx="548640" cy="18288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vide</a:t>
            </a:r>
            <a:endParaRPr lang="en-US" sz="900" dirty="0"/>
          </a:p>
        </p:txBody>
      </p:sp>
      <p:pic>
        <p:nvPicPr>
          <p:cNvPr id="80" name="Image 10" descr="preencoded.png"/>
          <p:cNvPicPr>
            <a:picLocks noChangeAspect="1"/>
          </p:cNvPicPr>
          <p:nvPr/>
        </p:nvPicPr>
        <p:blipFill>
          <a:blip r:embed="rId3"/>
          <a:stretch>
            <a:fillRect/>
          </a:stretch>
        </p:blipFill>
        <p:spPr>
          <a:xfrm>
            <a:off x="2148840" y="4251960"/>
            <a:ext cx="164592" cy="164592"/>
          </a:xfrm>
          <a:prstGeom prst="rect">
            <a:avLst/>
          </a:prstGeom>
        </p:spPr>
      </p:pic>
      <p:sp>
        <p:nvSpPr>
          <p:cNvPr id="81" name="Text 67"/>
          <p:cNvSpPr txBox="1"/>
          <p:nvPr/>
        </p:nvSpPr>
        <p:spPr>
          <a:xfrm>
            <a:off x="2359152" y="4242816"/>
            <a:ext cx="1097280" cy="18288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vide mais peuplée</a:t>
            </a:r>
            <a:endParaRPr lang="en-US" sz="900" dirty="0"/>
          </a:p>
        </p:txBody>
      </p:sp>
      <p:sp>
        <p:nvSpPr>
          <p:cNvPr id="82" name="Text 68"/>
          <p:cNvSpPr txBox="1"/>
          <p:nvPr/>
        </p:nvSpPr>
        <p:spPr>
          <a:xfrm>
            <a:off x="3931920" y="1325880"/>
            <a:ext cx="2743200" cy="201168"/>
          </a:xfrm>
          <a:prstGeom prst="rect">
            <a:avLst/>
          </a:prstGeom>
          <a:noFill/>
          <a:ln/>
        </p:spPr>
        <p:txBody>
          <a:bodyPr wrap="square" lIns="0" tIns="0" rIns="0" bIns="0" rtlCol="0" anchor="t"/>
          <a:lstStyle/>
          <a:p>
            <a:pPr marL="0" indent="0">
              <a:buNone/>
            </a:pPr>
            <a:r>
              <a:rPr lang="en-US" sz="1000" b="1" kern="0" spc="200" dirty="0">
                <a:solidFill>
                  <a:srgbClr val="C4621D"/>
                </a:solidFill>
                <a:latin typeface="Calibri" pitchFamily="34" charset="0"/>
                <a:ea typeface="Calibri" pitchFamily="34" charset="-122"/>
                <a:cs typeface="Calibri" pitchFamily="34" charset="-120"/>
              </a:rPr>
              <a:t>UNE TUILE VIDE PEUT SIGNIFIER</a:t>
            </a:r>
            <a:endParaRPr lang="en-US" sz="1000" dirty="0"/>
          </a:p>
        </p:txBody>
      </p:sp>
      <p:sp>
        <p:nvSpPr>
          <p:cNvPr id="83" name="Shape 69"/>
          <p:cNvSpPr/>
          <p:nvPr/>
        </p:nvSpPr>
        <p:spPr>
          <a:xfrm>
            <a:off x="3931920" y="1600200"/>
            <a:ext cx="2286000" cy="329184"/>
          </a:xfrm>
          <a:prstGeom prst="roundRect">
            <a:avLst>
              <a:gd name="adj" fmla="val 50000"/>
            </a:avLst>
          </a:prstGeom>
          <a:solidFill>
            <a:srgbClr val="C4621D">
              <a:alpha val="12000"/>
            </a:srgbClr>
          </a:solidFill>
          <a:ln w="9525">
            <a:solidFill>
              <a:srgbClr val="C4621D"/>
            </a:solidFill>
            <a:prstDash val="solid"/>
          </a:ln>
        </p:spPr>
      </p:sp>
      <p:sp>
        <p:nvSpPr>
          <p:cNvPr id="84" name="Text 70"/>
          <p:cNvSpPr txBox="1"/>
          <p:nvPr/>
        </p:nvSpPr>
        <p:spPr>
          <a:xfrm>
            <a:off x="4041648" y="1600200"/>
            <a:ext cx="2103120" cy="329184"/>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Pas de service</a:t>
            </a:r>
            <a:endParaRPr lang="en-US" sz="1050" dirty="0"/>
          </a:p>
        </p:txBody>
      </p:sp>
      <p:sp>
        <p:nvSpPr>
          <p:cNvPr id="85" name="Shape 71"/>
          <p:cNvSpPr/>
          <p:nvPr/>
        </p:nvSpPr>
        <p:spPr>
          <a:xfrm>
            <a:off x="6327648" y="1600200"/>
            <a:ext cx="2286000" cy="329184"/>
          </a:xfrm>
          <a:prstGeom prst="roundRect">
            <a:avLst>
              <a:gd name="adj" fmla="val 50000"/>
            </a:avLst>
          </a:prstGeom>
          <a:solidFill>
            <a:srgbClr val="C4621D">
              <a:alpha val="12000"/>
            </a:srgbClr>
          </a:solidFill>
          <a:ln w="9525">
            <a:solidFill>
              <a:srgbClr val="C4621D"/>
            </a:solidFill>
            <a:prstDash val="solid"/>
          </a:ln>
        </p:spPr>
      </p:sp>
      <p:sp>
        <p:nvSpPr>
          <p:cNvPr id="86" name="Text 72"/>
          <p:cNvSpPr txBox="1"/>
          <p:nvPr/>
        </p:nvSpPr>
        <p:spPr>
          <a:xfrm>
            <a:off x="6437376" y="1600200"/>
            <a:ext cx="2103120" cy="329184"/>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Service inabordable</a:t>
            </a:r>
            <a:endParaRPr lang="en-US" sz="1050" dirty="0"/>
          </a:p>
        </p:txBody>
      </p:sp>
      <p:sp>
        <p:nvSpPr>
          <p:cNvPr id="87" name="Shape 73"/>
          <p:cNvSpPr/>
          <p:nvPr/>
        </p:nvSpPr>
        <p:spPr>
          <a:xfrm>
            <a:off x="3931920" y="2011680"/>
            <a:ext cx="2286000" cy="329184"/>
          </a:xfrm>
          <a:prstGeom prst="roundRect">
            <a:avLst>
              <a:gd name="adj" fmla="val 50000"/>
            </a:avLst>
          </a:prstGeom>
          <a:solidFill>
            <a:srgbClr val="C4621D">
              <a:alpha val="12000"/>
            </a:srgbClr>
          </a:solidFill>
          <a:ln w="9525">
            <a:solidFill>
              <a:srgbClr val="C4621D"/>
            </a:solidFill>
            <a:prstDash val="solid"/>
          </a:ln>
        </p:spPr>
      </p:sp>
      <p:sp>
        <p:nvSpPr>
          <p:cNvPr id="88" name="Text 74"/>
          <p:cNvSpPr txBox="1"/>
          <p:nvPr/>
        </p:nvSpPr>
        <p:spPr>
          <a:xfrm>
            <a:off x="4041648" y="2011680"/>
            <a:ext cx="2103120" cy="329184"/>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Peu ou pas de smartphones</a:t>
            </a:r>
            <a:endParaRPr lang="en-US" sz="1050" dirty="0"/>
          </a:p>
        </p:txBody>
      </p:sp>
      <p:sp>
        <p:nvSpPr>
          <p:cNvPr id="89" name="Shape 75"/>
          <p:cNvSpPr/>
          <p:nvPr/>
        </p:nvSpPr>
        <p:spPr>
          <a:xfrm>
            <a:off x="6327648" y="2011680"/>
            <a:ext cx="2286000" cy="329184"/>
          </a:xfrm>
          <a:prstGeom prst="roundRect">
            <a:avLst>
              <a:gd name="adj" fmla="val 50000"/>
            </a:avLst>
          </a:prstGeom>
          <a:solidFill>
            <a:srgbClr val="C4621D">
              <a:alpha val="12000"/>
            </a:srgbClr>
          </a:solidFill>
          <a:ln w="9525">
            <a:solidFill>
              <a:srgbClr val="C4621D"/>
            </a:solidFill>
            <a:prstDash val="solid"/>
          </a:ln>
        </p:spPr>
      </p:sp>
      <p:sp>
        <p:nvSpPr>
          <p:cNvPr id="90" name="Text 76"/>
          <p:cNvSpPr txBox="1"/>
          <p:nvPr/>
        </p:nvSpPr>
        <p:spPr>
          <a:xfrm>
            <a:off x="6437376" y="2011680"/>
            <a:ext cx="2103120" cy="329184"/>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Presque personne n’y vit</a:t>
            </a:r>
            <a:endParaRPr lang="en-US" sz="1050" dirty="0"/>
          </a:p>
        </p:txBody>
      </p:sp>
      <p:sp>
        <p:nvSpPr>
          <p:cNvPr id="91" name="Shape 77"/>
          <p:cNvSpPr/>
          <p:nvPr/>
        </p:nvSpPr>
        <p:spPr>
          <a:xfrm>
            <a:off x="3931920" y="2423160"/>
            <a:ext cx="2286000" cy="329184"/>
          </a:xfrm>
          <a:prstGeom prst="roundRect">
            <a:avLst>
              <a:gd name="adj" fmla="val 50000"/>
            </a:avLst>
          </a:prstGeom>
          <a:solidFill>
            <a:srgbClr val="C4621D">
              <a:alpha val="12000"/>
            </a:srgbClr>
          </a:solidFill>
          <a:ln w="9525">
            <a:solidFill>
              <a:srgbClr val="C4621D"/>
            </a:solidFill>
            <a:prstDash val="solid"/>
          </a:ln>
        </p:spPr>
      </p:sp>
      <p:sp>
        <p:nvSpPr>
          <p:cNvPr id="92" name="Text 78"/>
          <p:cNvSpPr txBox="1"/>
          <p:nvPr/>
        </p:nvSpPr>
        <p:spPr>
          <a:xfrm>
            <a:off x="4041648" y="2423160"/>
            <a:ext cx="2103120" cy="329184"/>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Personne n’a fait de test</a:t>
            </a:r>
            <a:endParaRPr lang="en-US" sz="1050" dirty="0"/>
          </a:p>
        </p:txBody>
      </p:sp>
      <p:sp>
        <p:nvSpPr>
          <p:cNvPr id="93" name="Shape 79"/>
          <p:cNvSpPr/>
          <p:nvPr/>
        </p:nvSpPr>
        <p:spPr>
          <a:xfrm>
            <a:off x="3931920" y="2834640"/>
            <a:ext cx="4754880" cy="1600200"/>
          </a:xfrm>
          <a:prstGeom prst="roundRect">
            <a:avLst>
              <a:gd name="adj" fmla="val 4571"/>
            </a:avLst>
          </a:prstGeom>
          <a:solidFill>
            <a:srgbClr val="E8F5EF"/>
          </a:solidFill>
          <a:ln w="15875">
            <a:solidFill>
              <a:srgbClr val="00A86A"/>
            </a:solidFill>
            <a:prstDash val="solid"/>
          </a:ln>
        </p:spPr>
      </p:sp>
      <p:sp>
        <p:nvSpPr>
          <p:cNvPr id="94" name="Text 80"/>
          <p:cNvSpPr txBox="1"/>
          <p:nvPr/>
        </p:nvSpPr>
        <p:spPr>
          <a:xfrm>
            <a:off x="4096512" y="2898648"/>
            <a:ext cx="4114800" cy="237744"/>
          </a:xfrm>
          <a:prstGeom prst="rect">
            <a:avLst/>
          </a:prstGeom>
          <a:noFill/>
          <a:ln/>
        </p:spPr>
        <p:txBody>
          <a:bodyPr wrap="square" lIns="0" tIns="0" rIns="0" bIns="0" rtlCol="0" anchor="t"/>
          <a:lstStyle/>
          <a:p>
            <a:pPr marL="0" indent="0">
              <a:buNone/>
            </a:pPr>
            <a:r>
              <a:rPr lang="en-US" sz="1250" b="1" dirty="0">
                <a:solidFill>
                  <a:srgbClr val="00704A"/>
                </a:solidFill>
                <a:latin typeface="Calibri" pitchFamily="34" charset="0"/>
                <a:ea typeface="Calibri" pitchFamily="34" charset="-122"/>
                <a:cs typeface="Calibri" pitchFamily="34" charset="-120"/>
              </a:rPr>
              <a:t>Comment l’exploiter</a:t>
            </a:r>
            <a:endParaRPr lang="en-US" sz="1250" dirty="0"/>
          </a:p>
        </p:txBody>
      </p:sp>
      <p:sp>
        <p:nvSpPr>
          <p:cNvPr id="95" name="Text 81"/>
          <p:cNvSpPr txBox="1"/>
          <p:nvPr/>
        </p:nvSpPr>
        <p:spPr>
          <a:xfrm>
            <a:off x="4096512" y="3154680"/>
            <a:ext cx="4480560" cy="123444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231F20"/>
                </a:solidFill>
                <a:latin typeface="Calibri" pitchFamily="34" charset="0"/>
                <a:ea typeface="Calibri" pitchFamily="34" charset="-122"/>
                <a:cs typeface="Calibri" pitchFamily="34" charset="-120"/>
              </a:rPr>
              <a:t>Cartographier la présence des tuiles, pas seulement leurs valeurs, sur plusieurs trimestres.</a:t>
            </a:r>
            <a:endParaRPr lang="en-US" sz="1050" dirty="0"/>
          </a:p>
          <a:p>
            <a:pPr marL="342900" indent="-342900">
              <a:spcAft>
                <a:spcPts val="300"/>
              </a:spcAft>
              <a:buSzPct val="100000"/>
              <a:buChar char="•"/>
            </a:pPr>
            <a:r>
              <a:rPr lang="en-US" sz="1050" dirty="0">
                <a:solidFill>
                  <a:srgbClr val="231F20"/>
                </a:solidFill>
                <a:latin typeface="Calibri" pitchFamily="34" charset="0"/>
                <a:ea typeface="Calibri" pitchFamily="34" charset="-122"/>
                <a:cs typeface="Calibri" pitchFamily="34" charset="-120"/>
              </a:rPr>
              <a:t>Superposer WorldPop : l’absence dans une tuile peuplée est le cas à étudier.</a:t>
            </a:r>
            <a:endParaRPr lang="en-US" sz="1050" dirty="0"/>
          </a:p>
          <a:p>
            <a:pPr marL="342900" indent="-342900">
              <a:spcAft>
                <a:spcPts val="300"/>
              </a:spcAft>
              <a:buSzPct val="100000"/>
              <a:buChar char="•"/>
            </a:pPr>
            <a:r>
              <a:rPr lang="en-US" sz="1050" dirty="0">
                <a:solidFill>
                  <a:srgbClr val="231F20"/>
                </a:solidFill>
                <a:latin typeface="Calibri" pitchFamily="34" charset="0"/>
                <a:ea typeface="Calibri" pitchFamily="34" charset="-122"/>
                <a:cs typeface="Calibri" pitchFamily="34" charset="-120"/>
              </a:rPr>
              <a:t>Traiter l’absence persistante comme une piste à vérifier sur le terrain, jamais comme un résultat.</a:t>
            </a:r>
            <a:endParaRPr lang="en-US" sz="1050" dirty="0"/>
          </a:p>
        </p:txBody>
      </p:sp>
      <p:sp>
        <p:nvSpPr>
          <p:cNvPr id="96" name="Text 82"/>
          <p:cNvSpPr txBox="1"/>
          <p:nvPr/>
        </p:nvSpPr>
        <p:spPr>
          <a:xfrm>
            <a:off x="457200" y="4572000"/>
            <a:ext cx="749808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Illustration schématique, données fictives.</a:t>
            </a:r>
            <a:endParaRPr lang="en-US" sz="900" dirty="0"/>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05 · SIGNAL 3</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Substitution : qui vit avec le seul mobile ?</a:t>
            </a:r>
            <a:endParaRPr lang="en-US" sz="28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5DED9"/>
          </a:solidFill>
          <a:ln/>
        </p:spPr>
      </p:sp>
      <p:sp>
        <p:nvSpPr>
          <p:cNvPr id="12" name="Shape 10"/>
          <p:cNvSpPr/>
          <p:nvPr/>
        </p:nvSpPr>
        <p:spPr>
          <a:xfrm>
            <a:off x="8321040" y="310896"/>
            <a:ext cx="91440" cy="91440"/>
          </a:xfrm>
          <a:prstGeom prst="ellipse">
            <a:avLst/>
          </a:prstGeom>
          <a:solidFill>
            <a:srgbClr val="C4621D"/>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BAD – Data Innovation for Africa (DI4A)  ·  Ookla Open Data et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28</a:t>
            </a:r>
            <a:endParaRPr lang="en-US" sz="850" dirty="0"/>
          </a:p>
        </p:txBody>
      </p:sp>
      <p:sp>
        <p:nvSpPr>
          <p:cNvPr id="17" name="Text 14"/>
          <p:cNvSpPr txBox="1"/>
          <p:nvPr/>
        </p:nvSpPr>
        <p:spPr>
          <a:xfrm>
            <a:off x="1463040" y="1325880"/>
            <a:ext cx="4663440" cy="201168"/>
          </a:xfrm>
          <a:prstGeom prst="rect">
            <a:avLst/>
          </a:prstGeom>
          <a:noFill/>
          <a:ln/>
        </p:spPr>
        <p:txBody>
          <a:bodyPr wrap="square" lIns="0" tIns="0" rIns="0" bIns="0" rtlCol="0" anchor="t"/>
          <a:lstStyle/>
          <a:p>
            <a:pPr marL="0" indent="0" algn="ctr">
              <a:buNone/>
            </a:pPr>
            <a:r>
              <a:rPr lang="en-US" sz="950" b="1" kern="0" spc="200" dirty="0">
                <a:solidFill>
                  <a:srgbClr val="5E6964"/>
                </a:solidFill>
                <a:latin typeface="Calibri" pitchFamily="34" charset="0"/>
                <a:ea typeface="Calibri" pitchFamily="34" charset="-122"/>
                <a:cs typeface="Calibri" pitchFamily="34" charset="-120"/>
              </a:rPr>
              <a:t>COUCHE FIXE</a:t>
            </a:r>
            <a:endParaRPr lang="en-US" sz="950" dirty="0"/>
          </a:p>
        </p:txBody>
      </p:sp>
      <p:sp>
        <p:nvSpPr>
          <p:cNvPr id="18" name="Text 15"/>
          <p:cNvSpPr txBox="1"/>
          <p:nvPr/>
        </p:nvSpPr>
        <p:spPr>
          <a:xfrm>
            <a:off x="1463040" y="3977640"/>
            <a:ext cx="2331720" cy="182880"/>
          </a:xfrm>
          <a:prstGeom prst="rect">
            <a:avLst/>
          </a:prstGeom>
          <a:noFill/>
          <a:ln/>
        </p:spPr>
        <p:txBody>
          <a:bodyPr wrap="square" lIns="0" tIns="0" rIns="0" bIns="0" rtlCol="0" anchor="t"/>
          <a:lstStyle/>
          <a:p>
            <a:pPr marL="0" indent="0" algn="ctr">
              <a:buNone/>
            </a:pPr>
            <a:r>
              <a:rPr lang="en-US" sz="950" dirty="0">
                <a:solidFill>
                  <a:srgbClr val="5E6964"/>
                </a:solidFill>
                <a:latin typeface="Calibri" pitchFamily="34" charset="0"/>
                <a:ea typeface="Calibri" pitchFamily="34" charset="-122"/>
                <a:cs typeface="Calibri" pitchFamily="34" charset="-120"/>
              </a:rPr>
              <a:t>tests présents</a:t>
            </a:r>
            <a:endParaRPr lang="en-US" sz="950" dirty="0"/>
          </a:p>
        </p:txBody>
      </p:sp>
      <p:sp>
        <p:nvSpPr>
          <p:cNvPr id="19" name="Text 16"/>
          <p:cNvSpPr txBox="1"/>
          <p:nvPr/>
        </p:nvSpPr>
        <p:spPr>
          <a:xfrm>
            <a:off x="3794760" y="3977640"/>
            <a:ext cx="2331720" cy="182880"/>
          </a:xfrm>
          <a:prstGeom prst="rect">
            <a:avLst/>
          </a:prstGeom>
          <a:noFill/>
          <a:ln/>
        </p:spPr>
        <p:txBody>
          <a:bodyPr wrap="square" lIns="0" tIns="0" rIns="0" bIns="0" rtlCol="0" anchor="t"/>
          <a:lstStyle/>
          <a:p>
            <a:pPr marL="0" indent="0" algn="ctr">
              <a:buNone/>
            </a:pPr>
            <a:r>
              <a:rPr lang="en-US" sz="950" dirty="0">
                <a:solidFill>
                  <a:srgbClr val="5E6964"/>
                </a:solidFill>
                <a:latin typeface="Calibri" pitchFamily="34" charset="0"/>
                <a:ea typeface="Calibri" pitchFamily="34" charset="-122"/>
                <a:cs typeface="Calibri" pitchFamily="34" charset="-120"/>
              </a:rPr>
              <a:t>aucun test</a:t>
            </a:r>
            <a:endParaRPr lang="en-US" sz="950" dirty="0"/>
          </a:p>
        </p:txBody>
      </p:sp>
      <p:sp>
        <p:nvSpPr>
          <p:cNvPr id="20" name="Text 17"/>
          <p:cNvSpPr txBox="1"/>
          <p:nvPr/>
        </p:nvSpPr>
        <p:spPr>
          <a:xfrm>
            <a:off x="182880" y="2633472"/>
            <a:ext cx="1005840" cy="274320"/>
          </a:xfrm>
          <a:prstGeom prst="rect">
            <a:avLst/>
          </a:prstGeom>
          <a:noFill/>
          <a:ln/>
        </p:spPr>
        <p:txBody>
          <a:bodyPr wrap="square" lIns="0" tIns="0" rIns="0" bIns="0" rtlCol="0" anchor="t"/>
          <a:lstStyle/>
          <a:p>
            <a:pPr marL="0" indent="0" algn="r">
              <a:buNone/>
            </a:pPr>
            <a:r>
              <a:rPr lang="en-US" sz="950" b="1" kern="0" spc="100" dirty="0">
                <a:solidFill>
                  <a:srgbClr val="5E6964"/>
                </a:solidFill>
                <a:latin typeface="Calibri" pitchFamily="34" charset="0"/>
                <a:ea typeface="Calibri" pitchFamily="34" charset="-122"/>
                <a:cs typeface="Calibri" pitchFamily="34" charset="-120"/>
              </a:rPr>
              <a:t>COUCHE MOBILE</a:t>
            </a:r>
            <a:endParaRPr lang="en-US" sz="950" dirty="0"/>
          </a:p>
        </p:txBody>
      </p:sp>
      <p:sp>
        <p:nvSpPr>
          <p:cNvPr id="21" name="Text 18"/>
          <p:cNvSpPr txBox="1"/>
          <p:nvPr/>
        </p:nvSpPr>
        <p:spPr>
          <a:xfrm>
            <a:off x="822960" y="2057400"/>
            <a:ext cx="566928" cy="228600"/>
          </a:xfrm>
          <a:prstGeom prst="rect">
            <a:avLst/>
          </a:prstGeom>
          <a:noFill/>
          <a:ln/>
        </p:spPr>
        <p:txBody>
          <a:bodyPr wrap="square" lIns="0" tIns="0" rIns="0" bIns="0" rtlCol="0" anchor="t"/>
          <a:lstStyle/>
          <a:p>
            <a:pPr marL="0" indent="0" algn="r">
              <a:buNone/>
            </a:pPr>
            <a:r>
              <a:rPr lang="en-US" sz="950" dirty="0">
                <a:solidFill>
                  <a:srgbClr val="5E6964"/>
                </a:solidFill>
                <a:latin typeface="Calibri" pitchFamily="34" charset="0"/>
                <a:ea typeface="Calibri" pitchFamily="34" charset="-122"/>
                <a:cs typeface="Calibri" pitchFamily="34" charset="-120"/>
              </a:rPr>
              <a:t>présente</a:t>
            </a:r>
            <a:endParaRPr lang="en-US" sz="950" dirty="0"/>
          </a:p>
        </p:txBody>
      </p:sp>
      <p:sp>
        <p:nvSpPr>
          <p:cNvPr id="22" name="Text 19"/>
          <p:cNvSpPr txBox="1"/>
          <p:nvPr/>
        </p:nvSpPr>
        <p:spPr>
          <a:xfrm>
            <a:off x="822960" y="3227832"/>
            <a:ext cx="566928" cy="228600"/>
          </a:xfrm>
          <a:prstGeom prst="rect">
            <a:avLst/>
          </a:prstGeom>
          <a:noFill/>
          <a:ln/>
        </p:spPr>
        <p:txBody>
          <a:bodyPr wrap="square" lIns="0" tIns="0" rIns="0" bIns="0" rtlCol="0" anchor="t"/>
          <a:lstStyle/>
          <a:p>
            <a:pPr marL="0" indent="0" algn="r">
              <a:buNone/>
            </a:pPr>
            <a:r>
              <a:rPr lang="en-US" sz="950" dirty="0">
                <a:solidFill>
                  <a:srgbClr val="5E6964"/>
                </a:solidFill>
                <a:latin typeface="Calibri" pitchFamily="34" charset="0"/>
                <a:ea typeface="Calibri" pitchFamily="34" charset="-122"/>
                <a:cs typeface="Calibri" pitchFamily="34" charset="-120"/>
              </a:rPr>
              <a:t>absente</a:t>
            </a:r>
            <a:endParaRPr lang="en-US" sz="950" dirty="0"/>
          </a:p>
        </p:txBody>
      </p:sp>
      <p:sp>
        <p:nvSpPr>
          <p:cNvPr id="23" name="Shape 20"/>
          <p:cNvSpPr/>
          <p:nvPr/>
        </p:nvSpPr>
        <p:spPr>
          <a:xfrm>
            <a:off x="1499616" y="1636776"/>
            <a:ext cx="2258568" cy="1097280"/>
          </a:xfrm>
          <a:prstGeom prst="rect">
            <a:avLst/>
          </a:prstGeom>
          <a:solidFill>
            <a:srgbClr val="F4F7F5"/>
          </a:solidFill>
          <a:ln w="9525">
            <a:solidFill>
              <a:srgbClr val="D5DED9"/>
            </a:solidFill>
            <a:prstDash val="solid"/>
          </a:ln>
        </p:spPr>
      </p:sp>
      <p:sp>
        <p:nvSpPr>
          <p:cNvPr id="24" name="Shape 21"/>
          <p:cNvSpPr/>
          <p:nvPr/>
        </p:nvSpPr>
        <p:spPr>
          <a:xfrm>
            <a:off x="1627632" y="1783080"/>
            <a:ext cx="402336" cy="402336"/>
          </a:xfrm>
          <a:prstGeom prst="ellipse">
            <a:avLst/>
          </a:prstGeom>
          <a:solidFill>
            <a:srgbClr val="00A86A">
              <a:alpha val="22000"/>
            </a:srgbClr>
          </a:solidFill>
          <a:ln/>
        </p:spPr>
      </p:sp>
      <p:pic>
        <p:nvPicPr>
          <p:cNvPr id="25" name="Image 0" descr="preencoded.png"/>
          <p:cNvPicPr>
            <a:picLocks noChangeAspect="1"/>
          </p:cNvPicPr>
          <p:nvPr/>
        </p:nvPicPr>
        <p:blipFill>
          <a:blip r:embed="rId3"/>
          <a:stretch>
            <a:fillRect/>
          </a:stretch>
        </p:blipFill>
        <p:spPr>
          <a:xfrm>
            <a:off x="1724193" y="1879641"/>
            <a:ext cx="209215" cy="209215"/>
          </a:xfrm>
          <a:prstGeom prst="rect">
            <a:avLst/>
          </a:prstGeom>
        </p:spPr>
      </p:pic>
      <p:sp>
        <p:nvSpPr>
          <p:cNvPr id="26" name="Text 22"/>
          <p:cNvSpPr txBox="1"/>
          <p:nvPr/>
        </p:nvSpPr>
        <p:spPr>
          <a:xfrm>
            <a:off x="2121408" y="1801368"/>
            <a:ext cx="1554480" cy="365760"/>
          </a:xfrm>
          <a:prstGeom prst="rect">
            <a:avLst/>
          </a:prstGeom>
          <a:noFill/>
          <a:ln/>
        </p:spPr>
        <p:txBody>
          <a:bodyPr wrap="square" lIns="0" tIns="0" rIns="0" bIns="0"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Les deux</a:t>
            </a:r>
            <a:endParaRPr lang="en-US" sz="1400" dirty="0"/>
          </a:p>
        </p:txBody>
      </p:sp>
      <p:sp>
        <p:nvSpPr>
          <p:cNvPr id="27" name="Text 23"/>
          <p:cNvSpPr txBox="1"/>
          <p:nvPr/>
        </p:nvSpPr>
        <p:spPr>
          <a:xfrm>
            <a:off x="1645920" y="2258568"/>
            <a:ext cx="2011680" cy="41148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Environnement offrant du choix.</a:t>
            </a:r>
            <a:endParaRPr lang="en-US" sz="1050" dirty="0"/>
          </a:p>
        </p:txBody>
      </p:sp>
      <p:sp>
        <p:nvSpPr>
          <p:cNvPr id="28" name="Shape 24"/>
          <p:cNvSpPr/>
          <p:nvPr/>
        </p:nvSpPr>
        <p:spPr>
          <a:xfrm>
            <a:off x="3831336" y="1636776"/>
            <a:ext cx="2258568" cy="1097280"/>
          </a:xfrm>
          <a:prstGeom prst="rect">
            <a:avLst/>
          </a:prstGeom>
          <a:solidFill>
            <a:srgbClr val="FBEFE6"/>
          </a:solidFill>
          <a:ln w="19050">
            <a:solidFill>
              <a:srgbClr val="C4621D"/>
            </a:solidFill>
            <a:prstDash val="solid"/>
          </a:ln>
        </p:spPr>
      </p:sp>
      <p:sp>
        <p:nvSpPr>
          <p:cNvPr id="29" name="Shape 25"/>
          <p:cNvSpPr/>
          <p:nvPr/>
        </p:nvSpPr>
        <p:spPr>
          <a:xfrm>
            <a:off x="3959352" y="1783080"/>
            <a:ext cx="402336" cy="402336"/>
          </a:xfrm>
          <a:prstGeom prst="ellipse">
            <a:avLst/>
          </a:prstGeom>
          <a:solidFill>
            <a:srgbClr val="C4621D">
              <a:alpha val="22000"/>
            </a:srgbClr>
          </a:solidFill>
          <a:ln/>
        </p:spPr>
      </p:sp>
      <p:pic>
        <p:nvPicPr>
          <p:cNvPr id="30" name="Image 1" descr="preencoded.png"/>
          <p:cNvPicPr>
            <a:picLocks noChangeAspect="1"/>
          </p:cNvPicPr>
          <p:nvPr/>
        </p:nvPicPr>
        <p:blipFill>
          <a:blip r:embed="rId4"/>
          <a:stretch>
            <a:fillRect/>
          </a:stretch>
        </p:blipFill>
        <p:spPr>
          <a:xfrm>
            <a:off x="4055913" y="1879641"/>
            <a:ext cx="209215" cy="209215"/>
          </a:xfrm>
          <a:prstGeom prst="rect">
            <a:avLst/>
          </a:prstGeom>
        </p:spPr>
      </p:pic>
      <p:sp>
        <p:nvSpPr>
          <p:cNvPr id="31" name="Text 26"/>
          <p:cNvSpPr txBox="1"/>
          <p:nvPr/>
        </p:nvSpPr>
        <p:spPr>
          <a:xfrm>
            <a:off x="4453128" y="1801368"/>
            <a:ext cx="1554480" cy="365760"/>
          </a:xfrm>
          <a:prstGeom prst="rect">
            <a:avLst/>
          </a:prstGeom>
          <a:noFill/>
          <a:ln/>
        </p:spPr>
        <p:txBody>
          <a:bodyPr wrap="square" lIns="0" tIns="0" rIns="0" bIns="0"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Mobile seul</a:t>
            </a:r>
            <a:endParaRPr lang="en-US" sz="1400" dirty="0"/>
          </a:p>
        </p:txBody>
      </p:sp>
      <p:sp>
        <p:nvSpPr>
          <p:cNvPr id="32" name="Text 27"/>
          <p:cNvSpPr txBox="1"/>
          <p:nvPr/>
        </p:nvSpPr>
        <p:spPr>
          <a:xfrm>
            <a:off x="3977640" y="2258568"/>
            <a:ext cx="2011680" cy="41148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Ménages probablement dépendants du mobile.</a:t>
            </a:r>
            <a:endParaRPr lang="en-US" sz="1050" dirty="0"/>
          </a:p>
        </p:txBody>
      </p:sp>
      <p:sp>
        <p:nvSpPr>
          <p:cNvPr id="33" name="Shape 28"/>
          <p:cNvSpPr/>
          <p:nvPr/>
        </p:nvSpPr>
        <p:spPr>
          <a:xfrm>
            <a:off x="1499616" y="2807208"/>
            <a:ext cx="2258568" cy="1097280"/>
          </a:xfrm>
          <a:prstGeom prst="rect">
            <a:avLst/>
          </a:prstGeom>
          <a:solidFill>
            <a:srgbClr val="F4F7F5"/>
          </a:solidFill>
          <a:ln w="9525">
            <a:solidFill>
              <a:srgbClr val="D5DED9"/>
            </a:solidFill>
            <a:prstDash val="solid"/>
          </a:ln>
        </p:spPr>
      </p:sp>
      <p:sp>
        <p:nvSpPr>
          <p:cNvPr id="34" name="Shape 29"/>
          <p:cNvSpPr/>
          <p:nvPr/>
        </p:nvSpPr>
        <p:spPr>
          <a:xfrm>
            <a:off x="1627632" y="2953512"/>
            <a:ext cx="402336" cy="402336"/>
          </a:xfrm>
          <a:prstGeom prst="ellipse">
            <a:avLst/>
          </a:prstGeom>
          <a:solidFill>
            <a:srgbClr val="0E7C86">
              <a:alpha val="22000"/>
            </a:srgbClr>
          </a:solidFill>
          <a:ln/>
        </p:spPr>
      </p:sp>
      <p:pic>
        <p:nvPicPr>
          <p:cNvPr id="35" name="Image 2" descr="preencoded.png"/>
          <p:cNvPicPr>
            <a:picLocks noChangeAspect="1"/>
          </p:cNvPicPr>
          <p:nvPr/>
        </p:nvPicPr>
        <p:blipFill>
          <a:blip r:embed="rId5"/>
          <a:stretch>
            <a:fillRect/>
          </a:stretch>
        </p:blipFill>
        <p:spPr>
          <a:xfrm>
            <a:off x="1724193" y="3050073"/>
            <a:ext cx="209215" cy="209215"/>
          </a:xfrm>
          <a:prstGeom prst="rect">
            <a:avLst/>
          </a:prstGeom>
        </p:spPr>
      </p:pic>
      <p:sp>
        <p:nvSpPr>
          <p:cNvPr id="36" name="Text 30"/>
          <p:cNvSpPr txBox="1"/>
          <p:nvPr/>
        </p:nvSpPr>
        <p:spPr>
          <a:xfrm>
            <a:off x="2121408" y="2971800"/>
            <a:ext cx="1554480" cy="365760"/>
          </a:xfrm>
          <a:prstGeom prst="rect">
            <a:avLst/>
          </a:prstGeom>
          <a:noFill/>
          <a:ln/>
        </p:spPr>
        <p:txBody>
          <a:bodyPr wrap="square" lIns="0" tIns="0" rIns="0" bIns="0"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Fixe seul</a:t>
            </a:r>
            <a:endParaRPr lang="en-US" sz="1400" dirty="0"/>
          </a:p>
        </p:txBody>
      </p:sp>
      <p:sp>
        <p:nvSpPr>
          <p:cNvPr id="37" name="Text 31"/>
          <p:cNvSpPr txBox="1"/>
          <p:nvPr/>
        </p:nvSpPr>
        <p:spPr>
          <a:xfrm>
            <a:off x="1645920" y="3429000"/>
            <a:ext cx="2011680" cy="41148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Réception cellulaire faible, surtout en intérieur.</a:t>
            </a:r>
            <a:endParaRPr lang="en-US" sz="1050" dirty="0"/>
          </a:p>
        </p:txBody>
      </p:sp>
      <p:sp>
        <p:nvSpPr>
          <p:cNvPr id="38" name="Shape 32"/>
          <p:cNvSpPr/>
          <p:nvPr/>
        </p:nvSpPr>
        <p:spPr>
          <a:xfrm>
            <a:off x="3831336" y="2807208"/>
            <a:ext cx="2258568" cy="1097280"/>
          </a:xfrm>
          <a:prstGeom prst="rect">
            <a:avLst/>
          </a:prstGeom>
          <a:solidFill>
            <a:srgbClr val="F4F7F5"/>
          </a:solidFill>
          <a:ln w="9525">
            <a:solidFill>
              <a:srgbClr val="D5DED9"/>
            </a:solidFill>
            <a:prstDash val="solid"/>
          </a:ln>
        </p:spPr>
      </p:sp>
      <p:sp>
        <p:nvSpPr>
          <p:cNvPr id="39" name="Shape 33"/>
          <p:cNvSpPr/>
          <p:nvPr/>
        </p:nvSpPr>
        <p:spPr>
          <a:xfrm>
            <a:off x="3959352" y="2953512"/>
            <a:ext cx="402336" cy="402336"/>
          </a:xfrm>
          <a:prstGeom prst="ellipse">
            <a:avLst/>
          </a:prstGeom>
          <a:solidFill>
            <a:srgbClr val="A9B5B0">
              <a:alpha val="22000"/>
            </a:srgbClr>
          </a:solidFill>
          <a:ln/>
        </p:spPr>
      </p:sp>
      <p:pic>
        <p:nvPicPr>
          <p:cNvPr id="40" name="Image 3" descr="preencoded.png"/>
          <p:cNvPicPr>
            <a:picLocks noChangeAspect="1"/>
          </p:cNvPicPr>
          <p:nvPr/>
        </p:nvPicPr>
        <p:blipFill>
          <a:blip r:embed="rId6"/>
          <a:stretch>
            <a:fillRect/>
          </a:stretch>
        </p:blipFill>
        <p:spPr>
          <a:xfrm>
            <a:off x="4055913" y="3050073"/>
            <a:ext cx="209215" cy="209215"/>
          </a:xfrm>
          <a:prstGeom prst="rect">
            <a:avLst/>
          </a:prstGeom>
        </p:spPr>
      </p:pic>
      <p:sp>
        <p:nvSpPr>
          <p:cNvPr id="41" name="Text 34"/>
          <p:cNvSpPr txBox="1"/>
          <p:nvPr/>
        </p:nvSpPr>
        <p:spPr>
          <a:xfrm>
            <a:off x="4453128" y="2971800"/>
            <a:ext cx="1554480" cy="365760"/>
          </a:xfrm>
          <a:prstGeom prst="rect">
            <a:avLst/>
          </a:prstGeom>
          <a:noFill/>
          <a:ln/>
        </p:spPr>
        <p:txBody>
          <a:bodyPr wrap="square" lIns="0" tIns="0" rIns="0" bIns="0"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Aucun</a:t>
            </a:r>
            <a:endParaRPr lang="en-US" sz="1400" dirty="0"/>
          </a:p>
        </p:txBody>
      </p:sp>
      <p:sp>
        <p:nvSpPr>
          <p:cNvPr id="42" name="Text 35"/>
          <p:cNvSpPr txBox="1"/>
          <p:nvPr/>
        </p:nvSpPr>
        <p:spPr>
          <a:xfrm>
            <a:off x="3977640" y="3429000"/>
            <a:ext cx="2011680" cy="41148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Non mesuré : voir signal 1.</a:t>
            </a:r>
            <a:endParaRPr lang="en-US" sz="1050" dirty="0"/>
          </a:p>
        </p:txBody>
      </p:sp>
      <p:sp>
        <p:nvSpPr>
          <p:cNvPr id="43" name="Shape 36"/>
          <p:cNvSpPr/>
          <p:nvPr/>
        </p:nvSpPr>
        <p:spPr>
          <a:xfrm>
            <a:off x="6355080" y="1371600"/>
            <a:ext cx="2331720" cy="3063240"/>
          </a:xfrm>
          <a:prstGeom prst="roundRect">
            <a:avLst>
              <a:gd name="adj" fmla="val 3137"/>
            </a:avLst>
          </a:prstGeom>
          <a:solidFill>
            <a:srgbClr val="FFFFFF"/>
          </a:solidFill>
          <a:ln w="15875">
            <a:solidFill>
              <a:srgbClr val="C4621D"/>
            </a:solidFill>
            <a:prstDash val="solid"/>
          </a:ln>
        </p:spPr>
      </p:sp>
      <p:sp>
        <p:nvSpPr>
          <p:cNvPr id="44" name="Shape 37"/>
          <p:cNvSpPr/>
          <p:nvPr/>
        </p:nvSpPr>
        <p:spPr>
          <a:xfrm>
            <a:off x="6492240" y="1481328"/>
            <a:ext cx="420624" cy="420624"/>
          </a:xfrm>
          <a:prstGeom prst="ellipse">
            <a:avLst/>
          </a:prstGeom>
          <a:solidFill>
            <a:srgbClr val="C4621D">
              <a:alpha val="22000"/>
            </a:srgbClr>
          </a:solidFill>
          <a:ln/>
        </p:spPr>
      </p:sp>
      <p:pic>
        <p:nvPicPr>
          <p:cNvPr id="45" name="Image 4" descr="preencoded.png"/>
          <p:cNvPicPr>
            <a:picLocks noChangeAspect="1"/>
          </p:cNvPicPr>
          <p:nvPr/>
        </p:nvPicPr>
        <p:blipFill>
          <a:blip r:embed="rId7"/>
          <a:stretch>
            <a:fillRect/>
          </a:stretch>
        </p:blipFill>
        <p:spPr>
          <a:xfrm>
            <a:off x="6593190" y="1582278"/>
            <a:ext cx="218724" cy="218724"/>
          </a:xfrm>
          <a:prstGeom prst="rect">
            <a:avLst/>
          </a:prstGeom>
        </p:spPr>
      </p:pic>
      <p:sp>
        <p:nvSpPr>
          <p:cNvPr id="46" name="Text 38"/>
          <p:cNvSpPr txBox="1"/>
          <p:nvPr/>
        </p:nvSpPr>
        <p:spPr>
          <a:xfrm>
            <a:off x="6995160" y="1554480"/>
            <a:ext cx="1645920" cy="274320"/>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L’enjeu</a:t>
            </a:r>
            <a:endParaRPr lang="en-US" sz="1300" dirty="0"/>
          </a:p>
        </p:txBody>
      </p:sp>
      <p:sp>
        <p:nvSpPr>
          <p:cNvPr id="47" name="Text 39"/>
          <p:cNvSpPr txBox="1"/>
          <p:nvPr/>
        </p:nvSpPr>
        <p:spPr>
          <a:xfrm>
            <a:off x="6492240" y="2057400"/>
            <a:ext cx="2103120" cy="2286000"/>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La dépendance au mobile est invisible dans les statistiques de couverture, mais très visible dans les budgets des ménages.</a:t>
            </a:r>
            <a:endParaRPr lang="en-US" sz="1050" dirty="0"/>
          </a:p>
          <a:p>
            <a:pPr marL="0" indent="0">
              <a:buNone/>
            </a:pPr>
            <a:endParaRPr lang="en-US" sz="1050" dirty="0"/>
          </a:p>
          <a:p>
            <a:pPr marL="0" indent="0">
              <a:buNone/>
            </a:pPr>
            <a:r>
              <a:rPr lang="en-US" sz="1050" dirty="0">
                <a:solidFill>
                  <a:srgbClr val="231F20"/>
                </a:solidFill>
                <a:latin typeface="Calibri" pitchFamily="34" charset="0"/>
                <a:ea typeface="Calibri" pitchFamily="34" charset="-122"/>
                <a:cs typeface="Calibri" pitchFamily="34" charset="-120"/>
              </a:rPr>
              <a:t>Cette jointure est l’un des rares moyens de la révéler avec des données ouvertes, comme hypothèse à confronter à votre enquête ménages.</a:t>
            </a:r>
            <a:endParaRPr lang="en-US" sz="1050" dirty="0"/>
          </a:p>
        </p:txBody>
      </p:sp>
      <p:sp>
        <p:nvSpPr>
          <p:cNvPr id="48" name="Text 40"/>
          <p:cNvSpPr txBox="1"/>
          <p:nvPr/>
        </p:nvSpPr>
        <p:spPr>
          <a:xfrm>
            <a:off x="457200" y="4572000"/>
            <a:ext cx="749808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Clé de jointure : quadkey, même trimestre. Dans de nombreux pays africains, la couche fixe est lacunaire : vérifier les effectifs d’abord.</a:t>
            </a:r>
            <a:endParaRPr lang="en-US" sz="900" dirty="0"/>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p:spPr>
      </p:sp>
      <p:sp>
        <p:nvSpPr>
          <p:cNvPr id="3" name="Text 1"/>
          <p:cNvSpPr txBox="1"/>
          <p:nvPr/>
        </p:nvSpPr>
        <p:spPr>
          <a:xfrm>
            <a:off x="548640" y="822960"/>
            <a:ext cx="3657600" cy="228600"/>
          </a:xfrm>
          <a:prstGeom prst="rect">
            <a:avLst/>
          </a:prstGeom>
          <a:noFill/>
          <a:ln/>
        </p:spPr>
        <p:txBody>
          <a:bodyPr wrap="square" lIns="0" tIns="0" rIns="0" bIns="0" rtlCol="0" anchor="t"/>
          <a:lstStyle/>
          <a:p>
            <a:pPr marL="0" indent="0">
              <a:buNone/>
            </a:pPr>
            <a:r>
              <a:rPr lang="en-US" sz="1100" b="1" kern="0" spc="300" dirty="0">
                <a:solidFill>
                  <a:srgbClr val="F5C242"/>
                </a:solidFill>
                <a:latin typeface="Calibri" pitchFamily="34" charset="0"/>
                <a:ea typeface="Calibri" pitchFamily="34" charset="-122"/>
                <a:cs typeface="Calibri" pitchFamily="34" charset="-120"/>
              </a:rPr>
              <a:t>SECTION 06</a:t>
            </a:r>
            <a:endParaRPr lang="en-US" sz="1100" dirty="0"/>
          </a:p>
        </p:txBody>
      </p:sp>
      <p:sp>
        <p:nvSpPr>
          <p:cNvPr id="4" name="Text 2"/>
          <p:cNvSpPr txBox="1"/>
          <p:nvPr/>
        </p:nvSpPr>
        <p:spPr>
          <a:xfrm>
            <a:off x="502920" y="1051560"/>
            <a:ext cx="2743200" cy="1234440"/>
          </a:xfrm>
          <a:prstGeom prst="rect">
            <a:avLst/>
          </a:prstGeom>
          <a:noFill/>
          <a:ln/>
        </p:spPr>
        <p:txBody>
          <a:bodyPr wrap="square" lIns="0" tIns="0" rIns="0" bIns="0" rtlCol="0" anchor="ctr"/>
          <a:lstStyle/>
          <a:p>
            <a:pPr marL="0" indent="0">
              <a:buNone/>
            </a:pPr>
            <a:r>
              <a:rPr lang="en-US" sz="9600" b="1" dirty="0">
                <a:solidFill>
                  <a:srgbClr val="F5C242"/>
                </a:solidFill>
                <a:latin typeface="Calibri" pitchFamily="34" charset="0"/>
                <a:ea typeface="Calibri" pitchFamily="34" charset="-122"/>
                <a:cs typeface="Calibri" pitchFamily="34" charset="-120"/>
              </a:rPr>
              <a:t>06</a:t>
            </a:r>
            <a:endParaRPr lang="en-US" sz="9600" dirty="0"/>
          </a:p>
        </p:txBody>
      </p:sp>
      <p:sp>
        <p:nvSpPr>
          <p:cNvPr id="5" name="Text 3"/>
          <p:cNvSpPr txBox="1"/>
          <p:nvPr/>
        </p:nvSpPr>
        <p:spPr>
          <a:xfrm>
            <a:off x="548640" y="2286000"/>
            <a:ext cx="5212080" cy="1051560"/>
          </a:xfrm>
          <a:prstGeom prst="rect">
            <a:avLst/>
          </a:prstGeom>
          <a:noFill/>
          <a:ln/>
        </p:spPr>
        <p:txBody>
          <a:bodyPr wrap="square" lIns="0" tIns="0" rIns="0" bIns="0" rtlCol="0" anchor="t"/>
          <a:lstStyle/>
          <a:p>
            <a:pPr marL="0" indent="0">
              <a:buNone/>
            </a:pPr>
            <a:r>
              <a:rPr lang="en-US" sz="3200" b="1" dirty="0">
                <a:solidFill>
                  <a:srgbClr val="FFFFFF"/>
                </a:solidFill>
                <a:latin typeface="Calibri" pitchFamily="34" charset="0"/>
                <a:ea typeface="Calibri" pitchFamily="34" charset="-122"/>
                <a:cs typeface="Calibri" pitchFamily="34" charset="-120"/>
              </a:rPr>
              <a:t>Rigueur, limites et publication</a:t>
            </a:r>
            <a:endParaRPr lang="en-US" sz="3200" dirty="0"/>
          </a:p>
        </p:txBody>
      </p:sp>
      <p:sp>
        <p:nvSpPr>
          <p:cNvPr id="6" name="Text 4"/>
          <p:cNvSpPr txBox="1"/>
          <p:nvPr/>
        </p:nvSpPr>
        <p:spPr>
          <a:xfrm>
            <a:off x="548640" y="3493008"/>
            <a:ext cx="4937760" cy="640080"/>
          </a:xfrm>
          <a:prstGeom prst="rect">
            <a:avLst/>
          </a:prstGeom>
          <a:noFill/>
          <a:ln/>
        </p:spPr>
        <p:txBody>
          <a:bodyPr wrap="square" lIns="0" tIns="0" rIns="0" bIns="0" rtlCol="0" anchor="t"/>
          <a:lstStyle/>
          <a:p>
            <a:pPr marL="0" indent="0">
              <a:buNone/>
            </a:pPr>
            <a:r>
              <a:rPr lang="en-US" sz="1600" i="1" dirty="0">
                <a:solidFill>
                  <a:srgbClr val="E6F6EE"/>
                </a:solidFill>
                <a:latin typeface="Calibri" pitchFamily="34" charset="0"/>
                <a:ea typeface="Calibri" pitchFamily="34" charset="-122"/>
                <a:cs typeface="Calibri" pitchFamily="34" charset="-120"/>
              </a:rPr>
              <a:t>Que faut-il garantir avant qu’un chiffre ne quitte l’institut ?</a:t>
            </a:r>
            <a:endParaRPr lang="en-US" sz="1600" dirty="0"/>
          </a:p>
        </p:txBody>
      </p:sp>
      <p:sp>
        <p:nvSpPr>
          <p:cNvPr id="7" name="Shape 5"/>
          <p:cNvSpPr/>
          <p:nvPr/>
        </p:nvSpPr>
        <p:spPr>
          <a:xfrm>
            <a:off x="5989320" y="960120"/>
            <a:ext cx="2651760" cy="2651760"/>
          </a:xfrm>
          <a:prstGeom prst="ellipse">
            <a:avLst/>
          </a:prstGeom>
          <a:solidFill>
            <a:srgbClr val="FFFFFF">
              <a:alpha val="10000"/>
            </a:srgbClr>
          </a:solidFill>
          <a:ln/>
        </p:spPr>
      </p:sp>
      <p:sp>
        <p:nvSpPr>
          <p:cNvPr id="8" name="Shape 6"/>
          <p:cNvSpPr/>
          <p:nvPr/>
        </p:nvSpPr>
        <p:spPr>
          <a:xfrm>
            <a:off x="6309360" y="1280160"/>
            <a:ext cx="2011680" cy="2011680"/>
          </a:xfrm>
          <a:prstGeom prst="ellipse">
            <a:avLst/>
          </a:prstGeom>
          <a:solidFill>
            <a:srgbClr val="FFFFFF">
              <a:alpha val="18000"/>
            </a:srgbClr>
          </a:solidFill>
          <a:ln/>
        </p:spPr>
      </p:sp>
      <p:sp>
        <p:nvSpPr>
          <p:cNvPr id="9" name="Shape 7"/>
          <p:cNvSpPr/>
          <p:nvPr/>
        </p:nvSpPr>
        <p:spPr>
          <a:xfrm>
            <a:off x="6629400" y="1600200"/>
            <a:ext cx="1371600" cy="1371600"/>
          </a:xfrm>
          <a:prstGeom prst="ellipse">
            <a:avLst/>
          </a:prstGeom>
          <a:solidFill>
            <a:srgbClr val="FFFFFF"/>
          </a:solidFill>
          <a:ln/>
        </p:spPr>
      </p:sp>
      <p:pic>
        <p:nvPicPr>
          <p:cNvPr id="10" name="Image 0" descr="preencoded.png"/>
          <p:cNvPicPr>
            <a:picLocks noChangeAspect="1"/>
          </p:cNvPicPr>
          <p:nvPr/>
        </p:nvPicPr>
        <p:blipFill>
          <a:blip r:embed="rId4"/>
          <a:stretch>
            <a:fillRect/>
          </a:stretch>
        </p:blipFill>
        <p:spPr>
          <a:xfrm>
            <a:off x="6995160" y="1965960"/>
            <a:ext cx="640080" cy="640080"/>
          </a:xfrm>
          <a:prstGeom prst="rect">
            <a:avLst/>
          </a:prstGeom>
        </p:spPr>
      </p:pic>
      <p:sp>
        <p:nvSpPr>
          <p:cNvPr id="11" name="Shape 8"/>
          <p:cNvSpPr/>
          <p:nvPr/>
        </p:nvSpPr>
        <p:spPr>
          <a:xfrm>
            <a:off x="566928" y="4315968"/>
            <a:ext cx="118872" cy="118872"/>
          </a:xfrm>
          <a:prstGeom prst="ellipse">
            <a:avLst/>
          </a:prstGeom>
          <a:solidFill>
            <a:srgbClr val="FFFFFF">
              <a:alpha val="40000"/>
            </a:srgbClr>
          </a:solidFill>
          <a:ln/>
        </p:spPr>
      </p:sp>
      <p:sp>
        <p:nvSpPr>
          <p:cNvPr id="12" name="Shape 9"/>
          <p:cNvSpPr/>
          <p:nvPr/>
        </p:nvSpPr>
        <p:spPr>
          <a:xfrm>
            <a:off x="804672" y="4315968"/>
            <a:ext cx="118872" cy="118872"/>
          </a:xfrm>
          <a:prstGeom prst="ellipse">
            <a:avLst/>
          </a:prstGeom>
          <a:solidFill>
            <a:srgbClr val="FFFFFF">
              <a:alpha val="40000"/>
            </a:srgbClr>
          </a:solidFill>
          <a:ln/>
        </p:spPr>
      </p:sp>
      <p:sp>
        <p:nvSpPr>
          <p:cNvPr id="13" name="Shape 10"/>
          <p:cNvSpPr/>
          <p:nvPr/>
        </p:nvSpPr>
        <p:spPr>
          <a:xfrm>
            <a:off x="1042416" y="4315968"/>
            <a:ext cx="118872" cy="118872"/>
          </a:xfrm>
          <a:prstGeom prst="ellipse">
            <a:avLst/>
          </a:prstGeom>
          <a:solidFill>
            <a:srgbClr val="FFFFFF">
              <a:alpha val="40000"/>
            </a:srgbClr>
          </a:solidFill>
          <a:ln/>
        </p:spPr>
      </p:sp>
      <p:sp>
        <p:nvSpPr>
          <p:cNvPr id="14" name="Shape 11"/>
          <p:cNvSpPr/>
          <p:nvPr/>
        </p:nvSpPr>
        <p:spPr>
          <a:xfrm>
            <a:off x="1280160" y="4315968"/>
            <a:ext cx="118872" cy="118872"/>
          </a:xfrm>
          <a:prstGeom prst="ellipse">
            <a:avLst/>
          </a:prstGeom>
          <a:solidFill>
            <a:srgbClr val="FFFFFF">
              <a:alpha val="40000"/>
            </a:srgbClr>
          </a:solidFill>
          <a:ln/>
        </p:spPr>
      </p:sp>
      <p:sp>
        <p:nvSpPr>
          <p:cNvPr id="15" name="Shape 12"/>
          <p:cNvSpPr/>
          <p:nvPr/>
        </p:nvSpPr>
        <p:spPr>
          <a:xfrm>
            <a:off x="1517904" y="4315968"/>
            <a:ext cx="118872" cy="118872"/>
          </a:xfrm>
          <a:prstGeom prst="ellipse">
            <a:avLst/>
          </a:prstGeom>
          <a:solidFill>
            <a:srgbClr val="FFFFFF">
              <a:alpha val="40000"/>
            </a:srgbClr>
          </a:solidFill>
          <a:ln/>
        </p:spPr>
      </p:sp>
      <p:sp>
        <p:nvSpPr>
          <p:cNvPr id="16" name="Shape 13"/>
          <p:cNvSpPr/>
          <p:nvPr/>
        </p:nvSpPr>
        <p:spPr>
          <a:xfrm>
            <a:off x="1755648" y="4315968"/>
            <a:ext cx="118872" cy="118872"/>
          </a:xfrm>
          <a:prstGeom prst="ellipse">
            <a:avLst/>
          </a:prstGeom>
          <a:solidFill>
            <a:srgbClr val="F5C242"/>
          </a:solidFill>
          <a:ln/>
        </p:spPr>
      </p:sp>
      <p:sp>
        <p:nvSpPr>
          <p:cNvPr id="17" name="Text 14"/>
          <p:cNvSpPr txBox="1"/>
          <p:nvPr/>
        </p:nvSpPr>
        <p:spPr>
          <a:xfrm>
            <a:off x="8138160" y="4754880"/>
            <a:ext cx="548640" cy="182880"/>
          </a:xfrm>
          <a:prstGeom prst="rect">
            <a:avLst/>
          </a:prstGeom>
          <a:noFill/>
          <a:ln/>
        </p:spPr>
        <p:txBody>
          <a:bodyPr wrap="square" lIns="0" tIns="0" rIns="0" bIns="0" rtlCol="0" anchor="t"/>
          <a:lstStyle/>
          <a:p>
            <a:pPr marL="0" indent="0" algn="r">
              <a:buNone/>
            </a:pPr>
            <a:r>
              <a:rPr lang="en-US" sz="850" dirty="0">
                <a:solidFill>
                  <a:srgbClr val="E6F6EE"/>
                </a:solidFill>
                <a:latin typeface="Calibri" pitchFamily="34" charset="0"/>
                <a:ea typeface="Calibri" pitchFamily="34" charset="-122"/>
                <a:cs typeface="Calibri" pitchFamily="34" charset="-120"/>
              </a:rPr>
              <a:t>29</a:t>
            </a:r>
            <a:endParaRPr lang="en-US" sz="850" dirty="0"/>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06 · PORTÉE DES DONNÉES</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marL="0" indent="0">
              <a:buNone/>
            </a:pPr>
            <a:r>
              <a:rPr lang="en-US" sz="2300" b="1" dirty="0">
                <a:solidFill>
                  <a:srgbClr val="231F20"/>
                </a:solidFill>
                <a:latin typeface="Calibri" pitchFamily="34" charset="0"/>
                <a:ea typeface="Calibri" pitchFamily="34" charset="-122"/>
                <a:cs typeface="Calibri" pitchFamily="34" charset="-120"/>
              </a:rPr>
              <a:t>Ce que ces données peuvent et ne peuvent pas dire</a:t>
            </a:r>
            <a:endParaRPr lang="en-US" sz="23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5DED9"/>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B83B2E"/>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BAD – Data Innovation for Africa (DI4A)  ·  Ookla Open Data et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30</a:t>
            </a:r>
            <a:endParaRPr lang="en-US" sz="850" dirty="0"/>
          </a:p>
        </p:txBody>
      </p:sp>
      <p:sp>
        <p:nvSpPr>
          <p:cNvPr id="17" name="Shape 14"/>
          <p:cNvSpPr/>
          <p:nvPr/>
        </p:nvSpPr>
        <p:spPr>
          <a:xfrm>
            <a:off x="457200" y="1371600"/>
            <a:ext cx="4023360" cy="3063240"/>
          </a:xfrm>
          <a:prstGeom prst="roundRect">
            <a:avLst>
              <a:gd name="adj" fmla="val 2388"/>
            </a:avLst>
          </a:prstGeom>
          <a:solidFill>
            <a:srgbClr val="FFFFFF"/>
          </a:solidFill>
          <a:ln w="15875">
            <a:solidFill>
              <a:srgbClr val="00A86A"/>
            </a:solidFill>
            <a:prstDash val="solid"/>
          </a:ln>
        </p:spPr>
      </p:sp>
      <p:sp>
        <p:nvSpPr>
          <p:cNvPr id="18" name="Shape 15"/>
          <p:cNvSpPr/>
          <p:nvPr/>
        </p:nvSpPr>
        <p:spPr>
          <a:xfrm>
            <a:off x="457200" y="1371600"/>
            <a:ext cx="4023360" cy="502920"/>
          </a:xfrm>
          <a:prstGeom prst="roundRect">
            <a:avLst>
              <a:gd name="adj" fmla="val 14545"/>
            </a:avLst>
          </a:prstGeom>
          <a:solidFill>
            <a:srgbClr val="E8F5EF"/>
          </a:solidFill>
          <a:ln w="15875">
            <a:solidFill>
              <a:srgbClr val="00A86A"/>
            </a:solidFill>
            <a:prstDash val="solid"/>
          </a:ln>
        </p:spPr>
      </p:sp>
      <p:sp>
        <p:nvSpPr>
          <p:cNvPr id="19" name="Text 16"/>
          <p:cNvSpPr txBox="1"/>
          <p:nvPr/>
        </p:nvSpPr>
        <p:spPr>
          <a:xfrm>
            <a:off x="640080" y="1371600"/>
            <a:ext cx="3657600" cy="502920"/>
          </a:xfrm>
          <a:prstGeom prst="rect">
            <a:avLst/>
          </a:prstGeom>
          <a:noFill/>
          <a:ln/>
        </p:spPr>
        <p:txBody>
          <a:bodyPr wrap="square" lIns="0" tIns="0" rIns="0" bIns="0" rtlCol="0" anchor="ctr"/>
          <a:lstStyle/>
          <a:p>
            <a:pPr marL="0" indent="0">
              <a:buNone/>
            </a:pPr>
            <a:r>
              <a:rPr lang="en-US" sz="1500" b="1" dirty="0">
                <a:solidFill>
                  <a:srgbClr val="00A86A"/>
                </a:solidFill>
                <a:latin typeface="Calibri" pitchFamily="34" charset="0"/>
                <a:ea typeface="Calibri" pitchFamily="34" charset="-122"/>
                <a:cs typeface="Calibri" pitchFamily="34" charset="-120"/>
              </a:rPr>
              <a:t>Elles peuvent établir</a:t>
            </a:r>
            <a:endParaRPr lang="en-US" sz="1500" dirty="0"/>
          </a:p>
        </p:txBody>
      </p:sp>
      <p:sp>
        <p:nvSpPr>
          <p:cNvPr id="20" name="Shape 17"/>
          <p:cNvSpPr/>
          <p:nvPr/>
        </p:nvSpPr>
        <p:spPr>
          <a:xfrm>
            <a:off x="640080" y="2066544"/>
            <a:ext cx="274320" cy="274320"/>
          </a:xfrm>
          <a:prstGeom prst="ellipse">
            <a:avLst/>
          </a:prstGeom>
          <a:solidFill>
            <a:srgbClr val="00A86A">
              <a:alpha val="20000"/>
            </a:srgbClr>
          </a:solidFill>
          <a:ln/>
        </p:spPr>
      </p:sp>
      <p:pic>
        <p:nvPicPr>
          <p:cNvPr id="21" name="Image 0" descr="preencoded.png"/>
          <p:cNvPicPr>
            <a:picLocks noChangeAspect="1"/>
          </p:cNvPicPr>
          <p:nvPr/>
        </p:nvPicPr>
        <p:blipFill>
          <a:blip r:embed="rId3"/>
          <a:stretch>
            <a:fillRect/>
          </a:stretch>
        </p:blipFill>
        <p:spPr>
          <a:xfrm>
            <a:off x="704088" y="2130552"/>
            <a:ext cx="146304" cy="146304"/>
          </a:xfrm>
          <a:prstGeom prst="rect">
            <a:avLst/>
          </a:prstGeom>
        </p:spPr>
      </p:pic>
      <p:sp>
        <p:nvSpPr>
          <p:cNvPr id="22" name="Text 18"/>
          <p:cNvSpPr txBox="1"/>
          <p:nvPr/>
        </p:nvSpPr>
        <p:spPr>
          <a:xfrm>
            <a:off x="1024128" y="2029968"/>
            <a:ext cx="3337560" cy="365760"/>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La performance réellement vécue par les utilisateurs</a:t>
            </a:r>
            <a:endParaRPr lang="en-US" sz="1100" dirty="0"/>
          </a:p>
        </p:txBody>
      </p:sp>
      <p:sp>
        <p:nvSpPr>
          <p:cNvPr id="23" name="Shape 19"/>
          <p:cNvSpPr/>
          <p:nvPr/>
        </p:nvSpPr>
        <p:spPr>
          <a:xfrm>
            <a:off x="640080" y="2542032"/>
            <a:ext cx="274320" cy="274320"/>
          </a:xfrm>
          <a:prstGeom prst="ellipse">
            <a:avLst/>
          </a:prstGeom>
          <a:solidFill>
            <a:srgbClr val="00A86A">
              <a:alpha val="20000"/>
            </a:srgbClr>
          </a:solidFill>
          <a:ln/>
        </p:spPr>
      </p:sp>
      <p:pic>
        <p:nvPicPr>
          <p:cNvPr id="24" name="Image 1" descr="preencoded.png"/>
          <p:cNvPicPr>
            <a:picLocks noChangeAspect="1"/>
          </p:cNvPicPr>
          <p:nvPr/>
        </p:nvPicPr>
        <p:blipFill>
          <a:blip r:embed="rId3"/>
          <a:stretch>
            <a:fillRect/>
          </a:stretch>
        </p:blipFill>
        <p:spPr>
          <a:xfrm>
            <a:off x="704088" y="2606040"/>
            <a:ext cx="146304" cy="146304"/>
          </a:xfrm>
          <a:prstGeom prst="rect">
            <a:avLst/>
          </a:prstGeom>
        </p:spPr>
      </p:pic>
      <p:sp>
        <p:nvSpPr>
          <p:cNvPr id="25" name="Text 20"/>
          <p:cNvSpPr txBox="1"/>
          <p:nvPr/>
        </p:nvSpPr>
        <p:spPr>
          <a:xfrm>
            <a:off x="1024128" y="2505456"/>
            <a:ext cx="3337560" cy="365760"/>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Des motifs spatiaux fins, invisibles dans les agrégats nationaux</a:t>
            </a:r>
            <a:endParaRPr lang="en-US" sz="1100" dirty="0"/>
          </a:p>
        </p:txBody>
      </p:sp>
      <p:sp>
        <p:nvSpPr>
          <p:cNvPr id="26" name="Shape 21"/>
          <p:cNvSpPr/>
          <p:nvPr/>
        </p:nvSpPr>
        <p:spPr>
          <a:xfrm>
            <a:off x="640080" y="3017520"/>
            <a:ext cx="274320" cy="274320"/>
          </a:xfrm>
          <a:prstGeom prst="ellipse">
            <a:avLst/>
          </a:prstGeom>
          <a:solidFill>
            <a:srgbClr val="00A86A">
              <a:alpha val="20000"/>
            </a:srgbClr>
          </a:solidFill>
          <a:ln/>
        </p:spPr>
      </p:sp>
      <p:pic>
        <p:nvPicPr>
          <p:cNvPr id="27" name="Image 2" descr="preencoded.png"/>
          <p:cNvPicPr>
            <a:picLocks noChangeAspect="1"/>
          </p:cNvPicPr>
          <p:nvPr/>
        </p:nvPicPr>
        <p:blipFill>
          <a:blip r:embed="rId3"/>
          <a:stretch>
            <a:fillRect/>
          </a:stretch>
        </p:blipFill>
        <p:spPr>
          <a:xfrm>
            <a:off x="704088" y="3081528"/>
            <a:ext cx="146304" cy="146304"/>
          </a:xfrm>
          <a:prstGeom prst="rect">
            <a:avLst/>
          </a:prstGeom>
        </p:spPr>
      </p:pic>
      <p:sp>
        <p:nvSpPr>
          <p:cNvPr id="28" name="Text 22"/>
          <p:cNvSpPr txBox="1"/>
          <p:nvPr/>
        </p:nvSpPr>
        <p:spPr>
          <a:xfrm>
            <a:off x="1024128" y="2980944"/>
            <a:ext cx="3337560" cy="365760"/>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L’évolution trimestre par trimestre depuis 2019</a:t>
            </a:r>
            <a:endParaRPr lang="en-US" sz="1100" dirty="0"/>
          </a:p>
        </p:txBody>
      </p:sp>
      <p:sp>
        <p:nvSpPr>
          <p:cNvPr id="29" name="Shape 23"/>
          <p:cNvSpPr/>
          <p:nvPr/>
        </p:nvSpPr>
        <p:spPr>
          <a:xfrm>
            <a:off x="640080" y="3493008"/>
            <a:ext cx="274320" cy="274320"/>
          </a:xfrm>
          <a:prstGeom prst="ellipse">
            <a:avLst/>
          </a:prstGeom>
          <a:solidFill>
            <a:srgbClr val="00A86A">
              <a:alpha val="20000"/>
            </a:srgbClr>
          </a:solidFill>
          <a:ln/>
        </p:spPr>
      </p:sp>
      <p:pic>
        <p:nvPicPr>
          <p:cNvPr id="30" name="Image 3" descr="preencoded.png"/>
          <p:cNvPicPr>
            <a:picLocks noChangeAspect="1"/>
          </p:cNvPicPr>
          <p:nvPr/>
        </p:nvPicPr>
        <p:blipFill>
          <a:blip r:embed="rId3"/>
          <a:stretch>
            <a:fillRect/>
          </a:stretch>
        </p:blipFill>
        <p:spPr>
          <a:xfrm>
            <a:off x="704088" y="3557016"/>
            <a:ext cx="146304" cy="146304"/>
          </a:xfrm>
          <a:prstGeom prst="rect">
            <a:avLst/>
          </a:prstGeom>
        </p:spPr>
      </p:pic>
      <p:sp>
        <p:nvSpPr>
          <p:cNvPr id="31" name="Text 24"/>
          <p:cNvSpPr txBox="1"/>
          <p:nvPr/>
        </p:nvSpPr>
        <p:spPr>
          <a:xfrm>
            <a:off x="1024128" y="3456432"/>
            <a:ext cx="3337560" cy="365760"/>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Le contraste fixe / mobile en un même lieu</a:t>
            </a:r>
            <a:endParaRPr lang="en-US" sz="1100" dirty="0"/>
          </a:p>
        </p:txBody>
      </p:sp>
      <p:sp>
        <p:nvSpPr>
          <p:cNvPr id="32" name="Shape 25"/>
          <p:cNvSpPr/>
          <p:nvPr/>
        </p:nvSpPr>
        <p:spPr>
          <a:xfrm>
            <a:off x="640080" y="3968496"/>
            <a:ext cx="274320" cy="274320"/>
          </a:xfrm>
          <a:prstGeom prst="ellipse">
            <a:avLst/>
          </a:prstGeom>
          <a:solidFill>
            <a:srgbClr val="00A86A">
              <a:alpha val="20000"/>
            </a:srgbClr>
          </a:solidFill>
          <a:ln/>
        </p:spPr>
      </p:sp>
      <p:pic>
        <p:nvPicPr>
          <p:cNvPr id="33" name="Image 4" descr="preencoded.png"/>
          <p:cNvPicPr>
            <a:picLocks noChangeAspect="1"/>
          </p:cNvPicPr>
          <p:nvPr/>
        </p:nvPicPr>
        <p:blipFill>
          <a:blip r:embed="rId3"/>
          <a:stretch>
            <a:fillRect/>
          </a:stretch>
        </p:blipFill>
        <p:spPr>
          <a:xfrm>
            <a:off x="704088" y="4032504"/>
            <a:ext cx="146304" cy="146304"/>
          </a:xfrm>
          <a:prstGeom prst="rect">
            <a:avLst/>
          </a:prstGeom>
        </p:spPr>
      </p:pic>
      <p:sp>
        <p:nvSpPr>
          <p:cNvPr id="34" name="Text 26"/>
          <p:cNvSpPr txBox="1"/>
          <p:nvPr/>
        </p:nvSpPr>
        <p:spPr>
          <a:xfrm>
            <a:off x="1024128" y="3931920"/>
            <a:ext cx="3337560" cy="365760"/>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Un minimum : là où le service existe de façon avérée</a:t>
            </a:r>
            <a:endParaRPr lang="en-US" sz="1100" dirty="0"/>
          </a:p>
        </p:txBody>
      </p:sp>
      <p:sp>
        <p:nvSpPr>
          <p:cNvPr id="35" name="Shape 27"/>
          <p:cNvSpPr/>
          <p:nvPr/>
        </p:nvSpPr>
        <p:spPr>
          <a:xfrm>
            <a:off x="4663440" y="1371600"/>
            <a:ext cx="4023360" cy="3063240"/>
          </a:xfrm>
          <a:prstGeom prst="roundRect">
            <a:avLst>
              <a:gd name="adj" fmla="val 2388"/>
            </a:avLst>
          </a:prstGeom>
          <a:solidFill>
            <a:srgbClr val="FFFFFF"/>
          </a:solidFill>
          <a:ln w="15875">
            <a:solidFill>
              <a:srgbClr val="B83B2E"/>
            </a:solidFill>
            <a:prstDash val="solid"/>
          </a:ln>
        </p:spPr>
      </p:sp>
      <p:sp>
        <p:nvSpPr>
          <p:cNvPr id="36" name="Shape 28"/>
          <p:cNvSpPr/>
          <p:nvPr/>
        </p:nvSpPr>
        <p:spPr>
          <a:xfrm>
            <a:off x="4663440" y="1371600"/>
            <a:ext cx="4023360" cy="502920"/>
          </a:xfrm>
          <a:prstGeom prst="roundRect">
            <a:avLst>
              <a:gd name="adj" fmla="val 14545"/>
            </a:avLst>
          </a:prstGeom>
          <a:solidFill>
            <a:srgbClr val="FBEDEB"/>
          </a:solidFill>
          <a:ln w="15875">
            <a:solidFill>
              <a:srgbClr val="B83B2E"/>
            </a:solidFill>
            <a:prstDash val="solid"/>
          </a:ln>
        </p:spPr>
      </p:sp>
      <p:sp>
        <p:nvSpPr>
          <p:cNvPr id="37" name="Text 29"/>
          <p:cNvSpPr txBox="1"/>
          <p:nvPr/>
        </p:nvSpPr>
        <p:spPr>
          <a:xfrm>
            <a:off x="4846320" y="1371600"/>
            <a:ext cx="3657600" cy="502920"/>
          </a:xfrm>
          <a:prstGeom prst="rect">
            <a:avLst/>
          </a:prstGeom>
          <a:noFill/>
          <a:ln/>
        </p:spPr>
        <p:txBody>
          <a:bodyPr wrap="square" lIns="0" tIns="0" rIns="0" bIns="0" rtlCol="0" anchor="ctr"/>
          <a:lstStyle/>
          <a:p>
            <a:pPr marL="0" indent="0">
              <a:buNone/>
            </a:pPr>
            <a:r>
              <a:rPr lang="en-US" sz="1500" b="1" dirty="0">
                <a:solidFill>
                  <a:srgbClr val="B83B2E"/>
                </a:solidFill>
                <a:latin typeface="Calibri" pitchFamily="34" charset="0"/>
                <a:ea typeface="Calibri" pitchFamily="34" charset="-122"/>
                <a:cs typeface="Calibri" pitchFamily="34" charset="-120"/>
              </a:rPr>
              <a:t>Elles ne peuvent pas établir</a:t>
            </a:r>
            <a:endParaRPr lang="en-US" sz="1500" dirty="0"/>
          </a:p>
        </p:txBody>
      </p:sp>
      <p:sp>
        <p:nvSpPr>
          <p:cNvPr id="38" name="Shape 30"/>
          <p:cNvSpPr/>
          <p:nvPr/>
        </p:nvSpPr>
        <p:spPr>
          <a:xfrm>
            <a:off x="4846320" y="2066544"/>
            <a:ext cx="274320" cy="274320"/>
          </a:xfrm>
          <a:prstGeom prst="ellipse">
            <a:avLst/>
          </a:prstGeom>
          <a:solidFill>
            <a:srgbClr val="B83B2E">
              <a:alpha val="20000"/>
            </a:srgbClr>
          </a:solidFill>
          <a:ln/>
        </p:spPr>
      </p:sp>
      <p:pic>
        <p:nvPicPr>
          <p:cNvPr id="39" name="Image 5" descr="preencoded.png"/>
          <p:cNvPicPr>
            <a:picLocks noChangeAspect="1"/>
          </p:cNvPicPr>
          <p:nvPr/>
        </p:nvPicPr>
        <p:blipFill>
          <a:blip r:embed="rId4"/>
          <a:stretch>
            <a:fillRect/>
          </a:stretch>
        </p:blipFill>
        <p:spPr>
          <a:xfrm>
            <a:off x="4910328" y="2130552"/>
            <a:ext cx="146304" cy="146304"/>
          </a:xfrm>
          <a:prstGeom prst="rect">
            <a:avLst/>
          </a:prstGeom>
        </p:spPr>
      </p:pic>
      <p:sp>
        <p:nvSpPr>
          <p:cNvPr id="40" name="Text 31"/>
          <p:cNvSpPr txBox="1"/>
          <p:nvPr/>
        </p:nvSpPr>
        <p:spPr>
          <a:xfrm>
            <a:off x="5230368" y="2029968"/>
            <a:ext cx="3337560" cy="365760"/>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La couverture ou disponibilité : ce n’est pas une carte de couverture</a:t>
            </a:r>
            <a:endParaRPr lang="en-US" sz="1100" dirty="0"/>
          </a:p>
        </p:txBody>
      </p:sp>
      <p:sp>
        <p:nvSpPr>
          <p:cNvPr id="41" name="Shape 32"/>
          <p:cNvSpPr/>
          <p:nvPr/>
        </p:nvSpPr>
        <p:spPr>
          <a:xfrm>
            <a:off x="4846320" y="2542032"/>
            <a:ext cx="274320" cy="274320"/>
          </a:xfrm>
          <a:prstGeom prst="ellipse">
            <a:avLst/>
          </a:prstGeom>
          <a:solidFill>
            <a:srgbClr val="B83B2E">
              <a:alpha val="20000"/>
            </a:srgbClr>
          </a:solidFill>
          <a:ln/>
        </p:spPr>
      </p:sp>
      <p:pic>
        <p:nvPicPr>
          <p:cNvPr id="42" name="Image 6" descr="preencoded.png"/>
          <p:cNvPicPr>
            <a:picLocks noChangeAspect="1"/>
          </p:cNvPicPr>
          <p:nvPr/>
        </p:nvPicPr>
        <p:blipFill>
          <a:blip r:embed="rId4"/>
          <a:stretch>
            <a:fillRect/>
          </a:stretch>
        </p:blipFill>
        <p:spPr>
          <a:xfrm>
            <a:off x="4910328" y="2606040"/>
            <a:ext cx="146304" cy="146304"/>
          </a:xfrm>
          <a:prstGeom prst="rect">
            <a:avLst/>
          </a:prstGeom>
        </p:spPr>
      </p:pic>
      <p:sp>
        <p:nvSpPr>
          <p:cNvPr id="43" name="Text 33"/>
          <p:cNvSpPr txBox="1"/>
          <p:nvPr/>
        </p:nvSpPr>
        <p:spPr>
          <a:xfrm>
            <a:off x="5230368" y="2505456"/>
            <a:ext cx="3337560" cy="365760"/>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Les taux d’adoption, d’abonnement ou de pénétration</a:t>
            </a:r>
            <a:endParaRPr lang="en-US" sz="1100" dirty="0"/>
          </a:p>
        </p:txBody>
      </p:sp>
      <p:sp>
        <p:nvSpPr>
          <p:cNvPr id="44" name="Shape 34"/>
          <p:cNvSpPr/>
          <p:nvPr/>
        </p:nvSpPr>
        <p:spPr>
          <a:xfrm>
            <a:off x="4846320" y="3017520"/>
            <a:ext cx="274320" cy="274320"/>
          </a:xfrm>
          <a:prstGeom prst="ellipse">
            <a:avLst/>
          </a:prstGeom>
          <a:solidFill>
            <a:srgbClr val="B83B2E">
              <a:alpha val="20000"/>
            </a:srgbClr>
          </a:solidFill>
          <a:ln/>
        </p:spPr>
      </p:sp>
      <p:pic>
        <p:nvPicPr>
          <p:cNvPr id="45" name="Image 7" descr="preencoded.png"/>
          <p:cNvPicPr>
            <a:picLocks noChangeAspect="1"/>
          </p:cNvPicPr>
          <p:nvPr/>
        </p:nvPicPr>
        <p:blipFill>
          <a:blip r:embed="rId4"/>
          <a:stretch>
            <a:fillRect/>
          </a:stretch>
        </p:blipFill>
        <p:spPr>
          <a:xfrm>
            <a:off x="4910328" y="3081528"/>
            <a:ext cx="146304" cy="146304"/>
          </a:xfrm>
          <a:prstGeom prst="rect">
            <a:avLst/>
          </a:prstGeom>
        </p:spPr>
      </p:pic>
      <p:sp>
        <p:nvSpPr>
          <p:cNvPr id="46" name="Text 35"/>
          <p:cNvSpPr txBox="1"/>
          <p:nvPr/>
        </p:nvSpPr>
        <p:spPr>
          <a:xfrm>
            <a:off x="5230368" y="2980944"/>
            <a:ext cx="3337560" cy="365760"/>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Les prix, l’accessibilité financière, les budgets</a:t>
            </a:r>
            <a:endParaRPr lang="en-US" sz="1100" dirty="0"/>
          </a:p>
        </p:txBody>
      </p:sp>
      <p:sp>
        <p:nvSpPr>
          <p:cNvPr id="47" name="Shape 36"/>
          <p:cNvSpPr/>
          <p:nvPr/>
        </p:nvSpPr>
        <p:spPr>
          <a:xfrm>
            <a:off x="4846320" y="3493008"/>
            <a:ext cx="274320" cy="274320"/>
          </a:xfrm>
          <a:prstGeom prst="ellipse">
            <a:avLst/>
          </a:prstGeom>
          <a:solidFill>
            <a:srgbClr val="B83B2E">
              <a:alpha val="20000"/>
            </a:srgbClr>
          </a:solidFill>
          <a:ln/>
        </p:spPr>
      </p:sp>
      <p:pic>
        <p:nvPicPr>
          <p:cNvPr id="48" name="Image 8" descr="preencoded.png"/>
          <p:cNvPicPr>
            <a:picLocks noChangeAspect="1"/>
          </p:cNvPicPr>
          <p:nvPr/>
        </p:nvPicPr>
        <p:blipFill>
          <a:blip r:embed="rId4"/>
          <a:stretch>
            <a:fillRect/>
          </a:stretch>
        </p:blipFill>
        <p:spPr>
          <a:xfrm>
            <a:off x="4910328" y="3557016"/>
            <a:ext cx="146304" cy="146304"/>
          </a:xfrm>
          <a:prstGeom prst="rect">
            <a:avLst/>
          </a:prstGeom>
        </p:spPr>
      </p:pic>
      <p:sp>
        <p:nvSpPr>
          <p:cNvPr id="49" name="Text 37"/>
          <p:cNvSpPr txBox="1"/>
          <p:nvPr/>
        </p:nvSpPr>
        <p:spPr>
          <a:xfrm>
            <a:off x="5230368" y="3456432"/>
            <a:ext cx="3337560" cy="365760"/>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Le profil des utilisateurs : ni âge, ni sexe, ni revenu</a:t>
            </a:r>
            <a:endParaRPr lang="en-US" sz="1100" dirty="0"/>
          </a:p>
        </p:txBody>
      </p:sp>
      <p:sp>
        <p:nvSpPr>
          <p:cNvPr id="50" name="Shape 38"/>
          <p:cNvSpPr/>
          <p:nvPr/>
        </p:nvSpPr>
        <p:spPr>
          <a:xfrm>
            <a:off x="4846320" y="3968496"/>
            <a:ext cx="274320" cy="274320"/>
          </a:xfrm>
          <a:prstGeom prst="ellipse">
            <a:avLst/>
          </a:prstGeom>
          <a:solidFill>
            <a:srgbClr val="B83B2E">
              <a:alpha val="20000"/>
            </a:srgbClr>
          </a:solidFill>
          <a:ln/>
        </p:spPr>
      </p:sp>
      <p:pic>
        <p:nvPicPr>
          <p:cNvPr id="51" name="Image 9" descr="preencoded.png"/>
          <p:cNvPicPr>
            <a:picLocks noChangeAspect="1"/>
          </p:cNvPicPr>
          <p:nvPr/>
        </p:nvPicPr>
        <p:blipFill>
          <a:blip r:embed="rId4"/>
          <a:stretch>
            <a:fillRect/>
          </a:stretch>
        </p:blipFill>
        <p:spPr>
          <a:xfrm>
            <a:off x="4910328" y="4032504"/>
            <a:ext cx="146304" cy="146304"/>
          </a:xfrm>
          <a:prstGeom prst="rect">
            <a:avLst/>
          </a:prstGeom>
        </p:spPr>
      </p:pic>
      <p:sp>
        <p:nvSpPr>
          <p:cNvPr id="52" name="Text 39"/>
          <p:cNvSpPr txBox="1"/>
          <p:nvPr/>
        </p:nvSpPr>
        <p:spPr>
          <a:xfrm>
            <a:off x="5230368" y="3931920"/>
            <a:ext cx="3337560" cy="365760"/>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L’expérience des personnes qui ne testent jamais</a:t>
            </a:r>
            <a:endParaRPr lang="en-US" sz="1100" dirty="0"/>
          </a:p>
        </p:txBody>
      </p:sp>
      <p:sp>
        <p:nvSpPr>
          <p:cNvPr id="53" name="Text 40"/>
          <p:cNvSpPr txBox="1"/>
          <p:nvPr/>
        </p:nvSpPr>
        <p:spPr>
          <a:xfrm>
            <a:off x="457200" y="4572000"/>
            <a:ext cx="749808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Données d’observation auto-sélectionnées : gérer explicitement cette contrainte dans chaque publication.</a:t>
            </a:r>
            <a:endParaRPr lang="en-US" sz="900" dirty="0"/>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06 · DU LABORATOIRE À LA PRODUCTION</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marL="0" indent="0">
              <a:buNone/>
            </a:pPr>
            <a:r>
              <a:rPr lang="en-US" sz="2300" b="1" dirty="0">
                <a:solidFill>
                  <a:srgbClr val="231F20"/>
                </a:solidFill>
                <a:latin typeface="Calibri" pitchFamily="34" charset="0"/>
                <a:ea typeface="Calibri" pitchFamily="34" charset="-122"/>
                <a:cs typeface="Calibri" pitchFamily="34" charset="-120"/>
              </a:rPr>
              <a:t>Qui utilise ces données, et ce qu’un INS pourrait en faire</a:t>
            </a:r>
            <a:endParaRPr lang="en-US" sz="23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5DED9"/>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B83B2E"/>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BAD – Data Innovation for Africa (DI4A)  ·  Ookla Open Data et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33</a:t>
            </a:r>
            <a:endParaRPr lang="en-US" sz="850" dirty="0"/>
          </a:p>
        </p:txBody>
      </p:sp>
      <p:sp>
        <p:nvSpPr>
          <p:cNvPr id="17" name="Text 14"/>
          <p:cNvSpPr txBox="1"/>
          <p:nvPr/>
        </p:nvSpPr>
        <p:spPr>
          <a:xfrm>
            <a:off x="457200" y="1325880"/>
            <a:ext cx="3657600" cy="201168"/>
          </a:xfrm>
          <a:prstGeom prst="rect">
            <a:avLst/>
          </a:prstGeom>
          <a:noFill/>
          <a:ln/>
        </p:spPr>
        <p:txBody>
          <a:bodyPr wrap="square" lIns="0" tIns="0" rIns="0" bIns="0" rtlCol="0" anchor="t"/>
          <a:lstStyle/>
          <a:p>
            <a:pPr marL="0" indent="0">
              <a:buNone/>
            </a:pPr>
            <a:r>
              <a:rPr lang="en-US" sz="1000" b="1" kern="0" spc="200" dirty="0">
                <a:solidFill>
                  <a:srgbClr val="5E6964"/>
                </a:solidFill>
                <a:latin typeface="Calibri" pitchFamily="34" charset="0"/>
                <a:ea typeface="Calibri" pitchFamily="34" charset="-122"/>
                <a:cs typeface="Calibri" pitchFamily="34" charset="-120"/>
              </a:rPr>
              <a:t>UTILISATEURS DOCUMENTÉS</a:t>
            </a:r>
            <a:endParaRPr lang="en-US" sz="1000" dirty="0"/>
          </a:p>
        </p:txBody>
      </p:sp>
      <p:sp>
        <p:nvSpPr>
          <p:cNvPr id="18" name="Shape 15"/>
          <p:cNvSpPr/>
          <p:nvPr/>
        </p:nvSpPr>
        <p:spPr>
          <a:xfrm>
            <a:off x="457200" y="1600200"/>
            <a:ext cx="3840480" cy="841248"/>
          </a:xfrm>
          <a:prstGeom prst="roundRect">
            <a:avLst>
              <a:gd name="adj" fmla="val 8696"/>
            </a:avLst>
          </a:prstGeom>
          <a:solidFill>
            <a:srgbClr val="F4F7F5"/>
          </a:solidFill>
          <a:ln w="9525">
            <a:solidFill>
              <a:srgbClr val="D5DED9"/>
            </a:solidFill>
            <a:prstDash val="solid"/>
          </a:ln>
        </p:spPr>
      </p:sp>
      <p:sp>
        <p:nvSpPr>
          <p:cNvPr id="19" name="Shape 16"/>
          <p:cNvSpPr/>
          <p:nvPr/>
        </p:nvSpPr>
        <p:spPr>
          <a:xfrm>
            <a:off x="594360" y="1783080"/>
            <a:ext cx="438912" cy="438912"/>
          </a:xfrm>
          <a:prstGeom prst="ellipse">
            <a:avLst/>
          </a:prstGeom>
          <a:solidFill>
            <a:srgbClr val="5E6964">
              <a:alpha val="22000"/>
            </a:srgbClr>
          </a:solidFill>
          <a:ln/>
        </p:spPr>
      </p:sp>
      <p:pic>
        <p:nvPicPr>
          <p:cNvPr id="20" name="Image 0" descr="preencoded.png"/>
          <p:cNvPicPr>
            <a:picLocks noChangeAspect="1"/>
          </p:cNvPicPr>
          <p:nvPr/>
        </p:nvPicPr>
        <p:blipFill>
          <a:blip r:embed="rId3"/>
          <a:stretch>
            <a:fillRect/>
          </a:stretch>
        </p:blipFill>
        <p:spPr>
          <a:xfrm>
            <a:off x="699699" y="1888419"/>
            <a:ext cx="228234" cy="228234"/>
          </a:xfrm>
          <a:prstGeom prst="rect">
            <a:avLst/>
          </a:prstGeom>
        </p:spPr>
      </p:pic>
      <p:sp>
        <p:nvSpPr>
          <p:cNvPr id="21" name="Text 17"/>
          <p:cNvSpPr txBox="1"/>
          <p:nvPr/>
        </p:nvSpPr>
        <p:spPr>
          <a:xfrm>
            <a:off x="1170432" y="1691640"/>
            <a:ext cx="301752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Régulateurs</a:t>
            </a:r>
            <a:endParaRPr lang="en-US" sz="1250" dirty="0"/>
          </a:p>
        </p:txBody>
      </p:sp>
      <p:sp>
        <p:nvSpPr>
          <p:cNvPr id="22" name="Text 18"/>
          <p:cNvSpPr txBox="1"/>
          <p:nvPr/>
        </p:nvSpPr>
        <p:spPr>
          <a:xfrm>
            <a:off x="1170432" y="1947672"/>
            <a:ext cx="3017520" cy="45720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FCC (États-Unis), MCMC (Malaisie) : redevabilité des opérateurs, financement de la connectivité.</a:t>
            </a:r>
            <a:endParaRPr lang="en-US" sz="1000" dirty="0"/>
          </a:p>
        </p:txBody>
      </p:sp>
      <p:sp>
        <p:nvSpPr>
          <p:cNvPr id="23" name="Shape 19"/>
          <p:cNvSpPr/>
          <p:nvPr/>
        </p:nvSpPr>
        <p:spPr>
          <a:xfrm>
            <a:off x="457200" y="2560320"/>
            <a:ext cx="3840480" cy="841248"/>
          </a:xfrm>
          <a:prstGeom prst="roundRect">
            <a:avLst>
              <a:gd name="adj" fmla="val 8696"/>
            </a:avLst>
          </a:prstGeom>
          <a:solidFill>
            <a:srgbClr val="F4F7F5"/>
          </a:solidFill>
          <a:ln w="9525">
            <a:solidFill>
              <a:srgbClr val="D5DED9"/>
            </a:solidFill>
            <a:prstDash val="solid"/>
          </a:ln>
        </p:spPr>
      </p:sp>
      <p:sp>
        <p:nvSpPr>
          <p:cNvPr id="24" name="Shape 20"/>
          <p:cNvSpPr/>
          <p:nvPr/>
        </p:nvSpPr>
        <p:spPr>
          <a:xfrm>
            <a:off x="594360" y="2743200"/>
            <a:ext cx="438912" cy="438912"/>
          </a:xfrm>
          <a:prstGeom prst="ellipse">
            <a:avLst/>
          </a:prstGeom>
          <a:solidFill>
            <a:srgbClr val="5E6964">
              <a:alpha val="22000"/>
            </a:srgbClr>
          </a:solidFill>
          <a:ln/>
        </p:spPr>
      </p:sp>
      <p:pic>
        <p:nvPicPr>
          <p:cNvPr id="25" name="Image 1" descr="preencoded.png"/>
          <p:cNvPicPr>
            <a:picLocks noChangeAspect="1"/>
          </p:cNvPicPr>
          <p:nvPr/>
        </p:nvPicPr>
        <p:blipFill>
          <a:blip r:embed="rId4"/>
          <a:stretch>
            <a:fillRect/>
          </a:stretch>
        </p:blipFill>
        <p:spPr>
          <a:xfrm>
            <a:off x="699699" y="2848539"/>
            <a:ext cx="228234" cy="228234"/>
          </a:xfrm>
          <a:prstGeom prst="rect">
            <a:avLst/>
          </a:prstGeom>
        </p:spPr>
      </p:pic>
      <p:sp>
        <p:nvSpPr>
          <p:cNvPr id="26" name="Text 21"/>
          <p:cNvSpPr txBox="1"/>
          <p:nvPr/>
        </p:nvSpPr>
        <p:spPr>
          <a:xfrm>
            <a:off x="1170432" y="2651760"/>
            <a:ext cx="301752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Éducation</a:t>
            </a:r>
            <a:endParaRPr lang="en-US" sz="1250" dirty="0"/>
          </a:p>
        </p:txBody>
      </p:sp>
      <p:sp>
        <p:nvSpPr>
          <p:cNvPr id="27" name="Text 22"/>
          <p:cNvSpPr txBox="1"/>
          <p:nvPr/>
        </p:nvSpPr>
        <p:spPr>
          <a:xfrm>
            <a:off x="1170432" y="2907792"/>
            <a:ext cx="3017520" cy="45720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Département de l’Éducation de Géorgie (É.-U.) : placement de bus scolaires Wi-Fi.</a:t>
            </a:r>
            <a:endParaRPr lang="en-US" sz="1000" dirty="0"/>
          </a:p>
        </p:txBody>
      </p:sp>
      <p:sp>
        <p:nvSpPr>
          <p:cNvPr id="28" name="Shape 23"/>
          <p:cNvSpPr/>
          <p:nvPr/>
        </p:nvSpPr>
        <p:spPr>
          <a:xfrm>
            <a:off x="457200" y="3520440"/>
            <a:ext cx="3840480" cy="841248"/>
          </a:xfrm>
          <a:prstGeom prst="roundRect">
            <a:avLst>
              <a:gd name="adj" fmla="val 8696"/>
            </a:avLst>
          </a:prstGeom>
          <a:solidFill>
            <a:srgbClr val="F4F7F5"/>
          </a:solidFill>
          <a:ln w="9525">
            <a:solidFill>
              <a:srgbClr val="D5DED9"/>
            </a:solidFill>
            <a:prstDash val="solid"/>
          </a:ln>
        </p:spPr>
      </p:sp>
      <p:sp>
        <p:nvSpPr>
          <p:cNvPr id="29" name="Shape 24"/>
          <p:cNvSpPr/>
          <p:nvPr/>
        </p:nvSpPr>
        <p:spPr>
          <a:xfrm>
            <a:off x="594360" y="3703320"/>
            <a:ext cx="438912" cy="438912"/>
          </a:xfrm>
          <a:prstGeom prst="ellipse">
            <a:avLst/>
          </a:prstGeom>
          <a:solidFill>
            <a:srgbClr val="5E6964">
              <a:alpha val="22000"/>
            </a:srgbClr>
          </a:solidFill>
          <a:ln/>
        </p:spPr>
      </p:sp>
      <p:pic>
        <p:nvPicPr>
          <p:cNvPr id="30" name="Image 2" descr="preencoded.png"/>
          <p:cNvPicPr>
            <a:picLocks noChangeAspect="1"/>
          </p:cNvPicPr>
          <p:nvPr/>
        </p:nvPicPr>
        <p:blipFill>
          <a:blip r:embed="rId5"/>
          <a:stretch>
            <a:fillRect/>
          </a:stretch>
        </p:blipFill>
        <p:spPr>
          <a:xfrm>
            <a:off x="699699" y="3808659"/>
            <a:ext cx="228234" cy="228234"/>
          </a:xfrm>
          <a:prstGeom prst="rect">
            <a:avLst/>
          </a:prstGeom>
        </p:spPr>
      </p:pic>
      <p:sp>
        <p:nvSpPr>
          <p:cNvPr id="31" name="Text 25"/>
          <p:cNvSpPr txBox="1"/>
          <p:nvPr/>
        </p:nvSpPr>
        <p:spPr>
          <a:xfrm>
            <a:off x="1170432" y="3611880"/>
            <a:ext cx="301752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Recherche et ONG</a:t>
            </a:r>
            <a:endParaRPr lang="en-US" sz="1250" dirty="0"/>
          </a:p>
        </p:txBody>
      </p:sp>
      <p:sp>
        <p:nvSpPr>
          <p:cNvPr id="32" name="Text 26"/>
          <p:cNvSpPr txBox="1"/>
          <p:nvPr/>
        </p:nvSpPr>
        <p:spPr>
          <a:xfrm>
            <a:off x="1170432" y="3867912"/>
            <a:ext cx="3017520" cy="45720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Études des inégalités numériques ; planification de missions.</a:t>
            </a:r>
            <a:endParaRPr lang="en-US" sz="1000" dirty="0"/>
          </a:p>
        </p:txBody>
      </p:sp>
      <p:sp>
        <p:nvSpPr>
          <p:cNvPr id="33" name="Text 27"/>
          <p:cNvSpPr txBox="1"/>
          <p:nvPr/>
        </p:nvSpPr>
        <p:spPr>
          <a:xfrm>
            <a:off x="4572000" y="1325880"/>
            <a:ext cx="3657600" cy="201168"/>
          </a:xfrm>
          <a:prstGeom prst="rect">
            <a:avLst/>
          </a:prstGeom>
          <a:noFill/>
          <a:ln/>
        </p:spPr>
        <p:txBody>
          <a:bodyPr wrap="square" lIns="0" tIns="0" rIns="0" bIns="0" rtlCol="0" anchor="t"/>
          <a:lstStyle/>
          <a:p>
            <a:pPr marL="0" indent="0">
              <a:buNone/>
            </a:pPr>
            <a:r>
              <a:rPr lang="en-US" sz="1000" b="1" kern="0" spc="200" dirty="0">
                <a:solidFill>
                  <a:srgbClr val="00704A"/>
                </a:solidFill>
                <a:latin typeface="Calibri" pitchFamily="34" charset="0"/>
                <a:ea typeface="Calibri" pitchFamily="34" charset="-122"/>
                <a:cs typeface="Calibri" pitchFamily="34" charset="-120"/>
              </a:rPr>
              <a:t>USAGES POSSIBLES POUR UN INS</a:t>
            </a:r>
            <a:endParaRPr lang="en-US" sz="1000" dirty="0"/>
          </a:p>
        </p:txBody>
      </p:sp>
      <p:sp>
        <p:nvSpPr>
          <p:cNvPr id="34" name="Shape 28"/>
          <p:cNvSpPr/>
          <p:nvPr/>
        </p:nvSpPr>
        <p:spPr>
          <a:xfrm>
            <a:off x="4572000" y="1600200"/>
            <a:ext cx="4114800" cy="621792"/>
          </a:xfrm>
          <a:prstGeom prst="roundRect">
            <a:avLst>
              <a:gd name="adj" fmla="val 11765"/>
            </a:avLst>
          </a:prstGeom>
          <a:solidFill>
            <a:srgbClr val="E8F5EF"/>
          </a:solidFill>
          <a:ln w="12700">
            <a:solidFill>
              <a:srgbClr val="00A86A"/>
            </a:solidFill>
            <a:prstDash val="solid"/>
          </a:ln>
        </p:spPr>
      </p:sp>
      <p:sp>
        <p:nvSpPr>
          <p:cNvPr id="35" name="Shape 29"/>
          <p:cNvSpPr/>
          <p:nvPr/>
        </p:nvSpPr>
        <p:spPr>
          <a:xfrm>
            <a:off x="4681728" y="1709928"/>
            <a:ext cx="402336" cy="402336"/>
          </a:xfrm>
          <a:prstGeom prst="ellipse">
            <a:avLst/>
          </a:prstGeom>
          <a:solidFill>
            <a:srgbClr val="00A86A">
              <a:alpha val="22000"/>
            </a:srgbClr>
          </a:solidFill>
          <a:ln/>
        </p:spPr>
      </p:sp>
      <p:pic>
        <p:nvPicPr>
          <p:cNvPr id="36" name="Image 3" descr="preencoded.png"/>
          <p:cNvPicPr>
            <a:picLocks noChangeAspect="1"/>
          </p:cNvPicPr>
          <p:nvPr/>
        </p:nvPicPr>
        <p:blipFill>
          <a:blip r:embed="rId6"/>
          <a:stretch>
            <a:fillRect/>
          </a:stretch>
        </p:blipFill>
        <p:spPr>
          <a:xfrm>
            <a:off x="4778289" y="1806489"/>
            <a:ext cx="209215" cy="209215"/>
          </a:xfrm>
          <a:prstGeom prst="rect">
            <a:avLst/>
          </a:prstGeom>
        </p:spPr>
      </p:pic>
      <p:sp>
        <p:nvSpPr>
          <p:cNvPr id="37" name="Text 30"/>
          <p:cNvSpPr txBox="1"/>
          <p:nvPr/>
        </p:nvSpPr>
        <p:spPr>
          <a:xfrm>
            <a:off x="5193792" y="1664208"/>
            <a:ext cx="3429000"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Profils infranationaux d’inclusion numérique</a:t>
            </a:r>
            <a:endParaRPr lang="en-US" sz="1150" dirty="0"/>
          </a:p>
        </p:txBody>
      </p:sp>
      <p:sp>
        <p:nvSpPr>
          <p:cNvPr id="38" name="Text 31"/>
          <p:cNvSpPr txBox="1"/>
          <p:nvPr/>
        </p:nvSpPr>
        <p:spPr>
          <a:xfrm>
            <a:off x="5193792" y="1920240"/>
            <a:ext cx="3429000" cy="237744"/>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En complément de l’ODD 17.8.1 issu des enquêtes.</a:t>
            </a:r>
            <a:endParaRPr lang="en-US" sz="1000" dirty="0"/>
          </a:p>
        </p:txBody>
      </p:sp>
      <p:sp>
        <p:nvSpPr>
          <p:cNvPr id="39" name="Shape 32"/>
          <p:cNvSpPr/>
          <p:nvPr/>
        </p:nvSpPr>
        <p:spPr>
          <a:xfrm>
            <a:off x="4572000" y="2322576"/>
            <a:ext cx="4114800" cy="621792"/>
          </a:xfrm>
          <a:prstGeom prst="roundRect">
            <a:avLst>
              <a:gd name="adj" fmla="val 11765"/>
            </a:avLst>
          </a:prstGeom>
          <a:solidFill>
            <a:srgbClr val="E8F5EF"/>
          </a:solidFill>
          <a:ln w="12700">
            <a:solidFill>
              <a:srgbClr val="00A86A"/>
            </a:solidFill>
            <a:prstDash val="solid"/>
          </a:ln>
        </p:spPr>
      </p:sp>
      <p:sp>
        <p:nvSpPr>
          <p:cNvPr id="40" name="Shape 33"/>
          <p:cNvSpPr/>
          <p:nvPr/>
        </p:nvSpPr>
        <p:spPr>
          <a:xfrm>
            <a:off x="4681728" y="2432304"/>
            <a:ext cx="402336" cy="402336"/>
          </a:xfrm>
          <a:prstGeom prst="ellipse">
            <a:avLst/>
          </a:prstGeom>
          <a:solidFill>
            <a:srgbClr val="00A86A">
              <a:alpha val="22000"/>
            </a:srgbClr>
          </a:solidFill>
          <a:ln/>
        </p:spPr>
      </p:sp>
      <p:pic>
        <p:nvPicPr>
          <p:cNvPr id="41" name="Image 4" descr="preencoded.png"/>
          <p:cNvPicPr>
            <a:picLocks noChangeAspect="1"/>
          </p:cNvPicPr>
          <p:nvPr/>
        </p:nvPicPr>
        <p:blipFill>
          <a:blip r:embed="rId7"/>
          <a:stretch>
            <a:fillRect/>
          </a:stretch>
        </p:blipFill>
        <p:spPr>
          <a:xfrm>
            <a:off x="4778289" y="2528865"/>
            <a:ext cx="209215" cy="209215"/>
          </a:xfrm>
          <a:prstGeom prst="rect">
            <a:avLst/>
          </a:prstGeom>
        </p:spPr>
      </p:pic>
      <p:sp>
        <p:nvSpPr>
          <p:cNvPr id="42" name="Text 34"/>
          <p:cNvSpPr txBox="1"/>
          <p:nvPr/>
        </p:nvSpPr>
        <p:spPr>
          <a:xfrm>
            <a:off x="5193792" y="2386584"/>
            <a:ext cx="3429000"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Covariable pour l’estimation sur petits domaines</a:t>
            </a:r>
            <a:endParaRPr lang="en-US" sz="1150" dirty="0"/>
          </a:p>
        </p:txBody>
      </p:sp>
      <p:sp>
        <p:nvSpPr>
          <p:cNvPr id="43" name="Text 35"/>
          <p:cNvSpPr txBox="1"/>
          <p:nvPr/>
        </p:nvSpPr>
        <p:spPr>
          <a:xfrm>
            <a:off x="5193792" y="2642616"/>
            <a:ext cx="3429000" cy="237744"/>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Avec les données de lumières nocturnes.</a:t>
            </a:r>
            <a:endParaRPr lang="en-US" sz="1000" dirty="0"/>
          </a:p>
        </p:txBody>
      </p:sp>
      <p:sp>
        <p:nvSpPr>
          <p:cNvPr id="44" name="Shape 36"/>
          <p:cNvSpPr/>
          <p:nvPr/>
        </p:nvSpPr>
        <p:spPr>
          <a:xfrm>
            <a:off x="4572000" y="3044952"/>
            <a:ext cx="4114800" cy="621792"/>
          </a:xfrm>
          <a:prstGeom prst="roundRect">
            <a:avLst>
              <a:gd name="adj" fmla="val 11765"/>
            </a:avLst>
          </a:prstGeom>
          <a:solidFill>
            <a:srgbClr val="E8F5EF"/>
          </a:solidFill>
          <a:ln w="12700">
            <a:solidFill>
              <a:srgbClr val="00A86A"/>
            </a:solidFill>
            <a:prstDash val="solid"/>
          </a:ln>
        </p:spPr>
      </p:sp>
      <p:sp>
        <p:nvSpPr>
          <p:cNvPr id="45" name="Shape 37"/>
          <p:cNvSpPr/>
          <p:nvPr/>
        </p:nvSpPr>
        <p:spPr>
          <a:xfrm>
            <a:off x="4681728" y="3154680"/>
            <a:ext cx="402336" cy="402336"/>
          </a:xfrm>
          <a:prstGeom prst="ellipse">
            <a:avLst/>
          </a:prstGeom>
          <a:solidFill>
            <a:srgbClr val="00A86A">
              <a:alpha val="22000"/>
            </a:srgbClr>
          </a:solidFill>
          <a:ln/>
        </p:spPr>
      </p:sp>
      <p:pic>
        <p:nvPicPr>
          <p:cNvPr id="46" name="Image 5" descr="preencoded.png"/>
          <p:cNvPicPr>
            <a:picLocks noChangeAspect="1"/>
          </p:cNvPicPr>
          <p:nvPr/>
        </p:nvPicPr>
        <p:blipFill>
          <a:blip r:embed="rId8"/>
          <a:stretch>
            <a:fillRect/>
          </a:stretch>
        </p:blipFill>
        <p:spPr>
          <a:xfrm>
            <a:off x="4778289" y="3251241"/>
            <a:ext cx="209215" cy="209215"/>
          </a:xfrm>
          <a:prstGeom prst="rect">
            <a:avLst/>
          </a:prstGeom>
        </p:spPr>
      </p:pic>
      <p:sp>
        <p:nvSpPr>
          <p:cNvPr id="47" name="Text 38"/>
          <p:cNvSpPr txBox="1"/>
          <p:nvPr/>
        </p:nvSpPr>
        <p:spPr>
          <a:xfrm>
            <a:off x="5193792" y="3108960"/>
            <a:ext cx="3429000"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Planification des opérations de terrain</a:t>
            </a:r>
            <a:endParaRPr lang="en-US" sz="1150" dirty="0"/>
          </a:p>
        </p:txBody>
      </p:sp>
      <p:sp>
        <p:nvSpPr>
          <p:cNvPr id="48" name="Text 39"/>
          <p:cNvSpPr txBox="1"/>
          <p:nvPr/>
        </p:nvSpPr>
        <p:spPr>
          <a:xfrm>
            <a:off x="5193792" y="3364992"/>
            <a:ext cx="3429000" cy="237744"/>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Anticiper les contraintes de transmission CAPI par zone.</a:t>
            </a:r>
            <a:endParaRPr lang="en-US" sz="1000" dirty="0"/>
          </a:p>
        </p:txBody>
      </p:sp>
      <p:sp>
        <p:nvSpPr>
          <p:cNvPr id="49" name="Shape 40"/>
          <p:cNvSpPr/>
          <p:nvPr/>
        </p:nvSpPr>
        <p:spPr>
          <a:xfrm>
            <a:off x="4572000" y="3767328"/>
            <a:ext cx="4114800" cy="621792"/>
          </a:xfrm>
          <a:prstGeom prst="roundRect">
            <a:avLst>
              <a:gd name="adj" fmla="val 11765"/>
            </a:avLst>
          </a:prstGeom>
          <a:solidFill>
            <a:srgbClr val="E8F5EF"/>
          </a:solidFill>
          <a:ln w="12700">
            <a:solidFill>
              <a:srgbClr val="00A86A"/>
            </a:solidFill>
            <a:prstDash val="solid"/>
          </a:ln>
        </p:spPr>
      </p:sp>
      <p:sp>
        <p:nvSpPr>
          <p:cNvPr id="50" name="Shape 41"/>
          <p:cNvSpPr/>
          <p:nvPr/>
        </p:nvSpPr>
        <p:spPr>
          <a:xfrm>
            <a:off x="4681728" y="3877056"/>
            <a:ext cx="402336" cy="402336"/>
          </a:xfrm>
          <a:prstGeom prst="ellipse">
            <a:avLst/>
          </a:prstGeom>
          <a:solidFill>
            <a:srgbClr val="00A86A">
              <a:alpha val="22000"/>
            </a:srgbClr>
          </a:solidFill>
          <a:ln/>
        </p:spPr>
      </p:sp>
      <p:pic>
        <p:nvPicPr>
          <p:cNvPr id="51" name="Image 6" descr="preencoded.png"/>
          <p:cNvPicPr>
            <a:picLocks noChangeAspect="1"/>
          </p:cNvPicPr>
          <p:nvPr/>
        </p:nvPicPr>
        <p:blipFill>
          <a:blip r:embed="rId9"/>
          <a:stretch>
            <a:fillRect/>
          </a:stretch>
        </p:blipFill>
        <p:spPr>
          <a:xfrm>
            <a:off x="4778289" y="3973617"/>
            <a:ext cx="209215" cy="209215"/>
          </a:xfrm>
          <a:prstGeom prst="rect">
            <a:avLst/>
          </a:prstGeom>
        </p:spPr>
      </p:pic>
      <p:sp>
        <p:nvSpPr>
          <p:cNvPr id="52" name="Text 42"/>
          <p:cNvSpPr txBox="1"/>
          <p:nvPr/>
        </p:nvSpPr>
        <p:spPr>
          <a:xfrm>
            <a:off x="5193792" y="3831336"/>
            <a:ext cx="3429000"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Arguments pour des partenariats de données</a:t>
            </a:r>
            <a:endParaRPr lang="en-US" sz="1150" dirty="0"/>
          </a:p>
        </p:txBody>
      </p:sp>
      <p:sp>
        <p:nvSpPr>
          <p:cNvPr id="53" name="Text 43"/>
          <p:cNvSpPr txBox="1"/>
          <p:nvPr/>
        </p:nvSpPr>
        <p:spPr>
          <a:xfrm>
            <a:off x="5193792" y="4087368"/>
            <a:ext cx="3429000" cy="237744"/>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Accords d’accès avec Ookla, opérateurs, régulateurs.</a:t>
            </a:r>
            <a:endParaRPr lang="en-US" sz="1000" dirty="0"/>
          </a:p>
        </p:txBody>
      </p:sp>
      <p:sp>
        <p:nvSpPr>
          <p:cNvPr id="54" name="Text 44"/>
          <p:cNvSpPr txBox="1"/>
          <p:nvPr/>
        </p:nvSpPr>
        <p:spPr>
          <a:xfrm>
            <a:off x="457200" y="4572000"/>
            <a:ext cx="749808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Utilisateurs documentés : Ookla (Ookla for Good). Usages INS : pistes de discussion, pas des recommandations.</a:t>
            </a:r>
            <a:endParaRPr lang="en-US" sz="900" dirty="0"/>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818120" y="3794760"/>
            <a:ext cx="2103120" cy="2103120"/>
          </a:xfrm>
          <a:prstGeom prst="ellipse">
            <a:avLst/>
          </a:prstGeom>
          <a:solidFill>
            <a:srgbClr val="00A86A">
              <a:alpha val="5000"/>
            </a:srgbClr>
          </a:solidFill>
          <a:ln/>
        </p:spPr>
      </p:sp>
      <p:sp>
        <p:nvSpPr>
          <p:cNvPr id="5" name="Shape 3"/>
          <p:cNvSpPr/>
          <p:nvPr/>
        </p:nvSpPr>
        <p:spPr>
          <a:xfrm>
            <a:off x="8183880" y="4160520"/>
            <a:ext cx="1371600" cy="1371600"/>
          </a:xfrm>
          <a:prstGeom prst="ellipse">
            <a:avLst/>
          </a:prstGeom>
          <a:solidFill>
            <a:srgbClr val="00A86A">
              <a:alpha val="5000"/>
            </a:srgbClr>
          </a:solidFill>
          <a:ln/>
        </p:spPr>
      </p:sp>
      <p:sp>
        <p:nvSpPr>
          <p:cNvPr id="6" name="Text 4"/>
          <p:cNvSpPr txBox="1"/>
          <p:nvPr/>
        </p:nvSpPr>
        <p:spPr>
          <a:xfrm>
            <a:off x="457200" y="274320"/>
            <a:ext cx="68580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RÉFÉRENCES</a:t>
            </a:r>
            <a:endParaRPr lang="en-US" sz="1050" dirty="0"/>
          </a:p>
        </p:txBody>
      </p:sp>
      <p:sp>
        <p:nvSpPr>
          <p:cNvPr id="7" name="Text 5"/>
          <p:cNvSpPr txBox="1"/>
          <p:nvPr/>
        </p:nvSpPr>
        <p:spPr>
          <a:xfrm>
            <a:off x="457200" y="502920"/>
            <a:ext cx="8229600" cy="56692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Sources et lectures complémentaires</a:t>
            </a:r>
            <a:endParaRPr lang="en-US" sz="2800" dirty="0"/>
          </a:p>
        </p:txBody>
      </p:sp>
      <p:sp>
        <p:nvSpPr>
          <p:cNvPr id="8" name="Shape 6"/>
          <p:cNvSpPr/>
          <p:nvPr/>
        </p:nvSpPr>
        <p:spPr>
          <a:xfrm>
            <a:off x="7589520" y="310896"/>
            <a:ext cx="91440" cy="91440"/>
          </a:xfrm>
          <a:prstGeom prst="ellipse">
            <a:avLst/>
          </a:prstGeom>
          <a:solidFill>
            <a:srgbClr val="D5DED9"/>
          </a:solidFill>
          <a:ln/>
        </p:spPr>
      </p:sp>
      <p:sp>
        <p:nvSpPr>
          <p:cNvPr id="9" name="Shape 7"/>
          <p:cNvSpPr/>
          <p:nvPr/>
        </p:nvSpPr>
        <p:spPr>
          <a:xfrm>
            <a:off x="7772400" y="310896"/>
            <a:ext cx="91440" cy="91440"/>
          </a:xfrm>
          <a:prstGeom prst="ellipse">
            <a:avLst/>
          </a:prstGeom>
          <a:solidFill>
            <a:srgbClr val="D5DED9"/>
          </a:solidFill>
          <a:ln/>
        </p:spPr>
      </p:sp>
      <p:sp>
        <p:nvSpPr>
          <p:cNvPr id="10" name="Shape 8"/>
          <p:cNvSpPr/>
          <p:nvPr/>
        </p:nvSpPr>
        <p:spPr>
          <a:xfrm>
            <a:off x="7955280" y="310896"/>
            <a:ext cx="91440" cy="91440"/>
          </a:xfrm>
          <a:prstGeom prst="ellipse">
            <a:avLst/>
          </a:prstGeom>
          <a:solidFill>
            <a:srgbClr val="D5DED9"/>
          </a:solidFill>
          <a:ln/>
        </p:spPr>
      </p:sp>
      <p:sp>
        <p:nvSpPr>
          <p:cNvPr id="11" name="Shape 9"/>
          <p:cNvSpPr/>
          <p:nvPr/>
        </p:nvSpPr>
        <p:spPr>
          <a:xfrm>
            <a:off x="8138160" y="310896"/>
            <a:ext cx="91440" cy="91440"/>
          </a:xfrm>
          <a:prstGeom prst="ellipse">
            <a:avLst/>
          </a:prstGeom>
          <a:solidFill>
            <a:srgbClr val="D5DED9"/>
          </a:solidFill>
          <a:ln/>
        </p:spPr>
      </p:sp>
      <p:sp>
        <p:nvSpPr>
          <p:cNvPr id="12" name="Shape 10"/>
          <p:cNvSpPr/>
          <p:nvPr/>
        </p:nvSpPr>
        <p:spPr>
          <a:xfrm>
            <a:off x="8321040" y="310896"/>
            <a:ext cx="91440" cy="91440"/>
          </a:xfrm>
          <a:prstGeom prst="ellipse">
            <a:avLst/>
          </a:prstGeom>
          <a:solidFill>
            <a:srgbClr val="D5DED9"/>
          </a:solidFill>
          <a:ln/>
        </p:spPr>
      </p:sp>
      <p:sp>
        <p:nvSpPr>
          <p:cNvPr id="13" name="Shape 11"/>
          <p:cNvSpPr/>
          <p:nvPr/>
        </p:nvSpPr>
        <p:spPr>
          <a:xfrm>
            <a:off x="8503920" y="310896"/>
            <a:ext cx="91440" cy="91440"/>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BAD – Data Innovation for Africa (DI4A)  ·  Ookla Open Data et WorldPop</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35</a:t>
            </a:r>
            <a:endParaRPr lang="en-US" sz="850" dirty="0"/>
          </a:p>
        </p:txBody>
      </p:sp>
      <p:sp>
        <p:nvSpPr>
          <p:cNvPr id="17" name="Shape 14"/>
          <p:cNvSpPr/>
          <p:nvPr/>
        </p:nvSpPr>
        <p:spPr>
          <a:xfrm>
            <a:off x="457200" y="1371600"/>
            <a:ext cx="2606040" cy="2697480"/>
          </a:xfrm>
          <a:prstGeom prst="roundRect">
            <a:avLst>
              <a:gd name="adj" fmla="val 2807"/>
            </a:avLst>
          </a:prstGeom>
          <a:solidFill>
            <a:srgbClr val="F4F7F5"/>
          </a:solidFill>
          <a:ln w="9525">
            <a:solidFill>
              <a:srgbClr val="D5DED9"/>
            </a:solidFill>
            <a:prstDash val="solid"/>
          </a:ln>
        </p:spPr>
      </p:sp>
      <p:sp>
        <p:nvSpPr>
          <p:cNvPr id="18" name="Shape 15"/>
          <p:cNvSpPr/>
          <p:nvPr/>
        </p:nvSpPr>
        <p:spPr>
          <a:xfrm>
            <a:off x="594360" y="1481328"/>
            <a:ext cx="402336" cy="402336"/>
          </a:xfrm>
          <a:prstGeom prst="ellipse">
            <a:avLst/>
          </a:prstGeom>
          <a:solidFill>
            <a:srgbClr val="00A86A">
              <a:alpha val="22000"/>
            </a:srgbClr>
          </a:solidFill>
          <a:ln/>
        </p:spPr>
      </p:sp>
      <p:pic>
        <p:nvPicPr>
          <p:cNvPr id="19" name="Image 0" descr="preencoded.png"/>
          <p:cNvPicPr>
            <a:picLocks noChangeAspect="1"/>
          </p:cNvPicPr>
          <p:nvPr/>
        </p:nvPicPr>
        <p:blipFill>
          <a:blip r:embed="rId3"/>
          <a:stretch>
            <a:fillRect/>
          </a:stretch>
        </p:blipFill>
        <p:spPr>
          <a:xfrm>
            <a:off x="690921" y="1577889"/>
            <a:ext cx="209215" cy="209215"/>
          </a:xfrm>
          <a:prstGeom prst="rect">
            <a:avLst/>
          </a:prstGeom>
        </p:spPr>
      </p:pic>
      <p:sp>
        <p:nvSpPr>
          <p:cNvPr id="20" name="Text 16"/>
          <p:cNvSpPr txBox="1"/>
          <p:nvPr/>
        </p:nvSpPr>
        <p:spPr>
          <a:xfrm>
            <a:off x="1097280" y="1499616"/>
            <a:ext cx="1828800" cy="365760"/>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Les données</a:t>
            </a:r>
            <a:endParaRPr lang="en-US" sz="1300" dirty="0"/>
          </a:p>
        </p:txBody>
      </p:sp>
      <p:sp>
        <p:nvSpPr>
          <p:cNvPr id="21" name="Text 17"/>
          <p:cNvSpPr txBox="1"/>
          <p:nvPr/>
        </p:nvSpPr>
        <p:spPr>
          <a:xfrm>
            <a:off x="594360" y="2011680"/>
            <a:ext cx="2377440" cy="201168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Ookla : teamookla/ookla-open-data, README, schéma, tutoriels (GitHub)</a:t>
            </a:r>
            <a:endParaRPr lang="en-US" sz="950" dirty="0"/>
          </a:p>
          <a:p>
            <a:pPr marL="342900" indent="-3429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Ookla : package R ooklaOpenDataR (GitHub)</a:t>
            </a:r>
            <a:endParaRPr lang="en-US" sz="950" dirty="0"/>
          </a:p>
          <a:p>
            <a:pPr marL="342900" indent="-3429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AWS Registry of Open Data : Speedtest global performance</a:t>
            </a:r>
            <a:endParaRPr lang="en-US" sz="950" dirty="0"/>
          </a:p>
          <a:p>
            <a:pPr marL="342900" indent="-3429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WorldPop Global2 R2025A v1, note de diffusion, DOI 10.5258/SOTON/WP00839</a:t>
            </a:r>
            <a:endParaRPr lang="en-US" sz="950" dirty="0"/>
          </a:p>
        </p:txBody>
      </p:sp>
      <p:sp>
        <p:nvSpPr>
          <p:cNvPr id="22" name="Shape 18"/>
          <p:cNvSpPr/>
          <p:nvPr/>
        </p:nvSpPr>
        <p:spPr>
          <a:xfrm>
            <a:off x="3246120" y="1371600"/>
            <a:ext cx="2606040" cy="2697480"/>
          </a:xfrm>
          <a:prstGeom prst="roundRect">
            <a:avLst>
              <a:gd name="adj" fmla="val 2807"/>
            </a:avLst>
          </a:prstGeom>
          <a:solidFill>
            <a:srgbClr val="F4F7F5"/>
          </a:solidFill>
          <a:ln w="9525">
            <a:solidFill>
              <a:srgbClr val="D5DED9"/>
            </a:solidFill>
            <a:prstDash val="solid"/>
          </a:ln>
        </p:spPr>
      </p:sp>
      <p:sp>
        <p:nvSpPr>
          <p:cNvPr id="23" name="Shape 19"/>
          <p:cNvSpPr/>
          <p:nvPr/>
        </p:nvSpPr>
        <p:spPr>
          <a:xfrm>
            <a:off x="3383280" y="1481328"/>
            <a:ext cx="402336" cy="402336"/>
          </a:xfrm>
          <a:prstGeom prst="ellipse">
            <a:avLst/>
          </a:prstGeom>
          <a:solidFill>
            <a:srgbClr val="0E7C86">
              <a:alpha val="22000"/>
            </a:srgbClr>
          </a:solidFill>
          <a:ln/>
        </p:spPr>
      </p:sp>
      <p:pic>
        <p:nvPicPr>
          <p:cNvPr id="24" name="Image 1" descr="preencoded.png"/>
          <p:cNvPicPr>
            <a:picLocks noChangeAspect="1"/>
          </p:cNvPicPr>
          <p:nvPr/>
        </p:nvPicPr>
        <p:blipFill>
          <a:blip r:embed="rId4"/>
          <a:stretch>
            <a:fillRect/>
          </a:stretch>
        </p:blipFill>
        <p:spPr>
          <a:xfrm>
            <a:off x="3479841" y="1577889"/>
            <a:ext cx="209215" cy="209215"/>
          </a:xfrm>
          <a:prstGeom prst="rect">
            <a:avLst/>
          </a:prstGeom>
        </p:spPr>
      </p:pic>
      <p:sp>
        <p:nvSpPr>
          <p:cNvPr id="25" name="Text 20"/>
          <p:cNvSpPr txBox="1"/>
          <p:nvPr/>
        </p:nvSpPr>
        <p:spPr>
          <a:xfrm>
            <a:off x="3886200" y="1499616"/>
            <a:ext cx="1828800" cy="365760"/>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Contexte mondial</a:t>
            </a:r>
            <a:endParaRPr lang="en-US" sz="1300" dirty="0"/>
          </a:p>
        </p:txBody>
      </p:sp>
      <p:sp>
        <p:nvSpPr>
          <p:cNvPr id="26" name="Text 21"/>
          <p:cNvSpPr txBox="1"/>
          <p:nvPr/>
        </p:nvSpPr>
        <p:spPr>
          <a:xfrm>
            <a:off x="3383280" y="2011680"/>
            <a:ext cx="2377440" cy="201168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UIT, Measuring digital development: Facts and Figures 2025 (17 nov. 2025)</a:t>
            </a:r>
            <a:endParaRPr lang="en-US" sz="950" dirty="0"/>
          </a:p>
          <a:p>
            <a:pPr marL="342900" indent="-3429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Communiqué de presse de l’UIT, 17 novembre 2025</a:t>
            </a:r>
            <a:endParaRPr lang="en-US" sz="950" dirty="0"/>
          </a:p>
          <a:p>
            <a:pPr marL="342900" indent="-3429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Cadre mondial d’indicateurs des ODD (ONU) : 9.c.1, 17.6.1, 17.8.1</a:t>
            </a:r>
            <a:endParaRPr lang="en-US" sz="950" dirty="0"/>
          </a:p>
        </p:txBody>
      </p:sp>
      <p:sp>
        <p:nvSpPr>
          <p:cNvPr id="27" name="Shape 22"/>
          <p:cNvSpPr/>
          <p:nvPr/>
        </p:nvSpPr>
        <p:spPr>
          <a:xfrm>
            <a:off x="6035040" y="1371600"/>
            <a:ext cx="2606040" cy="2697480"/>
          </a:xfrm>
          <a:prstGeom prst="roundRect">
            <a:avLst>
              <a:gd name="adj" fmla="val 2807"/>
            </a:avLst>
          </a:prstGeom>
          <a:solidFill>
            <a:srgbClr val="F4F7F5"/>
          </a:solidFill>
          <a:ln w="9525">
            <a:solidFill>
              <a:srgbClr val="D5DED9"/>
            </a:solidFill>
            <a:prstDash val="solid"/>
          </a:ln>
        </p:spPr>
      </p:sp>
      <p:sp>
        <p:nvSpPr>
          <p:cNvPr id="28" name="Shape 23"/>
          <p:cNvSpPr/>
          <p:nvPr/>
        </p:nvSpPr>
        <p:spPr>
          <a:xfrm>
            <a:off x="6172200" y="1481328"/>
            <a:ext cx="402336" cy="402336"/>
          </a:xfrm>
          <a:prstGeom prst="ellipse">
            <a:avLst/>
          </a:prstGeom>
          <a:solidFill>
            <a:srgbClr val="D49A00">
              <a:alpha val="22000"/>
            </a:srgbClr>
          </a:solidFill>
          <a:ln/>
        </p:spPr>
      </p:sp>
      <p:pic>
        <p:nvPicPr>
          <p:cNvPr id="29" name="Image 2" descr="preencoded.png"/>
          <p:cNvPicPr>
            <a:picLocks noChangeAspect="1"/>
          </p:cNvPicPr>
          <p:nvPr/>
        </p:nvPicPr>
        <p:blipFill>
          <a:blip r:embed="rId5"/>
          <a:stretch>
            <a:fillRect/>
          </a:stretch>
        </p:blipFill>
        <p:spPr>
          <a:xfrm>
            <a:off x="6268761" y="1577889"/>
            <a:ext cx="209215" cy="209215"/>
          </a:xfrm>
          <a:prstGeom prst="rect">
            <a:avLst/>
          </a:prstGeom>
        </p:spPr>
      </p:pic>
      <p:sp>
        <p:nvSpPr>
          <p:cNvPr id="30" name="Text 24"/>
          <p:cNvSpPr txBox="1"/>
          <p:nvPr/>
        </p:nvSpPr>
        <p:spPr>
          <a:xfrm>
            <a:off x="6675120" y="1499616"/>
            <a:ext cx="1828800" cy="365760"/>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Méthode</a:t>
            </a:r>
            <a:endParaRPr lang="en-US" sz="1300" dirty="0"/>
          </a:p>
        </p:txBody>
      </p:sp>
      <p:sp>
        <p:nvSpPr>
          <p:cNvPr id="31" name="Text 25"/>
          <p:cNvSpPr txBox="1"/>
          <p:nvPr/>
        </p:nvSpPr>
        <p:spPr>
          <a:xfrm>
            <a:off x="6172200" y="2011680"/>
            <a:ext cx="2377440" cy="201168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Bing Maps Tile System (quadkeys)</a:t>
            </a:r>
            <a:endParaRPr lang="en-US" sz="950" dirty="0"/>
          </a:p>
          <a:p>
            <a:pPr marL="342900" indent="-3429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Licences Creative Commons : CC BY 4.0, CC BY-NC-SA 4.0</a:t>
            </a:r>
            <a:endParaRPr lang="en-US" sz="950" dirty="0"/>
          </a:p>
          <a:p>
            <a:pPr marL="342900" indent="-3429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Littérature évaluée par les pairs sur les biais des tests de débit participatifs</a:t>
            </a:r>
            <a:endParaRPr lang="en-US" sz="950" dirty="0"/>
          </a:p>
        </p:txBody>
      </p:sp>
      <p:sp>
        <p:nvSpPr>
          <p:cNvPr id="32" name="Text 26"/>
          <p:cNvSpPr txBox="1"/>
          <p:nvPr/>
        </p:nvSpPr>
        <p:spPr>
          <a:xfrm>
            <a:off x="457200" y="4160520"/>
            <a:ext cx="8229600" cy="36576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Speedtest® by Ookla® Global Fixed and Mobile Network Performance Maps. Marques Ookla utilisées sous licence et reproduites avec autorisation. Licence CC BY-NC-SA 4.0. Données WorldPop sous licence CC BY 4.0.</a:t>
            </a:r>
            <a:endParaRPr lang="en-US" sz="900" dirty="0"/>
          </a:p>
        </p:txBody>
      </p:sp>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p:spPr>
      </p:sp>
      <p:sp>
        <p:nvSpPr>
          <p:cNvPr id="3" name="Text 1"/>
          <p:cNvSpPr txBox="1"/>
          <p:nvPr/>
        </p:nvSpPr>
        <p:spPr>
          <a:xfrm>
            <a:off x="548640" y="914400"/>
            <a:ext cx="4572000" cy="228600"/>
          </a:xfrm>
          <a:prstGeom prst="rect">
            <a:avLst/>
          </a:prstGeom>
          <a:noFill/>
          <a:ln/>
        </p:spPr>
        <p:txBody>
          <a:bodyPr wrap="square" lIns="0" tIns="0" rIns="0" bIns="0" rtlCol="0" anchor="t"/>
          <a:lstStyle/>
          <a:p>
            <a:pPr marL="0" indent="0">
              <a:buNone/>
            </a:pPr>
            <a:r>
              <a:rPr lang="en-US" sz="1100" b="1" kern="0" spc="300" dirty="0">
                <a:solidFill>
                  <a:srgbClr val="F5C242"/>
                </a:solidFill>
                <a:latin typeface="Calibri" pitchFamily="34" charset="0"/>
                <a:ea typeface="Calibri" pitchFamily="34" charset="-122"/>
                <a:cs typeface="Calibri" pitchFamily="34" charset="-120"/>
              </a:rPr>
              <a:t>BAD  ·  DI4A</a:t>
            </a:r>
            <a:endParaRPr lang="en-US" sz="1100" dirty="0"/>
          </a:p>
        </p:txBody>
      </p:sp>
      <p:sp>
        <p:nvSpPr>
          <p:cNvPr id="4" name="Text 2"/>
          <p:cNvSpPr txBox="1"/>
          <p:nvPr/>
        </p:nvSpPr>
        <p:spPr>
          <a:xfrm>
            <a:off x="548640" y="1234440"/>
            <a:ext cx="5852160" cy="1325880"/>
          </a:xfrm>
          <a:prstGeom prst="rect">
            <a:avLst/>
          </a:prstGeom>
          <a:noFill/>
          <a:ln/>
        </p:spPr>
        <p:txBody>
          <a:bodyPr wrap="square" lIns="0" tIns="0" rIns="0" bIns="0" rtlCol="0" anchor="t"/>
          <a:lstStyle/>
          <a:p>
            <a:pPr marL="0" indent="0">
              <a:buNone/>
            </a:pPr>
            <a:r>
              <a:rPr lang="en-US" sz="4000" b="1" dirty="0">
                <a:solidFill>
                  <a:srgbClr val="FFFFFF"/>
                </a:solidFill>
                <a:latin typeface="Calibri" pitchFamily="34" charset="0"/>
                <a:ea typeface="Calibri" pitchFamily="34" charset="-122"/>
                <a:cs typeface="Calibri" pitchFamily="34" charset="-120"/>
              </a:rPr>
              <a:t>Place aux questions</a:t>
            </a:r>
            <a:endParaRPr lang="en-US" sz="4000" dirty="0"/>
          </a:p>
        </p:txBody>
      </p:sp>
      <p:sp>
        <p:nvSpPr>
          <p:cNvPr id="5" name="Text 3"/>
          <p:cNvSpPr txBox="1"/>
          <p:nvPr/>
        </p:nvSpPr>
        <p:spPr>
          <a:xfrm>
            <a:off x="548640" y="2697480"/>
            <a:ext cx="5303520" cy="685800"/>
          </a:xfrm>
          <a:prstGeom prst="rect">
            <a:avLst/>
          </a:prstGeom>
          <a:noFill/>
          <a:ln/>
        </p:spPr>
        <p:txBody>
          <a:bodyPr wrap="square" lIns="0" tIns="0" rIns="0" bIns="0" rtlCol="0" anchor="t"/>
          <a:lstStyle/>
          <a:p>
            <a:pPr marL="0" indent="0">
              <a:buNone/>
            </a:pPr>
            <a:r>
              <a:rPr lang="en-US" sz="1700" i="1" dirty="0">
                <a:solidFill>
                  <a:srgbClr val="E6F6EE"/>
                </a:solidFill>
                <a:latin typeface="Calibri" pitchFamily="34" charset="0"/>
                <a:ea typeface="Calibri" pitchFamily="34" charset="-122"/>
                <a:cs typeface="Calibri" pitchFamily="34" charset="-120"/>
              </a:rPr>
              <a:t>Puis au laboratoire : ouvrez votre notebook, choisissez votre pays et commencez par l’étape zéro, vérifier la couverture.</a:t>
            </a:r>
            <a:endParaRPr lang="en-US" sz="1700" dirty="0"/>
          </a:p>
        </p:txBody>
      </p:sp>
      <p:sp>
        <p:nvSpPr>
          <p:cNvPr id="9" name="Shape 7"/>
          <p:cNvSpPr/>
          <p:nvPr/>
        </p:nvSpPr>
        <p:spPr>
          <a:xfrm>
            <a:off x="6720840" y="1463040"/>
            <a:ext cx="1920240" cy="1920240"/>
          </a:xfrm>
          <a:prstGeom prst="ellipse">
            <a:avLst/>
          </a:prstGeom>
          <a:solidFill>
            <a:srgbClr val="FFFFFF"/>
          </a:solidFill>
          <a:ln/>
        </p:spPr>
      </p:sp>
      <p:pic>
        <p:nvPicPr>
          <p:cNvPr id="10" name="Image 0" descr="preencoded.png"/>
          <p:cNvPicPr>
            <a:picLocks noChangeAspect="1"/>
          </p:cNvPicPr>
          <p:nvPr/>
        </p:nvPicPr>
        <p:blipFill>
          <a:blip r:embed="rId4"/>
          <a:stretch>
            <a:fillRect/>
          </a:stretch>
        </p:blipFill>
        <p:spPr>
          <a:xfrm>
            <a:off x="7178040" y="1920240"/>
            <a:ext cx="1005840" cy="1005840"/>
          </a:xfrm>
          <a:prstGeom prst="rect">
            <a:avLst/>
          </a:prstGeom>
        </p:spPr>
      </p:pic>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TotalTime>
  <Words>6069</Words>
  <Application>Microsoft Office PowerPoint</Application>
  <PresentationFormat>On-screen Show (16:9)</PresentationFormat>
  <Paragraphs>577</Paragraphs>
  <Slides>29</Slides>
  <Notes>29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Mesurer la fracture de connectivité avec Ookla Open Data</dc:title>
  <dc:subject>PptxGenJS Presentation</dc:subject>
  <dc:creator>Banque africaine de développement – Data Innovation for Africa (DI4A)</dc:creator>
  <cp:lastModifiedBy>HADJ TAIEB, MOHAMED ALI</cp:lastModifiedBy>
  <cp:revision>7</cp:revision>
  <dcterms:created xsi:type="dcterms:W3CDTF">2026-09-16T15:08:06Z</dcterms:created>
  <dcterms:modified xsi:type="dcterms:W3CDTF">2026-09-30T05:04:52Z</dcterms:modified>
</cp:coreProperties>
</file>