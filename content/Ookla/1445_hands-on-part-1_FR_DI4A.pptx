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Mêmes trois tuiles, trois réponses (Mbit/s)</a:t>
            </a:r>
          </a:p>
        </c:rich>
      </c:tx>
      <c:overlay val="0"/>
    </c:title>
    <c:autoTitleDeleted val="0"/>
    <c:plotArea>
      <c:layout/>
      <c:barChart>
        <c:barDir val="col"/>
        <c:grouping val="clustered"/>
        <c:varyColors val="0"/>
        <c:ser>
          <c:idx val="0"/>
          <c:order val="0"/>
          <c:tx>
            <c:strRef>
              <c:f>Sheet1!$B$1</c:f>
              <c:strCache>
                <c:ptCount val="1"/>
                <c:pt idx="0">
                  <c:v>Mbit/s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E57A-4BC0-AB71-F0D2785152D5}"/>
              </c:ext>
            </c:extLst>
          </c:dPt>
          <c:dPt>
            <c:idx val="1"/>
            <c:invertIfNegative val="0"/>
            <c:bubble3D val="0"/>
            <c:spPr>
              <a:solidFill>
                <a:srgbClr val="57BD92"/>
              </a:solidFill>
              <a:effectLst/>
            </c:spPr>
            <c:extLst>
              <c:ext xmlns:c16="http://schemas.microsoft.com/office/drawing/2014/chart" uri="{C3380CC4-5D6E-409C-BE32-E72D297353CC}">
                <c16:uniqueId val="{00000003-E57A-4BC0-AB71-F0D2785152D5}"/>
              </c:ext>
            </c:extLst>
          </c:dPt>
          <c:dPt>
            <c:idx val="2"/>
            <c:invertIfNegative val="0"/>
            <c:bubble3D val="0"/>
            <c:spPr>
              <a:solidFill>
                <a:srgbClr val="00704A"/>
              </a:solidFill>
              <a:effectLst/>
            </c:spPr>
            <c:extLst>
              <c:ext xmlns:c16="http://schemas.microsoft.com/office/drawing/2014/chart" uri="{C3380CC4-5D6E-409C-BE32-E72D297353CC}">
                <c16:uniqueId val="{00000005-E57A-4BC0-AB71-F0D2785152D5}"/>
              </c:ext>
            </c:extLst>
          </c:dPt>
          <c:dLbls>
            <c:numFmt formatCode="0&quot;,&quot;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Moyenne simple</c:v>
                </c:pt>
                <c:pt idx="1">
                  <c:v>Pondérée par les tests</c:v>
                </c:pt>
                <c:pt idx="2">
                  <c:v>Pondérée par la population</c:v>
                </c:pt>
              </c:strCache>
            </c:strRef>
          </c:cat>
          <c:val>
            <c:numRef>
              <c:f>Sheet1!$B$2:$B$4</c:f>
              <c:numCache>
                <c:formatCode>General</c:formatCode>
                <c:ptCount val="3"/>
                <c:pt idx="0">
                  <c:v>100</c:v>
                </c:pt>
                <c:pt idx="1">
                  <c:v>187</c:v>
                </c:pt>
                <c:pt idx="2">
                  <c:v>170</c:v>
                </c:pt>
              </c:numCache>
            </c:numRef>
          </c:val>
          <c:extLst>
            <c:ext xmlns:c16="http://schemas.microsoft.com/office/drawing/2014/chart" uri="{C3380CC4-5D6E-409C-BE32-E72D297353CC}">
              <c16:uniqueId val="{00000006-E57A-4BC0-AB71-F0D2785152D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95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2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216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séance prolonge le travail sous pandas (Ookla, WorldPop) du labo précédent avec des outils conçus pour le passage à l’échelle. L’exposé dure environ 30 minutes et prépare les deux laboratoires : le Labo 1 indexe les tuiles Ookla dans un cluster Elasticsearch déjà provisionné ; le Labo 2 construit une exploration dans Kibana et la compare à pandas. Tout se termine par un commit dans le dépôt GitHub de votre équipe. Note : la présentation suit le style visuel de la BAD ; ajouter les logos officiels avant toute diffusion externe.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Avant de parler d’un produit, on situe l’indexation et la recherche dans la chaîne de valeur du big data, puis on montre pourquoi le jeu de données Ookla est un bon cas d’école.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briques reprennent la description de la séance. Quatre forment un flux : l’ingestion fait entrer les données ; le stockage les conserve à bas coût (lac) ou sous forme de tables gouvernées (lakehouse) ; le traitement les transforme par lots ou en flux, souvent avec Spark ; l’indexation les rend interrogeables en moins d’une seconde. Deux sont transversales : l’orchestration planifie et supervise ; les métadonnées et le versionnage rendent chaque chiffre traçable. Dans cette séance, on zoome sur la brique 4. Un INS n’a pas besoin de tout, tout de suite.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solutions sont complémentaires. Le lac est peu coûteux et garde tout à l’état brut. Le lakehouse ajoute la sémantique des tables — transactions, schéma, retour dans le temps — pour des agrégats officiels reproductibles. L’index de recherche échange du stockage et de la mémoire contre de la vitesse sur les filtres interactifs, le texte et la géographie. En pratique, les fichiers Parquet d’Ookla restent dans le lac et un sous-ensemble enrichi est indexé pour l’exploration. Opposer ensuite lots et flux : Ookla est une publication trimestrielle par lots ; le flux concerne les capteurs ou les événements réseau.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labo précédent en chiffres. Les tuiles sont des carrés Web Mercator de niveau 16, d’environ 610,8 m à l’équateur. Les agrégats commencent au T1 2019 et sont publiés chaque trimestre, séparément pour le fixe et le mobile, en Parquet (géométrie en WKT, EPSG:4326) et en Shapefile. Ookla indique que des centaines de millions de tests sont réalisés chaque mois, d’où la publication en tuiles plutôt qu’en tests bruts. Le problème de volume est cumulatif : trimestres × types de service × pays, plus plusieurs utilisateurs qui veulent des réponses interactives en même temps.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On ouvre la boîte : les trois composants, la structure de données qui explique la rapidité de la recherche, un lexique depuis pandas et SQL, et l’anatomie d’un cluster.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l’image de gauche à droite. Les sources : fichiers, API, journaux. L — Logstash — est un moteur de pipelines (entrées, filtres, sorties) ; dans notre labo, un script Python joue ce rôle. E — Elasticsearch — est un moteur distribué fondé sur Apache Lucene : il stocke des documents JSON, indexe chaque champ et répond aux recherches et aux agrégations. K — Kibana — est l’interface web : Discover, Lens, Maps, Dashboards. Avec l’arrivée de Beats, des agents légers d’envoi de données, Elastic a adopté le nom Elastic Stack.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concept le plus important de l’exposé. Au lieu de lire chaque document, Elasticsearch construit à l’indexation la liste de tous les termes et des documents qui les contiennent. Une requête devient alors une opération sur des ensembles courts. Dérouler l’exemple : « kigali » apparaît dans D1 et D3, « rural » dans D2 et D3 ; l’intersection donne D3. Analogie : l’index à la fin d’un annuaire statistique. Nombres et coordonnées utilisent une structure voisine, l’arbre BKD, avec le même bénéfice pour les intervalles et la géographie. Le prix : l’indexation coûte du temps, du disque et de la mémoire au départ.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discipline de vocabulaire compte. La plupart des participants connaissent pandas ou SQL : on traduit. Un index correspond à peu près à une table ou à un DataFrame ; un document à une ligne, stockée en JSON ; un champ à une colonne. Le mapping est le schéma : contrairement à pandas, on ne peut pas changer le type d’un champ existant sans réindexer. Les requêtes filtrent ; les agrégations regroupent et résument. Attention au mot « index » : dans Elasticsearch, il désigne toute la collection, pas un index sur une colonne.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cluster est un ensemble de machines appelées nœuds. Chaque index est découpé en shards primaires pour répartir les données et la charge. Chaque primaire peut avoir des réplicas, placés sur un autre nœud, qui protègent contre la perte d’une machine et servent aussi les recherches. Sur le schéma, l’index ookla-tiles a trois primaires et un réplica chacun : n’importe quel nœud peut tomber sans perte de données. Pour le dimensionnement, la documentation Elastic indique que des shards de 10 à 50 Go fonctionnent généralement bien, avec moins de 200 millions de documents par shard. Pour un index Ookla national, un ou deux primaires suffisent : le sur-découpage est l’erreur classique du débutant.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Modélisation : d’une ligne Parquet à un document JSON enrichi, le mapping qui déclare les types, le choix entre point et polygone, et les façons de charger les données.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les champs tels qu’Ookla les publie. À droite, le document réellement indexé. On y ajoute ce que le labo précédent a calculé : le trimestre et le type de service (qui ne figurent que dans le chemin du fichier), les unités administratives issues d’une jointure spatiale avec le fichier des limites nationales, la population WorldPop sommée sur la tuile et un centroïde pour la cartographie rapide. Le quadkey est une vraie tuile de zoom 16 à Nyarugenge (Kigali) ; les mesures sont illustratives. Enrichir avant d’indexer simplifie toutes les requêtes ultérieures.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mapping est un contrat. Le réglage dynamic: strict fait rejeter tout document contenant un champ imprévu, ce qui détecte tôt les fautes de frappe. Les champs keyword contiennent des valeurs exactes pour filtrer et regrouper ; les codes comme le quadkey y ont leur place. Les champs numériques et dates permettent intervalles et statistiques ; geo_point et geo_shape permettent les requêtes spatiales. Illustrer le piège du quadkey avec un exemple réel : une tuile sur Dakar a le quadkey 0333… ; si une étape le convertit en nombre, le zéro initial disparaît et la tuile ne correspond plus. Le même risque vaut pour les codes administratifs commençant par zéro.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est compact et rapide : idéal pour les cartes de chaleur, les requêtes de distance et les agrégations en grille. Un polygone conserve tout le carré de 610 mètres : une tuile à cheval sur une limite de district est bien retrouvée par les deux districts. Notre recommandation : stocker les deux. Piège technique : WKT et GeoJSON placent la longitude avant la latitude, comme dans les fichiers Ookla. La forme objet avec lat et lon est explicite et évite la confusion.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voies d’ingestion. L’import de fichier dans Kibana est le moyen le plus rapide d’essayer un petit CSV ou NDJSON. Le client Python avec le helper bulk est celui du Labo 1 : scriptable et reproductible, il trouve naturellement sa place dans le dépôt de l’équipe. Logstash convient aux flux récurrents avec une logique d’analyse. Les pipelines d’ingestion traitent les données au sein d’Elasticsearch. Dans le code, souligner l’_id déterministe construit à partir du quadkey, du trimestre et du type de service : relancer le script écrase au lieu de dupliquer, le chargement est idempotent.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Interrogation : la structure d’une requête, la boîte à outils des agrégations, un indicateur correctement pondéré, les questions spatiales et le langage en pipeline ES|QL.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requête comme une phrase : dans l’index ookla-tiles, ne renvoie pas de documents (size 0) ; garde uniquement les tuiles mobiles du T2 2025 ; regroupe-les par région ; et dans chaque groupe, calcule le débit descendant moyen pondéré par le nombre de tests. Le contexte filter est important : il répond oui ou non, ne calcule pas de score de pertinence et peut être mis en cache ; c’est le bon choix pour des filtres statistiques. L’agrégation terms renvoie ici les 50 premiers buckets ; fixez size au-delà du nombre de régions de votre pays.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familles. Les agrégations métriques calculent un nombre. Les agrégations de buckets créent des groupes, y compris par période et par tuile cartographique. Les agrégations pipeline travaillent sur le résultat d’autres agrégations, par exemple la variation d’un trimestre à l’autre. Les mises en garde comptent pour les statisticiens : cardinality utilise HyperLogLog++ et percentiles utilise TDigest, deux approximations par construction. Les comptages terms peuvent aussi comporter une marge d’erreur quand les données sont réparties sur plusieurs shards. C’est acceptable pour explorer ; pour un chiffre publié, vérifiez la précision documentée ou calculez la valeur exacte en Python.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avec trois tuiles d’une même région. La moyenne simple des débits donne 10 Mbit/s. La pondération par les tests donne 18,7, car la tuile urbaine très testée domine. La pondération par la population WorldPop donne 17,0 : elle répond à la question de politique publique — quel débit connaît l’habitant moyen ? Le choix du poids change le chiffre : il doit être documenté. Deuxième alerte : les tuiles sans test n’ont pas de débit, et leur population est exclue sans bruit. Publiez toujours la part de population couverte avec l’indicateur. Dans Elasticsearch, c’est un weighted_avg avec pop_worldpop comme poids. Chiffres illustratifs.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outils spatiaux. geo_shape avec la relation intersects trouve les tuiles qui touchent un polygone régional : c’est la base des indicateurs infranationaux. geo_distance trouve les tuiles dans un rayon autour d’un point, par exemple autour des hôpitaux de district ou des écoles. geotile_grid regroupe les tuiles en cellules plus grossières, ce qu’utilise Kibana pour les cartes de chaleur. Le code montre un motif utile : le polygone de la région est stocké une seule fois dans un index admin-boundaries et référencé par son identifiant ; la requête reste courte et la version des limites est maîtrisée.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ES|QL est le langage en pipeline d’Elastic, disponible en version générale depuis la 8.14, en juin 2024. Chaque ligne prend la table produite par la précédente et la transforme : cela se lit comme une recette et rappelle le pipe de R ou dplyr. Cette requête calcule explicitement le débit moyen pondéré par les tests, par région, comme aux diapositives précédentes. Noter TO_DOUBLE : diviser deux entiers tronquerait le résultat, source classique d’erreur silencieuse. Au Labo 1, écrivez la question des deux façons et vérifiez que les chiffres concordent.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Kibana : les cinq outils utilisés, le déroulé du Labo 2 étape par étape, et une façon fondée sur des mesures de choisir entre pandas et Elasticsearch.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rapide. Dev Tools est une console pour envoyer des requêtes : tout ce que nous avons vu à la section précédente s’y exécute. Discover permet de parcourir et de filtrer les documents avec KQL, le langage de requête de Kibana illustré en bas. Lens construit des graphiques par glisser-déposer. Maps affiche les polygones des tuiles et des cartes choroplèthes. Dashboards combine des visualisations avec des filtres et des contrôles partagés. Une data view indique à Kibana quel index lire et quel champ porte le temps.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étapes pour le labo de 60 minutes. Créer une data view sur ookla-tiles avec quarter_start comme champ temporel. Utiliser Discover pour contrôler les données et fixer un seuil minimal de tests. Construire la carte régionale à partir de l’indicateur pondéré, puis la série temporelle dans Lens. Assembler le tableau de bord avec des contrôles région et trimestre. Enfin, lancer le comparatif avec pandas et tout versionner. Les durées sont indicatives ; faire un point d’étape à mi-parcours.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description de la séance demande une conclusion pratique : quand la complexité supplémentaire se justifie-t-elle ? Présenter les règles de décision, puis insister pour que chaque équipe remplisse le tableau pendant le Labo 2 avec ses propres données : les trois mêmes tâches, chronométrées et mesurées dans les deux outils. Pour un pays et un analyste, pandas ou DuckDB suffit souvent. Elasticsearch devient rentable quand les données dépassent une machine, que beaucoup de personnes veulent un accès interactif, que les filtres spatiaux se répètent toute la journée ou que les données arrivent en continu. Ne vous fiez pas aux benchmarks des éditeurs.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Gouvernance : les limites de qualité et d’éthique qu’aucun index ne corrige, les options de déploiement pour un institut statistique, et la norme de publication de cette semaine.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moteur rapide donne à des données fragiles une apparence d’autorité : cette diapositive est essentielle. Les données Ookla proviennent de personnes qui choisissent de faire un test : ce n’est pas un échantillon probabiliste, et il est probablement biaisé vers les populations urbaines, connectées et utilisatrices d’applications. Masquez ou signalez les cellules à faible nombre de tests. La licence CC BY-NC-SA 4.0 impose de citer la source, interdit l’usage commercial et exige de partager les données dérivées dans les mêmes conditions : consultez votre service juridique avant publication. Ne placez jamais de microdonnées confidentielles sur un cluster ouvert : authentification, accès par rôles et connexions chiffrées. Versionnez mapping, code et requêtes dans Git, et écrivez explicitement les limites : un proxy n’est pas une statistique officielle.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voies réalistes, chacune avec des conséquences pour l’infrastructure et la souveraineté des données. L’autogestion donne la maîtrise de la localisation des données mais exige des compétences pour les mises à jour, la sécurité et les sauvegardes. Le cloud managé est le plus rapide à démarrer mais pose les questions de résidence des données et de coût récurrent. OpenSearch est le fork sous licence Apache 2.0 créé par AWS après le changement de licence d’Elastic en 2021, puis transféré à la Linux Foundation ; la plupart des concepts de la séance s’y appliquent, mais les API ont divergé par endroits. Côté licences : depuis septembre 2024, Elastic propose l’AGPLv3 comme option pour le code source d’Elasticsearch et de Kibana, à côté de SSPL et de l’Elastic License ; ses distributions par défaut restent sous Elastic License. Faites vérifier les conditions par votre service juridique.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équipe versionne son travail dans une organisation GitHub partagée. La structure proposée sépare le mapping, les notebooks, les requêtes dans les deux langages, l’export Kibana et les résultats. Le README est le fichier le plus important : il doit préciser la méthode, les sources avec leur date d’accès et l’attribution exigée par Ookla, les licences, les limites et les étapes pour reproduire. Ces dépôts alimentent les statistiques nationales de connectivité et servent de base à la présentation pays de chaque équipe.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l’exposé avec une idée par section, dans les couleurs des sections. Puis passer au labo : le cluster est prêt, les notebooks sont dans le dépôt partagé, et les équipes doivent maintenant s’installer ensemble.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sources citées dans la présentation. Les chiffres de l’exemple de pondération et les valeurs du document type sont illustratifs et signalés comme tels. La ligne « Série » renvoie à la série pratique BAD – Data Innovation for Africa (DI4A).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Prendre quelques questions, puis envoyer les équipes à leurs tables. Rappeler les trois jalons du labo. Vérifier que chaque équipe accède au cluster et à Kibana avant de commencer.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png"/><Relationship Id="rId7"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png"/><Relationship Id="rId7"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73152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BAD · DATA INNOVATION FOR AFRICA (DI4A)  ·  SÉRIE PRATIQUE</a:t>
            </a:r>
            <a:endParaRPr lang="fr-FR" sz="1100" dirty="0"/>
          </a:p>
        </p:txBody>
      </p:sp>
      <p:sp>
        <p:nvSpPr>
          <p:cNvPr id="3" name="Text 1"/>
          <p:cNvSpPr txBox="1"/>
          <p:nvPr/>
        </p:nvSpPr>
        <p:spPr>
          <a:xfrm>
            <a:off x="548640" y="1143000"/>
            <a:ext cx="6858000" cy="822960"/>
          </a:xfrm>
          <a:prstGeom prst="rect">
            <a:avLst/>
          </a:prstGeom>
          <a:noFill/>
          <a:ln/>
        </p:spPr>
        <p:txBody>
          <a:bodyPr wrap="square" lIns="0" tIns="0" rIns="0" bIns="0" rtlCol="0" anchor="ctr"/>
          <a:lstStyle/>
          <a:p>
            <a:pPr marL="0" indent="0">
              <a:buNone/>
            </a:pPr>
            <a:r>
              <a:rPr lang="fr-FR" altLang="en-US" sz="4800" b="1" dirty="0">
                <a:solidFill>
                  <a:srgbClr val="FFFFFF"/>
                </a:solidFill>
                <a:latin typeface="Calibri" pitchFamily="34" charset="0"/>
                <a:ea typeface="Calibri" pitchFamily="34" charset="-122"/>
                <a:cs typeface="Calibri" pitchFamily="34" charset="-120"/>
              </a:rPr>
              <a:t>Passer à l’échelle</a:t>
            </a:r>
            <a:endParaRPr lang="fr-FR" sz="4800" dirty="0"/>
          </a:p>
        </p:txBody>
      </p:sp>
      <p:sp>
        <p:nvSpPr>
          <p:cNvPr id="4" name="Text 2"/>
          <p:cNvSpPr txBox="1"/>
          <p:nvPr/>
        </p:nvSpPr>
        <p:spPr>
          <a:xfrm>
            <a:off x="548640" y="1965960"/>
            <a:ext cx="6217920" cy="822960"/>
          </a:xfrm>
          <a:prstGeom prst="rect">
            <a:avLst/>
          </a:prstGeom>
          <a:noFill/>
          <a:ln/>
        </p:spPr>
        <p:txBody>
          <a:bodyPr wrap="square" lIns="0" tIns="0" rIns="0" bIns="0" rtlCol="0" anchor="t"/>
          <a:lstStyle/>
          <a:p>
            <a:pPr marL="0" indent="0">
              <a:buNone/>
            </a:pPr>
            <a:r>
              <a:rPr lang="fr-FR" altLang="en-US" sz="2400" b="1" dirty="0">
                <a:solidFill>
                  <a:srgbClr val="FFFFFF"/>
                </a:solidFill>
                <a:latin typeface="Calibri" pitchFamily="34" charset="0"/>
                <a:ea typeface="Calibri" pitchFamily="34" charset="-122"/>
                <a:cs typeface="Calibri" pitchFamily="34" charset="-120"/>
              </a:rPr>
              <a:t>Rechercher, agréger et cartographier les mégadonnées avec la suite Elastic (ELK)</a:t>
            </a:r>
            <a:endParaRPr lang="fr-FR" sz="2400" dirty="0"/>
          </a:p>
        </p:txBody>
      </p:sp>
      <p:sp>
        <p:nvSpPr>
          <p:cNvPr id="5" name="Text 3"/>
          <p:cNvSpPr txBox="1"/>
          <p:nvPr/>
        </p:nvSpPr>
        <p:spPr>
          <a:xfrm>
            <a:off x="548640" y="2834640"/>
            <a:ext cx="5852160" cy="594360"/>
          </a:xfrm>
          <a:prstGeom prst="rect">
            <a:avLst/>
          </a:prstGeom>
          <a:noFill/>
          <a:ln/>
        </p:spPr>
        <p:txBody>
          <a:bodyPr wrap="square" lIns="0" tIns="0" rIns="0" bIns="0" rtlCol="0" anchor="t"/>
          <a:lstStyle/>
          <a:p>
            <a:pPr marL="0" indent="0">
              <a:buNone/>
            </a:pPr>
            <a:r>
              <a:rPr lang="fr-FR" altLang="en-US" sz="1800" i="1" dirty="0">
                <a:solidFill>
                  <a:srgbClr val="E6F6EE"/>
                </a:solidFill>
                <a:latin typeface="Calibri" pitchFamily="34" charset="0"/>
                <a:ea typeface="Calibri" pitchFamily="34" charset="-122"/>
                <a:cs typeface="Calibri" pitchFamily="34" charset="-120"/>
              </a:rPr>
              <a:t>Des tuiles Ookla Speedtest à un indicateur infranational de connectivité pondéré par la population</a:t>
            </a:r>
            <a:endParaRPr lang="fr-FR" sz="1800" dirty="0"/>
          </a:p>
        </p:txBody>
      </p:sp>
      <p:sp>
        <p:nvSpPr>
          <p:cNvPr id="6" name="Shape 4"/>
          <p:cNvSpPr/>
          <p:nvPr/>
        </p:nvSpPr>
        <p:spPr>
          <a:xfrm>
            <a:off x="548640" y="3703320"/>
            <a:ext cx="9144" cy="548640"/>
          </a:xfrm>
          <a:prstGeom prst="line">
            <a:avLst/>
          </a:prstGeom>
          <a:noFill/>
          <a:ln w="25400">
            <a:solidFill>
              <a:srgbClr val="F5C242"/>
            </a:solidFill>
            <a:prstDash val="solid"/>
          </a:ln>
        </p:spPr>
      </p:sp>
      <p:sp>
        <p:nvSpPr>
          <p:cNvPr id="7" name="Text 5"/>
          <p:cNvSpPr txBox="1"/>
          <p:nvPr/>
        </p:nvSpPr>
        <p:spPr>
          <a:xfrm>
            <a:off x="713232" y="3703320"/>
            <a:ext cx="7315200" cy="548640"/>
          </a:xfrm>
          <a:prstGeom prst="rect">
            <a:avLst/>
          </a:prstGeom>
          <a:noFill/>
          <a:ln/>
        </p:spPr>
        <p:txBody>
          <a:bodyPr wrap="square" lIns="0" tIns="0" rIns="0" bIns="0" rtlCol="0" anchor="ctr"/>
          <a:lstStyle/>
          <a:p>
            <a:pPr marL="0" indent="0">
              <a:buNone/>
            </a:pPr>
            <a:r>
              <a:rPr lang="fr-FR" altLang="en-US" sz="1150" b="1" dirty="0">
                <a:solidFill>
                  <a:srgbClr val="FFFFFF"/>
                </a:solidFill>
                <a:latin typeface="Calibri" pitchFamily="34" charset="0"/>
                <a:ea typeface="Calibri" pitchFamily="34" charset="-122"/>
                <a:cs typeface="Calibri" pitchFamily="34" charset="-120"/>
              </a:rPr>
              <a:t>Outils big data pour la statistique officielle — Innover dans la chaîne de valeur des données</a:t>
            </a:r>
            <a:endParaRPr lang="fr-FR" sz="1150" dirty="0"/>
          </a:p>
          <a:p>
            <a:pPr marL="0" indent="0">
              <a:buNone/>
            </a:pPr>
            <a:r>
              <a:rPr lang="en-US" sz="1150" dirty="0">
                <a:solidFill>
                  <a:srgbClr val="FFFFFF"/>
                </a:solidFill>
                <a:latin typeface="Calibri" pitchFamily="34" charset="0"/>
                <a:ea typeface="Calibri" pitchFamily="34" charset="-122"/>
                <a:cs typeface="Calibri" pitchFamily="34" charset="-120"/>
              </a:rPr>
              <a:t>Banque africaine de développement – Data Innovation for Africa (DI4A)</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01</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01</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Pourquoi changer d’échelle</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Quand un portable et pandas ne suffisent-ils plus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5C242"/>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5</a:t>
            </a:r>
            <a:endParaRPr lang="fr-FR"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La chaîne de valeur du big data : six briques</a:t>
            </a:r>
            <a:endParaRPr lang="fr-FR" sz="28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6</a:t>
            </a:r>
            <a:endParaRPr lang="fr-FR" sz="850" dirty="0"/>
          </a:p>
        </p:txBody>
      </p:sp>
      <p:sp>
        <p:nvSpPr>
          <p:cNvPr id="16" name="Shape 12"/>
          <p:cNvSpPr/>
          <p:nvPr/>
        </p:nvSpPr>
        <p:spPr>
          <a:xfrm>
            <a:off x="457200" y="1280160"/>
            <a:ext cx="1783080" cy="1874520"/>
          </a:xfrm>
          <a:prstGeom prst="roundRect">
            <a:avLst>
              <a:gd name="adj" fmla="val 4103"/>
            </a:avLst>
          </a:prstGeom>
          <a:solidFill>
            <a:srgbClr val="FFFFFF"/>
          </a:solidFill>
          <a:ln w="12700">
            <a:solidFill>
              <a:srgbClr val="00704A"/>
            </a:solidFill>
            <a:prstDash val="solid"/>
          </a:ln>
        </p:spPr>
      </p:sp>
      <p:sp>
        <p:nvSpPr>
          <p:cNvPr id="17" name="Shape 13"/>
          <p:cNvSpPr/>
          <p:nvPr/>
        </p:nvSpPr>
        <p:spPr>
          <a:xfrm>
            <a:off x="585216" y="1389888"/>
            <a:ext cx="420624" cy="420624"/>
          </a:xfrm>
          <a:prstGeom prst="ellipse">
            <a:avLst/>
          </a:prstGeom>
          <a:solidFill>
            <a:srgbClr val="00704A">
              <a:alpha val="22000"/>
            </a:srgbClr>
          </a:solidFill>
          <a:ln/>
        </p:spPr>
      </p:sp>
      <p:pic>
        <p:nvPicPr>
          <p:cNvPr id="18" name="Image 1" descr="preencoded.png"/>
          <p:cNvPicPr>
            <a:picLocks noChangeAspect="1"/>
          </p:cNvPicPr>
          <p:nvPr/>
        </p:nvPicPr>
        <p:blipFill>
          <a:blip r:embed="rId4"/>
          <a:stretch>
            <a:fillRect/>
          </a:stretch>
        </p:blipFill>
        <p:spPr>
          <a:xfrm>
            <a:off x="694578" y="1499250"/>
            <a:ext cx="201900" cy="201900"/>
          </a:xfrm>
          <a:prstGeom prst="rect">
            <a:avLst/>
          </a:prstGeom>
        </p:spPr>
      </p:pic>
      <p:sp>
        <p:nvSpPr>
          <p:cNvPr id="19" name="Text 14"/>
          <p:cNvSpPr txBox="1"/>
          <p:nvPr/>
        </p:nvSpPr>
        <p:spPr>
          <a:xfrm>
            <a:off x="1691640" y="1417320"/>
            <a:ext cx="411480" cy="320040"/>
          </a:xfrm>
          <a:prstGeom prst="rect">
            <a:avLst/>
          </a:prstGeom>
          <a:noFill/>
          <a:ln/>
        </p:spPr>
        <p:txBody>
          <a:bodyPr wrap="square" lIns="0" tIns="0" rIns="0" bIns="0" rtlCol="0" anchor="t"/>
          <a:lstStyle/>
          <a:p>
            <a:pPr marL="0" indent="0" algn="r">
              <a:buNone/>
            </a:pPr>
            <a:r>
              <a:rPr lang="fr-FR" altLang="en-US" sz="1600" b="1" dirty="0">
                <a:solidFill>
                  <a:srgbClr val="D5DED9"/>
                </a:solidFill>
                <a:latin typeface="Calibri" pitchFamily="34" charset="0"/>
                <a:ea typeface="Calibri" pitchFamily="34" charset="-122"/>
                <a:cs typeface="Calibri" pitchFamily="34" charset="-120"/>
              </a:rPr>
              <a:t>01</a:t>
            </a:r>
            <a:endParaRPr lang="fr-FR" sz="1600" dirty="0"/>
          </a:p>
        </p:txBody>
      </p:sp>
      <p:sp>
        <p:nvSpPr>
          <p:cNvPr id="20" name="Text 15"/>
          <p:cNvSpPr txBox="1"/>
          <p:nvPr/>
        </p:nvSpPr>
        <p:spPr>
          <a:xfrm>
            <a:off x="585216" y="1874520"/>
            <a:ext cx="1554480" cy="274320"/>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Ingestion</a:t>
            </a:r>
            <a:endParaRPr lang="fr-FR" sz="1300" dirty="0"/>
          </a:p>
        </p:txBody>
      </p:sp>
      <p:sp>
        <p:nvSpPr>
          <p:cNvPr id="21" name="Text 16"/>
          <p:cNvSpPr txBox="1"/>
          <p:nvPr/>
        </p:nvSpPr>
        <p:spPr>
          <a:xfrm>
            <a:off x="585216" y="2157984"/>
            <a:ext cx="1554480" cy="54864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Collecter fichiers, API et flux ; valider à l’arrivée.</a:t>
            </a:r>
            <a:endParaRPr lang="fr-FR" sz="1000" dirty="0"/>
          </a:p>
        </p:txBody>
      </p:sp>
      <p:sp>
        <p:nvSpPr>
          <p:cNvPr id="22" name="Text 17"/>
          <p:cNvSpPr txBox="1"/>
          <p:nvPr/>
        </p:nvSpPr>
        <p:spPr>
          <a:xfrm>
            <a:off x="585216" y="2743200"/>
            <a:ext cx="1554480" cy="320040"/>
          </a:xfrm>
          <a:prstGeom prst="rect">
            <a:avLst/>
          </a:prstGeom>
          <a:noFill/>
          <a:ln/>
        </p:spPr>
        <p:txBody>
          <a:bodyPr wrap="square" lIns="0" tIns="0" rIns="0" bIns="0" rtlCol="0" anchor="t"/>
          <a:lstStyle/>
          <a:p>
            <a:pPr marL="0" indent="0">
              <a:buNone/>
            </a:pPr>
            <a:r>
              <a:rPr lang="fr-FR" altLang="en-US" sz="900" i="1" dirty="0">
                <a:solidFill>
                  <a:srgbClr val="00704A"/>
                </a:solidFill>
                <a:latin typeface="Calibri" pitchFamily="34" charset="0"/>
                <a:ea typeface="Calibri" pitchFamily="34" charset="-122"/>
                <a:cs typeface="Calibri" pitchFamily="34" charset="-120"/>
              </a:rPr>
              <a:t>Téléchargements S3, API, Logstash</a:t>
            </a:r>
            <a:endParaRPr lang="fr-FR" sz="900" dirty="0"/>
          </a:p>
        </p:txBody>
      </p:sp>
      <p:sp>
        <p:nvSpPr>
          <p:cNvPr id="23" name="Shape 18"/>
          <p:cNvSpPr/>
          <p:nvPr/>
        </p:nvSpPr>
        <p:spPr>
          <a:xfrm>
            <a:off x="2286000" y="2212848"/>
            <a:ext cx="274320" cy="0"/>
          </a:xfrm>
          <a:prstGeom prst="line">
            <a:avLst/>
          </a:prstGeom>
          <a:noFill/>
          <a:ln w="15875">
            <a:solidFill>
              <a:srgbClr val="5E6964"/>
            </a:solidFill>
            <a:prstDash val="solid"/>
            <a:tailEnd type="triangle"/>
          </a:ln>
        </p:spPr>
      </p:sp>
      <p:sp>
        <p:nvSpPr>
          <p:cNvPr id="24" name="Shape 19"/>
          <p:cNvSpPr/>
          <p:nvPr/>
        </p:nvSpPr>
        <p:spPr>
          <a:xfrm>
            <a:off x="2606040" y="1280160"/>
            <a:ext cx="1783080" cy="1874520"/>
          </a:xfrm>
          <a:prstGeom prst="roundRect">
            <a:avLst>
              <a:gd name="adj" fmla="val 4103"/>
            </a:avLst>
          </a:prstGeom>
          <a:solidFill>
            <a:srgbClr val="FFFFFF"/>
          </a:solidFill>
          <a:ln w="12700">
            <a:solidFill>
              <a:srgbClr val="00704A"/>
            </a:solidFill>
            <a:prstDash val="solid"/>
          </a:ln>
        </p:spPr>
      </p:sp>
      <p:sp>
        <p:nvSpPr>
          <p:cNvPr id="25" name="Shape 20"/>
          <p:cNvSpPr/>
          <p:nvPr/>
        </p:nvSpPr>
        <p:spPr>
          <a:xfrm>
            <a:off x="2734056" y="1389888"/>
            <a:ext cx="420624" cy="420624"/>
          </a:xfrm>
          <a:prstGeom prst="ellipse">
            <a:avLst/>
          </a:prstGeom>
          <a:solidFill>
            <a:srgbClr val="00704A">
              <a:alpha val="22000"/>
            </a:srgbClr>
          </a:solidFill>
          <a:ln/>
        </p:spPr>
      </p:sp>
      <p:pic>
        <p:nvPicPr>
          <p:cNvPr id="26" name="Image 2" descr="preencoded.png"/>
          <p:cNvPicPr>
            <a:picLocks noChangeAspect="1"/>
          </p:cNvPicPr>
          <p:nvPr/>
        </p:nvPicPr>
        <p:blipFill>
          <a:blip r:embed="rId5"/>
          <a:stretch>
            <a:fillRect/>
          </a:stretch>
        </p:blipFill>
        <p:spPr>
          <a:xfrm>
            <a:off x="2843418" y="1499250"/>
            <a:ext cx="201900" cy="201900"/>
          </a:xfrm>
          <a:prstGeom prst="rect">
            <a:avLst/>
          </a:prstGeom>
        </p:spPr>
      </p:pic>
      <p:sp>
        <p:nvSpPr>
          <p:cNvPr id="27" name="Text 21"/>
          <p:cNvSpPr txBox="1"/>
          <p:nvPr/>
        </p:nvSpPr>
        <p:spPr>
          <a:xfrm>
            <a:off x="3840480" y="1417320"/>
            <a:ext cx="411480" cy="320040"/>
          </a:xfrm>
          <a:prstGeom prst="rect">
            <a:avLst/>
          </a:prstGeom>
          <a:noFill/>
          <a:ln/>
        </p:spPr>
        <p:txBody>
          <a:bodyPr wrap="square" lIns="0" tIns="0" rIns="0" bIns="0" rtlCol="0" anchor="t"/>
          <a:lstStyle/>
          <a:p>
            <a:pPr marL="0" indent="0" algn="r">
              <a:buNone/>
            </a:pPr>
            <a:r>
              <a:rPr lang="fr-FR" altLang="en-US" sz="1600" b="1" dirty="0">
                <a:solidFill>
                  <a:srgbClr val="D5DED9"/>
                </a:solidFill>
                <a:latin typeface="Calibri" pitchFamily="34" charset="0"/>
                <a:ea typeface="Calibri" pitchFamily="34" charset="-122"/>
                <a:cs typeface="Calibri" pitchFamily="34" charset="-120"/>
              </a:rPr>
              <a:t>02</a:t>
            </a:r>
            <a:endParaRPr lang="fr-FR" sz="1600" dirty="0"/>
          </a:p>
        </p:txBody>
      </p:sp>
      <p:sp>
        <p:nvSpPr>
          <p:cNvPr id="28" name="Text 22"/>
          <p:cNvSpPr txBox="1"/>
          <p:nvPr/>
        </p:nvSpPr>
        <p:spPr>
          <a:xfrm>
            <a:off x="2734056" y="1874520"/>
            <a:ext cx="1554480" cy="274320"/>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Stockage</a:t>
            </a:r>
            <a:endParaRPr lang="fr-FR" sz="1300" dirty="0"/>
          </a:p>
        </p:txBody>
      </p:sp>
      <p:sp>
        <p:nvSpPr>
          <p:cNvPr id="29" name="Text 23"/>
          <p:cNvSpPr txBox="1"/>
          <p:nvPr/>
        </p:nvSpPr>
        <p:spPr>
          <a:xfrm>
            <a:off x="2734056" y="2157984"/>
            <a:ext cx="1554480" cy="54864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Lac pour les fichiers bruts ; lakehouse pour les tables gouvernées.</a:t>
            </a:r>
            <a:endParaRPr lang="fr-FR" sz="1000" dirty="0"/>
          </a:p>
        </p:txBody>
      </p:sp>
      <p:sp>
        <p:nvSpPr>
          <p:cNvPr id="30" name="Text 24"/>
          <p:cNvSpPr txBox="1"/>
          <p:nvPr/>
        </p:nvSpPr>
        <p:spPr>
          <a:xfrm>
            <a:off x="2734056" y="2743200"/>
            <a:ext cx="1554480" cy="320040"/>
          </a:xfrm>
          <a:prstGeom prst="rect">
            <a:avLst/>
          </a:prstGeom>
          <a:noFill/>
          <a:ln/>
        </p:spPr>
        <p:txBody>
          <a:bodyPr wrap="square" lIns="0" tIns="0" rIns="0" bIns="0" rtlCol="0" anchor="t"/>
          <a:lstStyle/>
          <a:p>
            <a:pPr marL="0" indent="0">
              <a:buNone/>
            </a:pPr>
            <a:r>
              <a:rPr lang="fr-FR" altLang="en-US" sz="900" i="1" dirty="0">
                <a:solidFill>
                  <a:srgbClr val="00704A"/>
                </a:solidFill>
                <a:latin typeface="Calibri" pitchFamily="34" charset="0"/>
                <a:ea typeface="Calibri" pitchFamily="34" charset="-122"/>
                <a:cs typeface="Calibri" pitchFamily="34" charset="-120"/>
              </a:rPr>
              <a:t>Parquet, Delta, Iceberg</a:t>
            </a:r>
            <a:endParaRPr lang="fr-FR" sz="900" dirty="0"/>
          </a:p>
        </p:txBody>
      </p:sp>
      <p:sp>
        <p:nvSpPr>
          <p:cNvPr id="31" name="Shape 25"/>
          <p:cNvSpPr/>
          <p:nvPr/>
        </p:nvSpPr>
        <p:spPr>
          <a:xfrm>
            <a:off x="4434840" y="2212848"/>
            <a:ext cx="274320" cy="0"/>
          </a:xfrm>
          <a:prstGeom prst="line">
            <a:avLst/>
          </a:prstGeom>
          <a:noFill/>
          <a:ln w="15875">
            <a:solidFill>
              <a:srgbClr val="5E6964"/>
            </a:solidFill>
            <a:prstDash val="solid"/>
            <a:tailEnd type="triangle"/>
          </a:ln>
        </p:spPr>
      </p:sp>
      <p:sp>
        <p:nvSpPr>
          <p:cNvPr id="32" name="Shape 26"/>
          <p:cNvSpPr/>
          <p:nvPr/>
        </p:nvSpPr>
        <p:spPr>
          <a:xfrm>
            <a:off x="4754880" y="1280160"/>
            <a:ext cx="1783080" cy="1874520"/>
          </a:xfrm>
          <a:prstGeom prst="roundRect">
            <a:avLst>
              <a:gd name="adj" fmla="val 4103"/>
            </a:avLst>
          </a:prstGeom>
          <a:solidFill>
            <a:srgbClr val="FFFFFF"/>
          </a:solidFill>
          <a:ln w="12700">
            <a:solidFill>
              <a:srgbClr val="00704A"/>
            </a:solidFill>
            <a:prstDash val="solid"/>
          </a:ln>
        </p:spPr>
      </p:sp>
      <p:sp>
        <p:nvSpPr>
          <p:cNvPr id="33" name="Shape 27"/>
          <p:cNvSpPr/>
          <p:nvPr/>
        </p:nvSpPr>
        <p:spPr>
          <a:xfrm>
            <a:off x="4882896" y="1389888"/>
            <a:ext cx="420624" cy="420624"/>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4992258" y="1499250"/>
            <a:ext cx="201900" cy="201900"/>
          </a:xfrm>
          <a:prstGeom prst="rect">
            <a:avLst/>
          </a:prstGeom>
        </p:spPr>
      </p:pic>
      <p:sp>
        <p:nvSpPr>
          <p:cNvPr id="35" name="Text 28"/>
          <p:cNvSpPr txBox="1"/>
          <p:nvPr/>
        </p:nvSpPr>
        <p:spPr>
          <a:xfrm>
            <a:off x="5989320" y="1417320"/>
            <a:ext cx="411480" cy="320040"/>
          </a:xfrm>
          <a:prstGeom prst="rect">
            <a:avLst/>
          </a:prstGeom>
          <a:noFill/>
          <a:ln/>
        </p:spPr>
        <p:txBody>
          <a:bodyPr wrap="square" lIns="0" tIns="0" rIns="0" bIns="0" rtlCol="0" anchor="t"/>
          <a:lstStyle/>
          <a:p>
            <a:pPr marL="0" indent="0" algn="r">
              <a:buNone/>
            </a:pPr>
            <a:r>
              <a:rPr lang="fr-FR" altLang="en-US" sz="1600" b="1" dirty="0">
                <a:solidFill>
                  <a:srgbClr val="D5DED9"/>
                </a:solidFill>
                <a:latin typeface="Calibri" pitchFamily="34" charset="0"/>
                <a:ea typeface="Calibri" pitchFamily="34" charset="-122"/>
                <a:cs typeface="Calibri" pitchFamily="34" charset="-120"/>
              </a:rPr>
              <a:t>03</a:t>
            </a:r>
            <a:endParaRPr lang="fr-FR" sz="1600" dirty="0"/>
          </a:p>
        </p:txBody>
      </p:sp>
      <p:sp>
        <p:nvSpPr>
          <p:cNvPr id="36" name="Text 29"/>
          <p:cNvSpPr txBox="1"/>
          <p:nvPr/>
        </p:nvSpPr>
        <p:spPr>
          <a:xfrm>
            <a:off x="4882896" y="1874520"/>
            <a:ext cx="1554480" cy="274320"/>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Traitement</a:t>
            </a:r>
            <a:endParaRPr lang="fr-FR" sz="1300" dirty="0"/>
          </a:p>
        </p:txBody>
      </p:sp>
      <p:sp>
        <p:nvSpPr>
          <p:cNvPr id="37" name="Text 30"/>
          <p:cNvSpPr txBox="1"/>
          <p:nvPr/>
        </p:nvSpPr>
        <p:spPr>
          <a:xfrm>
            <a:off x="4882896" y="2157984"/>
            <a:ext cx="1554480" cy="54864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Transformation par lots ou en flux, répartie sur plusieurs machines.</a:t>
            </a:r>
            <a:endParaRPr lang="fr-FR" sz="1000" dirty="0"/>
          </a:p>
        </p:txBody>
      </p:sp>
      <p:sp>
        <p:nvSpPr>
          <p:cNvPr id="38" name="Text 31"/>
          <p:cNvSpPr txBox="1"/>
          <p:nvPr/>
        </p:nvSpPr>
        <p:spPr>
          <a:xfrm>
            <a:off x="4882896" y="2743200"/>
            <a:ext cx="1554480" cy="320040"/>
          </a:xfrm>
          <a:prstGeom prst="rect">
            <a:avLst/>
          </a:prstGeom>
          <a:noFill/>
          <a:ln/>
        </p:spPr>
        <p:txBody>
          <a:bodyPr wrap="square" lIns="0" tIns="0" rIns="0" bIns="0" rtlCol="0" anchor="t"/>
          <a:lstStyle/>
          <a:p>
            <a:pPr marL="0" indent="0">
              <a:buNone/>
            </a:pPr>
            <a:r>
              <a:rPr lang="fr-FR" altLang="en-US" sz="900" i="1" dirty="0">
                <a:solidFill>
                  <a:srgbClr val="00704A"/>
                </a:solidFill>
                <a:latin typeface="Calibri" pitchFamily="34" charset="0"/>
                <a:ea typeface="Calibri" pitchFamily="34" charset="-122"/>
                <a:cs typeface="Calibri" pitchFamily="34" charset="-120"/>
              </a:rPr>
              <a:t>Spark, DuckDB, pandas</a:t>
            </a:r>
            <a:endParaRPr lang="fr-FR" sz="900" dirty="0"/>
          </a:p>
        </p:txBody>
      </p:sp>
      <p:sp>
        <p:nvSpPr>
          <p:cNvPr id="39" name="Shape 32"/>
          <p:cNvSpPr/>
          <p:nvPr/>
        </p:nvSpPr>
        <p:spPr>
          <a:xfrm>
            <a:off x="6583680" y="2212848"/>
            <a:ext cx="274320" cy="0"/>
          </a:xfrm>
          <a:prstGeom prst="line">
            <a:avLst/>
          </a:prstGeom>
          <a:noFill/>
          <a:ln w="15875">
            <a:solidFill>
              <a:srgbClr val="5E6964"/>
            </a:solidFill>
            <a:prstDash val="solid"/>
            <a:tailEnd type="triangle"/>
          </a:ln>
        </p:spPr>
      </p:sp>
      <p:sp>
        <p:nvSpPr>
          <p:cNvPr id="40" name="Shape 33"/>
          <p:cNvSpPr/>
          <p:nvPr/>
        </p:nvSpPr>
        <p:spPr>
          <a:xfrm>
            <a:off x="6903720" y="1280160"/>
            <a:ext cx="1783080" cy="1874520"/>
          </a:xfrm>
          <a:prstGeom prst="roundRect">
            <a:avLst>
              <a:gd name="adj" fmla="val 4103"/>
            </a:avLst>
          </a:prstGeom>
          <a:solidFill>
            <a:srgbClr val="E8F5EF"/>
          </a:solidFill>
          <a:ln w="19050">
            <a:solidFill>
              <a:srgbClr val="00A86A"/>
            </a:solidFill>
            <a:prstDash val="solid"/>
          </a:ln>
        </p:spPr>
      </p:sp>
      <p:sp>
        <p:nvSpPr>
          <p:cNvPr id="41" name="Shape 34"/>
          <p:cNvSpPr/>
          <p:nvPr/>
        </p:nvSpPr>
        <p:spPr>
          <a:xfrm>
            <a:off x="7031736" y="1389888"/>
            <a:ext cx="420624" cy="420624"/>
          </a:xfrm>
          <a:prstGeom prst="ellipse">
            <a:avLst/>
          </a:prstGeom>
          <a:solidFill>
            <a:srgbClr val="00A86A">
              <a:alpha val="22000"/>
            </a:srgbClr>
          </a:solidFill>
          <a:ln/>
        </p:spPr>
      </p:sp>
      <p:pic>
        <p:nvPicPr>
          <p:cNvPr id="42" name="Image 4" descr="preencoded.png"/>
          <p:cNvPicPr>
            <a:picLocks noChangeAspect="1"/>
          </p:cNvPicPr>
          <p:nvPr/>
        </p:nvPicPr>
        <p:blipFill>
          <a:blip r:embed="rId7"/>
          <a:stretch>
            <a:fillRect/>
          </a:stretch>
        </p:blipFill>
        <p:spPr>
          <a:xfrm>
            <a:off x="7141098" y="1499250"/>
            <a:ext cx="201900" cy="201900"/>
          </a:xfrm>
          <a:prstGeom prst="rect">
            <a:avLst/>
          </a:prstGeom>
        </p:spPr>
      </p:pic>
      <p:sp>
        <p:nvSpPr>
          <p:cNvPr id="43" name="Text 35"/>
          <p:cNvSpPr txBox="1"/>
          <p:nvPr/>
        </p:nvSpPr>
        <p:spPr>
          <a:xfrm>
            <a:off x="8138160" y="1417320"/>
            <a:ext cx="411480" cy="320040"/>
          </a:xfrm>
          <a:prstGeom prst="rect">
            <a:avLst/>
          </a:prstGeom>
          <a:noFill/>
          <a:ln/>
        </p:spPr>
        <p:txBody>
          <a:bodyPr wrap="square" lIns="0" tIns="0" rIns="0" bIns="0" rtlCol="0" anchor="t"/>
          <a:lstStyle/>
          <a:p>
            <a:pPr marL="0" indent="0" algn="r">
              <a:buNone/>
            </a:pPr>
            <a:r>
              <a:rPr lang="fr-FR" altLang="en-US" sz="1600" b="1" dirty="0">
                <a:solidFill>
                  <a:srgbClr val="D5DED9"/>
                </a:solidFill>
                <a:latin typeface="Calibri" pitchFamily="34" charset="0"/>
                <a:ea typeface="Calibri" pitchFamily="34" charset="-122"/>
                <a:cs typeface="Calibri" pitchFamily="34" charset="-120"/>
              </a:rPr>
              <a:t>04</a:t>
            </a:r>
            <a:endParaRPr lang="fr-FR" sz="1600" dirty="0"/>
          </a:p>
        </p:txBody>
      </p:sp>
      <p:sp>
        <p:nvSpPr>
          <p:cNvPr id="44" name="Text 36"/>
          <p:cNvSpPr txBox="1"/>
          <p:nvPr/>
        </p:nvSpPr>
        <p:spPr>
          <a:xfrm>
            <a:off x="7031736" y="1874520"/>
            <a:ext cx="1554480" cy="274320"/>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Index et recherche</a:t>
            </a:r>
            <a:endParaRPr lang="fr-FR" sz="1300" dirty="0"/>
          </a:p>
        </p:txBody>
      </p:sp>
      <p:sp>
        <p:nvSpPr>
          <p:cNvPr id="45" name="Text 37"/>
          <p:cNvSpPr txBox="1"/>
          <p:nvPr/>
        </p:nvSpPr>
        <p:spPr>
          <a:xfrm>
            <a:off x="7031736" y="2157984"/>
            <a:ext cx="1554480" cy="54864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Structures précalculées qui répondent aux filtres en millisecondes.</a:t>
            </a:r>
            <a:endParaRPr lang="fr-FR" sz="1000" dirty="0"/>
          </a:p>
        </p:txBody>
      </p:sp>
      <p:sp>
        <p:nvSpPr>
          <p:cNvPr id="46" name="Text 38"/>
          <p:cNvSpPr txBox="1"/>
          <p:nvPr/>
        </p:nvSpPr>
        <p:spPr>
          <a:xfrm>
            <a:off x="7031736" y="2743200"/>
            <a:ext cx="1554480" cy="320040"/>
          </a:xfrm>
          <a:prstGeom prst="rect">
            <a:avLst/>
          </a:prstGeom>
          <a:noFill/>
          <a:ln/>
        </p:spPr>
        <p:txBody>
          <a:bodyPr wrap="square" lIns="0" tIns="0" rIns="0" bIns="0" rtlCol="0" anchor="t"/>
          <a:lstStyle/>
          <a:p>
            <a:pPr marL="0" indent="0">
              <a:buNone/>
            </a:pPr>
            <a:r>
              <a:rPr lang="fr-FR" altLang="en-US" sz="900" i="1" dirty="0">
                <a:solidFill>
                  <a:srgbClr val="00704A"/>
                </a:solidFill>
                <a:latin typeface="Calibri" pitchFamily="34" charset="0"/>
                <a:ea typeface="Calibri" pitchFamily="34" charset="-122"/>
                <a:cs typeface="Calibri" pitchFamily="34" charset="-120"/>
              </a:rPr>
              <a:t>Elasticsearch, OpenSearch</a:t>
            </a:r>
            <a:endParaRPr lang="fr-FR" sz="900" dirty="0"/>
          </a:p>
        </p:txBody>
      </p:sp>
      <p:sp>
        <p:nvSpPr>
          <p:cNvPr id="47" name="Shape 39"/>
          <p:cNvSpPr/>
          <p:nvPr/>
        </p:nvSpPr>
        <p:spPr>
          <a:xfrm>
            <a:off x="7114032" y="1143000"/>
            <a:ext cx="1051560" cy="237744"/>
          </a:xfrm>
          <a:prstGeom prst="roundRect">
            <a:avLst>
              <a:gd name="adj" fmla="val 50000"/>
            </a:avLst>
          </a:prstGeom>
          <a:solidFill>
            <a:srgbClr val="F5C242">
              <a:alpha val="15000"/>
            </a:srgbClr>
          </a:solidFill>
          <a:ln w="9525">
            <a:solidFill>
              <a:srgbClr val="F5C242"/>
            </a:solidFill>
            <a:prstDash val="solid"/>
          </a:ln>
        </p:spPr>
      </p:sp>
      <p:sp>
        <p:nvSpPr>
          <p:cNvPr id="48" name="Text 40"/>
          <p:cNvSpPr txBox="1"/>
          <p:nvPr/>
        </p:nvSpPr>
        <p:spPr>
          <a:xfrm>
            <a:off x="7114032" y="1143000"/>
            <a:ext cx="1051560" cy="237744"/>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alibri" pitchFamily="34" charset="0"/>
                <a:ea typeface="Calibri" pitchFamily="34" charset="-122"/>
                <a:cs typeface="Calibri" pitchFamily="34" charset="-120"/>
              </a:rPr>
              <a:t>EN DÉTAIL</a:t>
            </a:r>
            <a:endParaRPr lang="fr-FR" sz="950" dirty="0"/>
          </a:p>
        </p:txBody>
      </p:sp>
      <p:sp>
        <p:nvSpPr>
          <p:cNvPr id="49" name="Text 41"/>
          <p:cNvSpPr txBox="1"/>
          <p:nvPr/>
        </p:nvSpPr>
        <p:spPr>
          <a:xfrm>
            <a:off x="457200" y="3291840"/>
            <a:ext cx="27432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TRANSVERSAL</a:t>
            </a:r>
            <a:endParaRPr lang="fr-FR" sz="900" dirty="0"/>
          </a:p>
        </p:txBody>
      </p:sp>
      <p:sp>
        <p:nvSpPr>
          <p:cNvPr id="50" name="Shape 42"/>
          <p:cNvSpPr/>
          <p:nvPr/>
        </p:nvSpPr>
        <p:spPr>
          <a:xfrm>
            <a:off x="457200" y="3520440"/>
            <a:ext cx="8229600" cy="457200"/>
          </a:xfrm>
          <a:prstGeom prst="roundRect">
            <a:avLst>
              <a:gd name="adj" fmla="val 16000"/>
            </a:avLst>
          </a:prstGeom>
          <a:solidFill>
            <a:srgbClr val="F4F7F5"/>
          </a:solidFill>
          <a:ln w="9525">
            <a:solidFill>
              <a:srgbClr val="D5DED9"/>
            </a:solidFill>
            <a:prstDash val="solid"/>
          </a:ln>
        </p:spPr>
      </p:sp>
      <p:sp>
        <p:nvSpPr>
          <p:cNvPr id="51" name="Shape 43"/>
          <p:cNvSpPr/>
          <p:nvPr/>
        </p:nvSpPr>
        <p:spPr>
          <a:xfrm>
            <a:off x="566928" y="3584448"/>
            <a:ext cx="329184" cy="329184"/>
          </a:xfrm>
          <a:prstGeom prst="ellipse">
            <a:avLst/>
          </a:prstGeom>
          <a:solidFill>
            <a:srgbClr val="0E7C86">
              <a:alpha val="22000"/>
            </a:srgbClr>
          </a:solidFill>
          <a:ln/>
        </p:spPr>
      </p:sp>
      <p:pic>
        <p:nvPicPr>
          <p:cNvPr id="52" name="Image 5" descr="preencoded.png"/>
          <p:cNvPicPr>
            <a:picLocks noChangeAspect="1"/>
          </p:cNvPicPr>
          <p:nvPr/>
        </p:nvPicPr>
        <p:blipFill>
          <a:blip r:embed="rId8"/>
          <a:stretch>
            <a:fillRect/>
          </a:stretch>
        </p:blipFill>
        <p:spPr>
          <a:xfrm>
            <a:off x="652516" y="3670036"/>
            <a:ext cx="158008" cy="158008"/>
          </a:xfrm>
          <a:prstGeom prst="rect">
            <a:avLst/>
          </a:prstGeom>
        </p:spPr>
      </p:pic>
      <p:sp>
        <p:nvSpPr>
          <p:cNvPr id="53" name="Text 44"/>
          <p:cNvSpPr txBox="1"/>
          <p:nvPr/>
        </p:nvSpPr>
        <p:spPr>
          <a:xfrm>
            <a:off x="1024128" y="3520440"/>
            <a:ext cx="1920240" cy="457200"/>
          </a:xfrm>
          <a:prstGeom prst="rect">
            <a:avLst/>
          </a:prstGeom>
          <a:noFill/>
          <a:ln/>
        </p:spPr>
        <p:txBody>
          <a:bodyPr wrap="square" lIns="0" tIns="0" rIns="0" bIns="0" rtlCol="0" anchor="ctr"/>
          <a:lstStyle/>
          <a:p>
            <a:pPr marL="0" indent="0">
              <a:buNone/>
            </a:pPr>
            <a:r>
              <a:rPr lang="fr-FR" altLang="en-US" sz="1200" b="1" dirty="0">
                <a:solidFill>
                  <a:srgbClr val="231F20"/>
                </a:solidFill>
                <a:latin typeface="Calibri" pitchFamily="34" charset="0"/>
                <a:ea typeface="Calibri" pitchFamily="34" charset="-122"/>
                <a:cs typeface="Calibri" pitchFamily="34" charset="-120"/>
              </a:rPr>
              <a:t>Orchestration</a:t>
            </a:r>
            <a:endParaRPr lang="fr-FR" sz="1200" dirty="0"/>
          </a:p>
        </p:txBody>
      </p:sp>
      <p:sp>
        <p:nvSpPr>
          <p:cNvPr id="54" name="Text 45"/>
          <p:cNvSpPr txBox="1"/>
          <p:nvPr/>
        </p:nvSpPr>
        <p:spPr>
          <a:xfrm>
            <a:off x="2926080" y="3520440"/>
            <a:ext cx="5577840" cy="457200"/>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Planification, relances et supervision : la mise à jour trimestrielle d’Ookla s’exécute seule (ex. Airflow, cron).</a:t>
            </a:r>
            <a:endParaRPr lang="fr-FR" sz="1050" dirty="0"/>
          </a:p>
        </p:txBody>
      </p:sp>
      <p:sp>
        <p:nvSpPr>
          <p:cNvPr id="55" name="Shape 46"/>
          <p:cNvSpPr/>
          <p:nvPr/>
        </p:nvSpPr>
        <p:spPr>
          <a:xfrm>
            <a:off x="457200" y="4069080"/>
            <a:ext cx="8229600" cy="457200"/>
          </a:xfrm>
          <a:prstGeom prst="roundRect">
            <a:avLst>
              <a:gd name="adj" fmla="val 16000"/>
            </a:avLst>
          </a:prstGeom>
          <a:solidFill>
            <a:srgbClr val="F4F7F5"/>
          </a:solidFill>
          <a:ln w="9525">
            <a:solidFill>
              <a:srgbClr val="D5DED9"/>
            </a:solidFill>
            <a:prstDash val="solid"/>
          </a:ln>
        </p:spPr>
      </p:sp>
      <p:sp>
        <p:nvSpPr>
          <p:cNvPr id="56" name="Shape 47"/>
          <p:cNvSpPr/>
          <p:nvPr/>
        </p:nvSpPr>
        <p:spPr>
          <a:xfrm>
            <a:off x="566928" y="4133088"/>
            <a:ext cx="329184" cy="329184"/>
          </a:xfrm>
          <a:prstGeom prst="ellipse">
            <a:avLst/>
          </a:prstGeom>
          <a:solidFill>
            <a:srgbClr val="0E7C86">
              <a:alpha val="22000"/>
            </a:srgbClr>
          </a:solidFill>
          <a:ln/>
        </p:spPr>
      </p:sp>
      <p:pic>
        <p:nvPicPr>
          <p:cNvPr id="57" name="Image 6" descr="preencoded.png"/>
          <p:cNvPicPr>
            <a:picLocks noChangeAspect="1"/>
          </p:cNvPicPr>
          <p:nvPr/>
        </p:nvPicPr>
        <p:blipFill>
          <a:blip r:embed="rId9"/>
          <a:stretch>
            <a:fillRect/>
          </a:stretch>
        </p:blipFill>
        <p:spPr>
          <a:xfrm>
            <a:off x="652516" y="4218676"/>
            <a:ext cx="158008" cy="158008"/>
          </a:xfrm>
          <a:prstGeom prst="rect">
            <a:avLst/>
          </a:prstGeom>
        </p:spPr>
      </p:pic>
      <p:sp>
        <p:nvSpPr>
          <p:cNvPr id="58" name="Text 48"/>
          <p:cNvSpPr txBox="1"/>
          <p:nvPr/>
        </p:nvSpPr>
        <p:spPr>
          <a:xfrm>
            <a:off x="1024128" y="4069080"/>
            <a:ext cx="1920240" cy="457200"/>
          </a:xfrm>
          <a:prstGeom prst="rect">
            <a:avLst/>
          </a:prstGeom>
          <a:noFill/>
          <a:ln/>
        </p:spPr>
        <p:txBody>
          <a:bodyPr wrap="square" lIns="0" tIns="0" rIns="0" bIns="0" rtlCol="0" anchor="ctr"/>
          <a:lstStyle/>
          <a:p>
            <a:pPr marL="0" indent="0">
              <a:buNone/>
            </a:pPr>
            <a:r>
              <a:rPr lang="fr-FR" altLang="en-US" sz="1200" b="1" dirty="0">
                <a:solidFill>
                  <a:srgbClr val="231F20"/>
                </a:solidFill>
                <a:latin typeface="Calibri" pitchFamily="34" charset="0"/>
                <a:ea typeface="Calibri" pitchFamily="34" charset="-122"/>
                <a:cs typeface="Calibri" pitchFamily="34" charset="-120"/>
              </a:rPr>
              <a:t>Métadonnées</a:t>
            </a:r>
            <a:endParaRPr lang="fr-FR" sz="1200" dirty="0"/>
          </a:p>
        </p:txBody>
      </p:sp>
      <p:sp>
        <p:nvSpPr>
          <p:cNvPr id="59" name="Text 49"/>
          <p:cNvSpPr txBox="1"/>
          <p:nvPr/>
        </p:nvSpPr>
        <p:spPr>
          <a:xfrm>
            <a:off x="2926080" y="4069080"/>
            <a:ext cx="5577840" cy="457200"/>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Quel fichier, quel code, quel mapping ont produit ce chiffre ? Catalogues, Git, versionnage des données.</a:t>
            </a:r>
            <a:endParaRPr lang="fr-FR"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Lac, lakehouse ou index de recherche : qui fait quoi ?</a:t>
            </a:r>
            <a:endParaRPr lang="fr-FR"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7</a:t>
            </a:r>
            <a:endParaRPr lang="fr-FR" sz="850" dirty="0"/>
          </a:p>
        </p:txBody>
      </p:sp>
      <p:sp>
        <p:nvSpPr>
          <p:cNvPr id="16" name="Shape 12"/>
          <p:cNvSpPr/>
          <p:nvPr/>
        </p:nvSpPr>
        <p:spPr>
          <a:xfrm>
            <a:off x="457200" y="1261872"/>
            <a:ext cx="2560320" cy="2395728"/>
          </a:xfrm>
          <a:prstGeom prst="roundRect">
            <a:avLst>
              <a:gd name="adj" fmla="val 3053"/>
            </a:avLst>
          </a:prstGeom>
          <a:solidFill>
            <a:srgbClr val="F4F7F5"/>
          </a:solidFill>
          <a:ln w="9525">
            <a:solidFill>
              <a:srgbClr val="D5DED9"/>
            </a:solidFill>
            <a:prstDash val="solid"/>
          </a:ln>
        </p:spPr>
      </p:sp>
      <p:sp>
        <p:nvSpPr>
          <p:cNvPr id="17" name="Shape 13"/>
          <p:cNvSpPr/>
          <p:nvPr/>
        </p:nvSpPr>
        <p:spPr>
          <a:xfrm>
            <a:off x="621792" y="1389888"/>
            <a:ext cx="457200" cy="457200"/>
          </a:xfrm>
          <a:prstGeom prst="ellipse">
            <a:avLst/>
          </a:prstGeom>
          <a:solidFill>
            <a:srgbClr val="0E7C86">
              <a:alpha val="22000"/>
            </a:srgbClr>
          </a:solidFill>
          <a:ln/>
        </p:spPr>
      </p:sp>
      <p:pic>
        <p:nvPicPr>
          <p:cNvPr id="18" name="Image 1" descr="preencoded.png"/>
          <p:cNvPicPr>
            <a:picLocks noChangeAspect="1"/>
          </p:cNvPicPr>
          <p:nvPr/>
        </p:nvPicPr>
        <p:blipFill>
          <a:blip r:embed="rId4"/>
          <a:stretch>
            <a:fillRect/>
          </a:stretch>
        </p:blipFill>
        <p:spPr>
          <a:xfrm>
            <a:off x="740664" y="1508760"/>
            <a:ext cx="219456" cy="219456"/>
          </a:xfrm>
          <a:prstGeom prst="rect">
            <a:avLst/>
          </a:prstGeom>
        </p:spPr>
      </p:pic>
      <p:sp>
        <p:nvSpPr>
          <p:cNvPr id="19" name="Text 14"/>
          <p:cNvSpPr txBox="1"/>
          <p:nvPr/>
        </p:nvSpPr>
        <p:spPr>
          <a:xfrm>
            <a:off x="1188720" y="1389888"/>
            <a:ext cx="1737360" cy="457200"/>
          </a:xfrm>
          <a:prstGeom prst="rect">
            <a:avLst/>
          </a:prstGeom>
          <a:noFill/>
          <a:ln/>
        </p:spPr>
        <p:txBody>
          <a:bodyPr wrap="square" lIns="0" tIns="0" rIns="0" bIns="0" rtlCol="0" anchor="ctr"/>
          <a:lstStyle/>
          <a:p>
            <a:pPr marL="0" indent="0">
              <a:buNone/>
            </a:pPr>
            <a:r>
              <a:rPr lang="fr-FR" altLang="en-US" sz="1500" b="1" dirty="0">
                <a:solidFill>
                  <a:srgbClr val="231F20"/>
                </a:solidFill>
                <a:latin typeface="Calibri" pitchFamily="34" charset="0"/>
                <a:ea typeface="Calibri" pitchFamily="34" charset="-122"/>
                <a:cs typeface="Calibri" pitchFamily="34" charset="-120"/>
              </a:rPr>
              <a:t>Lac de données</a:t>
            </a:r>
            <a:endParaRPr lang="fr-FR" sz="1500" dirty="0"/>
          </a:p>
        </p:txBody>
      </p:sp>
      <p:sp>
        <p:nvSpPr>
          <p:cNvPr id="20" name="Text 15"/>
          <p:cNvSpPr txBox="1"/>
          <p:nvPr/>
        </p:nvSpPr>
        <p:spPr>
          <a:xfrm>
            <a:off x="621792" y="1965960"/>
            <a:ext cx="2240280" cy="411480"/>
          </a:xfrm>
          <a:prstGeom prst="rect">
            <a:avLst/>
          </a:prstGeom>
          <a:noFill/>
          <a:ln/>
        </p:spPr>
        <p:txBody>
          <a:bodyPr wrap="square" lIns="0" tIns="0" rIns="0" bIns="0" rtlCol="0" anchor="t"/>
          <a:lstStyle/>
          <a:p>
            <a:pPr marL="0" indent="0">
              <a:buNone/>
            </a:pPr>
            <a:r>
              <a:rPr lang="fr-FR" altLang="en-US" sz="1100" b="1" i="1" dirty="0">
                <a:solidFill>
                  <a:srgbClr val="0E7C86"/>
                </a:solidFill>
                <a:latin typeface="Calibri" pitchFamily="34" charset="0"/>
                <a:ea typeface="Calibri" pitchFamily="34" charset="-122"/>
                <a:cs typeface="Calibri" pitchFamily="34" charset="-120"/>
              </a:rPr>
              <a:t>Répond à : Où est le fichier brut ?</a:t>
            </a:r>
            <a:endParaRPr lang="fr-FR" sz="1100" dirty="0"/>
          </a:p>
        </p:txBody>
      </p:sp>
      <p:sp>
        <p:nvSpPr>
          <p:cNvPr id="21" name="Text 16"/>
          <p:cNvSpPr txBox="1"/>
          <p:nvPr/>
        </p:nvSpPr>
        <p:spPr>
          <a:xfrm>
            <a:off x="62179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Fichiers en stockage objet (Parquet, CSV, rasters)</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Schéma à la lecture, coût très faible</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Conserve la source intacte pour l’audit</a:t>
            </a:r>
            <a:endParaRPr lang="fr-FR" sz="1050" dirty="0"/>
          </a:p>
        </p:txBody>
      </p:sp>
      <p:sp>
        <p:nvSpPr>
          <p:cNvPr id="22" name="Shape 17"/>
          <p:cNvSpPr/>
          <p:nvPr/>
        </p:nvSpPr>
        <p:spPr>
          <a:xfrm>
            <a:off x="3291840" y="1261872"/>
            <a:ext cx="2560320" cy="2395728"/>
          </a:xfrm>
          <a:prstGeom prst="roundRect">
            <a:avLst>
              <a:gd name="adj" fmla="val 3053"/>
            </a:avLst>
          </a:prstGeom>
          <a:solidFill>
            <a:srgbClr val="F4F7F5"/>
          </a:solidFill>
          <a:ln w="9525">
            <a:solidFill>
              <a:srgbClr val="D5DED9"/>
            </a:solidFill>
            <a:prstDash val="solid"/>
          </a:ln>
        </p:spPr>
      </p:sp>
      <p:sp>
        <p:nvSpPr>
          <p:cNvPr id="23" name="Shape 18"/>
          <p:cNvSpPr/>
          <p:nvPr/>
        </p:nvSpPr>
        <p:spPr>
          <a:xfrm>
            <a:off x="3456432" y="1389888"/>
            <a:ext cx="457200" cy="457200"/>
          </a:xfrm>
          <a:prstGeom prst="ellipse">
            <a:avLst/>
          </a:prstGeom>
          <a:solidFill>
            <a:srgbClr val="00704A">
              <a:alpha val="22000"/>
            </a:srgbClr>
          </a:solidFill>
          <a:ln/>
        </p:spPr>
      </p:sp>
      <p:pic>
        <p:nvPicPr>
          <p:cNvPr id="24" name="Image 2" descr="preencoded.png"/>
          <p:cNvPicPr>
            <a:picLocks noChangeAspect="1"/>
          </p:cNvPicPr>
          <p:nvPr/>
        </p:nvPicPr>
        <p:blipFill>
          <a:blip r:embed="rId5"/>
          <a:stretch>
            <a:fillRect/>
          </a:stretch>
        </p:blipFill>
        <p:spPr>
          <a:xfrm>
            <a:off x="3575304" y="1508760"/>
            <a:ext cx="219456" cy="219456"/>
          </a:xfrm>
          <a:prstGeom prst="rect">
            <a:avLst/>
          </a:prstGeom>
        </p:spPr>
      </p:pic>
      <p:sp>
        <p:nvSpPr>
          <p:cNvPr id="25" name="Text 19"/>
          <p:cNvSpPr txBox="1"/>
          <p:nvPr/>
        </p:nvSpPr>
        <p:spPr>
          <a:xfrm>
            <a:off x="4023360" y="1389888"/>
            <a:ext cx="1737360" cy="457200"/>
          </a:xfrm>
          <a:prstGeom prst="rect">
            <a:avLst/>
          </a:prstGeom>
          <a:noFill/>
          <a:ln/>
        </p:spPr>
        <p:txBody>
          <a:bodyPr wrap="square" lIns="0" tIns="0" rIns="0" bIns="0" rtlCol="0" anchor="ctr"/>
          <a:lstStyle/>
          <a:p>
            <a:pPr marL="0" indent="0">
              <a:buNone/>
            </a:pPr>
            <a:r>
              <a:rPr lang="fr-FR" altLang="en-US" sz="1500" b="1" dirty="0">
                <a:solidFill>
                  <a:srgbClr val="231F20"/>
                </a:solidFill>
                <a:latin typeface="Calibri" pitchFamily="34" charset="0"/>
                <a:ea typeface="Calibri" pitchFamily="34" charset="-122"/>
                <a:cs typeface="Calibri" pitchFamily="34" charset="-120"/>
              </a:rPr>
              <a:t>Lakehouse</a:t>
            </a:r>
            <a:endParaRPr lang="fr-FR" sz="1500" dirty="0"/>
          </a:p>
        </p:txBody>
      </p:sp>
      <p:sp>
        <p:nvSpPr>
          <p:cNvPr id="26" name="Text 20"/>
          <p:cNvSpPr txBox="1"/>
          <p:nvPr/>
        </p:nvSpPr>
        <p:spPr>
          <a:xfrm>
            <a:off x="3456432" y="1965960"/>
            <a:ext cx="2240280" cy="411480"/>
          </a:xfrm>
          <a:prstGeom prst="rect">
            <a:avLst/>
          </a:prstGeom>
          <a:noFill/>
          <a:ln/>
        </p:spPr>
        <p:txBody>
          <a:bodyPr wrap="square" lIns="0" tIns="0" rIns="0" bIns="0" rtlCol="0" anchor="t"/>
          <a:lstStyle/>
          <a:p>
            <a:pPr marL="0" indent="0">
              <a:buNone/>
            </a:pPr>
            <a:r>
              <a:rPr lang="fr-FR" altLang="en-US" sz="1100" b="1" i="1" dirty="0">
                <a:solidFill>
                  <a:srgbClr val="00704A"/>
                </a:solidFill>
                <a:latin typeface="Calibri" pitchFamily="34" charset="0"/>
                <a:ea typeface="Calibri" pitchFamily="34" charset="-122"/>
                <a:cs typeface="Calibri" pitchFamily="34" charset="-120"/>
              </a:rPr>
              <a:t>Répond à : Quel est l’agrégat officiel ?</a:t>
            </a:r>
            <a:endParaRPr lang="fr-FR" sz="1100" dirty="0"/>
          </a:p>
        </p:txBody>
      </p:sp>
      <p:sp>
        <p:nvSpPr>
          <p:cNvPr id="27" name="Text 21"/>
          <p:cNvSpPr txBox="1"/>
          <p:nvPr/>
        </p:nvSpPr>
        <p:spPr>
          <a:xfrm>
            <a:off x="345643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Tables sur le lac (Delta Lake, Apache Iceberg)</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SQL, transactions, retour dans le temps</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Production reproductible des statistiques</a:t>
            </a:r>
            <a:endParaRPr lang="fr-FR" sz="1050" dirty="0"/>
          </a:p>
        </p:txBody>
      </p:sp>
      <p:sp>
        <p:nvSpPr>
          <p:cNvPr id="28" name="Shape 22"/>
          <p:cNvSpPr/>
          <p:nvPr/>
        </p:nvSpPr>
        <p:spPr>
          <a:xfrm>
            <a:off x="6126480" y="1261872"/>
            <a:ext cx="2560320" cy="2395728"/>
          </a:xfrm>
          <a:prstGeom prst="roundRect">
            <a:avLst>
              <a:gd name="adj" fmla="val 3053"/>
            </a:avLst>
          </a:prstGeom>
          <a:solidFill>
            <a:srgbClr val="E8F5EF"/>
          </a:solidFill>
          <a:ln w="15875">
            <a:solidFill>
              <a:srgbClr val="00A86A"/>
            </a:solidFill>
            <a:prstDash val="solid"/>
          </a:ln>
        </p:spPr>
      </p:sp>
      <p:sp>
        <p:nvSpPr>
          <p:cNvPr id="29" name="Shape 23"/>
          <p:cNvSpPr/>
          <p:nvPr/>
        </p:nvSpPr>
        <p:spPr>
          <a:xfrm>
            <a:off x="6291072" y="1389888"/>
            <a:ext cx="457200" cy="457200"/>
          </a:xfrm>
          <a:prstGeom prst="ellipse">
            <a:avLst/>
          </a:prstGeom>
          <a:solidFill>
            <a:srgbClr val="00A86A">
              <a:alpha val="22000"/>
            </a:srgbClr>
          </a:solidFill>
          <a:ln/>
        </p:spPr>
      </p:sp>
      <p:pic>
        <p:nvPicPr>
          <p:cNvPr id="30" name="Image 3" descr="preencoded.png"/>
          <p:cNvPicPr>
            <a:picLocks noChangeAspect="1"/>
          </p:cNvPicPr>
          <p:nvPr/>
        </p:nvPicPr>
        <p:blipFill>
          <a:blip r:embed="rId6"/>
          <a:stretch>
            <a:fillRect/>
          </a:stretch>
        </p:blipFill>
        <p:spPr>
          <a:xfrm>
            <a:off x="6409944" y="1508760"/>
            <a:ext cx="219456" cy="219456"/>
          </a:xfrm>
          <a:prstGeom prst="rect">
            <a:avLst/>
          </a:prstGeom>
        </p:spPr>
      </p:pic>
      <p:sp>
        <p:nvSpPr>
          <p:cNvPr id="31" name="Text 24"/>
          <p:cNvSpPr txBox="1"/>
          <p:nvPr/>
        </p:nvSpPr>
        <p:spPr>
          <a:xfrm>
            <a:off x="6858000" y="1389888"/>
            <a:ext cx="1737360" cy="457200"/>
          </a:xfrm>
          <a:prstGeom prst="rect">
            <a:avLst/>
          </a:prstGeom>
          <a:noFill/>
          <a:ln/>
        </p:spPr>
        <p:txBody>
          <a:bodyPr wrap="square" lIns="0" tIns="0" rIns="0" bIns="0" rtlCol="0" anchor="ctr"/>
          <a:lstStyle/>
          <a:p>
            <a:pPr marL="0" indent="0">
              <a:buNone/>
            </a:pPr>
            <a:r>
              <a:rPr lang="fr-FR" altLang="en-US" sz="1500" b="1" dirty="0">
                <a:solidFill>
                  <a:srgbClr val="231F20"/>
                </a:solidFill>
                <a:latin typeface="Calibri" pitchFamily="34" charset="0"/>
                <a:ea typeface="Calibri" pitchFamily="34" charset="-122"/>
                <a:cs typeface="Calibri" pitchFamily="34" charset="-120"/>
              </a:rPr>
              <a:t>Index de recherche</a:t>
            </a:r>
            <a:endParaRPr lang="fr-FR" sz="1500" dirty="0"/>
          </a:p>
        </p:txBody>
      </p:sp>
      <p:sp>
        <p:nvSpPr>
          <p:cNvPr id="32" name="Text 25"/>
          <p:cNvSpPr txBox="1"/>
          <p:nvPr/>
        </p:nvSpPr>
        <p:spPr>
          <a:xfrm>
            <a:off x="6291072" y="1965960"/>
            <a:ext cx="2240280" cy="411480"/>
          </a:xfrm>
          <a:prstGeom prst="rect">
            <a:avLst/>
          </a:prstGeom>
          <a:noFill/>
          <a:ln/>
        </p:spPr>
        <p:txBody>
          <a:bodyPr wrap="square" lIns="0" tIns="0" rIns="0" bIns="0" rtlCol="0" anchor="t"/>
          <a:lstStyle/>
          <a:p>
            <a:pPr marL="0" indent="0">
              <a:buNone/>
            </a:pPr>
            <a:r>
              <a:rPr lang="fr-FR" altLang="en-US" sz="1100" b="1" i="1" dirty="0">
                <a:solidFill>
                  <a:srgbClr val="00A86A"/>
                </a:solidFill>
                <a:latin typeface="Calibri" pitchFamily="34" charset="0"/>
                <a:ea typeface="Calibri" pitchFamily="34" charset="-122"/>
                <a:cs typeface="Calibri" pitchFamily="34" charset="-120"/>
              </a:rPr>
              <a:t>Répond à : Que montre cette sélection, tout de suite ?</a:t>
            </a:r>
            <a:endParaRPr lang="fr-FR" sz="1100" dirty="0"/>
          </a:p>
        </p:txBody>
      </p:sp>
      <p:sp>
        <p:nvSpPr>
          <p:cNvPr id="33" name="Text 26"/>
          <p:cNvSpPr txBox="1"/>
          <p:nvPr/>
        </p:nvSpPr>
        <p:spPr>
          <a:xfrm>
            <a:off x="629107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Elasticsearch / OpenSearch</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Index inversé et arbres BKD</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Filtres, texte, géo et tableaux de bord en moins d’une seconde</a:t>
            </a:r>
            <a:endParaRPr lang="fr-FR" sz="1050" dirty="0"/>
          </a:p>
        </p:txBody>
      </p:sp>
      <p:sp>
        <p:nvSpPr>
          <p:cNvPr id="34" name="Shape 27"/>
          <p:cNvSpPr/>
          <p:nvPr/>
        </p:nvSpPr>
        <p:spPr>
          <a:xfrm>
            <a:off x="457200" y="3822192"/>
            <a:ext cx="4023360" cy="731520"/>
          </a:xfrm>
          <a:prstGeom prst="roundRect">
            <a:avLst>
              <a:gd name="adj" fmla="val 10000"/>
            </a:avLst>
          </a:prstGeom>
          <a:solidFill>
            <a:srgbClr val="F4F7F5"/>
          </a:solidFill>
          <a:ln w="9525">
            <a:solidFill>
              <a:srgbClr val="D5DED9"/>
            </a:solidFill>
            <a:prstDash val="solid"/>
          </a:ln>
        </p:spPr>
      </p:sp>
      <p:sp>
        <p:nvSpPr>
          <p:cNvPr id="35" name="Shape 28"/>
          <p:cNvSpPr/>
          <p:nvPr/>
        </p:nvSpPr>
        <p:spPr>
          <a:xfrm>
            <a:off x="594360" y="3986784"/>
            <a:ext cx="402336" cy="402336"/>
          </a:xfrm>
          <a:prstGeom prst="ellipse">
            <a:avLst/>
          </a:prstGeom>
          <a:solidFill>
            <a:srgbClr val="D49A00">
              <a:alpha val="22000"/>
            </a:srgbClr>
          </a:solidFill>
          <a:ln/>
        </p:spPr>
      </p:sp>
      <p:pic>
        <p:nvPicPr>
          <p:cNvPr id="36" name="Image 4" descr="preencoded.png"/>
          <p:cNvPicPr>
            <a:picLocks noChangeAspect="1"/>
          </p:cNvPicPr>
          <p:nvPr/>
        </p:nvPicPr>
        <p:blipFill>
          <a:blip r:embed="rId7"/>
          <a:stretch>
            <a:fillRect/>
          </a:stretch>
        </p:blipFill>
        <p:spPr>
          <a:xfrm>
            <a:off x="698967" y="4091391"/>
            <a:ext cx="193121" cy="193121"/>
          </a:xfrm>
          <a:prstGeom prst="rect">
            <a:avLst/>
          </a:prstGeom>
        </p:spPr>
      </p:pic>
      <p:sp>
        <p:nvSpPr>
          <p:cNvPr id="37" name="Text 29"/>
          <p:cNvSpPr txBox="1"/>
          <p:nvPr/>
        </p:nvSpPr>
        <p:spPr>
          <a:xfrm>
            <a:off x="1115568" y="3895344"/>
            <a:ext cx="3200400" cy="228600"/>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Par lots</a:t>
            </a:r>
            <a:endParaRPr lang="fr-FR" sz="1200" dirty="0"/>
          </a:p>
        </p:txBody>
      </p:sp>
      <p:sp>
        <p:nvSpPr>
          <p:cNvPr id="38" name="Text 30"/>
          <p:cNvSpPr txBox="1"/>
          <p:nvPr/>
        </p:nvSpPr>
        <p:spPr>
          <a:xfrm>
            <a:off x="1115568" y="4123944"/>
            <a:ext cx="3246120" cy="384048"/>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Traiter un jeu de données fini à intervalles — ex. chaque publication trimestrielle d’Ookla.</a:t>
            </a:r>
            <a:endParaRPr lang="fr-FR" sz="1000" dirty="0"/>
          </a:p>
        </p:txBody>
      </p:sp>
      <p:sp>
        <p:nvSpPr>
          <p:cNvPr id="39" name="Shape 31"/>
          <p:cNvSpPr/>
          <p:nvPr/>
        </p:nvSpPr>
        <p:spPr>
          <a:xfrm>
            <a:off x="4663440" y="3822192"/>
            <a:ext cx="4023360" cy="731520"/>
          </a:xfrm>
          <a:prstGeom prst="roundRect">
            <a:avLst>
              <a:gd name="adj" fmla="val 10000"/>
            </a:avLst>
          </a:prstGeom>
          <a:solidFill>
            <a:srgbClr val="F4F7F5"/>
          </a:solidFill>
          <a:ln w="9525">
            <a:solidFill>
              <a:srgbClr val="D5DED9"/>
            </a:solidFill>
            <a:prstDash val="solid"/>
          </a:ln>
        </p:spPr>
      </p:sp>
      <p:sp>
        <p:nvSpPr>
          <p:cNvPr id="40" name="Shape 32"/>
          <p:cNvSpPr/>
          <p:nvPr/>
        </p:nvSpPr>
        <p:spPr>
          <a:xfrm>
            <a:off x="4800600" y="3986784"/>
            <a:ext cx="402336" cy="402336"/>
          </a:xfrm>
          <a:prstGeom prst="ellipse">
            <a:avLst/>
          </a:prstGeom>
          <a:solidFill>
            <a:srgbClr val="D49A00">
              <a:alpha val="22000"/>
            </a:srgbClr>
          </a:solidFill>
          <a:ln/>
        </p:spPr>
      </p:sp>
      <p:pic>
        <p:nvPicPr>
          <p:cNvPr id="41" name="Image 5" descr="preencoded.png"/>
          <p:cNvPicPr>
            <a:picLocks noChangeAspect="1"/>
          </p:cNvPicPr>
          <p:nvPr/>
        </p:nvPicPr>
        <p:blipFill>
          <a:blip r:embed="rId8"/>
          <a:stretch>
            <a:fillRect/>
          </a:stretch>
        </p:blipFill>
        <p:spPr>
          <a:xfrm>
            <a:off x="4905207" y="4091391"/>
            <a:ext cx="193121" cy="193121"/>
          </a:xfrm>
          <a:prstGeom prst="rect">
            <a:avLst/>
          </a:prstGeom>
        </p:spPr>
      </p:pic>
      <p:sp>
        <p:nvSpPr>
          <p:cNvPr id="42" name="Text 33"/>
          <p:cNvSpPr txBox="1"/>
          <p:nvPr/>
        </p:nvSpPr>
        <p:spPr>
          <a:xfrm>
            <a:off x="5321808" y="3895344"/>
            <a:ext cx="3200400" cy="228600"/>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En flux</a:t>
            </a:r>
            <a:endParaRPr lang="fr-FR" sz="1200" dirty="0"/>
          </a:p>
        </p:txBody>
      </p:sp>
      <p:sp>
        <p:nvSpPr>
          <p:cNvPr id="43" name="Text 34"/>
          <p:cNvSpPr txBox="1"/>
          <p:nvPr/>
        </p:nvSpPr>
        <p:spPr>
          <a:xfrm>
            <a:off x="5321808" y="4123944"/>
            <a:ext cx="3246120" cy="384048"/>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Traiter des événements continus à leur arrivée — ex. capteurs, réseaux, transactions.</a:t>
            </a:r>
            <a:endParaRPr lang="fr-FR"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Le cas Ookla : un jeu de données qui éprouve vos outils</a:t>
            </a:r>
            <a:endParaRPr lang="fr-FR"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8</a:t>
            </a:r>
            <a:endParaRPr lang="fr-FR" sz="850" dirty="0"/>
          </a:p>
        </p:txBody>
      </p:sp>
      <p:sp>
        <p:nvSpPr>
          <p:cNvPr id="16" name="Shape 12"/>
          <p:cNvSpPr/>
          <p:nvPr/>
        </p:nvSpPr>
        <p:spPr>
          <a:xfrm>
            <a:off x="457200" y="1261872"/>
            <a:ext cx="2560320" cy="1143000"/>
          </a:xfrm>
          <a:prstGeom prst="roundRect">
            <a:avLst>
              <a:gd name="adj" fmla="val 6400"/>
            </a:avLst>
          </a:prstGeom>
          <a:solidFill>
            <a:srgbClr val="F4F7F5"/>
          </a:solidFill>
          <a:ln w="9525">
            <a:solidFill>
              <a:srgbClr val="D5DED9"/>
            </a:solidFill>
            <a:prstDash val="solid"/>
          </a:ln>
        </p:spPr>
      </p:sp>
      <p:sp>
        <p:nvSpPr>
          <p:cNvPr id="17" name="Text 13"/>
          <p:cNvSpPr txBox="1"/>
          <p:nvPr/>
        </p:nvSpPr>
        <p:spPr>
          <a:xfrm>
            <a:off x="640080" y="1325880"/>
            <a:ext cx="2194560" cy="566928"/>
          </a:xfrm>
          <a:prstGeom prst="rect">
            <a:avLst/>
          </a:prstGeom>
          <a:noFill/>
          <a:ln/>
        </p:spPr>
        <p:txBody>
          <a:bodyPr wrap="square" lIns="0" tIns="0" rIns="0" bIns="0" rtlCol="0" anchor="ctr"/>
          <a:lstStyle/>
          <a:p>
            <a:pPr marL="0" indent="0">
              <a:buNone/>
            </a:pPr>
            <a:r>
              <a:rPr lang="fr-FR" altLang="en-US" sz="3600" b="1" dirty="0">
                <a:solidFill>
                  <a:srgbClr val="00A86A"/>
                </a:solidFill>
                <a:latin typeface="Calibri" pitchFamily="34" charset="0"/>
                <a:ea typeface="Calibri" pitchFamily="34" charset="-122"/>
                <a:cs typeface="Calibri" pitchFamily="34" charset="-120"/>
              </a:rPr>
              <a:t>610,8 m</a:t>
            </a:r>
            <a:endParaRPr lang="fr-FR" sz="3600" dirty="0"/>
          </a:p>
        </p:txBody>
      </p:sp>
      <p:sp>
        <p:nvSpPr>
          <p:cNvPr id="18" name="Text 14"/>
          <p:cNvSpPr txBox="1"/>
          <p:nvPr/>
        </p:nvSpPr>
        <p:spPr>
          <a:xfrm>
            <a:off x="640080" y="1901952"/>
            <a:ext cx="2240280" cy="438912"/>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côté d’une tuile à l’équateur (Web Mercator, niveau de zoom 16)</a:t>
            </a:r>
            <a:endParaRPr lang="fr-FR" sz="1050" dirty="0"/>
          </a:p>
        </p:txBody>
      </p:sp>
      <p:sp>
        <p:nvSpPr>
          <p:cNvPr id="19" name="Shape 15"/>
          <p:cNvSpPr/>
          <p:nvPr/>
        </p:nvSpPr>
        <p:spPr>
          <a:xfrm>
            <a:off x="3291840" y="1261872"/>
            <a:ext cx="2560320" cy="1143000"/>
          </a:xfrm>
          <a:prstGeom prst="roundRect">
            <a:avLst>
              <a:gd name="adj" fmla="val 6400"/>
            </a:avLst>
          </a:prstGeom>
          <a:solidFill>
            <a:srgbClr val="F4F7F5"/>
          </a:solidFill>
          <a:ln w="9525">
            <a:solidFill>
              <a:srgbClr val="D5DED9"/>
            </a:solidFill>
            <a:prstDash val="solid"/>
          </a:ln>
        </p:spPr>
      </p:sp>
      <p:sp>
        <p:nvSpPr>
          <p:cNvPr id="20" name="Text 16"/>
          <p:cNvSpPr txBox="1"/>
          <p:nvPr/>
        </p:nvSpPr>
        <p:spPr>
          <a:xfrm>
            <a:off x="3474720" y="1325880"/>
            <a:ext cx="2194560" cy="566928"/>
          </a:xfrm>
          <a:prstGeom prst="rect">
            <a:avLst/>
          </a:prstGeom>
          <a:noFill/>
          <a:ln/>
        </p:spPr>
        <p:txBody>
          <a:bodyPr wrap="square" lIns="0" tIns="0" rIns="0" bIns="0" rtlCol="0" anchor="ctr"/>
          <a:lstStyle/>
          <a:p>
            <a:pPr marL="0" indent="0">
              <a:buNone/>
            </a:pPr>
            <a:r>
              <a:rPr lang="fr-FR" altLang="en-US" sz="3600" b="1" dirty="0">
                <a:solidFill>
                  <a:srgbClr val="00704A"/>
                </a:solidFill>
                <a:latin typeface="Calibri" pitchFamily="34" charset="0"/>
                <a:ea typeface="Calibri" pitchFamily="34" charset="-122"/>
                <a:cs typeface="Calibri" pitchFamily="34" charset="-120"/>
              </a:rPr>
              <a:t>T1 2019</a:t>
            </a:r>
            <a:endParaRPr lang="fr-FR" sz="3600" dirty="0"/>
          </a:p>
        </p:txBody>
      </p:sp>
      <p:sp>
        <p:nvSpPr>
          <p:cNvPr id="21" name="Text 17"/>
          <p:cNvSpPr txBox="1"/>
          <p:nvPr/>
        </p:nvSpPr>
        <p:spPr>
          <a:xfrm>
            <a:off x="3474720" y="1901952"/>
            <a:ext cx="2240280" cy="438912"/>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premier trimestre disponible ; nouvelles tuiles chaque trimestre depuis</a:t>
            </a:r>
            <a:endParaRPr lang="fr-FR" sz="1050" dirty="0"/>
          </a:p>
        </p:txBody>
      </p:sp>
      <p:sp>
        <p:nvSpPr>
          <p:cNvPr id="22" name="Shape 18"/>
          <p:cNvSpPr/>
          <p:nvPr/>
        </p:nvSpPr>
        <p:spPr>
          <a:xfrm>
            <a:off x="6126480" y="1261872"/>
            <a:ext cx="2560320" cy="1143000"/>
          </a:xfrm>
          <a:prstGeom prst="roundRect">
            <a:avLst>
              <a:gd name="adj" fmla="val 6400"/>
            </a:avLst>
          </a:prstGeom>
          <a:solidFill>
            <a:srgbClr val="F4F7F5"/>
          </a:solidFill>
          <a:ln w="9525">
            <a:solidFill>
              <a:srgbClr val="D5DED9"/>
            </a:solidFill>
            <a:prstDash val="solid"/>
          </a:ln>
        </p:spPr>
      </p:sp>
      <p:sp>
        <p:nvSpPr>
          <p:cNvPr id="23" name="Text 19"/>
          <p:cNvSpPr txBox="1"/>
          <p:nvPr/>
        </p:nvSpPr>
        <p:spPr>
          <a:xfrm>
            <a:off x="6309360" y="1325880"/>
            <a:ext cx="2194560" cy="566928"/>
          </a:xfrm>
          <a:prstGeom prst="rect">
            <a:avLst/>
          </a:prstGeom>
          <a:noFill/>
          <a:ln/>
        </p:spPr>
        <p:txBody>
          <a:bodyPr wrap="square" lIns="0" tIns="0" rIns="0" bIns="0" rtlCol="0" anchor="ctr"/>
          <a:lstStyle/>
          <a:p>
            <a:pPr marL="0" indent="0">
              <a:buNone/>
            </a:pPr>
            <a:r>
              <a:rPr lang="fr-FR" altLang="en-US" sz="3600" b="1" dirty="0">
                <a:solidFill>
                  <a:srgbClr val="0E7C86"/>
                </a:solidFill>
                <a:latin typeface="Calibri" pitchFamily="34" charset="0"/>
                <a:ea typeface="Calibri" pitchFamily="34" charset="-122"/>
                <a:cs typeface="Calibri" pitchFamily="34" charset="-120"/>
              </a:rPr>
              <a:t>2 séries</a:t>
            </a:r>
            <a:endParaRPr lang="fr-FR" sz="3600" dirty="0"/>
          </a:p>
        </p:txBody>
      </p:sp>
      <p:sp>
        <p:nvSpPr>
          <p:cNvPr id="24" name="Text 20"/>
          <p:cNvSpPr txBox="1"/>
          <p:nvPr/>
        </p:nvSpPr>
        <p:spPr>
          <a:xfrm>
            <a:off x="6309360" y="1901952"/>
            <a:ext cx="2240280" cy="438912"/>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haut débit fixe et mobile, publiés séparément</a:t>
            </a:r>
            <a:endParaRPr lang="fr-FR" sz="1050" dirty="0"/>
          </a:p>
        </p:txBody>
      </p:sp>
      <p:sp>
        <p:nvSpPr>
          <p:cNvPr id="25" name="Text 21"/>
          <p:cNvSpPr txBox="1"/>
          <p:nvPr/>
        </p:nvSpPr>
        <p:spPr>
          <a:xfrm>
            <a:off x="457200" y="2578608"/>
            <a:ext cx="36576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CHAMPS CLÉS DE CHAQUE TUILE</a:t>
            </a:r>
            <a:endParaRPr lang="fr-FR" sz="900" dirty="0"/>
          </a:p>
        </p:txBody>
      </p:sp>
      <p:sp>
        <p:nvSpPr>
          <p:cNvPr id="26" name="Shape 22"/>
          <p:cNvSpPr/>
          <p:nvPr/>
        </p:nvSpPr>
        <p:spPr>
          <a:xfrm>
            <a:off x="45720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27" name="Text 23"/>
          <p:cNvSpPr txBox="1"/>
          <p:nvPr/>
        </p:nvSpPr>
        <p:spPr>
          <a:xfrm>
            <a:off x="457200" y="2834640"/>
            <a:ext cx="86868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quadkey</a:t>
            </a:r>
            <a:endParaRPr lang="fr-FR" sz="950" dirty="0"/>
          </a:p>
        </p:txBody>
      </p:sp>
      <p:sp>
        <p:nvSpPr>
          <p:cNvPr id="28" name="Shape 24"/>
          <p:cNvSpPr/>
          <p:nvPr/>
        </p:nvSpPr>
        <p:spPr>
          <a:xfrm>
            <a:off x="1453896"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29" name="Text 25"/>
          <p:cNvSpPr txBox="1"/>
          <p:nvPr/>
        </p:nvSpPr>
        <p:spPr>
          <a:xfrm>
            <a:off x="1453896" y="2834640"/>
            <a:ext cx="105156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avg_d_kbps</a:t>
            </a:r>
            <a:endParaRPr lang="fr-FR" sz="950" dirty="0"/>
          </a:p>
        </p:txBody>
      </p:sp>
      <p:sp>
        <p:nvSpPr>
          <p:cNvPr id="30" name="Shape 26"/>
          <p:cNvSpPr/>
          <p:nvPr/>
        </p:nvSpPr>
        <p:spPr>
          <a:xfrm>
            <a:off x="2633472"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1" name="Text 27"/>
          <p:cNvSpPr txBox="1"/>
          <p:nvPr/>
        </p:nvSpPr>
        <p:spPr>
          <a:xfrm>
            <a:off x="2633472" y="2834640"/>
            <a:ext cx="105156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avg_u_kbps</a:t>
            </a:r>
            <a:endParaRPr lang="fr-FR" sz="950" dirty="0"/>
          </a:p>
        </p:txBody>
      </p:sp>
      <p:sp>
        <p:nvSpPr>
          <p:cNvPr id="32" name="Shape 28"/>
          <p:cNvSpPr/>
          <p:nvPr/>
        </p:nvSpPr>
        <p:spPr>
          <a:xfrm>
            <a:off x="3813048"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3" name="Text 29"/>
          <p:cNvSpPr txBox="1"/>
          <p:nvPr/>
        </p:nvSpPr>
        <p:spPr>
          <a:xfrm>
            <a:off x="3813048" y="2834640"/>
            <a:ext cx="105156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avg_lat_ms</a:t>
            </a:r>
            <a:endParaRPr lang="fr-FR" sz="950" dirty="0"/>
          </a:p>
        </p:txBody>
      </p:sp>
      <p:sp>
        <p:nvSpPr>
          <p:cNvPr id="34" name="Shape 30"/>
          <p:cNvSpPr/>
          <p:nvPr/>
        </p:nvSpPr>
        <p:spPr>
          <a:xfrm>
            <a:off x="4992624" y="2834640"/>
            <a:ext cx="731520" cy="292608"/>
          </a:xfrm>
          <a:prstGeom prst="roundRect">
            <a:avLst>
              <a:gd name="adj" fmla="val 50000"/>
            </a:avLst>
          </a:prstGeom>
          <a:solidFill>
            <a:srgbClr val="00A86A">
              <a:alpha val="15000"/>
            </a:srgbClr>
          </a:solidFill>
          <a:ln w="9525">
            <a:solidFill>
              <a:srgbClr val="00A86A"/>
            </a:solidFill>
            <a:prstDash val="solid"/>
          </a:ln>
        </p:spPr>
      </p:sp>
      <p:sp>
        <p:nvSpPr>
          <p:cNvPr id="35" name="Text 31"/>
          <p:cNvSpPr txBox="1"/>
          <p:nvPr/>
        </p:nvSpPr>
        <p:spPr>
          <a:xfrm>
            <a:off x="4992624" y="2834640"/>
            <a:ext cx="73152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tests</a:t>
            </a:r>
            <a:endParaRPr lang="fr-FR" sz="950" dirty="0"/>
          </a:p>
        </p:txBody>
      </p:sp>
      <p:sp>
        <p:nvSpPr>
          <p:cNvPr id="36" name="Shape 32"/>
          <p:cNvSpPr/>
          <p:nvPr/>
        </p:nvSpPr>
        <p:spPr>
          <a:xfrm>
            <a:off x="585216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37" name="Text 33"/>
          <p:cNvSpPr txBox="1"/>
          <p:nvPr/>
        </p:nvSpPr>
        <p:spPr>
          <a:xfrm>
            <a:off x="5852160" y="2834640"/>
            <a:ext cx="86868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devices</a:t>
            </a:r>
            <a:endParaRPr lang="fr-FR" sz="950" dirty="0"/>
          </a:p>
        </p:txBody>
      </p:sp>
      <p:sp>
        <p:nvSpPr>
          <p:cNvPr id="38" name="Shape 34"/>
          <p:cNvSpPr/>
          <p:nvPr/>
        </p:nvSpPr>
        <p:spPr>
          <a:xfrm>
            <a:off x="6848856" y="2834640"/>
            <a:ext cx="1097280" cy="292608"/>
          </a:xfrm>
          <a:prstGeom prst="roundRect">
            <a:avLst>
              <a:gd name="adj" fmla="val 50000"/>
            </a:avLst>
          </a:prstGeom>
          <a:solidFill>
            <a:srgbClr val="00A86A">
              <a:alpha val="15000"/>
            </a:srgbClr>
          </a:solidFill>
          <a:ln w="9525">
            <a:solidFill>
              <a:srgbClr val="00A86A"/>
            </a:solidFill>
            <a:prstDash val="solid"/>
          </a:ln>
        </p:spPr>
      </p:sp>
      <p:sp>
        <p:nvSpPr>
          <p:cNvPr id="39" name="Text 35"/>
          <p:cNvSpPr txBox="1"/>
          <p:nvPr/>
        </p:nvSpPr>
        <p:spPr>
          <a:xfrm>
            <a:off x="6848856" y="2834640"/>
            <a:ext cx="1097280" cy="292608"/>
          </a:xfrm>
          <a:prstGeom prst="rect">
            <a:avLst/>
          </a:prstGeom>
          <a:noFill/>
          <a:ln/>
        </p:spPr>
        <p:txBody>
          <a:bodyPr wrap="square" lIns="0" tIns="0" rIns="0" bIns="0" rtlCol="0" anchor="ctr"/>
          <a:lstStyle/>
          <a:p>
            <a:pPr marL="0" indent="0" algn="ctr">
              <a:buNone/>
            </a:pPr>
            <a:r>
              <a:rPr lang="fr-FR" altLang="en-US" sz="950" dirty="0">
                <a:solidFill>
                  <a:srgbClr val="231F20"/>
                </a:solidFill>
                <a:latin typeface="Courier New" pitchFamily="34" charset="0"/>
                <a:ea typeface="Courier New" pitchFamily="34" charset="-122"/>
                <a:cs typeface="Courier New" pitchFamily="34" charset="-120"/>
              </a:rPr>
              <a:t>tile (WKT)</a:t>
            </a:r>
            <a:endParaRPr lang="fr-FR" sz="950" dirty="0"/>
          </a:p>
        </p:txBody>
      </p:sp>
      <p:sp>
        <p:nvSpPr>
          <p:cNvPr id="40" name="Shape 36"/>
          <p:cNvSpPr/>
          <p:nvPr/>
        </p:nvSpPr>
        <p:spPr>
          <a:xfrm>
            <a:off x="457200" y="3346704"/>
            <a:ext cx="8229600" cy="1115568"/>
          </a:xfrm>
          <a:prstGeom prst="roundRect">
            <a:avLst>
              <a:gd name="adj" fmla="val 4918"/>
            </a:avLst>
          </a:prstGeom>
          <a:solidFill>
            <a:srgbClr val="D49A00">
              <a:alpha val="13000"/>
            </a:srgbClr>
          </a:solidFill>
          <a:ln w="12700">
            <a:solidFill>
              <a:srgbClr val="D49A00"/>
            </a:solidFill>
            <a:prstDash val="solid"/>
          </a:ln>
        </p:spPr>
      </p:sp>
      <p:pic>
        <p:nvPicPr>
          <p:cNvPr id="41" name="Image 1" descr="preencoded.png"/>
          <p:cNvPicPr>
            <a:picLocks noChangeAspect="1"/>
          </p:cNvPicPr>
          <p:nvPr/>
        </p:nvPicPr>
        <p:blipFill>
          <a:blip r:embed="rId4"/>
          <a:stretch>
            <a:fillRect/>
          </a:stretch>
        </p:blipFill>
        <p:spPr>
          <a:xfrm>
            <a:off x="603504" y="3767328"/>
            <a:ext cx="274320" cy="274320"/>
          </a:xfrm>
          <a:prstGeom prst="rect">
            <a:avLst/>
          </a:prstGeom>
        </p:spPr>
      </p:pic>
      <p:sp>
        <p:nvSpPr>
          <p:cNvPr id="42" name="Text 37"/>
          <p:cNvSpPr txBox="1"/>
          <p:nvPr/>
        </p:nvSpPr>
        <p:spPr>
          <a:xfrm>
            <a:off x="1005840" y="3401568"/>
            <a:ext cx="7543800" cy="1005840"/>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Pourquoi un seul portable peine. </a:t>
            </a:r>
            <a:r>
              <a:rPr lang="fr-FR" altLang="en-US" sz="1100" dirty="0">
                <a:solidFill>
                  <a:srgbClr val="231F20"/>
                </a:solidFill>
                <a:latin typeface="Calibri" pitchFamily="34" charset="0"/>
                <a:ea typeface="Calibri" pitchFamily="34" charset="-122"/>
                <a:cs typeface="Calibri" pitchFamily="34" charset="-120"/>
              </a:rPr>
              <a:t>Ookla agrège des centaines de millions de tests mensuels en tuiles, mais un panel multi-pays, multi-trimestres, fixe + mobile grossit vite. Ajoutez la géométrie, les jointures avec les limites et WorldPop, et plusieurs collègues qui interrogent en même temps : c’est la mémoire, non la compétence, qui devient le goulot d’étranglement.</a:t>
            </a:r>
            <a:endParaRPr lang="fr-FR" sz="1100" dirty="0"/>
          </a:p>
        </p:txBody>
      </p:sp>
      <p:sp>
        <p:nvSpPr>
          <p:cNvPr id="43" name="Text 38"/>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Source : Ookla, README ookla-open-data (GitHub) et Registry of Open Data on AWS — licence CC BY-NC-SA 4.0.</a:t>
            </a:r>
            <a:endParaRPr lang="fr-FR"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02</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02</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La suite Elastic expliquée</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Que sont E, L et K, et comment fonctionnent-ils ensemble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5C242"/>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9</a:t>
            </a:r>
            <a:endParaRPr lang="fr-FR"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ELK en une image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10</a:t>
            </a:r>
            <a:endParaRPr lang="fr-FR" sz="850" dirty="0"/>
          </a:p>
        </p:txBody>
      </p:sp>
      <p:sp>
        <p:nvSpPr>
          <p:cNvPr id="16" name="Shape 12"/>
          <p:cNvSpPr/>
          <p:nvPr/>
        </p:nvSpPr>
        <p:spPr>
          <a:xfrm>
            <a:off x="457200" y="1280160"/>
            <a:ext cx="1691640" cy="2514600"/>
          </a:xfrm>
          <a:prstGeom prst="roundRect">
            <a:avLst>
              <a:gd name="adj" fmla="val 4324"/>
            </a:avLst>
          </a:prstGeom>
          <a:solidFill>
            <a:srgbClr val="FFFFFF"/>
          </a:solidFill>
          <a:ln w="12700">
            <a:solidFill>
              <a:srgbClr val="5E6964"/>
            </a:solidFill>
            <a:prstDash val="solid"/>
          </a:ln>
        </p:spPr>
      </p:sp>
      <p:sp>
        <p:nvSpPr>
          <p:cNvPr id="17" name="Shape 13"/>
          <p:cNvSpPr/>
          <p:nvPr/>
        </p:nvSpPr>
        <p:spPr>
          <a:xfrm>
            <a:off x="1028700" y="1389888"/>
            <a:ext cx="548640" cy="548640"/>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1171346" y="1532534"/>
            <a:ext cx="263347" cy="263347"/>
          </a:xfrm>
          <a:prstGeom prst="rect">
            <a:avLst/>
          </a:prstGeom>
        </p:spPr>
      </p:pic>
      <p:sp>
        <p:nvSpPr>
          <p:cNvPr id="19" name="Text 14"/>
          <p:cNvSpPr txBox="1"/>
          <p:nvPr/>
        </p:nvSpPr>
        <p:spPr>
          <a:xfrm>
            <a:off x="548640" y="2011680"/>
            <a:ext cx="1508760" cy="256032"/>
          </a:xfrm>
          <a:prstGeom prst="rect">
            <a:avLst/>
          </a:prstGeom>
          <a:noFill/>
          <a:ln/>
        </p:spPr>
        <p:txBody>
          <a:bodyPr wrap="square" lIns="0" tIns="0" rIns="0" bIns="0" rtlCol="0" anchor="t"/>
          <a:lstStyle/>
          <a:p>
            <a:pPr marL="0" indent="0" algn="ctr">
              <a:buNone/>
            </a:pPr>
            <a:r>
              <a:rPr lang="fr-FR" altLang="en-US" sz="1350" b="1" dirty="0">
                <a:solidFill>
                  <a:srgbClr val="231F20"/>
                </a:solidFill>
                <a:latin typeface="Calibri" pitchFamily="34" charset="0"/>
                <a:ea typeface="Calibri" pitchFamily="34" charset="-122"/>
                <a:cs typeface="Calibri" pitchFamily="34" charset="-120"/>
              </a:rPr>
              <a:t>Sources</a:t>
            </a:r>
            <a:endParaRPr lang="fr-FR" sz="1350" dirty="0"/>
          </a:p>
        </p:txBody>
      </p:sp>
      <p:sp>
        <p:nvSpPr>
          <p:cNvPr id="20" name="Text 15"/>
          <p:cNvSpPr txBox="1"/>
          <p:nvPr/>
        </p:nvSpPr>
        <p:spPr>
          <a:xfrm>
            <a:off x="548640" y="2267712"/>
            <a:ext cx="1508760" cy="201168"/>
          </a:xfrm>
          <a:prstGeom prst="rect">
            <a:avLst/>
          </a:prstGeom>
          <a:noFill/>
          <a:ln/>
        </p:spPr>
        <p:txBody>
          <a:bodyPr wrap="square" lIns="0" tIns="0" rIns="0" bIns="0" rtlCol="0" anchor="t"/>
          <a:lstStyle/>
          <a:p>
            <a:pPr marL="0" indent="0" algn="ctr">
              <a:buNone/>
            </a:pPr>
            <a:r>
              <a:rPr lang="fr-FR" altLang="en-US" sz="950" i="1" dirty="0">
                <a:solidFill>
                  <a:srgbClr val="5E6964"/>
                </a:solidFill>
                <a:latin typeface="Calibri" pitchFamily="34" charset="0"/>
                <a:ea typeface="Calibri" pitchFamily="34" charset="-122"/>
                <a:cs typeface="Calibri" pitchFamily="34" charset="-120"/>
              </a:rPr>
              <a:t>données déjà disponibles</a:t>
            </a:r>
            <a:endParaRPr lang="fr-FR" sz="950" dirty="0"/>
          </a:p>
        </p:txBody>
      </p:sp>
      <p:sp>
        <p:nvSpPr>
          <p:cNvPr id="21" name="Text 16"/>
          <p:cNvSpPr txBox="1"/>
          <p:nvPr/>
        </p:nvSpPr>
        <p:spPr>
          <a:xfrm>
            <a:off x="59436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Parquet Ookla</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Limites administratives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Rasters WorldPop</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API et journaux</a:t>
            </a:r>
            <a:endParaRPr lang="fr-FR" sz="1000" dirty="0"/>
          </a:p>
        </p:txBody>
      </p:sp>
      <p:sp>
        <p:nvSpPr>
          <p:cNvPr id="22" name="Shape 17"/>
          <p:cNvSpPr/>
          <p:nvPr/>
        </p:nvSpPr>
        <p:spPr>
          <a:xfrm>
            <a:off x="2185416" y="2542032"/>
            <a:ext cx="292608" cy="0"/>
          </a:xfrm>
          <a:prstGeom prst="line">
            <a:avLst/>
          </a:prstGeom>
          <a:noFill/>
          <a:ln w="19050">
            <a:solidFill>
              <a:srgbClr val="5E6964"/>
            </a:solidFill>
            <a:prstDash val="solid"/>
            <a:tailEnd type="triangle"/>
          </a:ln>
        </p:spPr>
      </p:sp>
      <p:sp>
        <p:nvSpPr>
          <p:cNvPr id="23" name="Shape 18"/>
          <p:cNvSpPr/>
          <p:nvPr/>
        </p:nvSpPr>
        <p:spPr>
          <a:xfrm>
            <a:off x="2514600" y="1280160"/>
            <a:ext cx="1828800" cy="2514600"/>
          </a:xfrm>
          <a:prstGeom prst="roundRect">
            <a:avLst>
              <a:gd name="adj" fmla="val 4000"/>
            </a:avLst>
          </a:prstGeom>
          <a:solidFill>
            <a:srgbClr val="FFFFFF"/>
          </a:solidFill>
          <a:ln w="12700">
            <a:solidFill>
              <a:srgbClr val="0E7C86"/>
            </a:solidFill>
            <a:prstDash val="solid"/>
          </a:ln>
        </p:spPr>
      </p:sp>
      <p:sp>
        <p:nvSpPr>
          <p:cNvPr id="24" name="Shape 19"/>
          <p:cNvSpPr/>
          <p:nvPr/>
        </p:nvSpPr>
        <p:spPr>
          <a:xfrm>
            <a:off x="3154680" y="1389888"/>
            <a:ext cx="548640" cy="548640"/>
          </a:xfrm>
          <a:prstGeom prst="ellipse">
            <a:avLst/>
          </a:prstGeom>
          <a:solidFill>
            <a:srgbClr val="0E7C86"/>
          </a:solidFill>
          <a:ln/>
        </p:spPr>
      </p:sp>
      <p:sp>
        <p:nvSpPr>
          <p:cNvPr id="25" name="Text 20"/>
          <p:cNvSpPr txBox="1"/>
          <p:nvPr/>
        </p:nvSpPr>
        <p:spPr>
          <a:xfrm>
            <a:off x="3154680" y="1389888"/>
            <a:ext cx="548640" cy="548640"/>
          </a:xfrm>
          <a:prstGeom prst="rect">
            <a:avLst/>
          </a:prstGeom>
          <a:noFill/>
          <a:ln/>
        </p:spPr>
        <p:txBody>
          <a:bodyPr wrap="square" lIns="0" tIns="0" rIns="0" bIns="0" rtlCol="0" anchor="ctr"/>
          <a:lstStyle/>
          <a:p>
            <a:pPr marL="0" indent="0" algn="ctr">
              <a:buNone/>
            </a:pPr>
            <a:r>
              <a:rPr lang="fr-FR" altLang="en-US" sz="2400" b="1" dirty="0">
                <a:solidFill>
                  <a:srgbClr val="FFFFFF"/>
                </a:solidFill>
                <a:latin typeface="Calibri" pitchFamily="34" charset="0"/>
                <a:ea typeface="Calibri" pitchFamily="34" charset="-122"/>
                <a:cs typeface="Calibri" pitchFamily="34" charset="-120"/>
              </a:rPr>
              <a:t>L</a:t>
            </a:r>
            <a:endParaRPr lang="fr-FR" sz="2400" dirty="0"/>
          </a:p>
        </p:txBody>
      </p:sp>
      <p:sp>
        <p:nvSpPr>
          <p:cNvPr id="26" name="Text 21"/>
          <p:cNvSpPr txBox="1"/>
          <p:nvPr/>
        </p:nvSpPr>
        <p:spPr>
          <a:xfrm>
            <a:off x="2606040" y="2011680"/>
            <a:ext cx="1645920" cy="256032"/>
          </a:xfrm>
          <a:prstGeom prst="rect">
            <a:avLst/>
          </a:prstGeom>
          <a:noFill/>
          <a:ln/>
        </p:spPr>
        <p:txBody>
          <a:bodyPr wrap="square" lIns="0" tIns="0" rIns="0" bIns="0" rtlCol="0" anchor="t"/>
          <a:lstStyle/>
          <a:p>
            <a:pPr marL="0" indent="0" algn="ctr">
              <a:buNone/>
            </a:pPr>
            <a:r>
              <a:rPr lang="fr-FR" altLang="en-US" sz="1350" b="1" dirty="0">
                <a:solidFill>
                  <a:srgbClr val="231F20"/>
                </a:solidFill>
                <a:latin typeface="Calibri" pitchFamily="34" charset="0"/>
                <a:ea typeface="Calibri" pitchFamily="34" charset="-122"/>
                <a:cs typeface="Calibri" pitchFamily="34" charset="-120"/>
              </a:rPr>
              <a:t>Logstash</a:t>
            </a:r>
            <a:endParaRPr lang="fr-FR" sz="1350" dirty="0"/>
          </a:p>
        </p:txBody>
      </p:sp>
      <p:sp>
        <p:nvSpPr>
          <p:cNvPr id="27" name="Text 22"/>
          <p:cNvSpPr txBox="1"/>
          <p:nvPr/>
        </p:nvSpPr>
        <p:spPr>
          <a:xfrm>
            <a:off x="2606040" y="2267712"/>
            <a:ext cx="1645920" cy="201168"/>
          </a:xfrm>
          <a:prstGeom prst="rect">
            <a:avLst/>
          </a:prstGeom>
          <a:noFill/>
          <a:ln/>
        </p:spPr>
        <p:txBody>
          <a:bodyPr wrap="square" lIns="0" tIns="0" rIns="0" bIns="0" rtlCol="0" anchor="t"/>
          <a:lstStyle/>
          <a:p>
            <a:pPr marL="0" indent="0" algn="ctr">
              <a:buNone/>
            </a:pPr>
            <a:r>
              <a:rPr lang="fr-FR" altLang="en-US" sz="950" i="1" dirty="0">
                <a:solidFill>
                  <a:srgbClr val="5E6964"/>
                </a:solidFill>
                <a:latin typeface="Calibri" pitchFamily="34" charset="0"/>
                <a:ea typeface="Calibri" pitchFamily="34" charset="-122"/>
                <a:cs typeface="Calibri" pitchFamily="34" charset="-120"/>
              </a:rPr>
              <a:t>ingérer et transformer</a:t>
            </a:r>
            <a:endParaRPr lang="fr-FR" sz="950" dirty="0"/>
          </a:p>
        </p:txBody>
      </p:sp>
      <p:sp>
        <p:nvSpPr>
          <p:cNvPr id="28" name="Text 23"/>
          <p:cNvSpPr txBox="1"/>
          <p:nvPr/>
        </p:nvSpPr>
        <p:spPr>
          <a:xfrm>
            <a:off x="2651760" y="2578608"/>
            <a:ext cx="160020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Entrée → filtre → sortie</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Analyser, convertir, enrichir</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Au labo : client Python</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Aussi : agents Beats</a:t>
            </a:r>
            <a:endParaRPr lang="fr-FR" sz="1000" dirty="0"/>
          </a:p>
        </p:txBody>
      </p:sp>
      <p:sp>
        <p:nvSpPr>
          <p:cNvPr id="29" name="Shape 24"/>
          <p:cNvSpPr/>
          <p:nvPr/>
        </p:nvSpPr>
        <p:spPr>
          <a:xfrm>
            <a:off x="4379976" y="2542032"/>
            <a:ext cx="292608" cy="0"/>
          </a:xfrm>
          <a:prstGeom prst="line">
            <a:avLst/>
          </a:prstGeom>
          <a:noFill/>
          <a:ln w="19050">
            <a:solidFill>
              <a:srgbClr val="5E6964"/>
            </a:solidFill>
            <a:prstDash val="solid"/>
            <a:tailEnd type="triangle"/>
          </a:ln>
        </p:spPr>
      </p:sp>
      <p:sp>
        <p:nvSpPr>
          <p:cNvPr id="30" name="Shape 25"/>
          <p:cNvSpPr/>
          <p:nvPr/>
        </p:nvSpPr>
        <p:spPr>
          <a:xfrm>
            <a:off x="4709160" y="1280160"/>
            <a:ext cx="1920240" cy="2514600"/>
          </a:xfrm>
          <a:prstGeom prst="roundRect">
            <a:avLst>
              <a:gd name="adj" fmla="val 3810"/>
            </a:avLst>
          </a:prstGeom>
          <a:solidFill>
            <a:srgbClr val="E8F5EF"/>
          </a:solidFill>
          <a:ln w="19050">
            <a:solidFill>
              <a:srgbClr val="00A86A"/>
            </a:solidFill>
            <a:prstDash val="solid"/>
          </a:ln>
        </p:spPr>
      </p:sp>
      <p:sp>
        <p:nvSpPr>
          <p:cNvPr id="31" name="Shape 26"/>
          <p:cNvSpPr/>
          <p:nvPr/>
        </p:nvSpPr>
        <p:spPr>
          <a:xfrm>
            <a:off x="5394960" y="1389888"/>
            <a:ext cx="548640" cy="548640"/>
          </a:xfrm>
          <a:prstGeom prst="ellipse">
            <a:avLst/>
          </a:prstGeom>
          <a:solidFill>
            <a:srgbClr val="00A86A"/>
          </a:solidFill>
          <a:ln/>
        </p:spPr>
      </p:sp>
      <p:sp>
        <p:nvSpPr>
          <p:cNvPr id="32" name="Text 27"/>
          <p:cNvSpPr txBox="1"/>
          <p:nvPr/>
        </p:nvSpPr>
        <p:spPr>
          <a:xfrm>
            <a:off x="5394960" y="1389888"/>
            <a:ext cx="548640" cy="548640"/>
          </a:xfrm>
          <a:prstGeom prst="rect">
            <a:avLst/>
          </a:prstGeom>
          <a:noFill/>
          <a:ln/>
        </p:spPr>
        <p:txBody>
          <a:bodyPr wrap="square" lIns="0" tIns="0" rIns="0" bIns="0" rtlCol="0" anchor="ctr"/>
          <a:lstStyle/>
          <a:p>
            <a:pPr marL="0" indent="0" algn="ctr">
              <a:buNone/>
            </a:pPr>
            <a:r>
              <a:rPr lang="fr-FR" altLang="en-US" sz="2400" b="1" dirty="0">
                <a:solidFill>
                  <a:srgbClr val="FFFFFF"/>
                </a:solidFill>
                <a:latin typeface="Calibri" pitchFamily="34" charset="0"/>
                <a:ea typeface="Calibri" pitchFamily="34" charset="-122"/>
                <a:cs typeface="Calibri" pitchFamily="34" charset="-120"/>
              </a:rPr>
              <a:t>E</a:t>
            </a:r>
            <a:endParaRPr lang="fr-FR" sz="2400" dirty="0"/>
          </a:p>
        </p:txBody>
      </p:sp>
      <p:sp>
        <p:nvSpPr>
          <p:cNvPr id="33" name="Text 28"/>
          <p:cNvSpPr txBox="1"/>
          <p:nvPr/>
        </p:nvSpPr>
        <p:spPr>
          <a:xfrm>
            <a:off x="4800600" y="2011680"/>
            <a:ext cx="1737360" cy="256032"/>
          </a:xfrm>
          <a:prstGeom prst="rect">
            <a:avLst/>
          </a:prstGeom>
          <a:noFill/>
          <a:ln/>
        </p:spPr>
        <p:txBody>
          <a:bodyPr wrap="square" lIns="0" tIns="0" rIns="0" bIns="0" rtlCol="0" anchor="t"/>
          <a:lstStyle/>
          <a:p>
            <a:pPr marL="0" indent="0" algn="ctr">
              <a:buNone/>
            </a:pPr>
            <a:r>
              <a:rPr lang="fr-FR" altLang="en-US" sz="1350" b="1" dirty="0">
                <a:solidFill>
                  <a:srgbClr val="231F20"/>
                </a:solidFill>
                <a:latin typeface="Calibri" pitchFamily="34" charset="0"/>
                <a:ea typeface="Calibri" pitchFamily="34" charset="-122"/>
                <a:cs typeface="Calibri" pitchFamily="34" charset="-120"/>
              </a:rPr>
              <a:t>Elasticsearch</a:t>
            </a:r>
            <a:endParaRPr lang="fr-FR" sz="1350" dirty="0"/>
          </a:p>
        </p:txBody>
      </p:sp>
      <p:sp>
        <p:nvSpPr>
          <p:cNvPr id="34" name="Text 29"/>
          <p:cNvSpPr txBox="1"/>
          <p:nvPr/>
        </p:nvSpPr>
        <p:spPr>
          <a:xfrm>
            <a:off x="4800600" y="2267712"/>
            <a:ext cx="1737360" cy="201168"/>
          </a:xfrm>
          <a:prstGeom prst="rect">
            <a:avLst/>
          </a:prstGeom>
          <a:noFill/>
          <a:ln/>
        </p:spPr>
        <p:txBody>
          <a:bodyPr wrap="square" lIns="0" tIns="0" rIns="0" bIns="0" rtlCol="0" anchor="t"/>
          <a:lstStyle/>
          <a:p>
            <a:pPr marL="0" indent="0" algn="ctr">
              <a:buNone/>
            </a:pPr>
            <a:r>
              <a:rPr lang="fr-FR" altLang="en-US" sz="950" i="1" dirty="0">
                <a:solidFill>
                  <a:srgbClr val="5E6964"/>
                </a:solidFill>
                <a:latin typeface="Calibri" pitchFamily="34" charset="0"/>
                <a:ea typeface="Calibri" pitchFamily="34" charset="-122"/>
                <a:cs typeface="Calibri" pitchFamily="34" charset="-120"/>
              </a:rPr>
              <a:t>stocker · indexer · chercher</a:t>
            </a:r>
            <a:endParaRPr lang="fr-FR" sz="950" dirty="0"/>
          </a:p>
        </p:txBody>
      </p:sp>
      <p:sp>
        <p:nvSpPr>
          <p:cNvPr id="35" name="Text 30"/>
          <p:cNvSpPr txBox="1"/>
          <p:nvPr/>
        </p:nvSpPr>
        <p:spPr>
          <a:xfrm>
            <a:off x="4846320" y="2578608"/>
            <a:ext cx="16916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Documents JSON</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Chaque champ indexé</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Réparti sur des nœuds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API REST (port 9200)</a:t>
            </a:r>
            <a:endParaRPr lang="fr-FR" sz="1000" dirty="0"/>
          </a:p>
        </p:txBody>
      </p:sp>
      <p:sp>
        <p:nvSpPr>
          <p:cNvPr id="36" name="Shape 31"/>
          <p:cNvSpPr/>
          <p:nvPr/>
        </p:nvSpPr>
        <p:spPr>
          <a:xfrm>
            <a:off x="6665976" y="2542032"/>
            <a:ext cx="292608" cy="0"/>
          </a:xfrm>
          <a:prstGeom prst="line">
            <a:avLst/>
          </a:prstGeom>
          <a:noFill/>
          <a:ln w="19050">
            <a:solidFill>
              <a:srgbClr val="5E6964"/>
            </a:solidFill>
            <a:prstDash val="solid"/>
            <a:tailEnd type="triangle"/>
          </a:ln>
        </p:spPr>
      </p:sp>
      <p:sp>
        <p:nvSpPr>
          <p:cNvPr id="37" name="Shape 32"/>
          <p:cNvSpPr/>
          <p:nvPr/>
        </p:nvSpPr>
        <p:spPr>
          <a:xfrm>
            <a:off x="6995160" y="1280160"/>
            <a:ext cx="1691640" cy="2514600"/>
          </a:xfrm>
          <a:prstGeom prst="roundRect">
            <a:avLst>
              <a:gd name="adj" fmla="val 4324"/>
            </a:avLst>
          </a:prstGeom>
          <a:solidFill>
            <a:srgbClr val="FFFFFF"/>
          </a:solidFill>
          <a:ln w="12700">
            <a:solidFill>
              <a:srgbClr val="D49A00"/>
            </a:solidFill>
            <a:prstDash val="solid"/>
          </a:ln>
        </p:spPr>
      </p:sp>
      <p:sp>
        <p:nvSpPr>
          <p:cNvPr id="38" name="Shape 33"/>
          <p:cNvSpPr/>
          <p:nvPr/>
        </p:nvSpPr>
        <p:spPr>
          <a:xfrm>
            <a:off x="7566660" y="1389888"/>
            <a:ext cx="548640" cy="548640"/>
          </a:xfrm>
          <a:prstGeom prst="ellipse">
            <a:avLst/>
          </a:prstGeom>
          <a:solidFill>
            <a:srgbClr val="D49A00"/>
          </a:solidFill>
          <a:ln/>
        </p:spPr>
      </p:sp>
      <p:sp>
        <p:nvSpPr>
          <p:cNvPr id="39" name="Text 34"/>
          <p:cNvSpPr txBox="1"/>
          <p:nvPr/>
        </p:nvSpPr>
        <p:spPr>
          <a:xfrm>
            <a:off x="7566660" y="1389888"/>
            <a:ext cx="548640" cy="548640"/>
          </a:xfrm>
          <a:prstGeom prst="rect">
            <a:avLst/>
          </a:prstGeom>
          <a:noFill/>
          <a:ln/>
        </p:spPr>
        <p:txBody>
          <a:bodyPr wrap="square" lIns="0" tIns="0" rIns="0" bIns="0" rtlCol="0" anchor="ctr"/>
          <a:lstStyle/>
          <a:p>
            <a:pPr marL="0" indent="0" algn="ctr">
              <a:buNone/>
            </a:pPr>
            <a:r>
              <a:rPr lang="fr-FR" altLang="en-US" sz="2400" b="1" dirty="0">
                <a:solidFill>
                  <a:srgbClr val="FFFFFF"/>
                </a:solidFill>
                <a:latin typeface="Calibri" pitchFamily="34" charset="0"/>
                <a:ea typeface="Calibri" pitchFamily="34" charset="-122"/>
                <a:cs typeface="Calibri" pitchFamily="34" charset="-120"/>
              </a:rPr>
              <a:t>K</a:t>
            </a:r>
            <a:endParaRPr lang="fr-FR" sz="2400" dirty="0"/>
          </a:p>
        </p:txBody>
      </p:sp>
      <p:sp>
        <p:nvSpPr>
          <p:cNvPr id="40" name="Text 35"/>
          <p:cNvSpPr txBox="1"/>
          <p:nvPr/>
        </p:nvSpPr>
        <p:spPr>
          <a:xfrm>
            <a:off x="7086600" y="2011680"/>
            <a:ext cx="1508760" cy="256032"/>
          </a:xfrm>
          <a:prstGeom prst="rect">
            <a:avLst/>
          </a:prstGeom>
          <a:noFill/>
          <a:ln/>
        </p:spPr>
        <p:txBody>
          <a:bodyPr wrap="square" lIns="0" tIns="0" rIns="0" bIns="0" rtlCol="0" anchor="t"/>
          <a:lstStyle/>
          <a:p>
            <a:pPr marL="0" indent="0" algn="ctr">
              <a:buNone/>
            </a:pPr>
            <a:r>
              <a:rPr lang="fr-FR" altLang="en-US" sz="1350" b="1" dirty="0">
                <a:solidFill>
                  <a:srgbClr val="231F20"/>
                </a:solidFill>
                <a:latin typeface="Calibri" pitchFamily="34" charset="0"/>
                <a:ea typeface="Calibri" pitchFamily="34" charset="-122"/>
                <a:cs typeface="Calibri" pitchFamily="34" charset="-120"/>
              </a:rPr>
              <a:t>Kibana</a:t>
            </a:r>
            <a:endParaRPr lang="fr-FR" sz="1350" dirty="0"/>
          </a:p>
        </p:txBody>
      </p:sp>
      <p:sp>
        <p:nvSpPr>
          <p:cNvPr id="41" name="Text 36"/>
          <p:cNvSpPr txBox="1"/>
          <p:nvPr/>
        </p:nvSpPr>
        <p:spPr>
          <a:xfrm>
            <a:off x="7086600" y="2267712"/>
            <a:ext cx="1508760" cy="201168"/>
          </a:xfrm>
          <a:prstGeom prst="rect">
            <a:avLst/>
          </a:prstGeom>
          <a:noFill/>
          <a:ln/>
        </p:spPr>
        <p:txBody>
          <a:bodyPr wrap="square" lIns="0" tIns="0" rIns="0" bIns="0" rtlCol="0" anchor="t"/>
          <a:lstStyle/>
          <a:p>
            <a:pPr marL="0" indent="0" algn="ctr">
              <a:buNone/>
            </a:pPr>
            <a:r>
              <a:rPr lang="fr-FR" altLang="en-US" sz="950" i="1" dirty="0">
                <a:solidFill>
                  <a:srgbClr val="5E6964"/>
                </a:solidFill>
                <a:latin typeface="Calibri" pitchFamily="34" charset="0"/>
                <a:ea typeface="Calibri" pitchFamily="34" charset="-122"/>
                <a:cs typeface="Calibri" pitchFamily="34" charset="-120"/>
              </a:rPr>
              <a:t>explorer et visualiser</a:t>
            </a:r>
            <a:endParaRPr lang="fr-FR" sz="950" dirty="0"/>
          </a:p>
        </p:txBody>
      </p:sp>
      <p:sp>
        <p:nvSpPr>
          <p:cNvPr id="42" name="Text 37"/>
          <p:cNvSpPr txBox="1"/>
          <p:nvPr/>
        </p:nvSpPr>
        <p:spPr>
          <a:xfrm>
            <a:off x="713232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Discover</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Lens et Maps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Dashboards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Console Dev Tools</a:t>
            </a:r>
            <a:endParaRPr lang="fr-FR" sz="1000" dirty="0"/>
          </a:p>
        </p:txBody>
      </p:sp>
      <p:sp>
        <p:nvSpPr>
          <p:cNvPr id="43" name="Shape 38"/>
          <p:cNvSpPr/>
          <p:nvPr/>
        </p:nvSpPr>
        <p:spPr>
          <a:xfrm>
            <a:off x="457200" y="3977640"/>
            <a:ext cx="8229600" cy="594360"/>
          </a:xfrm>
          <a:prstGeom prst="roundRect">
            <a:avLst>
              <a:gd name="adj" fmla="val 12308"/>
            </a:avLst>
          </a:prstGeom>
          <a:solidFill>
            <a:srgbClr val="F4F7F5"/>
          </a:solidFill>
          <a:ln w="9525">
            <a:solidFill>
              <a:srgbClr val="D5DED9"/>
            </a:solidFill>
            <a:prstDash val="solid"/>
          </a:ln>
        </p:spPr>
      </p:sp>
      <p:sp>
        <p:nvSpPr>
          <p:cNvPr id="44" name="Shape 39"/>
          <p:cNvSpPr/>
          <p:nvPr/>
        </p:nvSpPr>
        <p:spPr>
          <a:xfrm>
            <a:off x="585216" y="4069080"/>
            <a:ext cx="402336" cy="402336"/>
          </a:xfrm>
          <a:prstGeom prst="ellipse">
            <a:avLst/>
          </a:prstGeom>
          <a:solidFill>
            <a:srgbClr val="D49A00">
              <a:alpha val="22000"/>
            </a:srgbClr>
          </a:solidFill>
          <a:ln/>
        </p:spPr>
      </p:sp>
      <p:pic>
        <p:nvPicPr>
          <p:cNvPr id="45" name="Image 2" descr="preencoded.png"/>
          <p:cNvPicPr>
            <a:picLocks noChangeAspect="1"/>
          </p:cNvPicPr>
          <p:nvPr/>
        </p:nvPicPr>
        <p:blipFill>
          <a:blip r:embed="rId5"/>
          <a:stretch>
            <a:fillRect/>
          </a:stretch>
        </p:blipFill>
        <p:spPr>
          <a:xfrm>
            <a:off x="689823" y="4173687"/>
            <a:ext cx="193121" cy="193121"/>
          </a:xfrm>
          <a:prstGeom prst="rect">
            <a:avLst/>
          </a:prstGeom>
        </p:spPr>
      </p:pic>
      <p:sp>
        <p:nvSpPr>
          <p:cNvPr id="46" name="Text 40"/>
          <p:cNvSpPr txBox="1"/>
          <p:nvPr/>
        </p:nvSpPr>
        <p:spPr>
          <a:xfrm>
            <a:off x="1143000" y="4005072"/>
            <a:ext cx="7406640" cy="530352"/>
          </a:xfrm>
          <a:prstGeom prst="rect">
            <a:avLst/>
          </a:prstGeom>
          <a:noFill/>
          <a:ln/>
        </p:spPr>
        <p:txBody>
          <a:bodyPr wrap="square" lIns="0" tIns="0" rIns="0" bIns="0" rtlCol="0" anchor="ctr"/>
          <a:lstStyle/>
          <a:p>
            <a:pPr marL="0" indent="0">
              <a:buNone/>
            </a:pPr>
            <a:r>
              <a:rPr lang="fr-FR" altLang="en-US" sz="1050" b="1" dirty="0">
                <a:solidFill>
                  <a:srgbClr val="231F20"/>
                </a:solidFill>
                <a:latin typeface="Calibri" pitchFamily="34" charset="0"/>
                <a:ea typeface="Calibri" pitchFamily="34" charset="-122"/>
                <a:cs typeface="Calibri" pitchFamily="34" charset="-120"/>
              </a:rPr>
              <a:t>De « ELK » à « Elastic Stack ». </a:t>
            </a:r>
            <a:r>
              <a:rPr lang="fr-FR" altLang="en-US" sz="1050" dirty="0">
                <a:solidFill>
                  <a:srgbClr val="231F20"/>
                </a:solidFill>
                <a:latin typeface="Calibri" pitchFamily="34" charset="0"/>
                <a:ea typeface="Calibri" pitchFamily="34" charset="-122"/>
                <a:cs typeface="Calibri" pitchFamily="34" charset="-120"/>
              </a:rPr>
              <a:t>Beats (agents légers d’envoi de données) a rejoint E, L et K, et Elastic a renommé la famille. On dit encore « ELK » : les deux noms désignent la même suite.</a:t>
            </a:r>
            <a:endParaRPr lang="fr-FR" sz="10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L’idée clé : l’index inversé</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11</a:t>
            </a:r>
            <a:endParaRPr lang="fr-FR" sz="850" dirty="0"/>
          </a:p>
        </p:txBody>
      </p:sp>
      <p:sp>
        <p:nvSpPr>
          <p:cNvPr id="16" name="Text 12"/>
          <p:cNvSpPr txBox="1"/>
          <p:nvPr/>
        </p:nvSpPr>
        <p:spPr>
          <a:xfrm>
            <a:off x="457200" y="1261872"/>
            <a:ext cx="256032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DOCUMENTS</a:t>
            </a:r>
            <a:endParaRPr lang="fr-FR" sz="900" dirty="0"/>
          </a:p>
        </p:txBody>
      </p:sp>
      <p:sp>
        <p:nvSpPr>
          <p:cNvPr id="17" name="Shape 13"/>
          <p:cNvSpPr/>
          <p:nvPr/>
        </p:nvSpPr>
        <p:spPr>
          <a:xfrm>
            <a:off x="457200" y="1517904"/>
            <a:ext cx="2468880" cy="530352"/>
          </a:xfrm>
          <a:prstGeom prst="roundRect">
            <a:avLst>
              <a:gd name="adj" fmla="val 13793"/>
            </a:avLst>
          </a:prstGeom>
          <a:solidFill>
            <a:srgbClr val="F4F7F5"/>
          </a:solidFill>
          <a:ln w="9525">
            <a:solidFill>
              <a:srgbClr val="D5DED9"/>
            </a:solidFill>
            <a:prstDash val="solid"/>
          </a:ln>
        </p:spPr>
      </p:sp>
      <p:sp>
        <p:nvSpPr>
          <p:cNvPr id="18" name="Shape 14"/>
          <p:cNvSpPr/>
          <p:nvPr/>
        </p:nvSpPr>
        <p:spPr>
          <a:xfrm>
            <a:off x="566928" y="1618488"/>
            <a:ext cx="329184" cy="329184"/>
          </a:xfrm>
          <a:prstGeom prst="ellipse">
            <a:avLst/>
          </a:prstGeom>
          <a:solidFill>
            <a:srgbClr val="00704A"/>
          </a:solidFill>
          <a:ln/>
        </p:spPr>
      </p:sp>
      <p:sp>
        <p:nvSpPr>
          <p:cNvPr id="19" name="Text 15"/>
          <p:cNvSpPr txBox="1"/>
          <p:nvPr/>
        </p:nvSpPr>
        <p:spPr>
          <a:xfrm>
            <a:off x="566928" y="1618488"/>
            <a:ext cx="329184" cy="329184"/>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D1</a:t>
            </a:r>
            <a:endParaRPr lang="fr-FR" sz="950" dirty="0"/>
          </a:p>
        </p:txBody>
      </p:sp>
      <p:sp>
        <p:nvSpPr>
          <p:cNvPr id="20" name="Text 16"/>
          <p:cNvSpPr txBox="1"/>
          <p:nvPr/>
        </p:nvSpPr>
        <p:spPr>
          <a:xfrm>
            <a:off x="1005840" y="1517904"/>
            <a:ext cx="1874520" cy="530352"/>
          </a:xfrm>
          <a:prstGeom prst="rect">
            <a:avLst/>
          </a:prstGeom>
          <a:noFill/>
          <a:ln/>
        </p:spPr>
        <p:txBody>
          <a:bodyPr wrap="square" lIns="0" tIns="0" rIns="0" bIns="0" rtlCol="0" anchor="ctr"/>
          <a:lstStyle/>
          <a:p>
            <a:pPr marL="0" indent="0">
              <a:buNone/>
            </a:pPr>
            <a:r>
              <a:rPr lang="fr-FR" altLang="en-US" sz="1100" dirty="0">
                <a:solidFill>
                  <a:srgbClr val="231F20"/>
                </a:solidFill>
                <a:latin typeface="Calibri" pitchFamily="34" charset="0"/>
                <a:ea typeface="Calibri" pitchFamily="34" charset="-122"/>
                <a:cs typeface="Calibri" pitchFamily="34" charset="-120"/>
              </a:rPr>
              <a:t>Kigali · urbain · mobile</a:t>
            </a:r>
            <a:endParaRPr lang="fr-FR" sz="1100" dirty="0"/>
          </a:p>
        </p:txBody>
      </p:sp>
      <p:sp>
        <p:nvSpPr>
          <p:cNvPr id="21" name="Shape 17"/>
          <p:cNvSpPr/>
          <p:nvPr/>
        </p:nvSpPr>
        <p:spPr>
          <a:xfrm>
            <a:off x="457200" y="2176272"/>
            <a:ext cx="2468880" cy="530352"/>
          </a:xfrm>
          <a:prstGeom prst="roundRect">
            <a:avLst>
              <a:gd name="adj" fmla="val 13793"/>
            </a:avLst>
          </a:prstGeom>
          <a:solidFill>
            <a:srgbClr val="F4F7F5"/>
          </a:solidFill>
          <a:ln w="9525">
            <a:solidFill>
              <a:srgbClr val="D5DED9"/>
            </a:solidFill>
            <a:prstDash val="solid"/>
          </a:ln>
        </p:spPr>
      </p:sp>
      <p:sp>
        <p:nvSpPr>
          <p:cNvPr id="22" name="Shape 18"/>
          <p:cNvSpPr/>
          <p:nvPr/>
        </p:nvSpPr>
        <p:spPr>
          <a:xfrm>
            <a:off x="566928" y="2276856"/>
            <a:ext cx="329184" cy="329184"/>
          </a:xfrm>
          <a:prstGeom prst="ellipse">
            <a:avLst/>
          </a:prstGeom>
          <a:solidFill>
            <a:srgbClr val="00704A"/>
          </a:solidFill>
          <a:ln/>
        </p:spPr>
      </p:sp>
      <p:sp>
        <p:nvSpPr>
          <p:cNvPr id="23" name="Text 19"/>
          <p:cNvSpPr txBox="1"/>
          <p:nvPr/>
        </p:nvSpPr>
        <p:spPr>
          <a:xfrm>
            <a:off x="566928" y="2276856"/>
            <a:ext cx="329184" cy="329184"/>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D2</a:t>
            </a:r>
            <a:endParaRPr lang="fr-FR" sz="950" dirty="0"/>
          </a:p>
        </p:txBody>
      </p:sp>
      <p:sp>
        <p:nvSpPr>
          <p:cNvPr id="24" name="Text 20"/>
          <p:cNvSpPr txBox="1"/>
          <p:nvPr/>
        </p:nvSpPr>
        <p:spPr>
          <a:xfrm>
            <a:off x="1005840" y="2176272"/>
            <a:ext cx="1874520" cy="530352"/>
          </a:xfrm>
          <a:prstGeom prst="rect">
            <a:avLst/>
          </a:prstGeom>
          <a:noFill/>
          <a:ln/>
        </p:spPr>
        <p:txBody>
          <a:bodyPr wrap="square" lIns="0" tIns="0" rIns="0" bIns="0" rtlCol="0" anchor="ctr"/>
          <a:lstStyle/>
          <a:p>
            <a:pPr marL="0" indent="0">
              <a:buNone/>
            </a:pPr>
            <a:r>
              <a:rPr lang="fr-FR" altLang="en-US" sz="1100" dirty="0">
                <a:solidFill>
                  <a:srgbClr val="231F20"/>
                </a:solidFill>
                <a:latin typeface="Calibri" pitchFamily="34" charset="0"/>
                <a:ea typeface="Calibri" pitchFamily="34" charset="-122"/>
                <a:cs typeface="Calibri" pitchFamily="34" charset="-120"/>
              </a:rPr>
              <a:t>Musanze · rural · fixe</a:t>
            </a:r>
            <a:endParaRPr lang="fr-FR" sz="1100" dirty="0"/>
          </a:p>
        </p:txBody>
      </p:sp>
      <p:sp>
        <p:nvSpPr>
          <p:cNvPr id="25" name="Shape 21"/>
          <p:cNvSpPr/>
          <p:nvPr/>
        </p:nvSpPr>
        <p:spPr>
          <a:xfrm>
            <a:off x="457200" y="2834640"/>
            <a:ext cx="2468880" cy="530352"/>
          </a:xfrm>
          <a:prstGeom prst="roundRect">
            <a:avLst>
              <a:gd name="adj" fmla="val 13793"/>
            </a:avLst>
          </a:prstGeom>
          <a:solidFill>
            <a:srgbClr val="E8F5EF"/>
          </a:solidFill>
          <a:ln w="15875">
            <a:solidFill>
              <a:srgbClr val="00704A"/>
            </a:solidFill>
            <a:prstDash val="solid"/>
          </a:ln>
        </p:spPr>
      </p:sp>
      <p:sp>
        <p:nvSpPr>
          <p:cNvPr id="26" name="Shape 22"/>
          <p:cNvSpPr/>
          <p:nvPr/>
        </p:nvSpPr>
        <p:spPr>
          <a:xfrm>
            <a:off x="566928" y="2935224"/>
            <a:ext cx="329184" cy="329184"/>
          </a:xfrm>
          <a:prstGeom prst="ellipse">
            <a:avLst/>
          </a:prstGeom>
          <a:solidFill>
            <a:srgbClr val="00704A"/>
          </a:solidFill>
          <a:ln/>
        </p:spPr>
      </p:sp>
      <p:sp>
        <p:nvSpPr>
          <p:cNvPr id="27" name="Text 23"/>
          <p:cNvSpPr txBox="1"/>
          <p:nvPr/>
        </p:nvSpPr>
        <p:spPr>
          <a:xfrm>
            <a:off x="566928" y="2935224"/>
            <a:ext cx="329184" cy="329184"/>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D3</a:t>
            </a:r>
            <a:endParaRPr lang="fr-FR" sz="950" dirty="0"/>
          </a:p>
        </p:txBody>
      </p:sp>
      <p:sp>
        <p:nvSpPr>
          <p:cNvPr id="28" name="Text 24"/>
          <p:cNvSpPr txBox="1"/>
          <p:nvPr/>
        </p:nvSpPr>
        <p:spPr>
          <a:xfrm>
            <a:off x="1005840" y="2834640"/>
            <a:ext cx="1874520" cy="530352"/>
          </a:xfrm>
          <a:prstGeom prst="rect">
            <a:avLst/>
          </a:prstGeom>
          <a:noFill/>
          <a:ln/>
        </p:spPr>
        <p:txBody>
          <a:bodyPr wrap="square" lIns="0" tIns="0" rIns="0" bIns="0" rtlCol="0" anchor="ctr"/>
          <a:lstStyle/>
          <a:p>
            <a:pPr marL="0" indent="0">
              <a:buNone/>
            </a:pPr>
            <a:r>
              <a:rPr lang="fr-FR" altLang="en-US" sz="1100" dirty="0">
                <a:solidFill>
                  <a:srgbClr val="231F20"/>
                </a:solidFill>
                <a:latin typeface="Calibri" pitchFamily="34" charset="0"/>
                <a:ea typeface="Calibri" pitchFamily="34" charset="-122"/>
                <a:cs typeface="Calibri" pitchFamily="34" charset="-120"/>
              </a:rPr>
              <a:t>Kigali · rural · mobile</a:t>
            </a:r>
            <a:endParaRPr lang="fr-FR" sz="1100" dirty="0"/>
          </a:p>
        </p:txBody>
      </p:sp>
      <p:sp>
        <p:nvSpPr>
          <p:cNvPr id="29" name="Shape 25"/>
          <p:cNvSpPr/>
          <p:nvPr/>
        </p:nvSpPr>
        <p:spPr>
          <a:xfrm>
            <a:off x="3017520" y="2286000"/>
            <a:ext cx="594360" cy="0"/>
          </a:xfrm>
          <a:prstGeom prst="line">
            <a:avLst/>
          </a:prstGeom>
          <a:noFill/>
          <a:ln w="22225">
            <a:solidFill>
              <a:srgbClr val="00704A"/>
            </a:solidFill>
            <a:prstDash val="solid"/>
            <a:tailEnd type="triangle"/>
          </a:ln>
        </p:spPr>
      </p:sp>
      <p:sp>
        <p:nvSpPr>
          <p:cNvPr id="30" name="Text 26"/>
          <p:cNvSpPr txBox="1"/>
          <p:nvPr/>
        </p:nvSpPr>
        <p:spPr>
          <a:xfrm>
            <a:off x="2926080" y="1828800"/>
            <a:ext cx="777240" cy="384048"/>
          </a:xfrm>
          <a:prstGeom prst="rect">
            <a:avLst/>
          </a:prstGeom>
          <a:noFill/>
          <a:ln/>
        </p:spPr>
        <p:txBody>
          <a:bodyPr wrap="square" lIns="0" tIns="0" rIns="0" bIns="0" rtlCol="0" anchor="t"/>
          <a:lstStyle/>
          <a:p>
            <a:pPr marL="0" indent="0" algn="ctr">
              <a:buNone/>
            </a:pPr>
            <a:r>
              <a:rPr lang="fr-FR" altLang="en-US" sz="900" i="1" dirty="0">
                <a:solidFill>
                  <a:srgbClr val="5E6964"/>
                </a:solidFill>
                <a:latin typeface="Calibri" pitchFamily="34" charset="0"/>
                <a:ea typeface="Calibri" pitchFamily="34" charset="-122"/>
                <a:cs typeface="Calibri" pitchFamily="34" charset="-120"/>
              </a:rPr>
              <a:t>indexer</a:t>
            </a:r>
            <a:endParaRPr lang="fr-FR" sz="900" dirty="0"/>
          </a:p>
          <a:p>
            <a:pPr marL="0" indent="0" algn="ctr">
              <a:buNone/>
            </a:pPr>
            <a:r>
              <a:rPr lang="fr-FR" altLang="en-US" sz="900" i="1" dirty="0">
                <a:solidFill>
                  <a:srgbClr val="5E6964"/>
                </a:solidFill>
                <a:latin typeface="Calibri" pitchFamily="34" charset="0"/>
                <a:ea typeface="Calibri" pitchFamily="34" charset="-122"/>
                <a:cs typeface="Calibri" pitchFamily="34" charset="-120"/>
              </a:rPr>
              <a:t>une fois</a:t>
            </a:r>
            <a:endParaRPr lang="fr-FR" sz="900" dirty="0"/>
          </a:p>
        </p:txBody>
      </p:sp>
      <p:sp>
        <p:nvSpPr>
          <p:cNvPr id="31" name="Text 27"/>
          <p:cNvSpPr txBox="1"/>
          <p:nvPr/>
        </p:nvSpPr>
        <p:spPr>
          <a:xfrm>
            <a:off x="3749040" y="1261872"/>
            <a:ext cx="246888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TERME  →  DOCUMENTS</a:t>
            </a:r>
            <a:endParaRPr lang="fr-FR" sz="900" dirty="0"/>
          </a:p>
        </p:txBody>
      </p:sp>
      <p:sp>
        <p:nvSpPr>
          <p:cNvPr id="32" name="Shape 28"/>
          <p:cNvSpPr/>
          <p:nvPr/>
        </p:nvSpPr>
        <p:spPr>
          <a:xfrm>
            <a:off x="3749040" y="1517904"/>
            <a:ext cx="2377440" cy="283464"/>
          </a:xfrm>
          <a:prstGeom prst="roundRect">
            <a:avLst>
              <a:gd name="adj" fmla="val 16129"/>
            </a:avLst>
          </a:prstGeom>
          <a:solidFill>
            <a:srgbClr val="E8F5EF"/>
          </a:solidFill>
          <a:ln w="12700">
            <a:solidFill>
              <a:srgbClr val="00A86A"/>
            </a:solidFill>
            <a:prstDash val="solid"/>
          </a:ln>
        </p:spPr>
      </p:sp>
      <p:sp>
        <p:nvSpPr>
          <p:cNvPr id="33" name="Text 29"/>
          <p:cNvSpPr txBox="1"/>
          <p:nvPr/>
        </p:nvSpPr>
        <p:spPr>
          <a:xfrm>
            <a:off x="3858768" y="1517904"/>
            <a:ext cx="1097280" cy="283464"/>
          </a:xfrm>
          <a:prstGeom prst="rect">
            <a:avLst/>
          </a:prstGeom>
          <a:noFill/>
          <a:ln/>
        </p:spPr>
        <p:txBody>
          <a:bodyPr wrap="square" lIns="0" tIns="0" rIns="0" bIns="0" rtlCol="0" anchor="ctr"/>
          <a:lstStyle/>
          <a:p>
            <a:pPr marL="0" indent="0">
              <a:buNone/>
            </a:pPr>
            <a:r>
              <a:rPr lang="fr-FR" altLang="en-US" sz="1000" b="1" dirty="0">
                <a:solidFill>
                  <a:srgbClr val="231F20"/>
                </a:solidFill>
                <a:latin typeface="Courier New" pitchFamily="34" charset="0"/>
                <a:ea typeface="Courier New" pitchFamily="34" charset="-122"/>
                <a:cs typeface="Courier New" pitchFamily="34" charset="-120"/>
              </a:rPr>
              <a:t>kigali</a:t>
            </a:r>
            <a:endParaRPr lang="fr-FR" sz="1000" dirty="0"/>
          </a:p>
        </p:txBody>
      </p:sp>
      <p:sp>
        <p:nvSpPr>
          <p:cNvPr id="34" name="Text 30"/>
          <p:cNvSpPr txBox="1"/>
          <p:nvPr/>
        </p:nvSpPr>
        <p:spPr>
          <a:xfrm>
            <a:off x="5029200" y="1517904"/>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D1, D3</a:t>
            </a:r>
            <a:endParaRPr lang="fr-FR" sz="1050" dirty="0"/>
          </a:p>
        </p:txBody>
      </p:sp>
      <p:sp>
        <p:nvSpPr>
          <p:cNvPr id="35" name="Shape 31"/>
          <p:cNvSpPr/>
          <p:nvPr/>
        </p:nvSpPr>
        <p:spPr>
          <a:xfrm>
            <a:off x="3749040" y="1856232"/>
            <a:ext cx="2377440" cy="283464"/>
          </a:xfrm>
          <a:prstGeom prst="roundRect">
            <a:avLst>
              <a:gd name="adj" fmla="val 16129"/>
            </a:avLst>
          </a:prstGeom>
          <a:solidFill>
            <a:srgbClr val="F4F7F5"/>
          </a:solidFill>
          <a:ln w="6350">
            <a:solidFill>
              <a:srgbClr val="D5DED9"/>
            </a:solidFill>
            <a:prstDash val="solid"/>
          </a:ln>
        </p:spPr>
      </p:sp>
      <p:sp>
        <p:nvSpPr>
          <p:cNvPr id="36" name="Text 32"/>
          <p:cNvSpPr txBox="1"/>
          <p:nvPr/>
        </p:nvSpPr>
        <p:spPr>
          <a:xfrm>
            <a:off x="3858768" y="1856232"/>
            <a:ext cx="1097280" cy="28346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musanze</a:t>
            </a:r>
            <a:endParaRPr lang="fr-FR" sz="1000" dirty="0"/>
          </a:p>
        </p:txBody>
      </p:sp>
      <p:sp>
        <p:nvSpPr>
          <p:cNvPr id="37" name="Text 33"/>
          <p:cNvSpPr txBox="1"/>
          <p:nvPr/>
        </p:nvSpPr>
        <p:spPr>
          <a:xfrm>
            <a:off x="5029200" y="1856232"/>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D2</a:t>
            </a:r>
            <a:endParaRPr lang="fr-FR" sz="1050" dirty="0"/>
          </a:p>
        </p:txBody>
      </p:sp>
      <p:sp>
        <p:nvSpPr>
          <p:cNvPr id="38" name="Shape 34"/>
          <p:cNvSpPr/>
          <p:nvPr/>
        </p:nvSpPr>
        <p:spPr>
          <a:xfrm>
            <a:off x="3749040" y="2194560"/>
            <a:ext cx="2377440" cy="283464"/>
          </a:xfrm>
          <a:prstGeom prst="roundRect">
            <a:avLst>
              <a:gd name="adj" fmla="val 16129"/>
            </a:avLst>
          </a:prstGeom>
          <a:solidFill>
            <a:srgbClr val="F4F7F5"/>
          </a:solidFill>
          <a:ln w="6350">
            <a:solidFill>
              <a:srgbClr val="D5DED9"/>
            </a:solidFill>
            <a:prstDash val="solid"/>
          </a:ln>
        </p:spPr>
      </p:sp>
      <p:sp>
        <p:nvSpPr>
          <p:cNvPr id="39" name="Text 35"/>
          <p:cNvSpPr txBox="1"/>
          <p:nvPr/>
        </p:nvSpPr>
        <p:spPr>
          <a:xfrm>
            <a:off x="3858768" y="2194560"/>
            <a:ext cx="1097280" cy="28346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urbain</a:t>
            </a:r>
            <a:endParaRPr lang="fr-FR" sz="1000" dirty="0"/>
          </a:p>
        </p:txBody>
      </p:sp>
      <p:sp>
        <p:nvSpPr>
          <p:cNvPr id="40" name="Text 36"/>
          <p:cNvSpPr txBox="1"/>
          <p:nvPr/>
        </p:nvSpPr>
        <p:spPr>
          <a:xfrm>
            <a:off x="5029200" y="2194560"/>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D1</a:t>
            </a:r>
            <a:endParaRPr lang="fr-FR" sz="1050" dirty="0"/>
          </a:p>
        </p:txBody>
      </p:sp>
      <p:sp>
        <p:nvSpPr>
          <p:cNvPr id="41" name="Shape 37"/>
          <p:cNvSpPr/>
          <p:nvPr/>
        </p:nvSpPr>
        <p:spPr>
          <a:xfrm>
            <a:off x="3749040" y="2532888"/>
            <a:ext cx="2377440" cy="283464"/>
          </a:xfrm>
          <a:prstGeom prst="roundRect">
            <a:avLst>
              <a:gd name="adj" fmla="val 16129"/>
            </a:avLst>
          </a:prstGeom>
          <a:solidFill>
            <a:srgbClr val="E8F5EF"/>
          </a:solidFill>
          <a:ln w="12700">
            <a:solidFill>
              <a:srgbClr val="00A86A"/>
            </a:solidFill>
            <a:prstDash val="solid"/>
          </a:ln>
        </p:spPr>
      </p:sp>
      <p:sp>
        <p:nvSpPr>
          <p:cNvPr id="42" name="Text 38"/>
          <p:cNvSpPr txBox="1"/>
          <p:nvPr/>
        </p:nvSpPr>
        <p:spPr>
          <a:xfrm>
            <a:off x="3858768" y="2532888"/>
            <a:ext cx="1097280" cy="283464"/>
          </a:xfrm>
          <a:prstGeom prst="rect">
            <a:avLst/>
          </a:prstGeom>
          <a:noFill/>
          <a:ln/>
        </p:spPr>
        <p:txBody>
          <a:bodyPr wrap="square" lIns="0" tIns="0" rIns="0" bIns="0" rtlCol="0" anchor="ctr"/>
          <a:lstStyle/>
          <a:p>
            <a:pPr marL="0" indent="0">
              <a:buNone/>
            </a:pPr>
            <a:r>
              <a:rPr lang="fr-FR" altLang="en-US" sz="1000" b="1" dirty="0">
                <a:solidFill>
                  <a:srgbClr val="231F20"/>
                </a:solidFill>
                <a:latin typeface="Courier New" pitchFamily="34" charset="0"/>
                <a:ea typeface="Courier New" pitchFamily="34" charset="-122"/>
                <a:cs typeface="Courier New" pitchFamily="34" charset="-120"/>
              </a:rPr>
              <a:t>rural</a:t>
            </a:r>
            <a:endParaRPr lang="fr-FR" sz="1000" dirty="0"/>
          </a:p>
        </p:txBody>
      </p:sp>
      <p:sp>
        <p:nvSpPr>
          <p:cNvPr id="43" name="Text 39"/>
          <p:cNvSpPr txBox="1"/>
          <p:nvPr/>
        </p:nvSpPr>
        <p:spPr>
          <a:xfrm>
            <a:off x="5029200" y="2532888"/>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D2, D3</a:t>
            </a:r>
            <a:endParaRPr lang="fr-FR" sz="1050" dirty="0"/>
          </a:p>
        </p:txBody>
      </p:sp>
      <p:sp>
        <p:nvSpPr>
          <p:cNvPr id="44" name="Shape 40"/>
          <p:cNvSpPr/>
          <p:nvPr/>
        </p:nvSpPr>
        <p:spPr>
          <a:xfrm>
            <a:off x="3749040" y="2871216"/>
            <a:ext cx="2377440" cy="283464"/>
          </a:xfrm>
          <a:prstGeom prst="roundRect">
            <a:avLst>
              <a:gd name="adj" fmla="val 16129"/>
            </a:avLst>
          </a:prstGeom>
          <a:solidFill>
            <a:srgbClr val="F4F7F5"/>
          </a:solidFill>
          <a:ln w="6350">
            <a:solidFill>
              <a:srgbClr val="D5DED9"/>
            </a:solidFill>
            <a:prstDash val="solid"/>
          </a:ln>
        </p:spPr>
      </p:sp>
      <p:sp>
        <p:nvSpPr>
          <p:cNvPr id="45" name="Text 41"/>
          <p:cNvSpPr txBox="1"/>
          <p:nvPr/>
        </p:nvSpPr>
        <p:spPr>
          <a:xfrm>
            <a:off x="3858768" y="2871216"/>
            <a:ext cx="1097280" cy="28346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mobile</a:t>
            </a:r>
            <a:endParaRPr lang="fr-FR" sz="1000" dirty="0"/>
          </a:p>
        </p:txBody>
      </p:sp>
      <p:sp>
        <p:nvSpPr>
          <p:cNvPr id="46" name="Text 42"/>
          <p:cNvSpPr txBox="1"/>
          <p:nvPr/>
        </p:nvSpPr>
        <p:spPr>
          <a:xfrm>
            <a:off x="5029200" y="2871216"/>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D1, D3</a:t>
            </a:r>
            <a:endParaRPr lang="fr-FR" sz="1050" dirty="0"/>
          </a:p>
        </p:txBody>
      </p:sp>
      <p:sp>
        <p:nvSpPr>
          <p:cNvPr id="47" name="Shape 43"/>
          <p:cNvSpPr/>
          <p:nvPr/>
        </p:nvSpPr>
        <p:spPr>
          <a:xfrm>
            <a:off x="3749040" y="3209544"/>
            <a:ext cx="2377440" cy="283464"/>
          </a:xfrm>
          <a:prstGeom prst="roundRect">
            <a:avLst>
              <a:gd name="adj" fmla="val 16129"/>
            </a:avLst>
          </a:prstGeom>
          <a:solidFill>
            <a:srgbClr val="F4F7F5"/>
          </a:solidFill>
          <a:ln w="6350">
            <a:solidFill>
              <a:srgbClr val="D5DED9"/>
            </a:solidFill>
            <a:prstDash val="solid"/>
          </a:ln>
        </p:spPr>
      </p:sp>
      <p:sp>
        <p:nvSpPr>
          <p:cNvPr id="48" name="Text 44"/>
          <p:cNvSpPr txBox="1"/>
          <p:nvPr/>
        </p:nvSpPr>
        <p:spPr>
          <a:xfrm>
            <a:off x="3858768" y="3209544"/>
            <a:ext cx="1097280" cy="28346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fixe</a:t>
            </a:r>
            <a:endParaRPr lang="fr-FR" sz="1000" dirty="0"/>
          </a:p>
        </p:txBody>
      </p:sp>
      <p:sp>
        <p:nvSpPr>
          <p:cNvPr id="49" name="Text 45"/>
          <p:cNvSpPr txBox="1"/>
          <p:nvPr/>
        </p:nvSpPr>
        <p:spPr>
          <a:xfrm>
            <a:off x="5029200" y="3209544"/>
            <a:ext cx="1005840" cy="283464"/>
          </a:xfrm>
          <a:prstGeom prst="rect">
            <a:avLst/>
          </a:prstGeom>
          <a:noFill/>
          <a:ln/>
        </p:spPr>
        <p:txBody>
          <a:bodyPr wrap="square" lIns="0" tIns="0" rIns="0" bIns="0" rtlCol="0" anchor="ctr"/>
          <a:lstStyle/>
          <a:p>
            <a:pPr marL="0" indent="0">
              <a:buNone/>
            </a:pPr>
            <a:r>
              <a:rPr lang="fr-FR" altLang="en-US" sz="1050" b="1" dirty="0">
                <a:solidFill>
                  <a:srgbClr val="00704A"/>
                </a:solidFill>
                <a:latin typeface="Calibri" pitchFamily="34" charset="0"/>
                <a:ea typeface="Calibri" pitchFamily="34" charset="-122"/>
                <a:cs typeface="Calibri" pitchFamily="34" charset="-120"/>
              </a:rPr>
              <a:t>D2</a:t>
            </a:r>
            <a:endParaRPr lang="fr-FR" sz="1050" dirty="0"/>
          </a:p>
        </p:txBody>
      </p:sp>
      <p:sp>
        <p:nvSpPr>
          <p:cNvPr id="50" name="Shape 46"/>
          <p:cNvSpPr/>
          <p:nvPr/>
        </p:nvSpPr>
        <p:spPr>
          <a:xfrm>
            <a:off x="6400800" y="1280160"/>
            <a:ext cx="2286000" cy="2249424"/>
          </a:xfrm>
          <a:prstGeom prst="roundRect">
            <a:avLst>
              <a:gd name="adj" fmla="val 3252"/>
            </a:avLst>
          </a:prstGeom>
          <a:solidFill>
            <a:srgbClr val="E8F5EF"/>
          </a:solidFill>
          <a:ln w="15875">
            <a:solidFill>
              <a:srgbClr val="00A86A"/>
            </a:solidFill>
            <a:prstDash val="solid"/>
          </a:ln>
        </p:spPr>
      </p:sp>
      <p:sp>
        <p:nvSpPr>
          <p:cNvPr id="51" name="Text 47"/>
          <p:cNvSpPr txBox="1"/>
          <p:nvPr/>
        </p:nvSpPr>
        <p:spPr>
          <a:xfrm>
            <a:off x="6565392" y="1389888"/>
            <a:ext cx="1920240" cy="182880"/>
          </a:xfrm>
          <a:prstGeom prst="rect">
            <a:avLst/>
          </a:prstGeom>
          <a:noFill/>
          <a:ln/>
        </p:spPr>
        <p:txBody>
          <a:bodyPr wrap="square" lIns="0" tIns="0" rIns="0" bIns="0" rtlCol="0" anchor="t"/>
          <a:lstStyle/>
          <a:p>
            <a:pPr marL="0" indent="0">
              <a:buNone/>
            </a:pPr>
            <a:r>
              <a:rPr lang="fr-FR" altLang="en-US" sz="900" b="1" kern="0" spc="200" dirty="0">
                <a:solidFill>
                  <a:srgbClr val="00704A"/>
                </a:solidFill>
                <a:latin typeface="Calibri" pitchFamily="34" charset="0"/>
                <a:ea typeface="Calibri" pitchFamily="34" charset="-122"/>
                <a:cs typeface="Calibri" pitchFamily="34" charset="-120"/>
              </a:rPr>
              <a:t>REQUÊTE</a:t>
            </a:r>
            <a:endParaRPr lang="fr-FR" sz="900" dirty="0"/>
          </a:p>
        </p:txBody>
      </p:sp>
      <p:sp>
        <p:nvSpPr>
          <p:cNvPr id="52" name="Text 48"/>
          <p:cNvSpPr txBox="1"/>
          <p:nvPr/>
        </p:nvSpPr>
        <p:spPr>
          <a:xfrm>
            <a:off x="6565392" y="1609344"/>
            <a:ext cx="2011680" cy="274320"/>
          </a:xfrm>
          <a:prstGeom prst="rect">
            <a:avLst/>
          </a:prstGeom>
          <a:noFill/>
          <a:ln/>
        </p:spPr>
        <p:txBody>
          <a:bodyPr wrap="square" lIns="0" tIns="0" rIns="0" bIns="0" rtlCol="0" anchor="t"/>
          <a:lstStyle/>
          <a:p>
            <a:pPr marL="0" indent="0">
              <a:buNone/>
            </a:pPr>
            <a:r>
              <a:rPr lang="fr-FR" altLang="en-US" sz="1100" b="1" dirty="0">
                <a:solidFill>
                  <a:srgbClr val="231F20"/>
                </a:solidFill>
                <a:latin typeface="Courier New" pitchFamily="34" charset="0"/>
                <a:ea typeface="Courier New" pitchFamily="34" charset="-122"/>
                <a:cs typeface="Courier New" pitchFamily="34" charset="-120"/>
              </a:rPr>
              <a:t>kigali AND rural</a:t>
            </a:r>
            <a:endParaRPr lang="fr-FR" sz="1100" dirty="0"/>
          </a:p>
        </p:txBody>
      </p:sp>
      <p:sp>
        <p:nvSpPr>
          <p:cNvPr id="53" name="Text 49"/>
          <p:cNvSpPr txBox="1"/>
          <p:nvPr/>
        </p:nvSpPr>
        <p:spPr>
          <a:xfrm>
            <a:off x="6565392" y="1965960"/>
            <a:ext cx="2011680" cy="548640"/>
          </a:xfrm>
          <a:prstGeom prst="rect">
            <a:avLst/>
          </a:prstGeom>
          <a:noFill/>
          <a:ln/>
        </p:spPr>
        <p:txBody>
          <a:bodyPr wrap="square" lIns="0" tIns="0" rIns="0" bIns="0" rtlCol="0" anchor="t"/>
          <a:lstStyle/>
          <a:p>
            <a:pPr marL="0" indent="0">
              <a:buNone/>
            </a:pPr>
            <a:r>
              <a:rPr lang="fr-FR" altLang="en-US" sz="1300" dirty="0">
                <a:solidFill>
                  <a:srgbClr val="231F20"/>
                </a:solidFill>
                <a:latin typeface="Calibri" pitchFamily="34" charset="0"/>
                <a:ea typeface="Calibri" pitchFamily="34" charset="-122"/>
                <a:cs typeface="Calibri" pitchFamily="34" charset="-120"/>
              </a:rPr>
              <a:t>{D1, D3} ∩ {D2, D3}</a:t>
            </a:r>
            <a:endParaRPr lang="fr-FR" sz="1300" dirty="0"/>
          </a:p>
          <a:p>
            <a:pPr marL="0" indent="0">
              <a:buNone/>
            </a:pPr>
            <a:r>
              <a:rPr lang="fr-FR" altLang="en-US" sz="1300" b="1" dirty="0">
                <a:solidFill>
                  <a:srgbClr val="00A86A"/>
                </a:solidFill>
                <a:latin typeface="Calibri" pitchFamily="34" charset="0"/>
                <a:ea typeface="Calibri" pitchFamily="34" charset="-122"/>
                <a:cs typeface="Calibri" pitchFamily="34" charset="-120"/>
              </a:rPr>
              <a:t>= {D3}</a:t>
            </a:r>
            <a:endParaRPr lang="fr-FR" sz="1300" dirty="0"/>
          </a:p>
        </p:txBody>
      </p:sp>
      <p:sp>
        <p:nvSpPr>
          <p:cNvPr id="54" name="Text 50"/>
          <p:cNvSpPr txBox="1"/>
          <p:nvPr/>
        </p:nvSpPr>
        <p:spPr>
          <a:xfrm>
            <a:off x="6565392" y="2606040"/>
            <a:ext cx="2011680" cy="82296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Trouvé sans lire un seul document : on compare seulement deux listes courtes.</a:t>
            </a:r>
            <a:endParaRPr lang="fr-FR" sz="1000" dirty="0"/>
          </a:p>
        </p:txBody>
      </p:sp>
      <p:sp>
        <p:nvSpPr>
          <p:cNvPr id="55" name="Shape 51"/>
          <p:cNvSpPr/>
          <p:nvPr/>
        </p:nvSpPr>
        <p:spPr>
          <a:xfrm>
            <a:off x="457200" y="3749040"/>
            <a:ext cx="8229600" cy="822960"/>
          </a:xfrm>
          <a:prstGeom prst="roundRect">
            <a:avLst>
              <a:gd name="adj" fmla="val 8889"/>
            </a:avLst>
          </a:prstGeom>
          <a:solidFill>
            <a:srgbClr val="F4F7F5"/>
          </a:solidFill>
          <a:ln w="9525">
            <a:solidFill>
              <a:srgbClr val="D5DED9"/>
            </a:solidFill>
            <a:prstDash val="solid"/>
          </a:ln>
        </p:spPr>
      </p:sp>
      <p:sp>
        <p:nvSpPr>
          <p:cNvPr id="56" name="Shape 52"/>
          <p:cNvSpPr/>
          <p:nvPr/>
        </p:nvSpPr>
        <p:spPr>
          <a:xfrm>
            <a:off x="603504" y="3931920"/>
            <a:ext cx="457200" cy="457200"/>
          </a:xfrm>
          <a:prstGeom prst="ellipse">
            <a:avLst/>
          </a:prstGeom>
          <a:solidFill>
            <a:srgbClr val="0E7C86">
              <a:alpha val="22000"/>
            </a:srgbClr>
          </a:solidFill>
          <a:ln/>
        </p:spPr>
      </p:sp>
      <p:pic>
        <p:nvPicPr>
          <p:cNvPr id="57" name="Image 1" descr="preencoded.png"/>
          <p:cNvPicPr>
            <a:picLocks noChangeAspect="1"/>
          </p:cNvPicPr>
          <p:nvPr/>
        </p:nvPicPr>
        <p:blipFill>
          <a:blip r:embed="rId4"/>
          <a:stretch>
            <a:fillRect/>
          </a:stretch>
        </p:blipFill>
        <p:spPr>
          <a:xfrm>
            <a:off x="722376" y="4050792"/>
            <a:ext cx="219456" cy="219456"/>
          </a:xfrm>
          <a:prstGeom prst="rect">
            <a:avLst/>
          </a:prstGeom>
        </p:spPr>
      </p:pic>
      <p:sp>
        <p:nvSpPr>
          <p:cNvPr id="58" name="Text 53"/>
          <p:cNvSpPr txBox="1"/>
          <p:nvPr/>
        </p:nvSpPr>
        <p:spPr>
          <a:xfrm>
            <a:off x="1207008" y="3785616"/>
            <a:ext cx="7360920" cy="749808"/>
          </a:xfrm>
          <a:prstGeom prst="rect">
            <a:avLst/>
          </a:prstGeom>
          <a:noFill/>
          <a:ln/>
        </p:spPr>
        <p:txBody>
          <a:bodyPr wrap="square" lIns="0" tIns="0" rIns="0" bIns="0" rtlCol="0" anchor="ctr"/>
          <a:lstStyle/>
          <a:p>
            <a:pPr marL="0" indent="0">
              <a:buNone/>
            </a:pPr>
            <a:r>
              <a:rPr lang="fr-FR" altLang="en-US" sz="1050" b="1" dirty="0">
                <a:solidFill>
                  <a:srgbClr val="231F20"/>
                </a:solidFill>
                <a:latin typeface="Calibri" pitchFamily="34" charset="0"/>
                <a:ea typeface="Calibri" pitchFamily="34" charset="-122"/>
                <a:cs typeface="Calibri" pitchFamily="34" charset="-120"/>
              </a:rPr>
              <a:t>Pensez à l’index en fin d’annuaire statistique : </a:t>
            </a:r>
            <a:r>
              <a:rPr lang="fr-FR" altLang="en-US" sz="1050" dirty="0">
                <a:solidFill>
                  <a:srgbClr val="231F20"/>
                </a:solidFill>
                <a:latin typeface="Calibri" pitchFamily="34" charset="0"/>
                <a:ea typeface="Calibri" pitchFamily="34" charset="-122"/>
                <a:cs typeface="Calibri" pitchFamily="34" charset="-120"/>
              </a:rPr>
              <a:t>on cherche le terme et on va droit aux pages. Nombres et coordonnées utilisent une structure voisine (arbres BKD) pour les intervalles et la géographie. La contrepartie : l’indexation coûte du temps, du disque et de la mémoire au départ, pour des requêtes rapides ensuite.</a:t>
            </a:r>
            <a:endParaRPr lang="fr-FR" sz="10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Parler Elasticsearch : lexique depuis pandas et SQL</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12</a:t>
            </a:r>
            <a:endParaRPr lang="fr-FR" sz="850" dirty="0"/>
          </a:p>
        </p:txBody>
      </p:sp>
      <p:sp>
        <p:nvSpPr>
          <p:cNvPr id="16" name="Text 12"/>
          <p:cNvSpPr txBox="1"/>
          <p:nvPr/>
        </p:nvSpPr>
        <p:spPr>
          <a:xfrm>
            <a:off x="594360" y="1261872"/>
            <a:ext cx="2240280" cy="201168"/>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EN PANDAS / SQL</a:t>
            </a:r>
            <a:endParaRPr lang="fr-FR" sz="900" dirty="0"/>
          </a:p>
        </p:txBody>
      </p:sp>
      <p:sp>
        <p:nvSpPr>
          <p:cNvPr id="17" name="Text 13"/>
          <p:cNvSpPr txBox="1"/>
          <p:nvPr/>
        </p:nvSpPr>
        <p:spPr>
          <a:xfrm>
            <a:off x="3200400" y="1261872"/>
            <a:ext cx="1828800" cy="201168"/>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EN ELASTICSEARCH</a:t>
            </a:r>
            <a:endParaRPr lang="fr-FR" sz="900" dirty="0"/>
          </a:p>
        </p:txBody>
      </p:sp>
      <p:sp>
        <p:nvSpPr>
          <p:cNvPr id="18" name="Text 14"/>
          <p:cNvSpPr txBox="1"/>
          <p:nvPr/>
        </p:nvSpPr>
        <p:spPr>
          <a:xfrm>
            <a:off x="5257800" y="1261872"/>
            <a:ext cx="3566160" cy="201168"/>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CE QUE CELA SIGNIFIE</a:t>
            </a:r>
            <a:endParaRPr lang="fr-FR" sz="900" dirty="0"/>
          </a:p>
        </p:txBody>
      </p:sp>
      <p:sp>
        <p:nvSpPr>
          <p:cNvPr id="19" name="Shape 15"/>
          <p:cNvSpPr/>
          <p:nvPr/>
        </p:nvSpPr>
        <p:spPr>
          <a:xfrm>
            <a:off x="457200" y="1536192"/>
            <a:ext cx="8229600" cy="420624"/>
          </a:xfrm>
          <a:prstGeom prst="roundRect">
            <a:avLst>
              <a:gd name="adj" fmla="val 17391"/>
            </a:avLst>
          </a:prstGeom>
          <a:solidFill>
            <a:srgbClr val="F4F7F5"/>
          </a:solidFill>
          <a:ln w="9525">
            <a:solidFill>
              <a:srgbClr val="D5DED9"/>
            </a:solidFill>
            <a:prstDash val="solid"/>
          </a:ln>
        </p:spPr>
      </p:sp>
      <p:sp>
        <p:nvSpPr>
          <p:cNvPr id="20" name="Text 16"/>
          <p:cNvSpPr txBox="1"/>
          <p:nvPr/>
        </p:nvSpPr>
        <p:spPr>
          <a:xfrm>
            <a:off x="594360" y="1536192"/>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DataFrame / table</a:t>
            </a:r>
            <a:endParaRPr lang="fr-FR" sz="1000" dirty="0"/>
          </a:p>
        </p:txBody>
      </p:sp>
      <p:sp>
        <p:nvSpPr>
          <p:cNvPr id="21" name="Shape 17"/>
          <p:cNvSpPr/>
          <p:nvPr/>
        </p:nvSpPr>
        <p:spPr>
          <a:xfrm>
            <a:off x="2697480" y="1746504"/>
            <a:ext cx="320040" cy="0"/>
          </a:xfrm>
          <a:prstGeom prst="line">
            <a:avLst/>
          </a:prstGeom>
          <a:noFill/>
          <a:ln w="15875">
            <a:solidFill>
              <a:srgbClr val="00A86A"/>
            </a:solidFill>
            <a:prstDash val="solid"/>
            <a:tailEnd type="triangle"/>
          </a:ln>
        </p:spPr>
      </p:sp>
      <p:sp>
        <p:nvSpPr>
          <p:cNvPr id="22" name="Text 18"/>
          <p:cNvSpPr txBox="1"/>
          <p:nvPr/>
        </p:nvSpPr>
        <p:spPr>
          <a:xfrm>
            <a:off x="3200400" y="1536192"/>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Index</a:t>
            </a:r>
            <a:endParaRPr lang="fr-FR" sz="1300" dirty="0"/>
          </a:p>
        </p:txBody>
      </p:sp>
      <p:sp>
        <p:nvSpPr>
          <p:cNvPr id="23" name="Text 19"/>
          <p:cNvSpPr txBox="1"/>
          <p:nvPr/>
        </p:nvSpPr>
        <p:spPr>
          <a:xfrm>
            <a:off x="5257800" y="1536192"/>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Une collection nommée, ex. ookla-tiles</a:t>
            </a:r>
            <a:endParaRPr lang="fr-FR" sz="1050" dirty="0"/>
          </a:p>
        </p:txBody>
      </p:sp>
      <p:sp>
        <p:nvSpPr>
          <p:cNvPr id="24" name="Shape 20"/>
          <p:cNvSpPr/>
          <p:nvPr/>
        </p:nvSpPr>
        <p:spPr>
          <a:xfrm>
            <a:off x="457200" y="2029968"/>
            <a:ext cx="8229600" cy="420624"/>
          </a:xfrm>
          <a:prstGeom prst="roundRect">
            <a:avLst>
              <a:gd name="adj" fmla="val 17391"/>
            </a:avLst>
          </a:prstGeom>
          <a:solidFill>
            <a:srgbClr val="FFFFFF"/>
          </a:solidFill>
          <a:ln w="9525">
            <a:solidFill>
              <a:srgbClr val="D5DED9"/>
            </a:solidFill>
            <a:prstDash val="solid"/>
          </a:ln>
        </p:spPr>
      </p:sp>
      <p:sp>
        <p:nvSpPr>
          <p:cNvPr id="25" name="Text 21"/>
          <p:cNvSpPr txBox="1"/>
          <p:nvPr/>
        </p:nvSpPr>
        <p:spPr>
          <a:xfrm>
            <a:off x="594360" y="2029968"/>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Ligne</a:t>
            </a:r>
            <a:endParaRPr lang="fr-FR" sz="1000" dirty="0"/>
          </a:p>
        </p:txBody>
      </p:sp>
      <p:sp>
        <p:nvSpPr>
          <p:cNvPr id="26" name="Shape 22"/>
          <p:cNvSpPr/>
          <p:nvPr/>
        </p:nvSpPr>
        <p:spPr>
          <a:xfrm>
            <a:off x="2697480" y="2240280"/>
            <a:ext cx="320040" cy="0"/>
          </a:xfrm>
          <a:prstGeom prst="line">
            <a:avLst/>
          </a:prstGeom>
          <a:noFill/>
          <a:ln w="15875">
            <a:solidFill>
              <a:srgbClr val="00A86A"/>
            </a:solidFill>
            <a:prstDash val="solid"/>
            <a:tailEnd type="triangle"/>
          </a:ln>
        </p:spPr>
      </p:sp>
      <p:sp>
        <p:nvSpPr>
          <p:cNvPr id="27" name="Text 23"/>
          <p:cNvSpPr txBox="1"/>
          <p:nvPr/>
        </p:nvSpPr>
        <p:spPr>
          <a:xfrm>
            <a:off x="3200400" y="2029968"/>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Document</a:t>
            </a:r>
            <a:endParaRPr lang="fr-FR" sz="1300" dirty="0"/>
          </a:p>
        </p:txBody>
      </p:sp>
      <p:sp>
        <p:nvSpPr>
          <p:cNvPr id="28" name="Text 24"/>
          <p:cNvSpPr txBox="1"/>
          <p:nvPr/>
        </p:nvSpPr>
        <p:spPr>
          <a:xfrm>
            <a:off x="5257800" y="2029968"/>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Une tuile par trimestre, en JSON avec un _id unique</a:t>
            </a:r>
            <a:endParaRPr lang="fr-FR" sz="1050" dirty="0"/>
          </a:p>
        </p:txBody>
      </p:sp>
      <p:sp>
        <p:nvSpPr>
          <p:cNvPr id="29" name="Shape 25"/>
          <p:cNvSpPr/>
          <p:nvPr/>
        </p:nvSpPr>
        <p:spPr>
          <a:xfrm>
            <a:off x="457200" y="2523744"/>
            <a:ext cx="8229600" cy="420624"/>
          </a:xfrm>
          <a:prstGeom prst="roundRect">
            <a:avLst>
              <a:gd name="adj" fmla="val 17391"/>
            </a:avLst>
          </a:prstGeom>
          <a:solidFill>
            <a:srgbClr val="F4F7F5"/>
          </a:solidFill>
          <a:ln w="9525">
            <a:solidFill>
              <a:srgbClr val="D5DED9"/>
            </a:solidFill>
            <a:prstDash val="solid"/>
          </a:ln>
        </p:spPr>
      </p:sp>
      <p:sp>
        <p:nvSpPr>
          <p:cNvPr id="30" name="Text 26"/>
          <p:cNvSpPr txBox="1"/>
          <p:nvPr/>
        </p:nvSpPr>
        <p:spPr>
          <a:xfrm>
            <a:off x="594360" y="2523744"/>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Colonne</a:t>
            </a:r>
            <a:endParaRPr lang="fr-FR" sz="1000" dirty="0"/>
          </a:p>
        </p:txBody>
      </p:sp>
      <p:sp>
        <p:nvSpPr>
          <p:cNvPr id="31" name="Shape 27"/>
          <p:cNvSpPr/>
          <p:nvPr/>
        </p:nvSpPr>
        <p:spPr>
          <a:xfrm>
            <a:off x="2697480" y="2734056"/>
            <a:ext cx="320040" cy="0"/>
          </a:xfrm>
          <a:prstGeom prst="line">
            <a:avLst/>
          </a:prstGeom>
          <a:noFill/>
          <a:ln w="15875">
            <a:solidFill>
              <a:srgbClr val="00A86A"/>
            </a:solidFill>
            <a:prstDash val="solid"/>
            <a:tailEnd type="triangle"/>
          </a:ln>
        </p:spPr>
      </p:sp>
      <p:sp>
        <p:nvSpPr>
          <p:cNvPr id="32" name="Text 28"/>
          <p:cNvSpPr txBox="1"/>
          <p:nvPr/>
        </p:nvSpPr>
        <p:spPr>
          <a:xfrm>
            <a:off x="3200400" y="2523744"/>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Champ</a:t>
            </a:r>
            <a:endParaRPr lang="fr-FR" sz="1300" dirty="0"/>
          </a:p>
        </p:txBody>
      </p:sp>
      <p:sp>
        <p:nvSpPr>
          <p:cNvPr id="33" name="Text 29"/>
          <p:cNvSpPr txBox="1"/>
          <p:nvPr/>
        </p:nvSpPr>
        <p:spPr>
          <a:xfrm>
            <a:off x="5257800" y="2523744"/>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quadkey, avg_d_kbps, tile… chacun est indexé</a:t>
            </a:r>
            <a:endParaRPr lang="fr-FR" sz="1050" dirty="0"/>
          </a:p>
        </p:txBody>
      </p:sp>
      <p:sp>
        <p:nvSpPr>
          <p:cNvPr id="34" name="Shape 30"/>
          <p:cNvSpPr/>
          <p:nvPr/>
        </p:nvSpPr>
        <p:spPr>
          <a:xfrm>
            <a:off x="457200" y="3017520"/>
            <a:ext cx="8229600" cy="420624"/>
          </a:xfrm>
          <a:prstGeom prst="roundRect">
            <a:avLst>
              <a:gd name="adj" fmla="val 17391"/>
            </a:avLst>
          </a:prstGeom>
          <a:solidFill>
            <a:srgbClr val="FFFFFF"/>
          </a:solidFill>
          <a:ln w="9525">
            <a:solidFill>
              <a:srgbClr val="D5DED9"/>
            </a:solidFill>
            <a:prstDash val="solid"/>
          </a:ln>
        </p:spPr>
      </p:sp>
      <p:sp>
        <p:nvSpPr>
          <p:cNvPr id="35" name="Text 31"/>
          <p:cNvSpPr txBox="1"/>
          <p:nvPr/>
        </p:nvSpPr>
        <p:spPr>
          <a:xfrm>
            <a:off x="594360" y="3017520"/>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dtypes / schéma</a:t>
            </a:r>
            <a:endParaRPr lang="fr-FR" sz="1000" dirty="0"/>
          </a:p>
        </p:txBody>
      </p:sp>
      <p:sp>
        <p:nvSpPr>
          <p:cNvPr id="36" name="Shape 32"/>
          <p:cNvSpPr/>
          <p:nvPr/>
        </p:nvSpPr>
        <p:spPr>
          <a:xfrm>
            <a:off x="2697480" y="3227832"/>
            <a:ext cx="320040" cy="0"/>
          </a:xfrm>
          <a:prstGeom prst="line">
            <a:avLst/>
          </a:prstGeom>
          <a:noFill/>
          <a:ln w="15875">
            <a:solidFill>
              <a:srgbClr val="00A86A"/>
            </a:solidFill>
            <a:prstDash val="solid"/>
            <a:tailEnd type="triangle"/>
          </a:ln>
        </p:spPr>
      </p:sp>
      <p:sp>
        <p:nvSpPr>
          <p:cNvPr id="37" name="Text 33"/>
          <p:cNvSpPr txBox="1"/>
          <p:nvPr/>
        </p:nvSpPr>
        <p:spPr>
          <a:xfrm>
            <a:off x="3200400" y="3017520"/>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Mapping</a:t>
            </a:r>
            <a:endParaRPr lang="fr-FR" sz="1300" dirty="0"/>
          </a:p>
        </p:txBody>
      </p:sp>
      <p:sp>
        <p:nvSpPr>
          <p:cNvPr id="38" name="Text 34"/>
          <p:cNvSpPr txBox="1"/>
          <p:nvPr/>
        </p:nvSpPr>
        <p:spPr>
          <a:xfrm>
            <a:off x="5257800" y="3017520"/>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Types déclarés ; en changer impose de réindexer</a:t>
            </a:r>
            <a:endParaRPr lang="fr-FR" sz="1050" dirty="0"/>
          </a:p>
        </p:txBody>
      </p:sp>
      <p:sp>
        <p:nvSpPr>
          <p:cNvPr id="39" name="Shape 35"/>
          <p:cNvSpPr/>
          <p:nvPr/>
        </p:nvSpPr>
        <p:spPr>
          <a:xfrm>
            <a:off x="457200" y="3511296"/>
            <a:ext cx="8229600" cy="420624"/>
          </a:xfrm>
          <a:prstGeom prst="roundRect">
            <a:avLst>
              <a:gd name="adj" fmla="val 17391"/>
            </a:avLst>
          </a:prstGeom>
          <a:solidFill>
            <a:srgbClr val="F4F7F5"/>
          </a:solidFill>
          <a:ln w="9525">
            <a:solidFill>
              <a:srgbClr val="D5DED9"/>
            </a:solidFill>
            <a:prstDash val="solid"/>
          </a:ln>
        </p:spPr>
      </p:sp>
      <p:sp>
        <p:nvSpPr>
          <p:cNvPr id="40" name="Text 36"/>
          <p:cNvSpPr txBox="1"/>
          <p:nvPr/>
        </p:nvSpPr>
        <p:spPr>
          <a:xfrm>
            <a:off x="594360" y="3511296"/>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df[filtre] / WHERE</a:t>
            </a:r>
            <a:endParaRPr lang="fr-FR" sz="1000" dirty="0"/>
          </a:p>
        </p:txBody>
      </p:sp>
      <p:sp>
        <p:nvSpPr>
          <p:cNvPr id="41" name="Shape 37"/>
          <p:cNvSpPr/>
          <p:nvPr/>
        </p:nvSpPr>
        <p:spPr>
          <a:xfrm>
            <a:off x="2697480" y="3721608"/>
            <a:ext cx="320040" cy="0"/>
          </a:xfrm>
          <a:prstGeom prst="line">
            <a:avLst/>
          </a:prstGeom>
          <a:noFill/>
          <a:ln w="15875">
            <a:solidFill>
              <a:srgbClr val="00A86A"/>
            </a:solidFill>
            <a:prstDash val="solid"/>
            <a:tailEnd type="triangle"/>
          </a:ln>
        </p:spPr>
      </p:sp>
      <p:sp>
        <p:nvSpPr>
          <p:cNvPr id="42" name="Text 38"/>
          <p:cNvSpPr txBox="1"/>
          <p:nvPr/>
        </p:nvSpPr>
        <p:spPr>
          <a:xfrm>
            <a:off x="3200400" y="3511296"/>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Requête</a:t>
            </a:r>
            <a:endParaRPr lang="fr-FR" sz="1300" dirty="0"/>
          </a:p>
        </p:txBody>
      </p:sp>
      <p:sp>
        <p:nvSpPr>
          <p:cNvPr id="43" name="Text 39"/>
          <p:cNvSpPr txBox="1"/>
          <p:nvPr/>
        </p:nvSpPr>
        <p:spPr>
          <a:xfrm>
            <a:off x="5257800" y="3511296"/>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Query DSL (JSON) ou ES|QL (texte en pipeline)</a:t>
            </a:r>
            <a:endParaRPr lang="fr-FR" sz="1050" dirty="0"/>
          </a:p>
        </p:txBody>
      </p:sp>
      <p:sp>
        <p:nvSpPr>
          <p:cNvPr id="44" name="Shape 40"/>
          <p:cNvSpPr/>
          <p:nvPr/>
        </p:nvSpPr>
        <p:spPr>
          <a:xfrm>
            <a:off x="457200" y="4005072"/>
            <a:ext cx="8229600" cy="420624"/>
          </a:xfrm>
          <a:prstGeom prst="roundRect">
            <a:avLst>
              <a:gd name="adj" fmla="val 17391"/>
            </a:avLst>
          </a:prstGeom>
          <a:solidFill>
            <a:srgbClr val="FFFFFF"/>
          </a:solidFill>
          <a:ln w="9525">
            <a:solidFill>
              <a:srgbClr val="D5DED9"/>
            </a:solidFill>
            <a:prstDash val="solid"/>
          </a:ln>
        </p:spPr>
      </p:sp>
      <p:sp>
        <p:nvSpPr>
          <p:cNvPr id="45" name="Text 41"/>
          <p:cNvSpPr txBox="1"/>
          <p:nvPr/>
        </p:nvSpPr>
        <p:spPr>
          <a:xfrm>
            <a:off x="594360" y="4005072"/>
            <a:ext cx="2194560" cy="420624"/>
          </a:xfrm>
          <a:prstGeom prst="rect">
            <a:avLst/>
          </a:prstGeom>
          <a:noFill/>
          <a:ln/>
        </p:spPr>
        <p:txBody>
          <a:bodyPr wrap="square" lIns="0" tIns="0" rIns="0" bIns="0" rtlCol="0" anchor="ctr"/>
          <a:lstStyle/>
          <a:p>
            <a:pPr marL="0" indent="0">
              <a:buNone/>
            </a:pPr>
            <a:r>
              <a:rPr lang="fr-FR" altLang="en-US" sz="1000" dirty="0">
                <a:solidFill>
                  <a:srgbClr val="231F20"/>
                </a:solidFill>
                <a:latin typeface="Courier New" pitchFamily="34" charset="0"/>
                <a:ea typeface="Courier New" pitchFamily="34" charset="-122"/>
                <a:cs typeface="Courier New" pitchFamily="34" charset="-120"/>
              </a:rPr>
              <a:t>groupby().agg() / GROUP BY</a:t>
            </a:r>
            <a:endParaRPr lang="fr-FR" sz="1000" dirty="0"/>
          </a:p>
        </p:txBody>
      </p:sp>
      <p:sp>
        <p:nvSpPr>
          <p:cNvPr id="46" name="Shape 42"/>
          <p:cNvSpPr/>
          <p:nvPr/>
        </p:nvSpPr>
        <p:spPr>
          <a:xfrm>
            <a:off x="2697480" y="4215384"/>
            <a:ext cx="320040" cy="0"/>
          </a:xfrm>
          <a:prstGeom prst="line">
            <a:avLst/>
          </a:prstGeom>
          <a:noFill/>
          <a:ln w="15875">
            <a:solidFill>
              <a:srgbClr val="00A86A"/>
            </a:solidFill>
            <a:prstDash val="solid"/>
            <a:tailEnd type="triangle"/>
          </a:ln>
        </p:spPr>
      </p:sp>
      <p:sp>
        <p:nvSpPr>
          <p:cNvPr id="47" name="Text 43"/>
          <p:cNvSpPr txBox="1"/>
          <p:nvPr/>
        </p:nvSpPr>
        <p:spPr>
          <a:xfrm>
            <a:off x="3200400" y="4005072"/>
            <a:ext cx="1828800" cy="420624"/>
          </a:xfrm>
          <a:prstGeom prst="rect">
            <a:avLst/>
          </a:prstGeom>
          <a:noFill/>
          <a:ln/>
        </p:spPr>
        <p:txBody>
          <a:bodyPr wrap="square" lIns="0" tIns="0" rIns="0" bIns="0" rtlCol="0" anchor="ctr"/>
          <a:lstStyle/>
          <a:p>
            <a:pPr marL="0" indent="0">
              <a:buNone/>
            </a:pPr>
            <a:r>
              <a:rPr lang="fr-FR" altLang="en-US" sz="1300" b="1" dirty="0">
                <a:solidFill>
                  <a:srgbClr val="00704A"/>
                </a:solidFill>
                <a:latin typeface="Calibri" pitchFamily="34" charset="0"/>
                <a:ea typeface="Calibri" pitchFamily="34" charset="-122"/>
                <a:cs typeface="Calibri" pitchFamily="34" charset="-120"/>
              </a:rPr>
              <a:t>Agrégation</a:t>
            </a:r>
            <a:endParaRPr lang="fr-FR" sz="1300" dirty="0"/>
          </a:p>
        </p:txBody>
      </p:sp>
      <p:sp>
        <p:nvSpPr>
          <p:cNvPr id="48" name="Text 44"/>
          <p:cNvSpPr txBox="1"/>
          <p:nvPr/>
        </p:nvSpPr>
        <p:spPr>
          <a:xfrm>
            <a:off x="5257800" y="4005072"/>
            <a:ext cx="3337560" cy="420624"/>
          </a:xfrm>
          <a:prstGeom prst="rect">
            <a:avLst/>
          </a:prstGeom>
          <a:noFill/>
          <a:ln/>
        </p:spPr>
        <p:txBody>
          <a:bodyPr wrap="square" lIns="0" tIns="0" rIns="0" bIns="0" rtlCol="0" anchor="ctr"/>
          <a:lstStyle/>
          <a:p>
            <a:pPr marL="0" indent="0">
              <a:buNone/>
            </a:pPr>
            <a:r>
              <a:rPr lang="fr-FR" altLang="en-US" sz="1050" dirty="0">
                <a:solidFill>
                  <a:srgbClr val="5E6964"/>
                </a:solidFill>
                <a:latin typeface="Calibri" pitchFamily="34" charset="0"/>
                <a:ea typeface="Calibri" pitchFamily="34" charset="-122"/>
                <a:cs typeface="Calibri" pitchFamily="34" charset="-120"/>
              </a:rPr>
              <a:t>Buckets (groupes) et métriques (statistiques)</a:t>
            </a:r>
            <a:endParaRPr lang="fr-FR" sz="10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Anatomie d’un cluster : nœuds, shards et réplicas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13</a:t>
            </a:r>
            <a:endParaRPr lang="fr-FR" sz="850" dirty="0"/>
          </a:p>
        </p:txBody>
      </p:sp>
      <p:sp>
        <p:nvSpPr>
          <p:cNvPr id="16" name="Shape 12"/>
          <p:cNvSpPr/>
          <p:nvPr/>
        </p:nvSpPr>
        <p:spPr>
          <a:xfrm>
            <a:off x="457200" y="1261872"/>
            <a:ext cx="4754880" cy="2852928"/>
          </a:xfrm>
          <a:prstGeom prst="roundRect">
            <a:avLst>
              <a:gd name="adj" fmla="val 2564"/>
            </a:avLst>
          </a:prstGeom>
          <a:solidFill>
            <a:srgbClr val="FFFFFF"/>
          </a:solidFill>
          <a:ln w="12700">
            <a:solidFill>
              <a:srgbClr val="5E6964"/>
            </a:solidFill>
            <a:prstDash val="dash"/>
          </a:ln>
        </p:spPr>
      </p:sp>
      <p:sp>
        <p:nvSpPr>
          <p:cNvPr id="17" name="Text 13"/>
          <p:cNvSpPr txBox="1"/>
          <p:nvPr/>
        </p:nvSpPr>
        <p:spPr>
          <a:xfrm>
            <a:off x="640080" y="1344168"/>
            <a:ext cx="2743200" cy="201168"/>
          </a:xfrm>
          <a:prstGeom prst="rect">
            <a:avLst/>
          </a:prstGeom>
          <a:noFill/>
          <a:ln/>
        </p:spPr>
        <p:txBody>
          <a:bodyPr wrap="square" lIns="0" tIns="0" rIns="0" bIns="0" rtlCol="0" anchor="t"/>
          <a:lstStyle/>
          <a:p>
            <a:pPr marL="0" indent="0">
              <a:buNone/>
            </a:pPr>
            <a:r>
              <a:rPr lang="fr-FR" altLang="en-US" sz="950" b="1" kern="0" spc="200" dirty="0">
                <a:solidFill>
                  <a:srgbClr val="5E6964"/>
                </a:solidFill>
                <a:latin typeface="Calibri" pitchFamily="34" charset="0"/>
                <a:ea typeface="Calibri" pitchFamily="34" charset="-122"/>
                <a:cs typeface="Calibri" pitchFamily="34" charset="-120"/>
              </a:rPr>
              <a:t>CLUSTER  di4a-lab</a:t>
            </a:r>
            <a:endParaRPr lang="fr-FR" sz="950" dirty="0"/>
          </a:p>
        </p:txBody>
      </p:sp>
      <p:sp>
        <p:nvSpPr>
          <p:cNvPr id="18" name="Shape 14"/>
          <p:cNvSpPr/>
          <p:nvPr/>
        </p:nvSpPr>
        <p:spPr>
          <a:xfrm>
            <a:off x="685800" y="1645920"/>
            <a:ext cx="1280160" cy="2286000"/>
          </a:xfrm>
          <a:prstGeom prst="roundRect">
            <a:avLst>
              <a:gd name="adj" fmla="val 5714"/>
            </a:avLst>
          </a:prstGeom>
          <a:solidFill>
            <a:srgbClr val="F4F7F5"/>
          </a:solidFill>
          <a:ln w="9525">
            <a:solidFill>
              <a:srgbClr val="D5DED9"/>
            </a:solidFill>
            <a:prstDash val="solid"/>
          </a:ln>
        </p:spPr>
      </p:sp>
      <p:sp>
        <p:nvSpPr>
          <p:cNvPr id="19" name="Shape 15"/>
          <p:cNvSpPr/>
          <p:nvPr/>
        </p:nvSpPr>
        <p:spPr>
          <a:xfrm>
            <a:off x="795528" y="1737360"/>
            <a:ext cx="365760" cy="365760"/>
          </a:xfrm>
          <a:prstGeom prst="ellipse">
            <a:avLst/>
          </a:prstGeom>
          <a:solidFill>
            <a:srgbClr val="00704A">
              <a:alpha val="22000"/>
            </a:srgbClr>
          </a:solidFill>
          <a:ln/>
        </p:spPr>
      </p:sp>
      <p:pic>
        <p:nvPicPr>
          <p:cNvPr id="20" name="Image 1" descr="preencoded.png"/>
          <p:cNvPicPr>
            <a:picLocks noChangeAspect="1"/>
          </p:cNvPicPr>
          <p:nvPr/>
        </p:nvPicPr>
        <p:blipFill>
          <a:blip r:embed="rId4"/>
          <a:stretch>
            <a:fillRect/>
          </a:stretch>
        </p:blipFill>
        <p:spPr>
          <a:xfrm>
            <a:off x="890626" y="1832458"/>
            <a:ext cx="175565" cy="175565"/>
          </a:xfrm>
          <a:prstGeom prst="rect">
            <a:avLst/>
          </a:prstGeom>
        </p:spPr>
      </p:pic>
      <p:sp>
        <p:nvSpPr>
          <p:cNvPr id="21" name="Text 16"/>
          <p:cNvSpPr txBox="1"/>
          <p:nvPr/>
        </p:nvSpPr>
        <p:spPr>
          <a:xfrm>
            <a:off x="1216152" y="1737360"/>
            <a:ext cx="731520" cy="365760"/>
          </a:xfrm>
          <a:prstGeom prst="rect">
            <a:avLst/>
          </a:prstGeom>
          <a:noFill/>
          <a:ln/>
        </p:spPr>
        <p:txBody>
          <a:bodyPr wrap="square" lIns="0" tIns="0" rIns="0" bIns="0" rtlCol="0" anchor="ctr"/>
          <a:lstStyle/>
          <a:p>
            <a:pPr marL="0" indent="0">
              <a:buNone/>
            </a:pPr>
            <a:r>
              <a:rPr lang="fr-FR" altLang="en-US" sz="1150" b="1" dirty="0">
                <a:solidFill>
                  <a:srgbClr val="231F20"/>
                </a:solidFill>
                <a:latin typeface="Calibri" pitchFamily="34" charset="0"/>
                <a:ea typeface="Calibri" pitchFamily="34" charset="-122"/>
                <a:cs typeface="Calibri" pitchFamily="34" charset="-120"/>
              </a:rPr>
              <a:t>Nœud 1</a:t>
            </a:r>
            <a:endParaRPr lang="fr-FR" sz="1150" dirty="0"/>
          </a:p>
        </p:txBody>
      </p:sp>
      <p:sp>
        <p:nvSpPr>
          <p:cNvPr id="22" name="Shape 17"/>
          <p:cNvSpPr/>
          <p:nvPr/>
        </p:nvSpPr>
        <p:spPr>
          <a:xfrm>
            <a:off x="868680" y="2286000"/>
            <a:ext cx="914400" cy="566928"/>
          </a:xfrm>
          <a:prstGeom prst="roundRect">
            <a:avLst>
              <a:gd name="adj" fmla="val 9677"/>
            </a:avLst>
          </a:prstGeom>
          <a:solidFill>
            <a:srgbClr val="00A86A"/>
          </a:solidFill>
          <a:ln w="12700">
            <a:solidFill>
              <a:srgbClr val="00A86A"/>
            </a:solidFill>
            <a:prstDash val="solid"/>
          </a:ln>
        </p:spPr>
      </p:sp>
      <p:sp>
        <p:nvSpPr>
          <p:cNvPr id="23" name="Text 18"/>
          <p:cNvSpPr txBox="1"/>
          <p:nvPr/>
        </p:nvSpPr>
        <p:spPr>
          <a:xfrm>
            <a:off x="868680" y="2286000"/>
            <a:ext cx="914400" cy="56692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P0</a:t>
            </a:r>
            <a:endParaRPr lang="fr-FR" sz="1400" dirty="0"/>
          </a:p>
          <a:p>
            <a:pPr marL="0" indent="0" algn="ctr">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24" name="Shape 19"/>
          <p:cNvSpPr/>
          <p:nvPr/>
        </p:nvSpPr>
        <p:spPr>
          <a:xfrm>
            <a:off x="868680" y="3063240"/>
            <a:ext cx="914400" cy="566928"/>
          </a:xfrm>
          <a:prstGeom prst="roundRect">
            <a:avLst>
              <a:gd name="adj" fmla="val 9677"/>
            </a:avLst>
          </a:prstGeom>
          <a:solidFill>
            <a:srgbClr val="E8F5EF"/>
          </a:solidFill>
          <a:ln w="12700">
            <a:solidFill>
              <a:srgbClr val="00A86A"/>
            </a:solidFill>
            <a:prstDash val="solid"/>
          </a:ln>
        </p:spPr>
      </p:sp>
      <p:sp>
        <p:nvSpPr>
          <p:cNvPr id="25" name="Text 20"/>
          <p:cNvSpPr txBox="1"/>
          <p:nvPr/>
        </p:nvSpPr>
        <p:spPr>
          <a:xfrm>
            <a:off x="868680" y="3063240"/>
            <a:ext cx="914400" cy="566928"/>
          </a:xfrm>
          <a:prstGeom prst="rect">
            <a:avLst/>
          </a:prstGeom>
          <a:noFill/>
          <a:ln/>
        </p:spPr>
        <p:txBody>
          <a:bodyPr wrap="square" lIns="0" tIns="0" rIns="0" bIns="0" rtlCol="0" anchor="ctr"/>
          <a:lstStyle/>
          <a:p>
            <a:pPr marL="0" indent="0" algn="ctr">
              <a:buNone/>
            </a:pPr>
            <a:r>
              <a:rPr lang="fr-FR" altLang="en-US" sz="1400" b="1" dirty="0">
                <a:solidFill>
                  <a:srgbClr val="00704A"/>
                </a:solidFill>
                <a:latin typeface="Calibri" pitchFamily="34" charset="0"/>
                <a:ea typeface="Calibri" pitchFamily="34" charset="-122"/>
                <a:cs typeface="Calibri" pitchFamily="34" charset="-120"/>
              </a:rPr>
              <a:t>R2</a:t>
            </a:r>
            <a:endParaRPr lang="fr-FR" sz="1400" dirty="0"/>
          </a:p>
          <a:p>
            <a:pPr marL="0" indent="0" algn="ctr">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26" name="Shape 21"/>
          <p:cNvSpPr/>
          <p:nvPr/>
        </p:nvSpPr>
        <p:spPr>
          <a:xfrm>
            <a:off x="2194560" y="1645920"/>
            <a:ext cx="1280160" cy="2286000"/>
          </a:xfrm>
          <a:prstGeom prst="roundRect">
            <a:avLst>
              <a:gd name="adj" fmla="val 5714"/>
            </a:avLst>
          </a:prstGeom>
          <a:solidFill>
            <a:srgbClr val="F4F7F5"/>
          </a:solidFill>
          <a:ln w="9525">
            <a:solidFill>
              <a:srgbClr val="D5DED9"/>
            </a:solidFill>
            <a:prstDash val="solid"/>
          </a:ln>
        </p:spPr>
      </p:sp>
      <p:sp>
        <p:nvSpPr>
          <p:cNvPr id="27" name="Shape 22"/>
          <p:cNvSpPr/>
          <p:nvPr/>
        </p:nvSpPr>
        <p:spPr>
          <a:xfrm>
            <a:off x="2304288" y="1737360"/>
            <a:ext cx="365760" cy="365760"/>
          </a:xfrm>
          <a:prstGeom prst="ellipse">
            <a:avLst/>
          </a:prstGeom>
          <a:solidFill>
            <a:srgbClr val="00704A">
              <a:alpha val="22000"/>
            </a:srgbClr>
          </a:solidFill>
          <a:ln/>
        </p:spPr>
      </p:sp>
      <p:pic>
        <p:nvPicPr>
          <p:cNvPr id="28" name="Image 2" descr="preencoded.png"/>
          <p:cNvPicPr>
            <a:picLocks noChangeAspect="1"/>
          </p:cNvPicPr>
          <p:nvPr/>
        </p:nvPicPr>
        <p:blipFill>
          <a:blip r:embed="rId4"/>
          <a:stretch>
            <a:fillRect/>
          </a:stretch>
        </p:blipFill>
        <p:spPr>
          <a:xfrm>
            <a:off x="2399386" y="1832458"/>
            <a:ext cx="175565" cy="175565"/>
          </a:xfrm>
          <a:prstGeom prst="rect">
            <a:avLst/>
          </a:prstGeom>
        </p:spPr>
      </p:pic>
      <p:sp>
        <p:nvSpPr>
          <p:cNvPr id="29" name="Text 23"/>
          <p:cNvSpPr txBox="1"/>
          <p:nvPr/>
        </p:nvSpPr>
        <p:spPr>
          <a:xfrm>
            <a:off x="2724912" y="1737360"/>
            <a:ext cx="731520" cy="365760"/>
          </a:xfrm>
          <a:prstGeom prst="rect">
            <a:avLst/>
          </a:prstGeom>
          <a:noFill/>
          <a:ln/>
        </p:spPr>
        <p:txBody>
          <a:bodyPr wrap="square" lIns="0" tIns="0" rIns="0" bIns="0" rtlCol="0" anchor="ctr"/>
          <a:lstStyle/>
          <a:p>
            <a:pPr marL="0" indent="0">
              <a:buNone/>
            </a:pPr>
            <a:r>
              <a:rPr lang="fr-FR" altLang="en-US" sz="1150" b="1" dirty="0">
                <a:solidFill>
                  <a:srgbClr val="231F20"/>
                </a:solidFill>
                <a:latin typeface="Calibri" pitchFamily="34" charset="0"/>
                <a:ea typeface="Calibri" pitchFamily="34" charset="-122"/>
                <a:cs typeface="Calibri" pitchFamily="34" charset="-120"/>
              </a:rPr>
              <a:t>Nœud 2</a:t>
            </a:r>
            <a:endParaRPr lang="fr-FR" sz="1150" dirty="0"/>
          </a:p>
        </p:txBody>
      </p:sp>
      <p:sp>
        <p:nvSpPr>
          <p:cNvPr id="30" name="Shape 24"/>
          <p:cNvSpPr/>
          <p:nvPr/>
        </p:nvSpPr>
        <p:spPr>
          <a:xfrm>
            <a:off x="2377440" y="2286000"/>
            <a:ext cx="914400" cy="566928"/>
          </a:xfrm>
          <a:prstGeom prst="roundRect">
            <a:avLst>
              <a:gd name="adj" fmla="val 9677"/>
            </a:avLst>
          </a:prstGeom>
          <a:solidFill>
            <a:srgbClr val="00A86A"/>
          </a:solidFill>
          <a:ln w="12700">
            <a:solidFill>
              <a:srgbClr val="00A86A"/>
            </a:solidFill>
            <a:prstDash val="solid"/>
          </a:ln>
        </p:spPr>
      </p:sp>
      <p:sp>
        <p:nvSpPr>
          <p:cNvPr id="31" name="Text 25"/>
          <p:cNvSpPr txBox="1"/>
          <p:nvPr/>
        </p:nvSpPr>
        <p:spPr>
          <a:xfrm>
            <a:off x="2377440" y="2286000"/>
            <a:ext cx="914400" cy="56692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P1</a:t>
            </a:r>
            <a:endParaRPr lang="fr-FR" sz="1400" dirty="0"/>
          </a:p>
          <a:p>
            <a:pPr marL="0" indent="0" algn="ctr">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32" name="Shape 26"/>
          <p:cNvSpPr/>
          <p:nvPr/>
        </p:nvSpPr>
        <p:spPr>
          <a:xfrm>
            <a:off x="2377440" y="3063240"/>
            <a:ext cx="914400" cy="566928"/>
          </a:xfrm>
          <a:prstGeom prst="roundRect">
            <a:avLst>
              <a:gd name="adj" fmla="val 9677"/>
            </a:avLst>
          </a:prstGeom>
          <a:solidFill>
            <a:srgbClr val="E8F5EF"/>
          </a:solidFill>
          <a:ln w="12700">
            <a:solidFill>
              <a:srgbClr val="00A86A"/>
            </a:solidFill>
            <a:prstDash val="solid"/>
          </a:ln>
        </p:spPr>
      </p:sp>
      <p:sp>
        <p:nvSpPr>
          <p:cNvPr id="33" name="Text 27"/>
          <p:cNvSpPr txBox="1"/>
          <p:nvPr/>
        </p:nvSpPr>
        <p:spPr>
          <a:xfrm>
            <a:off x="2377440" y="3063240"/>
            <a:ext cx="914400" cy="566928"/>
          </a:xfrm>
          <a:prstGeom prst="rect">
            <a:avLst/>
          </a:prstGeom>
          <a:noFill/>
          <a:ln/>
        </p:spPr>
        <p:txBody>
          <a:bodyPr wrap="square" lIns="0" tIns="0" rIns="0" bIns="0" rtlCol="0" anchor="ctr"/>
          <a:lstStyle/>
          <a:p>
            <a:pPr marL="0" indent="0" algn="ctr">
              <a:buNone/>
            </a:pPr>
            <a:r>
              <a:rPr lang="fr-FR" altLang="en-US" sz="1400" b="1" dirty="0">
                <a:solidFill>
                  <a:srgbClr val="00704A"/>
                </a:solidFill>
                <a:latin typeface="Calibri" pitchFamily="34" charset="0"/>
                <a:ea typeface="Calibri" pitchFamily="34" charset="-122"/>
                <a:cs typeface="Calibri" pitchFamily="34" charset="-120"/>
              </a:rPr>
              <a:t>R0</a:t>
            </a:r>
            <a:endParaRPr lang="fr-FR" sz="1400" dirty="0"/>
          </a:p>
          <a:p>
            <a:pPr marL="0" indent="0" algn="ctr">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34" name="Shape 28"/>
          <p:cNvSpPr/>
          <p:nvPr/>
        </p:nvSpPr>
        <p:spPr>
          <a:xfrm>
            <a:off x="3703320" y="1645920"/>
            <a:ext cx="1280160" cy="2286000"/>
          </a:xfrm>
          <a:prstGeom prst="roundRect">
            <a:avLst>
              <a:gd name="adj" fmla="val 5714"/>
            </a:avLst>
          </a:prstGeom>
          <a:solidFill>
            <a:srgbClr val="F4F7F5"/>
          </a:solidFill>
          <a:ln w="9525">
            <a:solidFill>
              <a:srgbClr val="D5DED9"/>
            </a:solidFill>
            <a:prstDash val="solid"/>
          </a:ln>
        </p:spPr>
      </p:sp>
      <p:sp>
        <p:nvSpPr>
          <p:cNvPr id="35" name="Shape 29"/>
          <p:cNvSpPr/>
          <p:nvPr/>
        </p:nvSpPr>
        <p:spPr>
          <a:xfrm>
            <a:off x="3813048" y="1737360"/>
            <a:ext cx="365760" cy="365760"/>
          </a:xfrm>
          <a:prstGeom prst="ellipse">
            <a:avLst/>
          </a:prstGeom>
          <a:solidFill>
            <a:srgbClr val="00704A">
              <a:alpha val="22000"/>
            </a:srgbClr>
          </a:solidFill>
          <a:ln/>
        </p:spPr>
      </p:sp>
      <p:pic>
        <p:nvPicPr>
          <p:cNvPr id="36" name="Image 3" descr="preencoded.png"/>
          <p:cNvPicPr>
            <a:picLocks noChangeAspect="1"/>
          </p:cNvPicPr>
          <p:nvPr/>
        </p:nvPicPr>
        <p:blipFill>
          <a:blip r:embed="rId4"/>
          <a:stretch>
            <a:fillRect/>
          </a:stretch>
        </p:blipFill>
        <p:spPr>
          <a:xfrm>
            <a:off x="3908146" y="1832458"/>
            <a:ext cx="175565" cy="175565"/>
          </a:xfrm>
          <a:prstGeom prst="rect">
            <a:avLst/>
          </a:prstGeom>
        </p:spPr>
      </p:pic>
      <p:sp>
        <p:nvSpPr>
          <p:cNvPr id="37" name="Text 30"/>
          <p:cNvSpPr txBox="1"/>
          <p:nvPr/>
        </p:nvSpPr>
        <p:spPr>
          <a:xfrm>
            <a:off x="4233672" y="1737360"/>
            <a:ext cx="731520" cy="365760"/>
          </a:xfrm>
          <a:prstGeom prst="rect">
            <a:avLst/>
          </a:prstGeom>
          <a:noFill/>
          <a:ln/>
        </p:spPr>
        <p:txBody>
          <a:bodyPr wrap="square" lIns="0" tIns="0" rIns="0" bIns="0" rtlCol="0" anchor="ctr"/>
          <a:lstStyle/>
          <a:p>
            <a:pPr marL="0" indent="0">
              <a:buNone/>
            </a:pPr>
            <a:r>
              <a:rPr lang="fr-FR" altLang="en-US" sz="1150" b="1" dirty="0">
                <a:solidFill>
                  <a:srgbClr val="231F20"/>
                </a:solidFill>
                <a:latin typeface="Calibri" pitchFamily="34" charset="0"/>
                <a:ea typeface="Calibri" pitchFamily="34" charset="-122"/>
                <a:cs typeface="Calibri" pitchFamily="34" charset="-120"/>
              </a:rPr>
              <a:t>Nœud 3</a:t>
            </a:r>
            <a:endParaRPr lang="fr-FR" sz="1150" dirty="0"/>
          </a:p>
        </p:txBody>
      </p:sp>
      <p:sp>
        <p:nvSpPr>
          <p:cNvPr id="38" name="Shape 31"/>
          <p:cNvSpPr/>
          <p:nvPr/>
        </p:nvSpPr>
        <p:spPr>
          <a:xfrm>
            <a:off x="3886200" y="2286000"/>
            <a:ext cx="914400" cy="566928"/>
          </a:xfrm>
          <a:prstGeom prst="roundRect">
            <a:avLst>
              <a:gd name="adj" fmla="val 9677"/>
            </a:avLst>
          </a:prstGeom>
          <a:solidFill>
            <a:srgbClr val="00A86A"/>
          </a:solidFill>
          <a:ln w="12700">
            <a:solidFill>
              <a:srgbClr val="00A86A"/>
            </a:solidFill>
            <a:prstDash val="solid"/>
          </a:ln>
        </p:spPr>
      </p:sp>
      <p:sp>
        <p:nvSpPr>
          <p:cNvPr id="39" name="Text 32"/>
          <p:cNvSpPr txBox="1"/>
          <p:nvPr/>
        </p:nvSpPr>
        <p:spPr>
          <a:xfrm>
            <a:off x="3886200" y="2286000"/>
            <a:ext cx="914400" cy="56692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P2</a:t>
            </a:r>
            <a:endParaRPr lang="fr-FR" sz="1400" dirty="0"/>
          </a:p>
          <a:p>
            <a:pPr marL="0" indent="0" algn="ctr">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40" name="Shape 33"/>
          <p:cNvSpPr/>
          <p:nvPr/>
        </p:nvSpPr>
        <p:spPr>
          <a:xfrm>
            <a:off x="3886200" y="3063240"/>
            <a:ext cx="914400" cy="566928"/>
          </a:xfrm>
          <a:prstGeom prst="roundRect">
            <a:avLst>
              <a:gd name="adj" fmla="val 9677"/>
            </a:avLst>
          </a:prstGeom>
          <a:solidFill>
            <a:srgbClr val="E8F5EF"/>
          </a:solidFill>
          <a:ln w="12700">
            <a:solidFill>
              <a:srgbClr val="00A86A"/>
            </a:solidFill>
            <a:prstDash val="solid"/>
          </a:ln>
        </p:spPr>
      </p:sp>
      <p:sp>
        <p:nvSpPr>
          <p:cNvPr id="41" name="Text 34"/>
          <p:cNvSpPr txBox="1"/>
          <p:nvPr/>
        </p:nvSpPr>
        <p:spPr>
          <a:xfrm>
            <a:off x="3886200" y="3063240"/>
            <a:ext cx="914400" cy="566928"/>
          </a:xfrm>
          <a:prstGeom prst="rect">
            <a:avLst/>
          </a:prstGeom>
          <a:noFill/>
          <a:ln/>
        </p:spPr>
        <p:txBody>
          <a:bodyPr wrap="square" lIns="0" tIns="0" rIns="0" bIns="0" rtlCol="0" anchor="ctr"/>
          <a:lstStyle/>
          <a:p>
            <a:pPr marL="0" indent="0" algn="ctr">
              <a:buNone/>
            </a:pPr>
            <a:r>
              <a:rPr lang="fr-FR" altLang="en-US" sz="1400" b="1" dirty="0">
                <a:solidFill>
                  <a:srgbClr val="00704A"/>
                </a:solidFill>
                <a:latin typeface="Calibri" pitchFamily="34" charset="0"/>
                <a:ea typeface="Calibri" pitchFamily="34" charset="-122"/>
                <a:cs typeface="Calibri" pitchFamily="34" charset="-120"/>
              </a:rPr>
              <a:t>R1</a:t>
            </a:r>
            <a:endParaRPr lang="fr-FR" sz="1400" dirty="0"/>
          </a:p>
          <a:p>
            <a:pPr marL="0" indent="0" algn="ctr">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42" name="Text 35"/>
          <p:cNvSpPr txBox="1"/>
          <p:nvPr/>
        </p:nvSpPr>
        <p:spPr>
          <a:xfrm>
            <a:off x="457200" y="4206240"/>
            <a:ext cx="4754880" cy="228600"/>
          </a:xfrm>
          <a:prstGeom prst="rect">
            <a:avLst/>
          </a:prstGeom>
          <a:noFill/>
          <a:ln/>
        </p:spPr>
        <p:txBody>
          <a:bodyPr wrap="square" lIns="0" tIns="0" rIns="0" bIns="0" rtlCol="0" anchor="t"/>
          <a:lstStyle/>
          <a:p>
            <a:pPr marL="0" indent="0">
              <a:buNone/>
            </a:pPr>
            <a:r>
              <a:rPr lang="fr-FR" altLang="en-US" sz="950" i="1" dirty="0">
                <a:solidFill>
                  <a:srgbClr val="5E6964"/>
                </a:solidFill>
                <a:latin typeface="Calibri" pitchFamily="34" charset="0"/>
                <a:ea typeface="Calibri" pitchFamily="34" charset="-122"/>
                <a:cs typeface="Calibri" pitchFamily="34" charset="-120"/>
              </a:rPr>
              <a:t>ookla-tiles : 3 primaires (P) × 1 réplica (R), jamais sur le même nœud.</a:t>
            </a:r>
            <a:endParaRPr lang="fr-FR" sz="950" dirty="0"/>
          </a:p>
        </p:txBody>
      </p:sp>
      <p:sp>
        <p:nvSpPr>
          <p:cNvPr id="43" name="Shape 36"/>
          <p:cNvSpPr/>
          <p:nvPr/>
        </p:nvSpPr>
        <p:spPr>
          <a:xfrm>
            <a:off x="5486400" y="1307592"/>
            <a:ext cx="402336" cy="402336"/>
          </a:xfrm>
          <a:prstGeom prst="ellipse">
            <a:avLst/>
          </a:prstGeom>
          <a:solidFill>
            <a:srgbClr val="00A86A">
              <a:alpha val="22000"/>
            </a:srgbClr>
          </a:solidFill>
          <a:ln/>
        </p:spPr>
      </p:sp>
      <p:pic>
        <p:nvPicPr>
          <p:cNvPr id="44" name="Image 4" descr="preencoded.png"/>
          <p:cNvPicPr>
            <a:picLocks noChangeAspect="1"/>
          </p:cNvPicPr>
          <p:nvPr/>
        </p:nvPicPr>
        <p:blipFill>
          <a:blip r:embed="rId5"/>
          <a:stretch>
            <a:fillRect/>
          </a:stretch>
        </p:blipFill>
        <p:spPr>
          <a:xfrm>
            <a:off x="5591007" y="1412199"/>
            <a:ext cx="193121" cy="193121"/>
          </a:xfrm>
          <a:prstGeom prst="rect">
            <a:avLst/>
          </a:prstGeom>
        </p:spPr>
      </p:pic>
      <p:sp>
        <p:nvSpPr>
          <p:cNvPr id="45" name="Text 37"/>
          <p:cNvSpPr txBox="1"/>
          <p:nvPr/>
        </p:nvSpPr>
        <p:spPr>
          <a:xfrm>
            <a:off x="6016752" y="1261872"/>
            <a:ext cx="2651760" cy="219456"/>
          </a:xfrm>
          <a:prstGeom prst="rect">
            <a:avLst/>
          </a:prstGeom>
          <a:noFill/>
          <a:ln/>
        </p:spPr>
        <p:txBody>
          <a:bodyPr wrap="square" lIns="0" tIns="0" rIns="0" bIns="0" rtlCol="0" anchor="t"/>
          <a:lstStyle/>
          <a:p>
            <a:pPr marL="0" indent="0">
              <a:buNone/>
            </a:pPr>
            <a:r>
              <a:rPr lang="fr-FR" altLang="en-US" sz="1250" b="1" dirty="0">
                <a:solidFill>
                  <a:srgbClr val="231F20"/>
                </a:solidFill>
                <a:latin typeface="Calibri" pitchFamily="34" charset="0"/>
                <a:ea typeface="Calibri" pitchFamily="34" charset="-122"/>
                <a:cs typeface="Calibri" pitchFamily="34" charset="-120"/>
              </a:rPr>
              <a:t>Nœud</a:t>
            </a:r>
            <a:endParaRPr lang="fr-FR" sz="1250" dirty="0"/>
          </a:p>
        </p:txBody>
      </p:sp>
      <p:sp>
        <p:nvSpPr>
          <p:cNvPr id="46" name="Text 38"/>
          <p:cNvSpPr txBox="1"/>
          <p:nvPr/>
        </p:nvSpPr>
        <p:spPr>
          <a:xfrm>
            <a:off x="6016752" y="1490472"/>
            <a:ext cx="2651760" cy="384048"/>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Un processus Elasticsearch actif, en général une machine.</a:t>
            </a:r>
            <a:endParaRPr lang="fr-FR" sz="1000" dirty="0"/>
          </a:p>
        </p:txBody>
      </p:sp>
      <p:sp>
        <p:nvSpPr>
          <p:cNvPr id="47" name="Shape 39"/>
          <p:cNvSpPr/>
          <p:nvPr/>
        </p:nvSpPr>
        <p:spPr>
          <a:xfrm>
            <a:off x="5486400" y="1965960"/>
            <a:ext cx="402336" cy="402336"/>
          </a:xfrm>
          <a:prstGeom prst="ellipse">
            <a:avLst/>
          </a:prstGeom>
          <a:solidFill>
            <a:srgbClr val="00A86A">
              <a:alpha val="22000"/>
            </a:srgbClr>
          </a:solidFill>
          <a:ln/>
        </p:spPr>
      </p:sp>
      <p:pic>
        <p:nvPicPr>
          <p:cNvPr id="48" name="Image 5" descr="preencoded.png"/>
          <p:cNvPicPr>
            <a:picLocks noChangeAspect="1"/>
          </p:cNvPicPr>
          <p:nvPr/>
        </p:nvPicPr>
        <p:blipFill>
          <a:blip r:embed="rId6"/>
          <a:stretch>
            <a:fillRect/>
          </a:stretch>
        </p:blipFill>
        <p:spPr>
          <a:xfrm>
            <a:off x="5591007" y="2070567"/>
            <a:ext cx="193121" cy="193121"/>
          </a:xfrm>
          <a:prstGeom prst="rect">
            <a:avLst/>
          </a:prstGeom>
        </p:spPr>
      </p:pic>
      <p:sp>
        <p:nvSpPr>
          <p:cNvPr id="49" name="Text 40"/>
          <p:cNvSpPr txBox="1"/>
          <p:nvPr/>
        </p:nvSpPr>
        <p:spPr>
          <a:xfrm>
            <a:off x="6016752" y="1920240"/>
            <a:ext cx="2651760" cy="219456"/>
          </a:xfrm>
          <a:prstGeom prst="rect">
            <a:avLst/>
          </a:prstGeom>
          <a:noFill/>
          <a:ln/>
        </p:spPr>
        <p:txBody>
          <a:bodyPr wrap="square" lIns="0" tIns="0" rIns="0" bIns="0" rtlCol="0" anchor="t"/>
          <a:lstStyle/>
          <a:p>
            <a:pPr marL="0" indent="0">
              <a:buNone/>
            </a:pPr>
            <a:r>
              <a:rPr lang="fr-FR" altLang="en-US" sz="1250" b="1" dirty="0">
                <a:solidFill>
                  <a:srgbClr val="231F20"/>
                </a:solidFill>
                <a:latin typeface="Calibri" pitchFamily="34" charset="0"/>
                <a:ea typeface="Calibri" pitchFamily="34" charset="-122"/>
                <a:cs typeface="Calibri" pitchFamily="34" charset="-120"/>
              </a:rPr>
              <a:t>Shard</a:t>
            </a:r>
            <a:endParaRPr lang="fr-FR" sz="1250" dirty="0"/>
          </a:p>
        </p:txBody>
      </p:sp>
      <p:sp>
        <p:nvSpPr>
          <p:cNvPr id="50" name="Text 41"/>
          <p:cNvSpPr txBox="1"/>
          <p:nvPr/>
        </p:nvSpPr>
        <p:spPr>
          <a:xfrm>
            <a:off x="6016752" y="2148840"/>
            <a:ext cx="2651760" cy="384048"/>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Une tranche d’index ; l’unité qui circule entre les nœuds.</a:t>
            </a:r>
            <a:endParaRPr lang="fr-FR" sz="1000" dirty="0"/>
          </a:p>
        </p:txBody>
      </p:sp>
      <p:sp>
        <p:nvSpPr>
          <p:cNvPr id="51" name="Shape 42"/>
          <p:cNvSpPr/>
          <p:nvPr/>
        </p:nvSpPr>
        <p:spPr>
          <a:xfrm>
            <a:off x="5486400" y="2624328"/>
            <a:ext cx="402336" cy="402336"/>
          </a:xfrm>
          <a:prstGeom prst="ellipse">
            <a:avLst/>
          </a:prstGeom>
          <a:solidFill>
            <a:srgbClr val="00A86A">
              <a:alpha val="22000"/>
            </a:srgbClr>
          </a:solidFill>
          <a:ln/>
        </p:spPr>
      </p:sp>
      <p:pic>
        <p:nvPicPr>
          <p:cNvPr id="52" name="Image 6" descr="preencoded.png"/>
          <p:cNvPicPr>
            <a:picLocks noChangeAspect="1"/>
          </p:cNvPicPr>
          <p:nvPr/>
        </p:nvPicPr>
        <p:blipFill>
          <a:blip r:embed="rId7"/>
          <a:stretch>
            <a:fillRect/>
          </a:stretch>
        </p:blipFill>
        <p:spPr>
          <a:xfrm>
            <a:off x="5591007" y="2728935"/>
            <a:ext cx="193121" cy="193121"/>
          </a:xfrm>
          <a:prstGeom prst="rect">
            <a:avLst/>
          </a:prstGeom>
        </p:spPr>
      </p:pic>
      <p:sp>
        <p:nvSpPr>
          <p:cNvPr id="53" name="Text 43"/>
          <p:cNvSpPr txBox="1"/>
          <p:nvPr/>
        </p:nvSpPr>
        <p:spPr>
          <a:xfrm>
            <a:off x="6016752" y="2578608"/>
            <a:ext cx="2651760" cy="219456"/>
          </a:xfrm>
          <a:prstGeom prst="rect">
            <a:avLst/>
          </a:prstGeom>
          <a:noFill/>
          <a:ln/>
        </p:spPr>
        <p:txBody>
          <a:bodyPr wrap="square" lIns="0" tIns="0" rIns="0" bIns="0" rtlCol="0" anchor="t"/>
          <a:lstStyle/>
          <a:p>
            <a:pPr marL="0" indent="0">
              <a:buNone/>
            </a:pPr>
            <a:r>
              <a:rPr lang="fr-FR" altLang="en-US" sz="1250" b="1" dirty="0">
                <a:solidFill>
                  <a:srgbClr val="231F20"/>
                </a:solidFill>
                <a:latin typeface="Calibri" pitchFamily="34" charset="0"/>
                <a:ea typeface="Calibri" pitchFamily="34" charset="-122"/>
                <a:cs typeface="Calibri" pitchFamily="34" charset="-120"/>
              </a:rPr>
              <a:t>Réplica</a:t>
            </a:r>
            <a:endParaRPr lang="fr-FR" sz="1250" dirty="0"/>
          </a:p>
        </p:txBody>
      </p:sp>
      <p:sp>
        <p:nvSpPr>
          <p:cNvPr id="54" name="Text 44"/>
          <p:cNvSpPr txBox="1"/>
          <p:nvPr/>
        </p:nvSpPr>
        <p:spPr>
          <a:xfrm>
            <a:off x="6016752" y="2807208"/>
            <a:ext cx="2651760" cy="384048"/>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Une copie sur un autre nœud : résilience et capacité de recherche.</a:t>
            </a:r>
            <a:endParaRPr lang="fr-FR" sz="1000" dirty="0"/>
          </a:p>
        </p:txBody>
      </p:sp>
      <p:sp>
        <p:nvSpPr>
          <p:cNvPr id="55" name="Shape 45"/>
          <p:cNvSpPr/>
          <p:nvPr/>
        </p:nvSpPr>
        <p:spPr>
          <a:xfrm>
            <a:off x="5486400" y="3291840"/>
            <a:ext cx="3200400" cy="1280160"/>
          </a:xfrm>
          <a:prstGeom prst="roundRect">
            <a:avLst>
              <a:gd name="adj" fmla="val 5714"/>
            </a:avLst>
          </a:prstGeom>
          <a:solidFill>
            <a:srgbClr val="E8F5EF"/>
          </a:solidFill>
          <a:ln w="15875">
            <a:solidFill>
              <a:srgbClr val="00A86A"/>
            </a:solidFill>
            <a:prstDash val="solid"/>
          </a:ln>
        </p:spPr>
      </p:sp>
      <p:sp>
        <p:nvSpPr>
          <p:cNvPr id="56" name="Text 46"/>
          <p:cNvSpPr txBox="1"/>
          <p:nvPr/>
        </p:nvSpPr>
        <p:spPr>
          <a:xfrm>
            <a:off x="5623560" y="3383280"/>
            <a:ext cx="2926080" cy="182880"/>
          </a:xfrm>
          <a:prstGeom prst="rect">
            <a:avLst/>
          </a:prstGeom>
          <a:noFill/>
          <a:ln/>
        </p:spPr>
        <p:txBody>
          <a:bodyPr wrap="square" lIns="0" tIns="0" rIns="0" bIns="0" rtlCol="0" anchor="t"/>
          <a:lstStyle/>
          <a:p>
            <a:pPr marL="0" indent="0">
              <a:buNone/>
            </a:pPr>
            <a:r>
              <a:rPr lang="fr-FR" altLang="en-US" sz="900" b="1" kern="0" spc="200" dirty="0">
                <a:solidFill>
                  <a:srgbClr val="00704A"/>
                </a:solidFill>
                <a:latin typeface="Calibri" pitchFamily="34" charset="0"/>
                <a:ea typeface="Calibri" pitchFamily="34" charset="-122"/>
                <a:cs typeface="Calibri" pitchFamily="34" charset="-120"/>
              </a:rPr>
              <a:t>DIMENSIONNEMENT</a:t>
            </a:r>
            <a:endParaRPr lang="fr-FR" sz="900" dirty="0"/>
          </a:p>
        </p:txBody>
      </p:sp>
      <p:sp>
        <p:nvSpPr>
          <p:cNvPr id="57" name="Text 47"/>
          <p:cNvSpPr txBox="1"/>
          <p:nvPr/>
        </p:nvSpPr>
        <p:spPr>
          <a:xfrm>
            <a:off x="5623560" y="3584448"/>
            <a:ext cx="2926080" cy="438912"/>
          </a:xfrm>
          <a:prstGeom prst="rect">
            <a:avLst/>
          </a:prstGeom>
          <a:noFill/>
          <a:ln/>
        </p:spPr>
        <p:txBody>
          <a:bodyPr wrap="square" lIns="0" tIns="0" rIns="0" bIns="0" rtlCol="0" anchor="ctr"/>
          <a:lstStyle/>
          <a:p>
            <a:pPr marL="0" indent="0">
              <a:buNone/>
            </a:pPr>
            <a:r>
              <a:rPr lang="fr-FR" altLang="en-US" sz="3000" b="1" dirty="0">
                <a:solidFill>
                  <a:srgbClr val="00A86A"/>
                </a:solidFill>
                <a:latin typeface="Calibri" pitchFamily="34" charset="0"/>
                <a:ea typeface="Calibri" pitchFamily="34" charset="-122"/>
                <a:cs typeface="Calibri" pitchFamily="34" charset="-120"/>
              </a:rPr>
              <a:t>10–50 Go</a:t>
            </a:r>
            <a:endParaRPr lang="fr-FR" sz="3000" dirty="0"/>
          </a:p>
        </p:txBody>
      </p:sp>
      <p:sp>
        <p:nvSpPr>
          <p:cNvPr id="58" name="Text 48"/>
          <p:cNvSpPr txBox="1"/>
          <p:nvPr/>
        </p:nvSpPr>
        <p:spPr>
          <a:xfrm>
            <a:off x="5623560" y="4023360"/>
            <a:ext cx="2971800" cy="512064"/>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par shard, moins de 200 millions de documents chacun. Un ou deux primaires suffisent pour un index Ookla national.</a:t>
            </a:r>
            <a:endParaRPr lang="fr-FR" sz="950" dirty="0"/>
          </a:p>
        </p:txBody>
      </p:sp>
      <p:sp>
        <p:nvSpPr>
          <p:cNvPr id="59" name="Text 49"/>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Source : documentation Elastic, « Size your shards ».</a:t>
            </a:r>
            <a:endParaRPr lang="fr-FR"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03</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03</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Modéliser les données</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Comment transformer une tuile Ookla en document interrogeable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5C242"/>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14</a:t>
            </a:r>
            <a:endParaRPr lang="fr-FR"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D’une ligne Parquet à un document JSON enrichi</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15</a:t>
            </a:r>
            <a:endParaRPr lang="fr-FR" sz="850" dirty="0"/>
          </a:p>
        </p:txBody>
      </p:sp>
      <p:sp>
        <p:nvSpPr>
          <p:cNvPr id="16" name="Text 12"/>
          <p:cNvSpPr txBox="1"/>
          <p:nvPr/>
        </p:nvSpPr>
        <p:spPr>
          <a:xfrm>
            <a:off x="457200" y="1261872"/>
            <a:ext cx="292608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TEL QUE PUBLIÉ PAR OOKLA</a:t>
            </a:r>
            <a:endParaRPr lang="fr-FR" sz="900" dirty="0"/>
          </a:p>
        </p:txBody>
      </p:sp>
      <p:sp>
        <p:nvSpPr>
          <p:cNvPr id="17" name="Shape 13"/>
          <p:cNvSpPr/>
          <p:nvPr/>
        </p:nvSpPr>
        <p:spPr>
          <a:xfrm>
            <a:off x="457200" y="1508760"/>
            <a:ext cx="2880360" cy="1965960"/>
          </a:xfrm>
          <a:prstGeom prst="roundRect">
            <a:avLst>
              <a:gd name="adj" fmla="val 2791"/>
            </a:avLst>
          </a:prstGeom>
          <a:solidFill>
            <a:srgbClr val="FBFCFB"/>
          </a:solidFill>
          <a:ln w="9525">
            <a:solidFill>
              <a:srgbClr val="D5DED9"/>
            </a:solidFill>
            <a:prstDash val="solid"/>
          </a:ln>
        </p:spPr>
      </p:sp>
      <p:sp>
        <p:nvSpPr>
          <p:cNvPr id="18" name="Text 14"/>
          <p:cNvSpPr txBox="1"/>
          <p:nvPr/>
        </p:nvSpPr>
        <p:spPr>
          <a:xfrm>
            <a:off x="585216" y="1600200"/>
            <a:ext cx="2624328" cy="1783080"/>
          </a:xfrm>
          <a:prstGeom prst="rect">
            <a:avLst/>
          </a:prstGeom>
          <a:noFill/>
          <a:ln/>
        </p:spPr>
        <p:txBody>
          <a:bodyPr wrap="square" lIns="0" tIns="0" rIns="0" bIns="0" rtlCol="0" anchor="t"/>
          <a:lstStyle/>
          <a:p>
            <a:pPr marL="0" indent="0">
              <a:buNone/>
            </a:pPr>
            <a:r>
              <a:rPr lang="fr-FR" altLang="en-US" sz="950" dirty="0">
                <a:solidFill>
                  <a:srgbClr val="231F20"/>
                </a:solidFill>
                <a:latin typeface="Courier New" pitchFamily="34" charset="0"/>
                <a:ea typeface="Courier New" pitchFamily="34" charset="-122"/>
                <a:cs typeface="Courier New" pitchFamily="34" charset="-120"/>
              </a:rPr>
              <a:t>quadkey    "3001010303300022"</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avg_d_kbps 21450</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avg_u_kbps 9870</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avg_lat_ms 38</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tests      142</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devices    57</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tile       "POLYGON((30.0586</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-1.9552, ...))"</a:t>
            </a:r>
            <a:endParaRPr lang="fr-FR" sz="950" dirty="0"/>
          </a:p>
        </p:txBody>
      </p:sp>
      <p:sp>
        <p:nvSpPr>
          <p:cNvPr id="19" name="Shape 15"/>
          <p:cNvSpPr/>
          <p:nvPr/>
        </p:nvSpPr>
        <p:spPr>
          <a:xfrm>
            <a:off x="3401568" y="2487168"/>
            <a:ext cx="621792" cy="0"/>
          </a:xfrm>
          <a:prstGeom prst="line">
            <a:avLst/>
          </a:prstGeom>
          <a:noFill/>
          <a:ln w="25400">
            <a:solidFill>
              <a:srgbClr val="00A86A"/>
            </a:solidFill>
            <a:prstDash val="solid"/>
            <a:tailEnd type="triangle"/>
          </a:ln>
        </p:spPr>
      </p:sp>
      <p:sp>
        <p:nvSpPr>
          <p:cNvPr id="20" name="Text 16"/>
          <p:cNvSpPr txBox="1"/>
          <p:nvPr/>
        </p:nvSpPr>
        <p:spPr>
          <a:xfrm>
            <a:off x="3310128" y="2194560"/>
            <a:ext cx="822960" cy="201168"/>
          </a:xfrm>
          <a:prstGeom prst="rect">
            <a:avLst/>
          </a:prstGeom>
          <a:noFill/>
          <a:ln/>
        </p:spPr>
        <p:txBody>
          <a:bodyPr wrap="square" lIns="0" tIns="0" rIns="0" bIns="0" rtlCol="0" anchor="t"/>
          <a:lstStyle/>
          <a:p>
            <a:pPr marL="0" indent="0" algn="ctr">
              <a:buNone/>
            </a:pPr>
            <a:r>
              <a:rPr lang="fr-FR" altLang="en-US" sz="900" b="1" dirty="0">
                <a:solidFill>
                  <a:srgbClr val="00A86A"/>
                </a:solidFill>
                <a:latin typeface="Calibri" pitchFamily="34" charset="0"/>
                <a:ea typeface="Calibri" pitchFamily="34" charset="-122"/>
                <a:cs typeface="Calibri" pitchFamily="34" charset="-120"/>
              </a:rPr>
              <a:t>ENRICHIR</a:t>
            </a:r>
            <a:endParaRPr lang="fr-FR" sz="900" dirty="0"/>
          </a:p>
        </p:txBody>
      </p:sp>
      <p:sp>
        <p:nvSpPr>
          <p:cNvPr id="21" name="Text 17"/>
          <p:cNvSpPr txBox="1"/>
          <p:nvPr/>
        </p:nvSpPr>
        <p:spPr>
          <a:xfrm>
            <a:off x="4114800" y="1261872"/>
            <a:ext cx="45720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INDEXÉ DANS ELASTICSEARCH</a:t>
            </a:r>
            <a:endParaRPr lang="fr-FR" sz="900" dirty="0"/>
          </a:p>
        </p:txBody>
      </p:sp>
      <p:sp>
        <p:nvSpPr>
          <p:cNvPr id="22" name="Shape 18"/>
          <p:cNvSpPr/>
          <p:nvPr/>
        </p:nvSpPr>
        <p:spPr>
          <a:xfrm>
            <a:off x="4114800" y="1508760"/>
            <a:ext cx="4572000" cy="2487168"/>
          </a:xfrm>
          <a:prstGeom prst="roundRect">
            <a:avLst>
              <a:gd name="adj" fmla="val 2206"/>
            </a:avLst>
          </a:prstGeom>
          <a:solidFill>
            <a:srgbClr val="FBFCFB"/>
          </a:solidFill>
          <a:ln w="9525">
            <a:solidFill>
              <a:srgbClr val="D5DED9"/>
            </a:solidFill>
            <a:prstDash val="solid"/>
          </a:ln>
        </p:spPr>
      </p:sp>
      <p:sp>
        <p:nvSpPr>
          <p:cNvPr id="23" name="Text 19"/>
          <p:cNvSpPr txBox="1"/>
          <p:nvPr/>
        </p:nvSpPr>
        <p:spPr>
          <a:xfrm>
            <a:off x="4242816" y="1600200"/>
            <a:ext cx="4315968" cy="2304288"/>
          </a:xfrm>
          <a:prstGeom prst="rect">
            <a:avLst/>
          </a:prstGeom>
          <a:noFill/>
          <a:ln/>
        </p:spPr>
        <p:txBody>
          <a:bodyPr wrap="square" lIns="0" tIns="0" rIns="0" bIns="0" rtlCol="0" anchor="t"/>
          <a:lstStyle/>
          <a:p>
            <a:pPr marL="0" indent="0">
              <a:buNone/>
            </a:pPr>
            <a:r>
              <a:rPr lang="fr-FR" altLang="en-US" sz="900" dirty="0">
                <a:solidFill>
                  <a:srgbClr val="231F20"/>
                </a:solidFill>
                <a:latin typeface="Courier New" pitchFamily="34" charset="0"/>
                <a:ea typeface="Courier New" pitchFamily="34" charset="-122"/>
                <a:cs typeface="Courier New" pitchFamily="34" charset="-120"/>
              </a:rPr>
              <a:t>{</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"quadkey": "3001010303300022",</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"service_type": "mobile",</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"quarter": "2025-Q2",</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"quarter_start": "2025-04-01",</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"avg_d_kbps": 21450, "avg_u_kbps": 9870,</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"avg_lat_ms": 38, "tests": 142, "devices": 57,</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"admin1": "Kigali City",</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"admin2": "Nyarugenge",</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"pop_worldpop": 4830.5,</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"centroid": {"lat": -1.9525, "lon": 30.0614},</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"tile": "POLYGON((30.0586 -1.9552, ...))"</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a:t>
            </a:r>
            <a:endParaRPr lang="fr-FR" sz="900" dirty="0"/>
          </a:p>
        </p:txBody>
      </p:sp>
      <p:sp>
        <p:nvSpPr>
          <p:cNvPr id="24" name="Shape 20"/>
          <p:cNvSpPr/>
          <p:nvPr/>
        </p:nvSpPr>
        <p:spPr>
          <a:xfrm>
            <a:off x="475488" y="3675888"/>
            <a:ext cx="91440" cy="91440"/>
          </a:xfrm>
          <a:prstGeom prst="ellipse">
            <a:avLst/>
          </a:prstGeom>
          <a:solidFill>
            <a:srgbClr val="00704A"/>
          </a:solidFill>
          <a:ln/>
        </p:spPr>
      </p:sp>
      <p:sp>
        <p:nvSpPr>
          <p:cNvPr id="25" name="Text 21"/>
          <p:cNvSpPr txBox="1"/>
          <p:nvPr/>
        </p:nvSpPr>
        <p:spPr>
          <a:xfrm>
            <a:off x="658368" y="3611880"/>
            <a:ext cx="3108960" cy="219456"/>
          </a:xfrm>
          <a:prstGeom prst="rect">
            <a:avLst/>
          </a:prstGeom>
          <a:noFill/>
          <a:ln/>
        </p:spPr>
        <p:txBody>
          <a:bodyPr wrap="square" lIns="0" tIns="0" rIns="0" bIns="0" rtlCol="0" anchor="ctr"/>
          <a:lstStyle/>
          <a:p>
            <a:pPr marL="0" indent="0">
              <a:buNone/>
            </a:pPr>
            <a:r>
              <a:rPr lang="fr-FR" altLang="en-US" sz="1000" b="1" dirty="0">
                <a:solidFill>
                  <a:srgbClr val="00704A"/>
                </a:solidFill>
                <a:latin typeface="Calibri" pitchFamily="34" charset="0"/>
                <a:ea typeface="Calibri" pitchFamily="34" charset="-122"/>
                <a:cs typeface="Calibri" pitchFamily="34" charset="-120"/>
              </a:rPr>
              <a:t>Trimestre et service  </a:t>
            </a:r>
            <a:r>
              <a:rPr lang="fr-FR" altLang="en-US" sz="1000" dirty="0">
                <a:solidFill>
                  <a:srgbClr val="5E6964"/>
                </a:solidFill>
                <a:latin typeface="Calibri" pitchFamily="34" charset="0"/>
                <a:ea typeface="Calibri" pitchFamily="34" charset="-122"/>
                <a:cs typeface="Calibri" pitchFamily="34" charset="-120"/>
              </a:rPr>
              <a:t>depuis le chemin du fichier</a:t>
            </a:r>
            <a:endParaRPr lang="fr-FR" sz="1000" dirty="0"/>
          </a:p>
        </p:txBody>
      </p:sp>
      <p:sp>
        <p:nvSpPr>
          <p:cNvPr id="26" name="Shape 22"/>
          <p:cNvSpPr/>
          <p:nvPr/>
        </p:nvSpPr>
        <p:spPr>
          <a:xfrm>
            <a:off x="475488" y="3922776"/>
            <a:ext cx="91440" cy="91440"/>
          </a:xfrm>
          <a:prstGeom prst="ellipse">
            <a:avLst/>
          </a:prstGeom>
          <a:solidFill>
            <a:srgbClr val="00704A"/>
          </a:solidFill>
          <a:ln/>
        </p:spPr>
      </p:sp>
      <p:sp>
        <p:nvSpPr>
          <p:cNvPr id="27" name="Text 23"/>
          <p:cNvSpPr txBox="1"/>
          <p:nvPr/>
        </p:nvSpPr>
        <p:spPr>
          <a:xfrm>
            <a:off x="658368" y="3858768"/>
            <a:ext cx="3108960" cy="219456"/>
          </a:xfrm>
          <a:prstGeom prst="rect">
            <a:avLst/>
          </a:prstGeom>
          <a:noFill/>
          <a:ln/>
        </p:spPr>
        <p:txBody>
          <a:bodyPr wrap="square" lIns="0" tIns="0" rIns="0" bIns="0" rtlCol="0" anchor="ctr"/>
          <a:lstStyle/>
          <a:p>
            <a:pPr marL="0" indent="0">
              <a:buNone/>
            </a:pPr>
            <a:r>
              <a:rPr lang="fr-FR" altLang="en-US" sz="1000" b="1" dirty="0">
                <a:solidFill>
                  <a:srgbClr val="00704A"/>
                </a:solidFill>
                <a:latin typeface="Calibri" pitchFamily="34" charset="0"/>
                <a:ea typeface="Calibri" pitchFamily="34" charset="-122"/>
                <a:cs typeface="Calibri" pitchFamily="34" charset="-120"/>
              </a:rPr>
              <a:t>admin1 / admin2  </a:t>
            </a:r>
            <a:r>
              <a:rPr lang="fr-FR" altLang="en-US" sz="1000" dirty="0">
                <a:solidFill>
                  <a:srgbClr val="5E6964"/>
                </a:solidFill>
                <a:latin typeface="Calibri" pitchFamily="34" charset="0"/>
                <a:ea typeface="Calibri" pitchFamily="34" charset="-122"/>
                <a:cs typeface="Calibri" pitchFamily="34" charset="-120"/>
              </a:rPr>
              <a:t>jointure spatiale avec les limites</a:t>
            </a:r>
            <a:endParaRPr lang="fr-FR" sz="1000" dirty="0"/>
          </a:p>
        </p:txBody>
      </p:sp>
      <p:sp>
        <p:nvSpPr>
          <p:cNvPr id="28" name="Shape 24"/>
          <p:cNvSpPr/>
          <p:nvPr/>
        </p:nvSpPr>
        <p:spPr>
          <a:xfrm>
            <a:off x="475488" y="4169664"/>
            <a:ext cx="91440" cy="91440"/>
          </a:xfrm>
          <a:prstGeom prst="ellipse">
            <a:avLst/>
          </a:prstGeom>
          <a:solidFill>
            <a:srgbClr val="00704A"/>
          </a:solidFill>
          <a:ln/>
        </p:spPr>
      </p:sp>
      <p:sp>
        <p:nvSpPr>
          <p:cNvPr id="29" name="Text 25"/>
          <p:cNvSpPr txBox="1"/>
          <p:nvPr/>
        </p:nvSpPr>
        <p:spPr>
          <a:xfrm>
            <a:off x="658368" y="4105656"/>
            <a:ext cx="3108960" cy="219456"/>
          </a:xfrm>
          <a:prstGeom prst="rect">
            <a:avLst/>
          </a:prstGeom>
          <a:noFill/>
          <a:ln/>
        </p:spPr>
        <p:txBody>
          <a:bodyPr wrap="square" lIns="0" tIns="0" rIns="0" bIns="0" rtlCol="0" anchor="ctr"/>
          <a:lstStyle/>
          <a:p>
            <a:pPr marL="0" indent="0">
              <a:buNone/>
            </a:pPr>
            <a:r>
              <a:rPr lang="fr-FR" altLang="en-US" sz="1000" b="1" dirty="0">
                <a:solidFill>
                  <a:srgbClr val="00704A"/>
                </a:solidFill>
                <a:latin typeface="Calibri" pitchFamily="34" charset="0"/>
                <a:ea typeface="Calibri" pitchFamily="34" charset="-122"/>
                <a:cs typeface="Calibri" pitchFamily="34" charset="-120"/>
              </a:rPr>
              <a:t>pop_worldpop  </a:t>
            </a:r>
            <a:r>
              <a:rPr lang="fr-FR" altLang="en-US" sz="1000" dirty="0">
                <a:solidFill>
                  <a:srgbClr val="5E6964"/>
                </a:solidFill>
                <a:latin typeface="Calibri" pitchFamily="34" charset="0"/>
                <a:ea typeface="Calibri" pitchFamily="34" charset="-122"/>
                <a:cs typeface="Calibri" pitchFamily="34" charset="-120"/>
              </a:rPr>
              <a:t>somme zonale du labo précédent</a:t>
            </a:r>
            <a:endParaRPr lang="fr-FR" sz="1000" dirty="0"/>
          </a:p>
        </p:txBody>
      </p:sp>
      <p:sp>
        <p:nvSpPr>
          <p:cNvPr id="30" name="Shape 26"/>
          <p:cNvSpPr/>
          <p:nvPr/>
        </p:nvSpPr>
        <p:spPr>
          <a:xfrm>
            <a:off x="475488" y="4416552"/>
            <a:ext cx="91440" cy="91440"/>
          </a:xfrm>
          <a:prstGeom prst="ellipse">
            <a:avLst/>
          </a:prstGeom>
          <a:solidFill>
            <a:srgbClr val="00704A"/>
          </a:solidFill>
          <a:ln/>
        </p:spPr>
      </p:sp>
      <p:sp>
        <p:nvSpPr>
          <p:cNvPr id="31" name="Text 27"/>
          <p:cNvSpPr txBox="1"/>
          <p:nvPr/>
        </p:nvSpPr>
        <p:spPr>
          <a:xfrm>
            <a:off x="658368" y="4352544"/>
            <a:ext cx="3108960" cy="219456"/>
          </a:xfrm>
          <a:prstGeom prst="rect">
            <a:avLst/>
          </a:prstGeom>
          <a:noFill/>
          <a:ln/>
        </p:spPr>
        <p:txBody>
          <a:bodyPr wrap="square" lIns="0" tIns="0" rIns="0" bIns="0" rtlCol="0" anchor="ctr"/>
          <a:lstStyle/>
          <a:p>
            <a:pPr marL="0" indent="0">
              <a:buNone/>
            </a:pPr>
            <a:r>
              <a:rPr lang="fr-FR" altLang="en-US" sz="1000" b="1" dirty="0">
                <a:solidFill>
                  <a:srgbClr val="00704A"/>
                </a:solidFill>
                <a:latin typeface="Calibri" pitchFamily="34" charset="0"/>
                <a:ea typeface="Calibri" pitchFamily="34" charset="-122"/>
                <a:cs typeface="Calibri" pitchFamily="34" charset="-120"/>
              </a:rPr>
              <a:t>centroid  </a:t>
            </a:r>
            <a:r>
              <a:rPr lang="fr-FR" altLang="en-US" sz="1000" dirty="0">
                <a:solidFill>
                  <a:srgbClr val="5E6964"/>
                </a:solidFill>
                <a:latin typeface="Calibri" pitchFamily="34" charset="0"/>
                <a:ea typeface="Calibri" pitchFamily="34" charset="-122"/>
                <a:cs typeface="Calibri" pitchFamily="34" charset="-120"/>
              </a:rPr>
              <a:t>calculé à partir du polygone</a:t>
            </a:r>
            <a:endParaRPr lang="fr-FR" sz="1000" dirty="0"/>
          </a:p>
        </p:txBody>
      </p:sp>
      <p:sp>
        <p:nvSpPr>
          <p:cNvPr id="32" name="Text 28"/>
          <p:cNvSpPr txBox="1"/>
          <p:nvPr/>
        </p:nvSpPr>
        <p:spPr>
          <a:xfrm>
            <a:off x="4114800" y="4069080"/>
            <a:ext cx="4572000" cy="201168"/>
          </a:xfrm>
          <a:prstGeom prst="rect">
            <a:avLst/>
          </a:prstGeom>
          <a:noFill/>
          <a:ln/>
        </p:spPr>
        <p:txBody>
          <a:bodyPr wrap="square" lIns="0" tIns="0" rIns="0" bIns="0" rtlCol="0" anchor="t"/>
          <a:lstStyle/>
          <a:p>
            <a:pPr marL="0" indent="0">
              <a:buNone/>
            </a:pPr>
            <a:r>
              <a:rPr lang="fr-FR" altLang="en-US" sz="950" i="1" dirty="0">
                <a:solidFill>
                  <a:srgbClr val="00704A"/>
                </a:solidFill>
                <a:latin typeface="Calibri" pitchFamily="34" charset="0"/>
                <a:ea typeface="Calibri" pitchFamily="34" charset="-122"/>
                <a:cs typeface="Calibri" pitchFamily="34" charset="-120"/>
              </a:rPr>
              <a:t>Texte vert = ajouté lors de l’enrichissement</a:t>
            </a:r>
            <a:endParaRPr lang="fr-FR" sz="950" dirty="0"/>
          </a:p>
        </p:txBody>
      </p:sp>
      <p:sp>
        <p:nvSpPr>
          <p:cNvPr id="33" name="Text 29"/>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Quadkey et polygone : une vraie tuile de zoom 16 à Kigali. Débits, tests et population sont illustratifs.</a:t>
            </a:r>
            <a:endParaRPr lang="fr-FR"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Mapping : déclarer le schéma avant d’indexer</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16</a:t>
            </a:r>
            <a:endParaRPr lang="fr-FR" sz="850" dirty="0"/>
          </a:p>
        </p:txBody>
      </p:sp>
      <p:sp>
        <p:nvSpPr>
          <p:cNvPr id="16" name="Shape 12"/>
          <p:cNvSpPr/>
          <p:nvPr/>
        </p:nvSpPr>
        <p:spPr>
          <a:xfrm>
            <a:off x="457200" y="1261872"/>
            <a:ext cx="42062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3950208" cy="3127248"/>
          </a:xfrm>
          <a:prstGeom prst="rect">
            <a:avLst/>
          </a:prstGeom>
          <a:noFill/>
          <a:ln/>
        </p:spPr>
        <p:txBody>
          <a:bodyPr wrap="square" lIns="0" tIns="0" rIns="0" bIns="0" rtlCol="0" anchor="t"/>
          <a:lstStyle/>
          <a:p>
            <a:pPr marL="0" indent="0">
              <a:buNone/>
            </a:pPr>
            <a:r>
              <a:rPr lang="fr-FR" altLang="en-US" sz="850" dirty="0">
                <a:solidFill>
                  <a:srgbClr val="231F20"/>
                </a:solidFill>
                <a:latin typeface="Courier New" pitchFamily="34" charset="0"/>
                <a:ea typeface="Courier New" pitchFamily="34" charset="-122"/>
                <a:cs typeface="Courier New" pitchFamily="34" charset="-120"/>
              </a:rPr>
              <a:t>PUT ookla-tiles</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"mappings":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"dynamic": "strict",</a:t>
            </a:r>
            <a:r>
              <a:rPr lang="fr-FR" altLang="en-US" sz="850" b="1" dirty="0">
                <a:solidFill>
                  <a:srgbClr val="D49A00"/>
                </a:solidFill>
                <a:latin typeface="Courier New" pitchFamily="34" charset="0"/>
                <a:ea typeface="Courier New" pitchFamily="34" charset="-122"/>
                <a:cs typeface="Courier New" pitchFamily="34" charset="-120"/>
              </a:rPr>
              <a:t>  ◀ refuser l’imprévu</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"properties":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"quadkey":       {"type": "keyword"},</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"service_type":  {"type": "keyword"},</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"quarter":       {"type": "keyword"},</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"quarter_start": {"type": "date"},</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"avg_d_kbps":    {"type": "integer"},</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"avg_u_kbps":    {"type": "integer"},</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"avg_lat_ms":    {"type": "integer"},</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"tests":         {"type": "integer"},</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"devices":       {"type": "integer"},</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"admin1":        {"type": "keyword"},</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"admin2":        {"type": "keyword"},</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"pop_worldpop":  {"type": "float"},</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"centroid":      {"type": "geo_point"},</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"tile":          {"type": "geo_shape"}</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p:txBody>
      </p:sp>
      <p:sp>
        <p:nvSpPr>
          <p:cNvPr id="18" name="Shape 14"/>
          <p:cNvSpPr/>
          <p:nvPr/>
        </p:nvSpPr>
        <p:spPr>
          <a:xfrm>
            <a:off x="4892040" y="1261872"/>
            <a:ext cx="3794760" cy="502920"/>
          </a:xfrm>
          <a:prstGeom prst="roundRect">
            <a:avLst>
              <a:gd name="adj" fmla="val 14545"/>
            </a:avLst>
          </a:prstGeom>
          <a:solidFill>
            <a:srgbClr val="F4F7F5"/>
          </a:solidFill>
          <a:ln w="9525">
            <a:solidFill>
              <a:srgbClr val="D5DED9"/>
            </a:solidFill>
            <a:prstDash val="solid"/>
          </a:ln>
        </p:spPr>
      </p:sp>
      <p:sp>
        <p:nvSpPr>
          <p:cNvPr id="19" name="Shape 15"/>
          <p:cNvSpPr/>
          <p:nvPr/>
        </p:nvSpPr>
        <p:spPr>
          <a:xfrm>
            <a:off x="5001768" y="1380744"/>
            <a:ext cx="1417320" cy="265176"/>
          </a:xfrm>
          <a:prstGeom prst="roundRect">
            <a:avLst>
              <a:gd name="adj" fmla="val 48276"/>
            </a:avLst>
          </a:prstGeom>
          <a:solidFill>
            <a:srgbClr val="00A86A">
              <a:alpha val="15000"/>
            </a:srgbClr>
          </a:solidFill>
          <a:ln w="9525">
            <a:solidFill>
              <a:srgbClr val="00A86A"/>
            </a:solidFill>
            <a:prstDash val="solid"/>
          </a:ln>
        </p:spPr>
      </p:sp>
      <p:sp>
        <p:nvSpPr>
          <p:cNvPr id="20" name="Text 16"/>
          <p:cNvSpPr txBox="1"/>
          <p:nvPr/>
        </p:nvSpPr>
        <p:spPr>
          <a:xfrm>
            <a:off x="5001768" y="1380744"/>
            <a:ext cx="1417320" cy="26517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ourier New" pitchFamily="34" charset="0"/>
                <a:ea typeface="Courier New" pitchFamily="34" charset="-122"/>
                <a:cs typeface="Courier New" pitchFamily="34" charset="-120"/>
              </a:rPr>
              <a:t>keyword</a:t>
            </a:r>
            <a:endParaRPr lang="fr-FR" sz="850" dirty="0"/>
          </a:p>
        </p:txBody>
      </p:sp>
      <p:sp>
        <p:nvSpPr>
          <p:cNvPr id="21" name="Text 17"/>
          <p:cNvSpPr txBox="1"/>
          <p:nvPr/>
        </p:nvSpPr>
        <p:spPr>
          <a:xfrm>
            <a:off x="6510528" y="1261872"/>
            <a:ext cx="2103120" cy="502920"/>
          </a:xfrm>
          <a:prstGeom prst="rect">
            <a:avLst/>
          </a:prstGeom>
          <a:noFill/>
          <a:ln/>
        </p:spPr>
        <p:txBody>
          <a:bodyPr wrap="square" lIns="0" tIns="0" rIns="0" bIns="0" rtlCol="0" anchor="ctr"/>
          <a:lstStyle/>
          <a:p>
            <a:pPr marL="0" indent="0">
              <a:buNone/>
            </a:pPr>
            <a:r>
              <a:rPr lang="fr-FR" altLang="en-US" sz="950" dirty="0">
                <a:solidFill>
                  <a:srgbClr val="5E6964"/>
                </a:solidFill>
                <a:latin typeface="Calibri" pitchFamily="34" charset="0"/>
                <a:ea typeface="Calibri" pitchFamily="34" charset="-122"/>
                <a:cs typeface="Calibri" pitchFamily="34" charset="-120"/>
              </a:rPr>
              <a:t>Valeurs exactes : codes, noms, catégories. Filtres, regroupements, tris.</a:t>
            </a:r>
            <a:endParaRPr lang="fr-FR" sz="950" dirty="0"/>
          </a:p>
        </p:txBody>
      </p:sp>
      <p:sp>
        <p:nvSpPr>
          <p:cNvPr id="22" name="Shape 18"/>
          <p:cNvSpPr/>
          <p:nvPr/>
        </p:nvSpPr>
        <p:spPr>
          <a:xfrm>
            <a:off x="4892040" y="1837944"/>
            <a:ext cx="3794760" cy="502920"/>
          </a:xfrm>
          <a:prstGeom prst="roundRect">
            <a:avLst>
              <a:gd name="adj" fmla="val 14545"/>
            </a:avLst>
          </a:prstGeom>
          <a:solidFill>
            <a:srgbClr val="F4F7F5"/>
          </a:solidFill>
          <a:ln w="9525">
            <a:solidFill>
              <a:srgbClr val="D5DED9"/>
            </a:solidFill>
            <a:prstDash val="solid"/>
          </a:ln>
        </p:spPr>
      </p:sp>
      <p:sp>
        <p:nvSpPr>
          <p:cNvPr id="23" name="Shape 19"/>
          <p:cNvSpPr/>
          <p:nvPr/>
        </p:nvSpPr>
        <p:spPr>
          <a:xfrm>
            <a:off x="5001768" y="1956816"/>
            <a:ext cx="1417320" cy="265176"/>
          </a:xfrm>
          <a:prstGeom prst="roundRect">
            <a:avLst>
              <a:gd name="adj" fmla="val 48276"/>
            </a:avLst>
          </a:prstGeom>
          <a:solidFill>
            <a:srgbClr val="00704A">
              <a:alpha val="15000"/>
            </a:srgbClr>
          </a:solidFill>
          <a:ln w="9525">
            <a:solidFill>
              <a:srgbClr val="00704A"/>
            </a:solidFill>
            <a:prstDash val="solid"/>
          </a:ln>
        </p:spPr>
      </p:sp>
      <p:sp>
        <p:nvSpPr>
          <p:cNvPr id="24" name="Text 20"/>
          <p:cNvSpPr txBox="1"/>
          <p:nvPr/>
        </p:nvSpPr>
        <p:spPr>
          <a:xfrm>
            <a:off x="5001768" y="1956816"/>
            <a:ext cx="1417320" cy="26517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ourier New" pitchFamily="34" charset="0"/>
                <a:ea typeface="Courier New" pitchFamily="34" charset="-122"/>
                <a:cs typeface="Courier New" pitchFamily="34" charset="-120"/>
              </a:rPr>
              <a:t>integer · float</a:t>
            </a:r>
            <a:endParaRPr lang="fr-FR" sz="850" dirty="0"/>
          </a:p>
        </p:txBody>
      </p:sp>
      <p:sp>
        <p:nvSpPr>
          <p:cNvPr id="25" name="Text 21"/>
          <p:cNvSpPr txBox="1"/>
          <p:nvPr/>
        </p:nvSpPr>
        <p:spPr>
          <a:xfrm>
            <a:off x="6510528" y="1837944"/>
            <a:ext cx="2103120" cy="502920"/>
          </a:xfrm>
          <a:prstGeom prst="rect">
            <a:avLst/>
          </a:prstGeom>
          <a:noFill/>
          <a:ln/>
        </p:spPr>
        <p:txBody>
          <a:bodyPr wrap="square" lIns="0" tIns="0" rIns="0" bIns="0" rtlCol="0" anchor="ctr"/>
          <a:lstStyle/>
          <a:p>
            <a:pPr marL="0" indent="0">
              <a:buNone/>
            </a:pPr>
            <a:r>
              <a:rPr lang="fr-FR" altLang="en-US" sz="950" dirty="0">
                <a:solidFill>
                  <a:srgbClr val="5E6964"/>
                </a:solidFill>
                <a:latin typeface="Calibri" pitchFamily="34" charset="0"/>
                <a:ea typeface="Calibri" pitchFamily="34" charset="-122"/>
                <a:cs typeface="Calibri" pitchFamily="34" charset="-120"/>
              </a:rPr>
              <a:t>Mesures et comptages. Intervalles et statistiques.</a:t>
            </a:r>
            <a:endParaRPr lang="fr-FR" sz="950" dirty="0"/>
          </a:p>
        </p:txBody>
      </p:sp>
      <p:sp>
        <p:nvSpPr>
          <p:cNvPr id="26" name="Shape 22"/>
          <p:cNvSpPr/>
          <p:nvPr/>
        </p:nvSpPr>
        <p:spPr>
          <a:xfrm>
            <a:off x="4892040" y="2414016"/>
            <a:ext cx="3794760" cy="502920"/>
          </a:xfrm>
          <a:prstGeom prst="roundRect">
            <a:avLst>
              <a:gd name="adj" fmla="val 14545"/>
            </a:avLst>
          </a:prstGeom>
          <a:solidFill>
            <a:srgbClr val="F4F7F5"/>
          </a:solidFill>
          <a:ln w="9525">
            <a:solidFill>
              <a:srgbClr val="D5DED9"/>
            </a:solidFill>
            <a:prstDash val="solid"/>
          </a:ln>
        </p:spPr>
      </p:sp>
      <p:sp>
        <p:nvSpPr>
          <p:cNvPr id="27" name="Shape 23"/>
          <p:cNvSpPr/>
          <p:nvPr/>
        </p:nvSpPr>
        <p:spPr>
          <a:xfrm>
            <a:off x="5001768" y="2532888"/>
            <a:ext cx="1417320" cy="265176"/>
          </a:xfrm>
          <a:prstGeom prst="roundRect">
            <a:avLst>
              <a:gd name="adj" fmla="val 48276"/>
            </a:avLst>
          </a:prstGeom>
          <a:solidFill>
            <a:srgbClr val="0E7C86">
              <a:alpha val="15000"/>
            </a:srgbClr>
          </a:solidFill>
          <a:ln w="9525">
            <a:solidFill>
              <a:srgbClr val="0E7C86"/>
            </a:solidFill>
            <a:prstDash val="solid"/>
          </a:ln>
        </p:spPr>
      </p:sp>
      <p:sp>
        <p:nvSpPr>
          <p:cNvPr id="28" name="Text 24"/>
          <p:cNvSpPr txBox="1"/>
          <p:nvPr/>
        </p:nvSpPr>
        <p:spPr>
          <a:xfrm>
            <a:off x="5001768" y="2532888"/>
            <a:ext cx="1417320" cy="26517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ourier New" pitchFamily="34" charset="0"/>
                <a:ea typeface="Courier New" pitchFamily="34" charset="-122"/>
                <a:cs typeface="Courier New" pitchFamily="34" charset="-120"/>
              </a:rPr>
              <a:t>date</a:t>
            </a:r>
            <a:endParaRPr lang="fr-FR" sz="850" dirty="0"/>
          </a:p>
        </p:txBody>
      </p:sp>
      <p:sp>
        <p:nvSpPr>
          <p:cNvPr id="29" name="Text 25"/>
          <p:cNvSpPr txBox="1"/>
          <p:nvPr/>
        </p:nvSpPr>
        <p:spPr>
          <a:xfrm>
            <a:off x="6510528" y="2414016"/>
            <a:ext cx="2103120" cy="502920"/>
          </a:xfrm>
          <a:prstGeom prst="rect">
            <a:avLst/>
          </a:prstGeom>
          <a:noFill/>
          <a:ln/>
        </p:spPr>
        <p:txBody>
          <a:bodyPr wrap="square" lIns="0" tIns="0" rIns="0" bIns="0" rtlCol="0" anchor="ctr"/>
          <a:lstStyle/>
          <a:p>
            <a:pPr marL="0" indent="0">
              <a:buNone/>
            </a:pPr>
            <a:r>
              <a:rPr lang="fr-FR" altLang="en-US" sz="950" dirty="0">
                <a:solidFill>
                  <a:srgbClr val="5E6964"/>
                </a:solidFill>
                <a:latin typeface="Calibri" pitchFamily="34" charset="0"/>
                <a:ea typeface="Calibri" pitchFamily="34" charset="-122"/>
                <a:cs typeface="Calibri" pitchFamily="34" charset="-120"/>
              </a:rPr>
              <a:t>Filtres temporels et histogrammes de dates (quarter_start).</a:t>
            </a:r>
            <a:endParaRPr lang="fr-FR" sz="950" dirty="0"/>
          </a:p>
        </p:txBody>
      </p:sp>
      <p:sp>
        <p:nvSpPr>
          <p:cNvPr id="30" name="Shape 26"/>
          <p:cNvSpPr/>
          <p:nvPr/>
        </p:nvSpPr>
        <p:spPr>
          <a:xfrm>
            <a:off x="4892040" y="2990088"/>
            <a:ext cx="3794760" cy="502920"/>
          </a:xfrm>
          <a:prstGeom prst="roundRect">
            <a:avLst>
              <a:gd name="adj" fmla="val 14545"/>
            </a:avLst>
          </a:prstGeom>
          <a:solidFill>
            <a:srgbClr val="F4F7F5"/>
          </a:solidFill>
          <a:ln w="9525">
            <a:solidFill>
              <a:srgbClr val="D5DED9"/>
            </a:solidFill>
            <a:prstDash val="solid"/>
          </a:ln>
        </p:spPr>
      </p:sp>
      <p:sp>
        <p:nvSpPr>
          <p:cNvPr id="31" name="Shape 27"/>
          <p:cNvSpPr/>
          <p:nvPr/>
        </p:nvSpPr>
        <p:spPr>
          <a:xfrm>
            <a:off x="5001768" y="3108960"/>
            <a:ext cx="1417320" cy="265176"/>
          </a:xfrm>
          <a:prstGeom prst="roundRect">
            <a:avLst>
              <a:gd name="adj" fmla="val 48276"/>
            </a:avLst>
          </a:prstGeom>
          <a:solidFill>
            <a:srgbClr val="D49A00">
              <a:alpha val="15000"/>
            </a:srgbClr>
          </a:solidFill>
          <a:ln w="9525">
            <a:solidFill>
              <a:srgbClr val="D49A00"/>
            </a:solidFill>
            <a:prstDash val="solid"/>
          </a:ln>
        </p:spPr>
      </p:sp>
      <p:sp>
        <p:nvSpPr>
          <p:cNvPr id="32" name="Text 28"/>
          <p:cNvSpPr txBox="1"/>
          <p:nvPr/>
        </p:nvSpPr>
        <p:spPr>
          <a:xfrm>
            <a:off x="5001768" y="3108960"/>
            <a:ext cx="1417320" cy="26517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ourier New" pitchFamily="34" charset="0"/>
                <a:ea typeface="Courier New" pitchFamily="34" charset="-122"/>
                <a:cs typeface="Courier New" pitchFamily="34" charset="-120"/>
              </a:rPr>
              <a:t>geo_point · geo_shape</a:t>
            </a:r>
            <a:endParaRPr lang="fr-FR" sz="850" dirty="0"/>
          </a:p>
        </p:txBody>
      </p:sp>
      <p:sp>
        <p:nvSpPr>
          <p:cNvPr id="33" name="Text 29"/>
          <p:cNvSpPr txBox="1"/>
          <p:nvPr/>
        </p:nvSpPr>
        <p:spPr>
          <a:xfrm>
            <a:off x="6510528" y="2990088"/>
            <a:ext cx="2103120" cy="502920"/>
          </a:xfrm>
          <a:prstGeom prst="rect">
            <a:avLst/>
          </a:prstGeom>
          <a:noFill/>
          <a:ln/>
        </p:spPr>
        <p:txBody>
          <a:bodyPr wrap="square" lIns="0" tIns="0" rIns="0" bIns="0" rtlCol="0" anchor="ctr"/>
          <a:lstStyle/>
          <a:p>
            <a:pPr marL="0" indent="0">
              <a:buNone/>
            </a:pPr>
            <a:r>
              <a:rPr lang="fr-FR" altLang="en-US" sz="950" dirty="0">
                <a:solidFill>
                  <a:srgbClr val="5E6964"/>
                </a:solidFill>
                <a:latin typeface="Calibri" pitchFamily="34" charset="0"/>
                <a:ea typeface="Calibri" pitchFamily="34" charset="-122"/>
                <a:cs typeface="Calibri" pitchFamily="34" charset="-120"/>
              </a:rPr>
              <a:t>Coordonnées et polygones pour requêtes spatiales et cartes.</a:t>
            </a:r>
            <a:endParaRPr lang="fr-FR" sz="950" dirty="0"/>
          </a:p>
        </p:txBody>
      </p:sp>
      <p:sp>
        <p:nvSpPr>
          <p:cNvPr id="34" name="Shape 30"/>
          <p:cNvSpPr/>
          <p:nvPr/>
        </p:nvSpPr>
        <p:spPr>
          <a:xfrm>
            <a:off x="4892040" y="3611880"/>
            <a:ext cx="3794760" cy="960120"/>
          </a:xfrm>
          <a:prstGeom prst="roundRect">
            <a:avLst>
              <a:gd name="adj" fmla="val 5714"/>
            </a:avLst>
          </a:prstGeom>
          <a:solidFill>
            <a:srgbClr val="D49A00">
              <a:alpha val="13000"/>
            </a:srgbClr>
          </a:solidFill>
          <a:ln w="12700">
            <a:solidFill>
              <a:srgbClr val="D49A00"/>
            </a:solidFill>
            <a:prstDash val="solid"/>
          </a:ln>
        </p:spPr>
      </p:sp>
      <p:pic>
        <p:nvPicPr>
          <p:cNvPr id="35" name="Image 1" descr="preencoded.png"/>
          <p:cNvPicPr>
            <a:picLocks noChangeAspect="1"/>
          </p:cNvPicPr>
          <p:nvPr/>
        </p:nvPicPr>
        <p:blipFill>
          <a:blip r:embed="rId4"/>
          <a:stretch>
            <a:fillRect/>
          </a:stretch>
        </p:blipFill>
        <p:spPr>
          <a:xfrm>
            <a:off x="5038344" y="3954780"/>
            <a:ext cx="274320" cy="274320"/>
          </a:xfrm>
          <a:prstGeom prst="rect">
            <a:avLst/>
          </a:prstGeom>
        </p:spPr>
      </p:pic>
      <p:sp>
        <p:nvSpPr>
          <p:cNvPr id="36" name="Text 31"/>
          <p:cNvSpPr txBox="1"/>
          <p:nvPr/>
        </p:nvSpPr>
        <p:spPr>
          <a:xfrm>
            <a:off x="5440680" y="3666744"/>
            <a:ext cx="3108960" cy="850392"/>
          </a:xfrm>
          <a:prstGeom prst="rect">
            <a:avLst/>
          </a:prstGeom>
          <a:noFill/>
          <a:ln/>
        </p:spPr>
        <p:txBody>
          <a:bodyPr wrap="square" lIns="0" tIns="0" rIns="0" bIns="0" rtlCol="0" anchor="ctr"/>
          <a:lstStyle/>
          <a:p>
            <a:pPr marL="0" indent="0">
              <a:buNone/>
            </a:pPr>
            <a:r>
              <a:rPr lang="fr-FR" altLang="en-US" sz="950" b="1" dirty="0">
                <a:solidFill>
                  <a:srgbClr val="231F20"/>
                </a:solidFill>
                <a:latin typeface="Calibri" pitchFamily="34" charset="0"/>
                <a:ea typeface="Calibri" pitchFamily="34" charset="-122"/>
                <a:cs typeface="Calibri" pitchFamily="34" charset="-120"/>
              </a:rPr>
              <a:t>Gardez les codes en texte. </a:t>
            </a:r>
            <a:r>
              <a:rPr lang="fr-FR" altLang="en-US" sz="950" dirty="0">
                <a:solidFill>
                  <a:srgbClr val="231F20"/>
                </a:solidFill>
                <a:latin typeface="Calibri" pitchFamily="34" charset="0"/>
                <a:ea typeface="Calibri" pitchFamily="34" charset="-122"/>
                <a:cs typeface="Calibri" pitchFamily="34" charset="-120"/>
              </a:rPr>
              <a:t>Une tuile sur Dakar a le quadkey 0333… ; converti en nombre, il perd son zéro initial sans alerte. Déclarez quadkeys et codes administratifs en keyword.</a:t>
            </a:r>
            <a:endParaRPr lang="fr-FR" sz="9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geo_point ou geo_shape ? Deux vues d’une même tuile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17</a:t>
            </a:r>
            <a:endParaRPr lang="fr-FR" sz="850" dirty="0"/>
          </a:p>
        </p:txBody>
      </p:sp>
      <p:sp>
        <p:nvSpPr>
          <p:cNvPr id="16" name="Shape 12"/>
          <p:cNvSpPr/>
          <p:nvPr/>
        </p:nvSpPr>
        <p:spPr>
          <a:xfrm>
            <a:off x="457200" y="1261872"/>
            <a:ext cx="4023360" cy="2514600"/>
          </a:xfrm>
          <a:prstGeom prst="roundRect">
            <a:avLst>
              <a:gd name="adj" fmla="val 2909"/>
            </a:avLst>
          </a:prstGeom>
          <a:solidFill>
            <a:srgbClr val="F4F7F5"/>
          </a:solidFill>
          <a:ln w="9525">
            <a:solidFill>
              <a:srgbClr val="D5DED9"/>
            </a:solidFill>
            <a:prstDash val="solid"/>
          </a:ln>
        </p:spPr>
      </p:sp>
      <p:sp>
        <p:nvSpPr>
          <p:cNvPr id="17" name="Shape 13"/>
          <p:cNvSpPr/>
          <p:nvPr/>
        </p:nvSpPr>
        <p:spPr>
          <a:xfrm>
            <a:off x="640080" y="1481328"/>
            <a:ext cx="329184" cy="329184"/>
          </a:xfrm>
          <a:prstGeom prst="rect">
            <a:avLst/>
          </a:prstGeom>
          <a:solidFill>
            <a:srgbClr val="FFFFFF"/>
          </a:solidFill>
          <a:ln w="6350">
            <a:solidFill>
              <a:srgbClr val="D5DED9"/>
            </a:solidFill>
            <a:prstDash val="solid"/>
          </a:ln>
        </p:spPr>
      </p:sp>
      <p:sp>
        <p:nvSpPr>
          <p:cNvPr id="18" name="Shape 14"/>
          <p:cNvSpPr/>
          <p:nvPr/>
        </p:nvSpPr>
        <p:spPr>
          <a:xfrm>
            <a:off x="758952" y="1600200"/>
            <a:ext cx="91440" cy="91440"/>
          </a:xfrm>
          <a:prstGeom prst="ellipse">
            <a:avLst/>
          </a:prstGeom>
          <a:solidFill>
            <a:srgbClr val="A9B5B0"/>
          </a:solidFill>
          <a:ln/>
        </p:spPr>
      </p:sp>
      <p:sp>
        <p:nvSpPr>
          <p:cNvPr id="19" name="Shape 15"/>
          <p:cNvSpPr/>
          <p:nvPr/>
        </p:nvSpPr>
        <p:spPr>
          <a:xfrm>
            <a:off x="1014984" y="1481328"/>
            <a:ext cx="329184" cy="329184"/>
          </a:xfrm>
          <a:prstGeom prst="rect">
            <a:avLst/>
          </a:prstGeom>
          <a:solidFill>
            <a:srgbClr val="FFFFFF"/>
          </a:solidFill>
          <a:ln w="6350">
            <a:solidFill>
              <a:srgbClr val="D5DED9"/>
            </a:solidFill>
            <a:prstDash val="solid"/>
          </a:ln>
        </p:spPr>
      </p:sp>
      <p:sp>
        <p:nvSpPr>
          <p:cNvPr id="20" name="Shape 16"/>
          <p:cNvSpPr/>
          <p:nvPr/>
        </p:nvSpPr>
        <p:spPr>
          <a:xfrm>
            <a:off x="1133856" y="1600200"/>
            <a:ext cx="91440" cy="91440"/>
          </a:xfrm>
          <a:prstGeom prst="ellipse">
            <a:avLst/>
          </a:prstGeom>
          <a:solidFill>
            <a:srgbClr val="A9B5B0"/>
          </a:solidFill>
          <a:ln/>
        </p:spPr>
      </p:sp>
      <p:sp>
        <p:nvSpPr>
          <p:cNvPr id="21" name="Shape 17"/>
          <p:cNvSpPr/>
          <p:nvPr/>
        </p:nvSpPr>
        <p:spPr>
          <a:xfrm>
            <a:off x="1389888" y="1481328"/>
            <a:ext cx="329184" cy="329184"/>
          </a:xfrm>
          <a:prstGeom prst="rect">
            <a:avLst/>
          </a:prstGeom>
          <a:solidFill>
            <a:srgbClr val="FFFFFF"/>
          </a:solidFill>
          <a:ln w="6350">
            <a:solidFill>
              <a:srgbClr val="D5DED9"/>
            </a:solidFill>
            <a:prstDash val="solid"/>
          </a:ln>
        </p:spPr>
      </p:sp>
      <p:sp>
        <p:nvSpPr>
          <p:cNvPr id="22" name="Shape 18"/>
          <p:cNvSpPr/>
          <p:nvPr/>
        </p:nvSpPr>
        <p:spPr>
          <a:xfrm>
            <a:off x="1508760" y="1600200"/>
            <a:ext cx="91440" cy="91440"/>
          </a:xfrm>
          <a:prstGeom prst="ellipse">
            <a:avLst/>
          </a:prstGeom>
          <a:solidFill>
            <a:srgbClr val="00A86A"/>
          </a:solidFill>
          <a:ln/>
        </p:spPr>
      </p:sp>
      <p:sp>
        <p:nvSpPr>
          <p:cNvPr id="23" name="Shape 19"/>
          <p:cNvSpPr/>
          <p:nvPr/>
        </p:nvSpPr>
        <p:spPr>
          <a:xfrm>
            <a:off x="1764792" y="1481328"/>
            <a:ext cx="329184" cy="329184"/>
          </a:xfrm>
          <a:prstGeom prst="rect">
            <a:avLst/>
          </a:prstGeom>
          <a:solidFill>
            <a:srgbClr val="FFFFFF"/>
          </a:solidFill>
          <a:ln w="6350">
            <a:solidFill>
              <a:srgbClr val="D5DED9"/>
            </a:solidFill>
            <a:prstDash val="solid"/>
          </a:ln>
        </p:spPr>
      </p:sp>
      <p:sp>
        <p:nvSpPr>
          <p:cNvPr id="24" name="Shape 20"/>
          <p:cNvSpPr/>
          <p:nvPr/>
        </p:nvSpPr>
        <p:spPr>
          <a:xfrm>
            <a:off x="1883664" y="1600200"/>
            <a:ext cx="91440" cy="91440"/>
          </a:xfrm>
          <a:prstGeom prst="ellipse">
            <a:avLst/>
          </a:prstGeom>
          <a:solidFill>
            <a:srgbClr val="00A86A"/>
          </a:solidFill>
          <a:ln/>
        </p:spPr>
      </p:sp>
      <p:sp>
        <p:nvSpPr>
          <p:cNvPr id="25" name="Shape 21"/>
          <p:cNvSpPr/>
          <p:nvPr/>
        </p:nvSpPr>
        <p:spPr>
          <a:xfrm>
            <a:off x="640080" y="1856232"/>
            <a:ext cx="329184" cy="329184"/>
          </a:xfrm>
          <a:prstGeom prst="rect">
            <a:avLst/>
          </a:prstGeom>
          <a:solidFill>
            <a:srgbClr val="FFFFFF"/>
          </a:solidFill>
          <a:ln w="6350">
            <a:solidFill>
              <a:srgbClr val="D5DED9"/>
            </a:solidFill>
            <a:prstDash val="solid"/>
          </a:ln>
        </p:spPr>
      </p:sp>
      <p:sp>
        <p:nvSpPr>
          <p:cNvPr id="26" name="Shape 22"/>
          <p:cNvSpPr/>
          <p:nvPr/>
        </p:nvSpPr>
        <p:spPr>
          <a:xfrm>
            <a:off x="758952" y="1975104"/>
            <a:ext cx="91440" cy="91440"/>
          </a:xfrm>
          <a:prstGeom prst="ellipse">
            <a:avLst/>
          </a:prstGeom>
          <a:solidFill>
            <a:srgbClr val="A9B5B0"/>
          </a:solidFill>
          <a:ln/>
        </p:spPr>
      </p:sp>
      <p:sp>
        <p:nvSpPr>
          <p:cNvPr id="27" name="Shape 23"/>
          <p:cNvSpPr/>
          <p:nvPr/>
        </p:nvSpPr>
        <p:spPr>
          <a:xfrm>
            <a:off x="1014984" y="1856232"/>
            <a:ext cx="329184" cy="329184"/>
          </a:xfrm>
          <a:prstGeom prst="rect">
            <a:avLst/>
          </a:prstGeom>
          <a:solidFill>
            <a:srgbClr val="FFFFFF"/>
          </a:solidFill>
          <a:ln w="6350">
            <a:solidFill>
              <a:srgbClr val="D5DED9"/>
            </a:solidFill>
            <a:prstDash val="solid"/>
          </a:ln>
        </p:spPr>
      </p:sp>
      <p:sp>
        <p:nvSpPr>
          <p:cNvPr id="28" name="Shape 24"/>
          <p:cNvSpPr/>
          <p:nvPr/>
        </p:nvSpPr>
        <p:spPr>
          <a:xfrm>
            <a:off x="1133856" y="1975104"/>
            <a:ext cx="91440" cy="91440"/>
          </a:xfrm>
          <a:prstGeom prst="ellipse">
            <a:avLst/>
          </a:prstGeom>
          <a:solidFill>
            <a:srgbClr val="00A86A"/>
          </a:solidFill>
          <a:ln/>
        </p:spPr>
      </p:sp>
      <p:sp>
        <p:nvSpPr>
          <p:cNvPr id="29" name="Shape 25"/>
          <p:cNvSpPr/>
          <p:nvPr/>
        </p:nvSpPr>
        <p:spPr>
          <a:xfrm>
            <a:off x="1389888" y="1856232"/>
            <a:ext cx="329184" cy="329184"/>
          </a:xfrm>
          <a:prstGeom prst="rect">
            <a:avLst/>
          </a:prstGeom>
          <a:solidFill>
            <a:srgbClr val="FFFFFF"/>
          </a:solidFill>
          <a:ln w="6350">
            <a:solidFill>
              <a:srgbClr val="D5DED9"/>
            </a:solidFill>
            <a:prstDash val="solid"/>
          </a:ln>
        </p:spPr>
      </p:sp>
      <p:sp>
        <p:nvSpPr>
          <p:cNvPr id="30" name="Shape 26"/>
          <p:cNvSpPr/>
          <p:nvPr/>
        </p:nvSpPr>
        <p:spPr>
          <a:xfrm>
            <a:off x="1508760" y="1975104"/>
            <a:ext cx="91440" cy="91440"/>
          </a:xfrm>
          <a:prstGeom prst="ellipse">
            <a:avLst/>
          </a:prstGeom>
          <a:solidFill>
            <a:srgbClr val="00A86A"/>
          </a:solidFill>
          <a:ln/>
        </p:spPr>
      </p:sp>
      <p:sp>
        <p:nvSpPr>
          <p:cNvPr id="31" name="Shape 27"/>
          <p:cNvSpPr/>
          <p:nvPr/>
        </p:nvSpPr>
        <p:spPr>
          <a:xfrm>
            <a:off x="1764792" y="1856232"/>
            <a:ext cx="329184" cy="329184"/>
          </a:xfrm>
          <a:prstGeom prst="rect">
            <a:avLst/>
          </a:prstGeom>
          <a:solidFill>
            <a:srgbClr val="FFFFFF"/>
          </a:solidFill>
          <a:ln w="6350">
            <a:solidFill>
              <a:srgbClr val="D5DED9"/>
            </a:solidFill>
            <a:prstDash val="solid"/>
          </a:ln>
        </p:spPr>
      </p:sp>
      <p:sp>
        <p:nvSpPr>
          <p:cNvPr id="32" name="Shape 28"/>
          <p:cNvSpPr/>
          <p:nvPr/>
        </p:nvSpPr>
        <p:spPr>
          <a:xfrm>
            <a:off x="1883664" y="1975104"/>
            <a:ext cx="91440" cy="91440"/>
          </a:xfrm>
          <a:prstGeom prst="ellipse">
            <a:avLst/>
          </a:prstGeom>
          <a:solidFill>
            <a:srgbClr val="00A86A"/>
          </a:solidFill>
          <a:ln/>
        </p:spPr>
      </p:sp>
      <p:sp>
        <p:nvSpPr>
          <p:cNvPr id="33" name="Shape 29"/>
          <p:cNvSpPr/>
          <p:nvPr/>
        </p:nvSpPr>
        <p:spPr>
          <a:xfrm>
            <a:off x="640080" y="2231136"/>
            <a:ext cx="329184" cy="329184"/>
          </a:xfrm>
          <a:prstGeom prst="rect">
            <a:avLst/>
          </a:prstGeom>
          <a:solidFill>
            <a:srgbClr val="FFFFFF"/>
          </a:solidFill>
          <a:ln w="6350">
            <a:solidFill>
              <a:srgbClr val="D5DED9"/>
            </a:solidFill>
            <a:prstDash val="solid"/>
          </a:ln>
        </p:spPr>
      </p:sp>
      <p:sp>
        <p:nvSpPr>
          <p:cNvPr id="34" name="Shape 30"/>
          <p:cNvSpPr/>
          <p:nvPr/>
        </p:nvSpPr>
        <p:spPr>
          <a:xfrm>
            <a:off x="758952" y="2350008"/>
            <a:ext cx="91440" cy="91440"/>
          </a:xfrm>
          <a:prstGeom prst="ellipse">
            <a:avLst/>
          </a:prstGeom>
          <a:solidFill>
            <a:srgbClr val="00A86A"/>
          </a:solidFill>
          <a:ln/>
        </p:spPr>
      </p:sp>
      <p:sp>
        <p:nvSpPr>
          <p:cNvPr id="35" name="Shape 31"/>
          <p:cNvSpPr/>
          <p:nvPr/>
        </p:nvSpPr>
        <p:spPr>
          <a:xfrm>
            <a:off x="1014984" y="2231136"/>
            <a:ext cx="329184" cy="329184"/>
          </a:xfrm>
          <a:prstGeom prst="rect">
            <a:avLst/>
          </a:prstGeom>
          <a:solidFill>
            <a:srgbClr val="FFFFFF"/>
          </a:solidFill>
          <a:ln w="6350">
            <a:solidFill>
              <a:srgbClr val="D5DED9"/>
            </a:solidFill>
            <a:prstDash val="solid"/>
          </a:ln>
        </p:spPr>
      </p:sp>
      <p:sp>
        <p:nvSpPr>
          <p:cNvPr id="36" name="Shape 32"/>
          <p:cNvSpPr/>
          <p:nvPr/>
        </p:nvSpPr>
        <p:spPr>
          <a:xfrm>
            <a:off x="1133856" y="2350008"/>
            <a:ext cx="91440" cy="91440"/>
          </a:xfrm>
          <a:prstGeom prst="ellipse">
            <a:avLst/>
          </a:prstGeom>
          <a:solidFill>
            <a:srgbClr val="00A86A"/>
          </a:solidFill>
          <a:ln/>
        </p:spPr>
      </p:sp>
      <p:sp>
        <p:nvSpPr>
          <p:cNvPr id="37" name="Shape 33"/>
          <p:cNvSpPr/>
          <p:nvPr/>
        </p:nvSpPr>
        <p:spPr>
          <a:xfrm>
            <a:off x="1389888" y="2231136"/>
            <a:ext cx="329184" cy="329184"/>
          </a:xfrm>
          <a:prstGeom prst="rect">
            <a:avLst/>
          </a:prstGeom>
          <a:solidFill>
            <a:srgbClr val="FFFFFF"/>
          </a:solidFill>
          <a:ln w="6350">
            <a:solidFill>
              <a:srgbClr val="D5DED9"/>
            </a:solidFill>
            <a:prstDash val="solid"/>
          </a:ln>
        </p:spPr>
      </p:sp>
      <p:sp>
        <p:nvSpPr>
          <p:cNvPr id="38" name="Shape 34"/>
          <p:cNvSpPr/>
          <p:nvPr/>
        </p:nvSpPr>
        <p:spPr>
          <a:xfrm>
            <a:off x="1508760" y="2350008"/>
            <a:ext cx="91440" cy="91440"/>
          </a:xfrm>
          <a:prstGeom prst="ellipse">
            <a:avLst/>
          </a:prstGeom>
          <a:solidFill>
            <a:srgbClr val="00A86A"/>
          </a:solidFill>
          <a:ln/>
        </p:spPr>
      </p:sp>
      <p:sp>
        <p:nvSpPr>
          <p:cNvPr id="39" name="Shape 35"/>
          <p:cNvSpPr/>
          <p:nvPr/>
        </p:nvSpPr>
        <p:spPr>
          <a:xfrm>
            <a:off x="1764792" y="2231136"/>
            <a:ext cx="329184" cy="329184"/>
          </a:xfrm>
          <a:prstGeom prst="rect">
            <a:avLst/>
          </a:prstGeom>
          <a:solidFill>
            <a:srgbClr val="FFFFFF"/>
          </a:solidFill>
          <a:ln w="6350">
            <a:solidFill>
              <a:srgbClr val="D5DED9"/>
            </a:solidFill>
            <a:prstDash val="solid"/>
          </a:ln>
        </p:spPr>
      </p:sp>
      <p:sp>
        <p:nvSpPr>
          <p:cNvPr id="40" name="Shape 36"/>
          <p:cNvSpPr/>
          <p:nvPr/>
        </p:nvSpPr>
        <p:spPr>
          <a:xfrm>
            <a:off x="1883664" y="2350008"/>
            <a:ext cx="91440" cy="91440"/>
          </a:xfrm>
          <a:prstGeom prst="ellipse">
            <a:avLst/>
          </a:prstGeom>
          <a:solidFill>
            <a:srgbClr val="00A86A"/>
          </a:solidFill>
          <a:ln/>
        </p:spPr>
      </p:sp>
      <p:sp>
        <p:nvSpPr>
          <p:cNvPr id="41" name="Shape 37"/>
          <p:cNvSpPr/>
          <p:nvPr/>
        </p:nvSpPr>
        <p:spPr>
          <a:xfrm>
            <a:off x="640080" y="2606040"/>
            <a:ext cx="329184" cy="329184"/>
          </a:xfrm>
          <a:prstGeom prst="rect">
            <a:avLst/>
          </a:prstGeom>
          <a:solidFill>
            <a:srgbClr val="FFFFFF"/>
          </a:solidFill>
          <a:ln w="6350">
            <a:solidFill>
              <a:srgbClr val="D5DED9"/>
            </a:solidFill>
            <a:prstDash val="solid"/>
          </a:ln>
        </p:spPr>
      </p:sp>
      <p:sp>
        <p:nvSpPr>
          <p:cNvPr id="42" name="Shape 38"/>
          <p:cNvSpPr/>
          <p:nvPr/>
        </p:nvSpPr>
        <p:spPr>
          <a:xfrm>
            <a:off x="758952" y="2724912"/>
            <a:ext cx="91440" cy="91440"/>
          </a:xfrm>
          <a:prstGeom prst="ellipse">
            <a:avLst/>
          </a:prstGeom>
          <a:solidFill>
            <a:srgbClr val="00A86A"/>
          </a:solidFill>
          <a:ln/>
        </p:spPr>
      </p:sp>
      <p:sp>
        <p:nvSpPr>
          <p:cNvPr id="43" name="Shape 39"/>
          <p:cNvSpPr/>
          <p:nvPr/>
        </p:nvSpPr>
        <p:spPr>
          <a:xfrm>
            <a:off x="1014984" y="2606040"/>
            <a:ext cx="329184" cy="329184"/>
          </a:xfrm>
          <a:prstGeom prst="rect">
            <a:avLst/>
          </a:prstGeom>
          <a:solidFill>
            <a:srgbClr val="FFFFFF"/>
          </a:solidFill>
          <a:ln w="6350">
            <a:solidFill>
              <a:srgbClr val="D5DED9"/>
            </a:solidFill>
            <a:prstDash val="solid"/>
          </a:ln>
        </p:spPr>
      </p:sp>
      <p:sp>
        <p:nvSpPr>
          <p:cNvPr id="44" name="Shape 40"/>
          <p:cNvSpPr/>
          <p:nvPr/>
        </p:nvSpPr>
        <p:spPr>
          <a:xfrm>
            <a:off x="1133856" y="2724912"/>
            <a:ext cx="91440" cy="91440"/>
          </a:xfrm>
          <a:prstGeom prst="ellipse">
            <a:avLst/>
          </a:prstGeom>
          <a:solidFill>
            <a:srgbClr val="00A86A"/>
          </a:solidFill>
          <a:ln/>
        </p:spPr>
      </p:sp>
      <p:sp>
        <p:nvSpPr>
          <p:cNvPr id="45" name="Shape 41"/>
          <p:cNvSpPr/>
          <p:nvPr/>
        </p:nvSpPr>
        <p:spPr>
          <a:xfrm>
            <a:off x="1389888" y="2606040"/>
            <a:ext cx="329184" cy="329184"/>
          </a:xfrm>
          <a:prstGeom prst="rect">
            <a:avLst/>
          </a:prstGeom>
          <a:solidFill>
            <a:srgbClr val="FFFFFF"/>
          </a:solidFill>
          <a:ln w="6350">
            <a:solidFill>
              <a:srgbClr val="D5DED9"/>
            </a:solidFill>
            <a:prstDash val="solid"/>
          </a:ln>
        </p:spPr>
      </p:sp>
      <p:sp>
        <p:nvSpPr>
          <p:cNvPr id="46" name="Shape 42"/>
          <p:cNvSpPr/>
          <p:nvPr/>
        </p:nvSpPr>
        <p:spPr>
          <a:xfrm>
            <a:off x="1508760" y="2724912"/>
            <a:ext cx="91440" cy="91440"/>
          </a:xfrm>
          <a:prstGeom prst="ellipse">
            <a:avLst/>
          </a:prstGeom>
          <a:solidFill>
            <a:srgbClr val="00A86A"/>
          </a:solidFill>
          <a:ln/>
        </p:spPr>
      </p:sp>
      <p:sp>
        <p:nvSpPr>
          <p:cNvPr id="47" name="Shape 43"/>
          <p:cNvSpPr/>
          <p:nvPr/>
        </p:nvSpPr>
        <p:spPr>
          <a:xfrm>
            <a:off x="1764792" y="2606040"/>
            <a:ext cx="329184" cy="329184"/>
          </a:xfrm>
          <a:prstGeom prst="rect">
            <a:avLst/>
          </a:prstGeom>
          <a:solidFill>
            <a:srgbClr val="FFFFFF"/>
          </a:solidFill>
          <a:ln w="6350">
            <a:solidFill>
              <a:srgbClr val="D5DED9"/>
            </a:solidFill>
            <a:prstDash val="solid"/>
          </a:ln>
        </p:spPr>
      </p:sp>
      <p:sp>
        <p:nvSpPr>
          <p:cNvPr id="48" name="Shape 44"/>
          <p:cNvSpPr/>
          <p:nvPr/>
        </p:nvSpPr>
        <p:spPr>
          <a:xfrm>
            <a:off x="1883664" y="2724912"/>
            <a:ext cx="91440" cy="91440"/>
          </a:xfrm>
          <a:prstGeom prst="ellipse">
            <a:avLst/>
          </a:prstGeom>
          <a:solidFill>
            <a:srgbClr val="A9B5B0"/>
          </a:solidFill>
          <a:ln/>
        </p:spPr>
      </p:sp>
      <p:sp>
        <p:nvSpPr>
          <p:cNvPr id="49" name="Text 45"/>
          <p:cNvSpPr txBox="1"/>
          <p:nvPr/>
        </p:nvSpPr>
        <p:spPr>
          <a:xfrm>
            <a:off x="2286000" y="1417320"/>
            <a:ext cx="2103120" cy="320040"/>
          </a:xfrm>
          <a:prstGeom prst="rect">
            <a:avLst/>
          </a:prstGeom>
          <a:noFill/>
          <a:ln/>
        </p:spPr>
        <p:txBody>
          <a:bodyPr wrap="square" lIns="0" tIns="0" rIns="0" bIns="0" rtlCol="0" anchor="t"/>
          <a:lstStyle/>
          <a:p>
            <a:pPr marL="0" indent="0">
              <a:buNone/>
            </a:pPr>
            <a:r>
              <a:rPr lang="fr-FR" altLang="en-US" sz="1500" b="1" dirty="0">
                <a:solidFill>
                  <a:srgbClr val="00A86A"/>
                </a:solidFill>
                <a:latin typeface="Courier New" pitchFamily="34" charset="0"/>
                <a:ea typeface="Courier New" pitchFamily="34" charset="-122"/>
                <a:cs typeface="Courier New" pitchFamily="34" charset="-120"/>
              </a:rPr>
              <a:t>geo_point</a:t>
            </a:r>
            <a:endParaRPr lang="fr-FR" sz="1500" dirty="0"/>
          </a:p>
        </p:txBody>
      </p:sp>
      <p:sp>
        <p:nvSpPr>
          <p:cNvPr id="50" name="Text 46"/>
          <p:cNvSpPr txBox="1"/>
          <p:nvPr/>
        </p:nvSpPr>
        <p:spPr>
          <a:xfrm>
            <a:off x="2286000" y="1737360"/>
            <a:ext cx="2103120" cy="228600"/>
          </a:xfrm>
          <a:prstGeom prst="rect">
            <a:avLst/>
          </a:prstGeom>
          <a:noFill/>
          <a:ln/>
        </p:spPr>
        <p:txBody>
          <a:bodyPr wrap="square" lIns="0" tIns="0" rIns="0" bIns="0" rtlCol="0" anchor="t"/>
          <a:lstStyle/>
          <a:p>
            <a:pPr marL="0" indent="0">
              <a:buNone/>
            </a:pPr>
            <a:r>
              <a:rPr lang="fr-FR" altLang="en-US" sz="1050" i="1" dirty="0">
                <a:solidFill>
                  <a:srgbClr val="5E6964"/>
                </a:solidFill>
                <a:latin typeface="Calibri" pitchFamily="34" charset="0"/>
                <a:ea typeface="Calibri" pitchFamily="34" charset="-122"/>
                <a:cs typeface="Calibri" pitchFamily="34" charset="-120"/>
              </a:rPr>
              <a:t>le centroïde de la tuile</a:t>
            </a:r>
            <a:endParaRPr lang="fr-FR" sz="1050" dirty="0"/>
          </a:p>
        </p:txBody>
      </p:sp>
      <p:sp>
        <p:nvSpPr>
          <p:cNvPr id="51" name="Text 47"/>
          <p:cNvSpPr txBox="1"/>
          <p:nvPr/>
        </p:nvSpPr>
        <p:spPr>
          <a:xfrm>
            <a:off x="228600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Compact et très rapide</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Cartes de chaleur, buckets geotile_grid</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Requêtes de distance (≤ 10 km)</a:t>
            </a:r>
            <a:endParaRPr lang="fr-FR" sz="1000" dirty="0"/>
          </a:p>
          <a:p>
            <a:pPr marL="342900" indent="-342900">
              <a:spcAft>
                <a:spcPts val="400"/>
              </a:spcAft>
              <a:buSzPct val="100000"/>
              <a:buChar char="•"/>
            </a:pPr>
            <a:r>
              <a:rPr lang="fr-FR" altLang="en-US" sz="1000" dirty="0">
                <a:solidFill>
                  <a:srgbClr val="B83B2E"/>
                </a:solidFill>
                <a:latin typeface="Calibri" pitchFamily="34" charset="0"/>
                <a:ea typeface="Calibri" pitchFamily="34" charset="-122"/>
                <a:cs typeface="Calibri" pitchFamily="34" charset="-120"/>
              </a:rPr>
              <a:t>Une tuile frontalière ne compte que d’un côté</a:t>
            </a:r>
            <a:endParaRPr lang="fr-FR" sz="1000" dirty="0"/>
          </a:p>
        </p:txBody>
      </p:sp>
      <p:sp>
        <p:nvSpPr>
          <p:cNvPr id="52" name="Shape 48"/>
          <p:cNvSpPr/>
          <p:nvPr/>
        </p:nvSpPr>
        <p:spPr>
          <a:xfrm>
            <a:off x="4663440" y="1261872"/>
            <a:ext cx="4023360" cy="2514600"/>
          </a:xfrm>
          <a:prstGeom prst="roundRect">
            <a:avLst>
              <a:gd name="adj" fmla="val 2909"/>
            </a:avLst>
          </a:prstGeom>
          <a:solidFill>
            <a:srgbClr val="F4F7F5"/>
          </a:solidFill>
          <a:ln w="9525">
            <a:solidFill>
              <a:srgbClr val="D5DED9"/>
            </a:solidFill>
            <a:prstDash val="solid"/>
          </a:ln>
        </p:spPr>
      </p:sp>
      <p:sp>
        <p:nvSpPr>
          <p:cNvPr id="53" name="Shape 49"/>
          <p:cNvSpPr/>
          <p:nvPr/>
        </p:nvSpPr>
        <p:spPr>
          <a:xfrm>
            <a:off x="4846320" y="1481328"/>
            <a:ext cx="329184" cy="329184"/>
          </a:xfrm>
          <a:prstGeom prst="rect">
            <a:avLst/>
          </a:prstGeom>
          <a:solidFill>
            <a:srgbClr val="F4F7F5"/>
          </a:solidFill>
          <a:ln w="9525">
            <a:solidFill>
              <a:srgbClr val="0E7C86"/>
            </a:solidFill>
            <a:prstDash val="solid"/>
          </a:ln>
        </p:spPr>
      </p:sp>
      <p:sp>
        <p:nvSpPr>
          <p:cNvPr id="54" name="Shape 50"/>
          <p:cNvSpPr/>
          <p:nvPr/>
        </p:nvSpPr>
        <p:spPr>
          <a:xfrm>
            <a:off x="5221224" y="1481328"/>
            <a:ext cx="329184" cy="329184"/>
          </a:xfrm>
          <a:prstGeom prst="rect">
            <a:avLst/>
          </a:prstGeom>
          <a:solidFill>
            <a:srgbClr val="F4F7F5"/>
          </a:solidFill>
          <a:ln w="9525">
            <a:solidFill>
              <a:srgbClr val="0E7C86"/>
            </a:solidFill>
            <a:prstDash val="solid"/>
          </a:ln>
        </p:spPr>
      </p:sp>
      <p:sp>
        <p:nvSpPr>
          <p:cNvPr id="55" name="Shape 51"/>
          <p:cNvSpPr/>
          <p:nvPr/>
        </p:nvSpPr>
        <p:spPr>
          <a:xfrm>
            <a:off x="5596128" y="1481328"/>
            <a:ext cx="329184" cy="329184"/>
          </a:xfrm>
          <a:prstGeom prst="rect">
            <a:avLst/>
          </a:prstGeom>
          <a:solidFill>
            <a:srgbClr val="0E7C86">
              <a:alpha val="45000"/>
            </a:srgbClr>
          </a:solidFill>
          <a:ln w="9525">
            <a:solidFill>
              <a:srgbClr val="0E7C86"/>
            </a:solidFill>
            <a:prstDash val="solid"/>
          </a:ln>
        </p:spPr>
      </p:sp>
      <p:sp>
        <p:nvSpPr>
          <p:cNvPr id="56" name="Shape 52"/>
          <p:cNvSpPr/>
          <p:nvPr/>
        </p:nvSpPr>
        <p:spPr>
          <a:xfrm>
            <a:off x="5971032" y="1481328"/>
            <a:ext cx="329184" cy="329184"/>
          </a:xfrm>
          <a:prstGeom prst="rect">
            <a:avLst/>
          </a:prstGeom>
          <a:solidFill>
            <a:srgbClr val="0E7C86">
              <a:alpha val="45000"/>
            </a:srgbClr>
          </a:solidFill>
          <a:ln w="9525">
            <a:solidFill>
              <a:srgbClr val="0E7C86"/>
            </a:solidFill>
            <a:prstDash val="solid"/>
          </a:ln>
        </p:spPr>
      </p:sp>
      <p:sp>
        <p:nvSpPr>
          <p:cNvPr id="57" name="Shape 53"/>
          <p:cNvSpPr/>
          <p:nvPr/>
        </p:nvSpPr>
        <p:spPr>
          <a:xfrm>
            <a:off x="4846320" y="1856232"/>
            <a:ext cx="329184" cy="329184"/>
          </a:xfrm>
          <a:prstGeom prst="rect">
            <a:avLst/>
          </a:prstGeom>
          <a:solidFill>
            <a:srgbClr val="F4F7F5"/>
          </a:solidFill>
          <a:ln w="9525">
            <a:solidFill>
              <a:srgbClr val="0E7C86"/>
            </a:solidFill>
            <a:prstDash val="solid"/>
          </a:ln>
        </p:spPr>
      </p:sp>
      <p:sp>
        <p:nvSpPr>
          <p:cNvPr id="58" name="Shape 54"/>
          <p:cNvSpPr/>
          <p:nvPr/>
        </p:nvSpPr>
        <p:spPr>
          <a:xfrm>
            <a:off x="5221224" y="1856232"/>
            <a:ext cx="329184" cy="329184"/>
          </a:xfrm>
          <a:prstGeom prst="rect">
            <a:avLst/>
          </a:prstGeom>
          <a:solidFill>
            <a:srgbClr val="0E7C86">
              <a:alpha val="45000"/>
            </a:srgbClr>
          </a:solidFill>
          <a:ln w="9525">
            <a:solidFill>
              <a:srgbClr val="0E7C86"/>
            </a:solidFill>
            <a:prstDash val="solid"/>
          </a:ln>
        </p:spPr>
      </p:sp>
      <p:sp>
        <p:nvSpPr>
          <p:cNvPr id="59" name="Shape 55"/>
          <p:cNvSpPr/>
          <p:nvPr/>
        </p:nvSpPr>
        <p:spPr>
          <a:xfrm>
            <a:off x="5596128" y="1856232"/>
            <a:ext cx="329184" cy="329184"/>
          </a:xfrm>
          <a:prstGeom prst="rect">
            <a:avLst/>
          </a:prstGeom>
          <a:solidFill>
            <a:srgbClr val="0E7C86">
              <a:alpha val="45000"/>
            </a:srgbClr>
          </a:solidFill>
          <a:ln w="9525">
            <a:solidFill>
              <a:srgbClr val="0E7C86"/>
            </a:solidFill>
            <a:prstDash val="solid"/>
          </a:ln>
        </p:spPr>
      </p:sp>
      <p:sp>
        <p:nvSpPr>
          <p:cNvPr id="60" name="Shape 56"/>
          <p:cNvSpPr/>
          <p:nvPr/>
        </p:nvSpPr>
        <p:spPr>
          <a:xfrm>
            <a:off x="5971032" y="1856232"/>
            <a:ext cx="329184" cy="329184"/>
          </a:xfrm>
          <a:prstGeom prst="rect">
            <a:avLst/>
          </a:prstGeom>
          <a:solidFill>
            <a:srgbClr val="0E7C86">
              <a:alpha val="45000"/>
            </a:srgbClr>
          </a:solidFill>
          <a:ln w="9525">
            <a:solidFill>
              <a:srgbClr val="0E7C86"/>
            </a:solidFill>
            <a:prstDash val="solid"/>
          </a:ln>
        </p:spPr>
      </p:sp>
      <p:sp>
        <p:nvSpPr>
          <p:cNvPr id="61" name="Shape 57"/>
          <p:cNvSpPr/>
          <p:nvPr/>
        </p:nvSpPr>
        <p:spPr>
          <a:xfrm>
            <a:off x="4846320" y="2231136"/>
            <a:ext cx="329184" cy="329184"/>
          </a:xfrm>
          <a:prstGeom prst="rect">
            <a:avLst/>
          </a:prstGeom>
          <a:solidFill>
            <a:srgbClr val="0E7C86">
              <a:alpha val="45000"/>
            </a:srgbClr>
          </a:solidFill>
          <a:ln w="9525">
            <a:solidFill>
              <a:srgbClr val="0E7C86"/>
            </a:solidFill>
            <a:prstDash val="solid"/>
          </a:ln>
        </p:spPr>
      </p:sp>
      <p:sp>
        <p:nvSpPr>
          <p:cNvPr id="62" name="Shape 58"/>
          <p:cNvSpPr/>
          <p:nvPr/>
        </p:nvSpPr>
        <p:spPr>
          <a:xfrm>
            <a:off x="5221224" y="2231136"/>
            <a:ext cx="329184" cy="329184"/>
          </a:xfrm>
          <a:prstGeom prst="rect">
            <a:avLst/>
          </a:prstGeom>
          <a:solidFill>
            <a:srgbClr val="0E7C86">
              <a:alpha val="45000"/>
            </a:srgbClr>
          </a:solidFill>
          <a:ln w="9525">
            <a:solidFill>
              <a:srgbClr val="0E7C86"/>
            </a:solidFill>
            <a:prstDash val="solid"/>
          </a:ln>
        </p:spPr>
      </p:sp>
      <p:sp>
        <p:nvSpPr>
          <p:cNvPr id="63" name="Shape 59"/>
          <p:cNvSpPr/>
          <p:nvPr/>
        </p:nvSpPr>
        <p:spPr>
          <a:xfrm>
            <a:off x="5596128" y="2231136"/>
            <a:ext cx="329184" cy="329184"/>
          </a:xfrm>
          <a:prstGeom prst="rect">
            <a:avLst/>
          </a:prstGeom>
          <a:solidFill>
            <a:srgbClr val="0E7C86">
              <a:alpha val="45000"/>
            </a:srgbClr>
          </a:solidFill>
          <a:ln w="9525">
            <a:solidFill>
              <a:srgbClr val="0E7C86"/>
            </a:solidFill>
            <a:prstDash val="solid"/>
          </a:ln>
        </p:spPr>
      </p:sp>
      <p:sp>
        <p:nvSpPr>
          <p:cNvPr id="64" name="Shape 60"/>
          <p:cNvSpPr/>
          <p:nvPr/>
        </p:nvSpPr>
        <p:spPr>
          <a:xfrm>
            <a:off x="5971032" y="2231136"/>
            <a:ext cx="329184" cy="329184"/>
          </a:xfrm>
          <a:prstGeom prst="rect">
            <a:avLst/>
          </a:prstGeom>
          <a:solidFill>
            <a:srgbClr val="0E7C86">
              <a:alpha val="45000"/>
            </a:srgbClr>
          </a:solidFill>
          <a:ln w="9525">
            <a:solidFill>
              <a:srgbClr val="0E7C86"/>
            </a:solidFill>
            <a:prstDash val="solid"/>
          </a:ln>
        </p:spPr>
      </p:sp>
      <p:sp>
        <p:nvSpPr>
          <p:cNvPr id="65" name="Shape 61"/>
          <p:cNvSpPr/>
          <p:nvPr/>
        </p:nvSpPr>
        <p:spPr>
          <a:xfrm>
            <a:off x="4846320" y="2606040"/>
            <a:ext cx="329184" cy="329184"/>
          </a:xfrm>
          <a:prstGeom prst="rect">
            <a:avLst/>
          </a:prstGeom>
          <a:solidFill>
            <a:srgbClr val="0E7C86">
              <a:alpha val="45000"/>
            </a:srgbClr>
          </a:solidFill>
          <a:ln w="9525">
            <a:solidFill>
              <a:srgbClr val="0E7C86"/>
            </a:solidFill>
            <a:prstDash val="solid"/>
          </a:ln>
        </p:spPr>
      </p:sp>
      <p:sp>
        <p:nvSpPr>
          <p:cNvPr id="66" name="Shape 62"/>
          <p:cNvSpPr/>
          <p:nvPr/>
        </p:nvSpPr>
        <p:spPr>
          <a:xfrm>
            <a:off x="5221224" y="2606040"/>
            <a:ext cx="329184" cy="329184"/>
          </a:xfrm>
          <a:prstGeom prst="rect">
            <a:avLst/>
          </a:prstGeom>
          <a:solidFill>
            <a:srgbClr val="0E7C86">
              <a:alpha val="45000"/>
            </a:srgbClr>
          </a:solidFill>
          <a:ln w="9525">
            <a:solidFill>
              <a:srgbClr val="0E7C86"/>
            </a:solidFill>
            <a:prstDash val="solid"/>
          </a:ln>
        </p:spPr>
      </p:sp>
      <p:sp>
        <p:nvSpPr>
          <p:cNvPr id="67" name="Shape 63"/>
          <p:cNvSpPr/>
          <p:nvPr/>
        </p:nvSpPr>
        <p:spPr>
          <a:xfrm>
            <a:off x="5596128" y="2606040"/>
            <a:ext cx="329184" cy="329184"/>
          </a:xfrm>
          <a:prstGeom prst="rect">
            <a:avLst/>
          </a:prstGeom>
          <a:solidFill>
            <a:srgbClr val="0E7C86">
              <a:alpha val="45000"/>
            </a:srgbClr>
          </a:solidFill>
          <a:ln w="9525">
            <a:solidFill>
              <a:srgbClr val="0E7C86"/>
            </a:solidFill>
            <a:prstDash val="solid"/>
          </a:ln>
        </p:spPr>
      </p:sp>
      <p:sp>
        <p:nvSpPr>
          <p:cNvPr id="68" name="Shape 64"/>
          <p:cNvSpPr/>
          <p:nvPr/>
        </p:nvSpPr>
        <p:spPr>
          <a:xfrm>
            <a:off x="5971032" y="2606040"/>
            <a:ext cx="329184" cy="329184"/>
          </a:xfrm>
          <a:prstGeom prst="rect">
            <a:avLst/>
          </a:prstGeom>
          <a:solidFill>
            <a:srgbClr val="F4F7F5"/>
          </a:solidFill>
          <a:ln w="9525">
            <a:solidFill>
              <a:srgbClr val="0E7C86"/>
            </a:solidFill>
            <a:prstDash val="solid"/>
          </a:ln>
        </p:spPr>
      </p:sp>
      <p:sp>
        <p:nvSpPr>
          <p:cNvPr id="69" name="Text 65"/>
          <p:cNvSpPr txBox="1"/>
          <p:nvPr/>
        </p:nvSpPr>
        <p:spPr>
          <a:xfrm>
            <a:off x="6492240" y="1417320"/>
            <a:ext cx="2103120" cy="320040"/>
          </a:xfrm>
          <a:prstGeom prst="rect">
            <a:avLst/>
          </a:prstGeom>
          <a:noFill/>
          <a:ln/>
        </p:spPr>
        <p:txBody>
          <a:bodyPr wrap="square" lIns="0" tIns="0" rIns="0" bIns="0" rtlCol="0" anchor="t"/>
          <a:lstStyle/>
          <a:p>
            <a:pPr marL="0" indent="0">
              <a:buNone/>
            </a:pPr>
            <a:r>
              <a:rPr lang="fr-FR" altLang="en-US" sz="1500" b="1" dirty="0">
                <a:solidFill>
                  <a:srgbClr val="0E7C86"/>
                </a:solidFill>
                <a:latin typeface="Courier New" pitchFamily="34" charset="0"/>
                <a:ea typeface="Courier New" pitchFamily="34" charset="-122"/>
                <a:cs typeface="Courier New" pitchFamily="34" charset="-120"/>
              </a:rPr>
              <a:t>geo_shape</a:t>
            </a:r>
            <a:endParaRPr lang="fr-FR" sz="1500" dirty="0"/>
          </a:p>
        </p:txBody>
      </p:sp>
      <p:sp>
        <p:nvSpPr>
          <p:cNvPr id="70" name="Text 66"/>
          <p:cNvSpPr txBox="1"/>
          <p:nvPr/>
        </p:nvSpPr>
        <p:spPr>
          <a:xfrm>
            <a:off x="6492240" y="1737360"/>
            <a:ext cx="2103120" cy="228600"/>
          </a:xfrm>
          <a:prstGeom prst="rect">
            <a:avLst/>
          </a:prstGeom>
          <a:noFill/>
          <a:ln/>
        </p:spPr>
        <p:txBody>
          <a:bodyPr wrap="square" lIns="0" tIns="0" rIns="0" bIns="0" rtlCol="0" anchor="t"/>
          <a:lstStyle/>
          <a:p>
            <a:pPr marL="0" indent="0">
              <a:buNone/>
            </a:pPr>
            <a:r>
              <a:rPr lang="fr-FR" altLang="en-US" sz="1050" i="1" dirty="0">
                <a:solidFill>
                  <a:srgbClr val="5E6964"/>
                </a:solidFill>
                <a:latin typeface="Calibri" pitchFamily="34" charset="0"/>
                <a:ea typeface="Calibri" pitchFamily="34" charset="-122"/>
                <a:cs typeface="Calibri" pitchFamily="34" charset="-120"/>
              </a:rPr>
              <a:t>le polygone complet de 610 m</a:t>
            </a:r>
            <a:endParaRPr lang="fr-FR" sz="1050" dirty="0"/>
          </a:p>
        </p:txBody>
      </p:sp>
      <p:sp>
        <p:nvSpPr>
          <p:cNvPr id="71" name="Text 67"/>
          <p:cNvSpPr txBox="1"/>
          <p:nvPr/>
        </p:nvSpPr>
        <p:spPr>
          <a:xfrm>
            <a:off x="649224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Intersection exacte avec les limites</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Tuiles frontalières comptées des deux côtés</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Rendu fidèle des polygones dans Maps</a:t>
            </a:r>
            <a:endParaRPr lang="fr-FR" sz="1000" dirty="0"/>
          </a:p>
          <a:p>
            <a:pPr marL="342900" indent="-342900">
              <a:spcAft>
                <a:spcPts val="400"/>
              </a:spcAft>
              <a:buSzPct val="100000"/>
              <a:buChar char="•"/>
            </a:pPr>
            <a:r>
              <a:rPr lang="fr-FR" altLang="en-US" sz="1000" dirty="0">
                <a:solidFill>
                  <a:srgbClr val="B83B2E"/>
                </a:solidFill>
                <a:latin typeface="Calibri" pitchFamily="34" charset="0"/>
                <a:ea typeface="Calibri" pitchFamily="34" charset="-122"/>
                <a:cs typeface="Calibri" pitchFamily="34" charset="-120"/>
              </a:rPr>
              <a:t>Plus lourd à indexer et à interroger</a:t>
            </a:r>
            <a:endParaRPr lang="fr-FR" sz="1000" dirty="0"/>
          </a:p>
        </p:txBody>
      </p:sp>
      <p:sp>
        <p:nvSpPr>
          <p:cNvPr id="72" name="Shape 68"/>
          <p:cNvSpPr/>
          <p:nvPr/>
        </p:nvSpPr>
        <p:spPr>
          <a:xfrm>
            <a:off x="457200" y="3931920"/>
            <a:ext cx="8229600" cy="640080"/>
          </a:xfrm>
          <a:prstGeom prst="roundRect">
            <a:avLst>
              <a:gd name="adj" fmla="val 11429"/>
            </a:avLst>
          </a:prstGeom>
          <a:solidFill>
            <a:srgbClr val="E8F5EF"/>
          </a:solidFill>
          <a:ln w="15875">
            <a:solidFill>
              <a:srgbClr val="00A86A"/>
            </a:solidFill>
            <a:prstDash val="solid"/>
          </a:ln>
        </p:spPr>
      </p:sp>
      <p:sp>
        <p:nvSpPr>
          <p:cNvPr id="73" name="Shape 69"/>
          <p:cNvSpPr/>
          <p:nvPr/>
        </p:nvSpPr>
        <p:spPr>
          <a:xfrm>
            <a:off x="594360" y="4041648"/>
            <a:ext cx="420624" cy="420624"/>
          </a:xfrm>
          <a:prstGeom prst="ellipse">
            <a:avLst/>
          </a:prstGeom>
          <a:solidFill>
            <a:srgbClr val="00A86A">
              <a:alpha val="22000"/>
            </a:srgbClr>
          </a:solidFill>
          <a:ln/>
        </p:spPr>
      </p:sp>
      <p:pic>
        <p:nvPicPr>
          <p:cNvPr id="74" name="Image 1" descr="preencoded.png"/>
          <p:cNvPicPr>
            <a:picLocks noChangeAspect="1"/>
          </p:cNvPicPr>
          <p:nvPr/>
        </p:nvPicPr>
        <p:blipFill>
          <a:blip r:embed="rId4"/>
          <a:stretch>
            <a:fillRect/>
          </a:stretch>
        </p:blipFill>
        <p:spPr>
          <a:xfrm>
            <a:off x="703722" y="4151010"/>
            <a:ext cx="201900" cy="201900"/>
          </a:xfrm>
          <a:prstGeom prst="rect">
            <a:avLst/>
          </a:prstGeom>
        </p:spPr>
      </p:pic>
      <p:sp>
        <p:nvSpPr>
          <p:cNvPr id="75" name="Text 70"/>
          <p:cNvSpPr txBox="1"/>
          <p:nvPr/>
        </p:nvSpPr>
        <p:spPr>
          <a:xfrm>
            <a:off x="1161288" y="3959352"/>
            <a:ext cx="7406640" cy="585216"/>
          </a:xfrm>
          <a:prstGeom prst="rect">
            <a:avLst/>
          </a:prstGeom>
          <a:noFill/>
          <a:ln/>
        </p:spPr>
        <p:txBody>
          <a:bodyPr wrap="square" lIns="0" tIns="0" rIns="0" bIns="0" rtlCol="0" anchor="ctr"/>
          <a:lstStyle/>
          <a:p>
            <a:pPr marL="0" indent="0">
              <a:buNone/>
            </a:pPr>
            <a:r>
              <a:rPr lang="fr-FR" altLang="en-US" sz="1050" b="1" dirty="0">
                <a:solidFill>
                  <a:srgbClr val="231F20"/>
                </a:solidFill>
                <a:latin typeface="Calibri" pitchFamily="34" charset="0"/>
                <a:ea typeface="Calibri" pitchFamily="34" charset="-122"/>
                <a:cs typeface="Calibri" pitchFamily="34" charset="-120"/>
              </a:rPr>
              <a:t>Recommandation : stocker les deux. </a:t>
            </a:r>
            <a:r>
              <a:rPr lang="fr-FR" altLang="en-US" sz="1050" dirty="0">
                <a:solidFill>
                  <a:srgbClr val="231F20"/>
                </a:solidFill>
                <a:latin typeface="Calibri" pitchFamily="34" charset="0"/>
                <a:ea typeface="Calibri" pitchFamily="34" charset="-122"/>
                <a:cs typeface="Calibri" pitchFamily="34" charset="-120"/>
              </a:rPr>
              <a:t>Le centroïde pour la vitesse, le polygone pour les intersections exactes. Attention à l’ordre des axes : WKT et GeoJSON placent la longitude en premier, comme les fichiers Ookla.</a:t>
            </a:r>
            <a:endParaRPr lang="fr-FR" sz="10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Quatre façons de charger les données, et celle du labo</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18</a:t>
            </a:r>
            <a:endParaRPr lang="fr-FR" sz="850" dirty="0"/>
          </a:p>
        </p:txBody>
      </p:sp>
      <p:sp>
        <p:nvSpPr>
          <p:cNvPr id="16" name="Shape 12"/>
          <p:cNvSpPr/>
          <p:nvPr/>
        </p:nvSpPr>
        <p:spPr>
          <a:xfrm>
            <a:off x="457200" y="1261872"/>
            <a:ext cx="2194560" cy="1554480"/>
          </a:xfrm>
          <a:prstGeom prst="roundRect">
            <a:avLst>
              <a:gd name="adj" fmla="val 4706"/>
            </a:avLst>
          </a:prstGeom>
          <a:solidFill>
            <a:srgbClr val="E8F5EF"/>
          </a:solidFill>
          <a:ln w="15875">
            <a:solidFill>
              <a:srgbClr val="00A86A"/>
            </a:solidFill>
            <a:prstDash val="solid"/>
          </a:ln>
        </p:spPr>
      </p:sp>
      <p:sp>
        <p:nvSpPr>
          <p:cNvPr id="17" name="Shape 13"/>
          <p:cNvSpPr/>
          <p:nvPr/>
        </p:nvSpPr>
        <p:spPr>
          <a:xfrm>
            <a:off x="603504" y="1408176"/>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517538"/>
            <a:ext cx="201900" cy="201900"/>
          </a:xfrm>
          <a:prstGeom prst="rect">
            <a:avLst/>
          </a:prstGeom>
        </p:spPr>
      </p:pic>
      <p:sp>
        <p:nvSpPr>
          <p:cNvPr id="19" name="Shape 14"/>
          <p:cNvSpPr/>
          <p:nvPr/>
        </p:nvSpPr>
        <p:spPr>
          <a:xfrm>
            <a:off x="1874520" y="1463040"/>
            <a:ext cx="640080" cy="237744"/>
          </a:xfrm>
          <a:prstGeom prst="roundRect">
            <a:avLst>
              <a:gd name="adj" fmla="val 50000"/>
            </a:avLst>
          </a:prstGeom>
          <a:solidFill>
            <a:srgbClr val="F5C242">
              <a:alpha val="15000"/>
            </a:srgbClr>
          </a:solidFill>
          <a:ln w="9525">
            <a:solidFill>
              <a:srgbClr val="F5C242"/>
            </a:solidFill>
            <a:prstDash val="solid"/>
          </a:ln>
        </p:spPr>
      </p:sp>
      <p:sp>
        <p:nvSpPr>
          <p:cNvPr id="20" name="Text 15"/>
          <p:cNvSpPr txBox="1"/>
          <p:nvPr/>
        </p:nvSpPr>
        <p:spPr>
          <a:xfrm>
            <a:off x="1874520" y="1463040"/>
            <a:ext cx="640080" cy="237744"/>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alibri" pitchFamily="34" charset="0"/>
                <a:ea typeface="Calibri" pitchFamily="34" charset="-122"/>
                <a:cs typeface="Calibri" pitchFamily="34" charset="-120"/>
              </a:rPr>
              <a:t>LABO 1</a:t>
            </a:r>
            <a:endParaRPr lang="fr-FR" sz="950" dirty="0"/>
          </a:p>
        </p:txBody>
      </p:sp>
      <p:sp>
        <p:nvSpPr>
          <p:cNvPr id="21" name="Text 16"/>
          <p:cNvSpPr txBox="1"/>
          <p:nvPr/>
        </p:nvSpPr>
        <p:spPr>
          <a:xfrm>
            <a:off x="603504" y="1920240"/>
            <a:ext cx="1920240" cy="256032"/>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Client Python</a:t>
            </a:r>
            <a:endParaRPr lang="fr-FR" sz="1300" dirty="0"/>
          </a:p>
        </p:txBody>
      </p:sp>
      <p:sp>
        <p:nvSpPr>
          <p:cNvPr id="22" name="Text 17"/>
          <p:cNvSpPr txBox="1"/>
          <p:nvPr/>
        </p:nvSpPr>
        <p:spPr>
          <a:xfrm>
            <a:off x="603504" y="2176272"/>
            <a:ext cx="1920240" cy="59436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Helper bulk dans un notebook. Scriptable, versionné, reproductible.</a:t>
            </a:r>
            <a:endParaRPr lang="fr-FR" sz="1000" dirty="0"/>
          </a:p>
        </p:txBody>
      </p:sp>
      <p:sp>
        <p:nvSpPr>
          <p:cNvPr id="23" name="Shape 18"/>
          <p:cNvSpPr/>
          <p:nvPr/>
        </p:nvSpPr>
        <p:spPr>
          <a:xfrm>
            <a:off x="2788920" y="1261872"/>
            <a:ext cx="2194560" cy="1554480"/>
          </a:xfrm>
          <a:prstGeom prst="roundRect">
            <a:avLst>
              <a:gd name="adj" fmla="val 4706"/>
            </a:avLst>
          </a:prstGeom>
          <a:solidFill>
            <a:srgbClr val="F4F7F5"/>
          </a:solidFill>
          <a:ln w="9525">
            <a:solidFill>
              <a:srgbClr val="D5DED9"/>
            </a:solidFill>
            <a:prstDash val="solid"/>
          </a:ln>
        </p:spPr>
      </p:sp>
      <p:sp>
        <p:nvSpPr>
          <p:cNvPr id="24" name="Shape 19"/>
          <p:cNvSpPr/>
          <p:nvPr/>
        </p:nvSpPr>
        <p:spPr>
          <a:xfrm>
            <a:off x="2935224" y="1408176"/>
            <a:ext cx="420624" cy="420624"/>
          </a:xfrm>
          <a:prstGeom prst="ellipse">
            <a:avLst/>
          </a:prstGeom>
          <a:solidFill>
            <a:srgbClr val="0E7C86">
              <a:alpha val="22000"/>
            </a:srgbClr>
          </a:solidFill>
          <a:ln/>
        </p:spPr>
      </p:sp>
      <p:pic>
        <p:nvPicPr>
          <p:cNvPr id="25" name="Image 2" descr="preencoded.png"/>
          <p:cNvPicPr>
            <a:picLocks noChangeAspect="1"/>
          </p:cNvPicPr>
          <p:nvPr/>
        </p:nvPicPr>
        <p:blipFill>
          <a:blip r:embed="rId5"/>
          <a:stretch>
            <a:fillRect/>
          </a:stretch>
        </p:blipFill>
        <p:spPr>
          <a:xfrm>
            <a:off x="3044586" y="1517538"/>
            <a:ext cx="201900" cy="201900"/>
          </a:xfrm>
          <a:prstGeom prst="rect">
            <a:avLst/>
          </a:prstGeom>
        </p:spPr>
      </p:pic>
      <p:sp>
        <p:nvSpPr>
          <p:cNvPr id="26" name="Text 20"/>
          <p:cNvSpPr txBox="1"/>
          <p:nvPr/>
        </p:nvSpPr>
        <p:spPr>
          <a:xfrm>
            <a:off x="2935224" y="1920240"/>
            <a:ext cx="1920240" cy="256032"/>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Import Kibana</a:t>
            </a:r>
            <a:endParaRPr lang="fr-FR" sz="1300" dirty="0"/>
          </a:p>
        </p:txBody>
      </p:sp>
      <p:sp>
        <p:nvSpPr>
          <p:cNvPr id="27" name="Text 21"/>
          <p:cNvSpPr txBox="1"/>
          <p:nvPr/>
        </p:nvSpPr>
        <p:spPr>
          <a:xfrm>
            <a:off x="2935224" y="2176272"/>
            <a:ext cx="1920240" cy="59436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Glisser-déposer un petit CSV ou NDJSON pour explorer vite.</a:t>
            </a:r>
            <a:endParaRPr lang="fr-FR" sz="1000" dirty="0"/>
          </a:p>
        </p:txBody>
      </p:sp>
      <p:sp>
        <p:nvSpPr>
          <p:cNvPr id="28" name="Shape 22"/>
          <p:cNvSpPr/>
          <p:nvPr/>
        </p:nvSpPr>
        <p:spPr>
          <a:xfrm>
            <a:off x="457200" y="2953512"/>
            <a:ext cx="2194560" cy="1554480"/>
          </a:xfrm>
          <a:prstGeom prst="roundRect">
            <a:avLst>
              <a:gd name="adj" fmla="val 4706"/>
            </a:avLst>
          </a:prstGeom>
          <a:solidFill>
            <a:srgbClr val="F4F7F5"/>
          </a:solidFill>
          <a:ln w="9525">
            <a:solidFill>
              <a:srgbClr val="D5DED9"/>
            </a:solidFill>
            <a:prstDash val="solid"/>
          </a:ln>
        </p:spPr>
      </p:sp>
      <p:sp>
        <p:nvSpPr>
          <p:cNvPr id="29" name="Shape 23"/>
          <p:cNvSpPr/>
          <p:nvPr/>
        </p:nvSpPr>
        <p:spPr>
          <a:xfrm>
            <a:off x="603504" y="3099816"/>
            <a:ext cx="420624" cy="420624"/>
          </a:xfrm>
          <a:prstGeom prst="ellipse">
            <a:avLst/>
          </a:prstGeom>
          <a:solidFill>
            <a:srgbClr val="0E7C86">
              <a:alpha val="22000"/>
            </a:srgbClr>
          </a:solidFill>
          <a:ln/>
        </p:spPr>
      </p:sp>
      <p:pic>
        <p:nvPicPr>
          <p:cNvPr id="30" name="Image 3" descr="preencoded.png"/>
          <p:cNvPicPr>
            <a:picLocks noChangeAspect="1"/>
          </p:cNvPicPr>
          <p:nvPr/>
        </p:nvPicPr>
        <p:blipFill>
          <a:blip r:embed="rId6"/>
          <a:stretch>
            <a:fillRect/>
          </a:stretch>
        </p:blipFill>
        <p:spPr>
          <a:xfrm>
            <a:off x="712866" y="3209178"/>
            <a:ext cx="201900" cy="201900"/>
          </a:xfrm>
          <a:prstGeom prst="rect">
            <a:avLst/>
          </a:prstGeom>
        </p:spPr>
      </p:pic>
      <p:sp>
        <p:nvSpPr>
          <p:cNvPr id="31" name="Text 24"/>
          <p:cNvSpPr txBox="1"/>
          <p:nvPr/>
        </p:nvSpPr>
        <p:spPr>
          <a:xfrm>
            <a:off x="603504" y="3611880"/>
            <a:ext cx="1920240" cy="256032"/>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Logstash</a:t>
            </a:r>
            <a:endParaRPr lang="fr-FR" sz="1300" dirty="0"/>
          </a:p>
        </p:txBody>
      </p:sp>
      <p:sp>
        <p:nvSpPr>
          <p:cNvPr id="32" name="Text 25"/>
          <p:cNvSpPr txBox="1"/>
          <p:nvPr/>
        </p:nvSpPr>
        <p:spPr>
          <a:xfrm>
            <a:off x="603504" y="3867912"/>
            <a:ext cx="1920240" cy="59436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Pipelines récurrents : entrée, analyse, enrichissement, sortie.</a:t>
            </a:r>
            <a:endParaRPr lang="fr-FR" sz="1000" dirty="0"/>
          </a:p>
        </p:txBody>
      </p:sp>
      <p:sp>
        <p:nvSpPr>
          <p:cNvPr id="33" name="Shape 26"/>
          <p:cNvSpPr/>
          <p:nvPr/>
        </p:nvSpPr>
        <p:spPr>
          <a:xfrm>
            <a:off x="2788920" y="2953512"/>
            <a:ext cx="2194560" cy="1554480"/>
          </a:xfrm>
          <a:prstGeom prst="roundRect">
            <a:avLst>
              <a:gd name="adj" fmla="val 4706"/>
            </a:avLst>
          </a:prstGeom>
          <a:solidFill>
            <a:srgbClr val="F4F7F5"/>
          </a:solidFill>
          <a:ln w="9525">
            <a:solidFill>
              <a:srgbClr val="D5DED9"/>
            </a:solidFill>
            <a:prstDash val="solid"/>
          </a:ln>
        </p:spPr>
      </p:sp>
      <p:sp>
        <p:nvSpPr>
          <p:cNvPr id="34" name="Shape 27"/>
          <p:cNvSpPr/>
          <p:nvPr/>
        </p:nvSpPr>
        <p:spPr>
          <a:xfrm>
            <a:off x="2935224" y="3099816"/>
            <a:ext cx="420624" cy="420624"/>
          </a:xfrm>
          <a:prstGeom prst="ellipse">
            <a:avLst/>
          </a:prstGeom>
          <a:solidFill>
            <a:srgbClr val="0E7C86">
              <a:alpha val="22000"/>
            </a:srgbClr>
          </a:solidFill>
          <a:ln/>
        </p:spPr>
      </p:sp>
      <p:pic>
        <p:nvPicPr>
          <p:cNvPr id="35" name="Image 4" descr="preencoded.png"/>
          <p:cNvPicPr>
            <a:picLocks noChangeAspect="1"/>
          </p:cNvPicPr>
          <p:nvPr/>
        </p:nvPicPr>
        <p:blipFill>
          <a:blip r:embed="rId7"/>
          <a:stretch>
            <a:fillRect/>
          </a:stretch>
        </p:blipFill>
        <p:spPr>
          <a:xfrm>
            <a:off x="3044586" y="3209178"/>
            <a:ext cx="201900" cy="201900"/>
          </a:xfrm>
          <a:prstGeom prst="rect">
            <a:avLst/>
          </a:prstGeom>
        </p:spPr>
      </p:pic>
      <p:sp>
        <p:nvSpPr>
          <p:cNvPr id="36" name="Text 28"/>
          <p:cNvSpPr txBox="1"/>
          <p:nvPr/>
        </p:nvSpPr>
        <p:spPr>
          <a:xfrm>
            <a:off x="2935224" y="3611880"/>
            <a:ext cx="1920240" cy="256032"/>
          </a:xfrm>
          <a:prstGeom prst="rect">
            <a:avLst/>
          </a:prstGeom>
          <a:noFill/>
          <a:ln/>
        </p:spPr>
        <p:txBody>
          <a:bodyPr wrap="square" lIns="0" tIns="0" rIns="0" bIns="0" rtlCol="0" anchor="t"/>
          <a:lstStyle/>
          <a:p>
            <a:pPr marL="0" indent="0">
              <a:buNone/>
            </a:pPr>
            <a:r>
              <a:rPr lang="fr-FR" altLang="en-US" sz="1300" b="1" dirty="0">
                <a:solidFill>
                  <a:srgbClr val="231F20"/>
                </a:solidFill>
                <a:latin typeface="Calibri" pitchFamily="34" charset="0"/>
                <a:ea typeface="Calibri" pitchFamily="34" charset="-122"/>
                <a:cs typeface="Calibri" pitchFamily="34" charset="-120"/>
              </a:rPr>
              <a:t>Pipelines d’ingestion</a:t>
            </a:r>
            <a:endParaRPr lang="fr-FR" sz="1300" dirty="0"/>
          </a:p>
        </p:txBody>
      </p:sp>
      <p:sp>
        <p:nvSpPr>
          <p:cNvPr id="37" name="Text 29"/>
          <p:cNvSpPr txBox="1"/>
          <p:nvPr/>
        </p:nvSpPr>
        <p:spPr>
          <a:xfrm>
            <a:off x="2935224" y="3867912"/>
            <a:ext cx="1920240" cy="59436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Traitement dans Elasticsearch : convertir, renommer, enrichir.</a:t>
            </a:r>
            <a:endParaRPr lang="fr-FR" sz="1000" dirty="0"/>
          </a:p>
        </p:txBody>
      </p:sp>
      <p:sp>
        <p:nvSpPr>
          <p:cNvPr id="38" name="Shape 30"/>
          <p:cNvSpPr/>
          <p:nvPr/>
        </p:nvSpPr>
        <p:spPr>
          <a:xfrm>
            <a:off x="5212080" y="1261872"/>
            <a:ext cx="3474720" cy="3310128"/>
          </a:xfrm>
          <a:prstGeom prst="roundRect">
            <a:avLst>
              <a:gd name="adj" fmla="val 1657"/>
            </a:avLst>
          </a:prstGeom>
          <a:solidFill>
            <a:srgbClr val="FBFCFB"/>
          </a:solidFill>
          <a:ln w="9525">
            <a:solidFill>
              <a:srgbClr val="D5DED9"/>
            </a:solidFill>
            <a:prstDash val="solid"/>
          </a:ln>
        </p:spPr>
      </p:sp>
      <p:sp>
        <p:nvSpPr>
          <p:cNvPr id="39" name="Text 31"/>
          <p:cNvSpPr txBox="1"/>
          <p:nvPr/>
        </p:nvSpPr>
        <p:spPr>
          <a:xfrm>
            <a:off x="5340096" y="1353312"/>
            <a:ext cx="3218688" cy="3127248"/>
          </a:xfrm>
          <a:prstGeom prst="rect">
            <a:avLst/>
          </a:prstGeom>
          <a:noFill/>
          <a:ln/>
        </p:spPr>
        <p:txBody>
          <a:bodyPr wrap="square" lIns="0" tIns="0" rIns="0" bIns="0" rtlCol="0" anchor="t"/>
          <a:lstStyle/>
          <a:p>
            <a:pPr marL="0" indent="0">
              <a:buNone/>
            </a:pPr>
            <a:r>
              <a:rPr lang="fr-FR" altLang="en-US" sz="800" dirty="0">
                <a:solidFill>
                  <a:srgbClr val="231F20"/>
                </a:solidFill>
                <a:latin typeface="Courier New" pitchFamily="34" charset="0"/>
                <a:ea typeface="Courier New" pitchFamily="34" charset="-122"/>
                <a:cs typeface="Courier New" pitchFamily="34" charset="-120"/>
              </a:rPr>
              <a:t>import pandas as pd</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from elasticsearch import Elasticsearch</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from elasticsearch import helpers</a:t>
            </a:r>
            <a:endParaRPr lang="fr-FR" sz="800" dirty="0"/>
          </a:p>
          <a:p>
            <a:pPr marL="0" indent="0">
              <a:buNone/>
            </a:pP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es = Elasticsearch(URL, api_key=KEY)</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df = pd.read_parquet("rw_tiles.parquet")</a:t>
            </a:r>
            <a:endParaRPr lang="fr-FR" sz="800" dirty="0"/>
          </a:p>
          <a:p>
            <a:pPr marL="0" indent="0">
              <a:buNone/>
            </a:pP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def actions(df):</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    for r in df.to_dict("records"):</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        yield {</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          "_index": "ookla-tiles",</a:t>
            </a:r>
            <a:endParaRPr lang="fr-FR" sz="800" dirty="0"/>
          </a:p>
          <a:p>
            <a:pPr marL="0" indent="0">
              <a:buNone/>
            </a:pPr>
            <a:r>
              <a:rPr lang="fr-FR" altLang="en-US" sz="800" i="1" dirty="0">
                <a:solidFill>
                  <a:srgbClr val="5E6964"/>
                </a:solidFill>
                <a:latin typeface="Courier New" pitchFamily="34" charset="0"/>
                <a:ea typeface="Courier New" pitchFamily="34" charset="-122"/>
                <a:cs typeface="Courier New" pitchFamily="34" charset="-120"/>
              </a:rPr>
              <a:t>          # même tuile = même id : pas de doublon</a:t>
            </a:r>
            <a:endParaRPr lang="fr-FR" sz="800" dirty="0"/>
          </a:p>
          <a:p>
            <a:pPr marL="0" indent="0">
              <a:buNone/>
            </a:pPr>
            <a:r>
              <a:rPr lang="fr-FR" altLang="en-US" sz="800" dirty="0">
                <a:solidFill>
                  <a:srgbClr val="00704A"/>
                </a:solidFill>
                <a:latin typeface="Courier New" pitchFamily="34" charset="0"/>
                <a:ea typeface="Courier New" pitchFamily="34" charset="-122"/>
                <a:cs typeface="Courier New" pitchFamily="34" charset="-120"/>
              </a:rPr>
              <a:t>          "_id": f"{r['quadkey']}-"</a:t>
            </a:r>
            <a:endParaRPr lang="fr-FR" sz="800" dirty="0"/>
          </a:p>
          <a:p>
            <a:pPr marL="0" indent="0">
              <a:buNone/>
            </a:pPr>
            <a:r>
              <a:rPr lang="fr-FR" altLang="en-US" sz="800" dirty="0">
                <a:solidFill>
                  <a:srgbClr val="00704A"/>
                </a:solidFill>
                <a:latin typeface="Courier New" pitchFamily="34" charset="0"/>
                <a:ea typeface="Courier New" pitchFamily="34" charset="-122"/>
                <a:cs typeface="Courier New" pitchFamily="34" charset="-120"/>
              </a:rPr>
              <a:t>                 f"{r['quarter']}-mobile",</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          "_source": r}</a:t>
            </a:r>
            <a:endParaRPr lang="fr-FR" sz="800" dirty="0"/>
          </a:p>
          <a:p>
            <a:pPr marL="0" indent="0">
              <a:buNone/>
            </a:pP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ok, errors = helpers.bulk(</a:t>
            </a:r>
            <a:endParaRPr lang="fr-FR" sz="800" dirty="0"/>
          </a:p>
          <a:p>
            <a:pPr marL="0" indent="0">
              <a:buNone/>
            </a:pPr>
            <a:r>
              <a:rPr lang="fr-FR" altLang="en-US" sz="800" dirty="0">
                <a:solidFill>
                  <a:srgbClr val="231F20"/>
                </a:solidFill>
                <a:latin typeface="Courier New" pitchFamily="34" charset="0"/>
                <a:ea typeface="Courier New" pitchFamily="34" charset="-122"/>
                <a:cs typeface="Courier New" pitchFamily="34" charset="-120"/>
              </a:rPr>
              <a:t>    es, actions(df), chunk_size=5000)</a:t>
            </a:r>
            <a:endParaRPr lang="fr-FR"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04</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04</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Interroger et agréger</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Comment poser des questions statistiques au cluster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5C242"/>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19</a:t>
            </a:r>
            <a:endParaRPr lang="fr-FR"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Anatomie d’une requête de recherche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20</a:t>
            </a:r>
            <a:endParaRPr lang="fr-FR" sz="850" dirty="0"/>
          </a:p>
        </p:txBody>
      </p:sp>
      <p:sp>
        <p:nvSpPr>
          <p:cNvPr id="16" name="Shape 12"/>
          <p:cNvSpPr/>
          <p:nvPr/>
        </p:nvSpPr>
        <p:spPr>
          <a:xfrm>
            <a:off x="457200" y="1261872"/>
            <a:ext cx="46634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4407408" cy="3127248"/>
          </a:xfrm>
          <a:prstGeom prst="rect">
            <a:avLst/>
          </a:prstGeom>
          <a:noFill/>
          <a:ln/>
        </p:spPr>
        <p:txBody>
          <a:bodyPr wrap="square" lIns="0" tIns="0" rIns="0" bIns="0" rtlCol="0" anchor="t"/>
          <a:lstStyle/>
          <a:p>
            <a:pPr marL="0" indent="0">
              <a:buNone/>
            </a:pPr>
            <a:r>
              <a:rPr lang="fr-FR" altLang="en-US" sz="850" dirty="0">
                <a:solidFill>
                  <a:srgbClr val="231F20"/>
                </a:solidFill>
                <a:latin typeface="Courier New" pitchFamily="34" charset="0"/>
                <a:ea typeface="Courier New" pitchFamily="34" charset="-122"/>
                <a:cs typeface="Courier New" pitchFamily="34" charset="-120"/>
              </a:rPr>
              <a:t>GET ookla-tiles/_search</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"size": 0,</a:t>
            </a:r>
            <a:r>
              <a:rPr lang="fr-FR" altLang="en-US" sz="850" b="1" dirty="0">
                <a:solidFill>
                  <a:srgbClr val="D49A00"/>
                </a:solidFill>
                <a:latin typeface="Courier New" pitchFamily="34" charset="0"/>
                <a:ea typeface="Courier New" pitchFamily="34" charset="-122"/>
                <a:cs typeface="Courier New" pitchFamily="34" charset="-120"/>
              </a:rPr>
              <a:t>  ◀ 1</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"query":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"bool":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"filter": [</a:t>
            </a:r>
            <a:r>
              <a:rPr lang="fr-FR" altLang="en-US" sz="850" b="1" dirty="0">
                <a:solidFill>
                  <a:srgbClr val="D49A00"/>
                </a:solidFill>
                <a:latin typeface="Courier New" pitchFamily="34" charset="0"/>
                <a:ea typeface="Courier New" pitchFamily="34" charset="-122"/>
                <a:cs typeface="Courier New" pitchFamily="34" charset="-120"/>
              </a:rPr>
              <a:t>  ◀ 2</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{"term": {"service_type": "mobile"}},</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{"term": {"quarter": "2025-Q2"}}</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"aggs":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"by_region":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"terms": {"field": "admin1", "size": 50},</a:t>
            </a:r>
            <a:r>
              <a:rPr lang="fr-FR" altLang="en-US" sz="850" b="1" dirty="0">
                <a:solidFill>
                  <a:srgbClr val="D49A00"/>
                </a:solidFill>
                <a:latin typeface="Courier New" pitchFamily="34" charset="0"/>
                <a:ea typeface="Courier New" pitchFamily="34" charset="-122"/>
                <a:cs typeface="Courier New" pitchFamily="34" charset="-120"/>
              </a:rPr>
              <a:t>  ◀ 3</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"aggs":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"mean_dl": {</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"weighted_avg": {</a:t>
            </a:r>
            <a:r>
              <a:rPr lang="fr-FR" altLang="en-US" sz="850" b="1" dirty="0">
                <a:solidFill>
                  <a:srgbClr val="D49A00"/>
                </a:solidFill>
                <a:latin typeface="Courier New" pitchFamily="34" charset="0"/>
                <a:ea typeface="Courier New" pitchFamily="34" charset="-122"/>
                <a:cs typeface="Courier New" pitchFamily="34" charset="-120"/>
              </a:rPr>
              <a:t>  ◀ 4</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"value":  {"field": "avg_d_kbps"},</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            "weight": {"field": "tests"}</a:t>
            </a:r>
            <a:endParaRPr lang="fr-FR" sz="850" dirty="0"/>
          </a:p>
          <a:p>
            <a:pPr marL="0" indent="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p:txBody>
      </p:sp>
      <p:sp>
        <p:nvSpPr>
          <p:cNvPr id="18" name="Shape 14"/>
          <p:cNvSpPr/>
          <p:nvPr/>
        </p:nvSpPr>
        <p:spPr>
          <a:xfrm>
            <a:off x="5349240" y="1307592"/>
            <a:ext cx="384048" cy="384048"/>
          </a:xfrm>
          <a:prstGeom prst="ellipse">
            <a:avLst/>
          </a:prstGeom>
          <a:solidFill>
            <a:srgbClr val="D49A00"/>
          </a:solidFill>
          <a:ln/>
        </p:spPr>
      </p:sp>
      <p:sp>
        <p:nvSpPr>
          <p:cNvPr id="19" name="Text 15"/>
          <p:cNvSpPr txBox="1"/>
          <p:nvPr/>
        </p:nvSpPr>
        <p:spPr>
          <a:xfrm>
            <a:off x="5349240" y="1307592"/>
            <a:ext cx="384048" cy="38404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1</a:t>
            </a:r>
            <a:endParaRPr lang="fr-FR" sz="1400" dirty="0"/>
          </a:p>
        </p:txBody>
      </p:sp>
      <p:sp>
        <p:nvSpPr>
          <p:cNvPr id="20" name="Text 16"/>
          <p:cNvSpPr txBox="1"/>
          <p:nvPr/>
        </p:nvSpPr>
        <p:spPr>
          <a:xfrm>
            <a:off x="5870448" y="1261872"/>
            <a:ext cx="2834640" cy="246888"/>
          </a:xfrm>
          <a:prstGeom prst="rect">
            <a:avLst/>
          </a:prstGeom>
          <a:noFill/>
          <a:ln/>
        </p:spPr>
        <p:txBody>
          <a:bodyPr wrap="square" lIns="0" tIns="0" rIns="0" bIns="0" rtlCol="0" anchor="t"/>
          <a:lstStyle/>
          <a:p>
            <a:pPr marL="0" indent="0">
              <a:buNone/>
            </a:pPr>
            <a:r>
              <a:rPr lang="fr-FR" altLang="en-US" sz="1150" b="1" dirty="0">
                <a:solidFill>
                  <a:srgbClr val="00704A"/>
                </a:solidFill>
                <a:latin typeface="Courier New" pitchFamily="34" charset="0"/>
                <a:ea typeface="Courier New" pitchFamily="34" charset="-122"/>
                <a:cs typeface="Courier New" pitchFamily="34" charset="-120"/>
              </a:rPr>
              <a:t>size: 0</a:t>
            </a:r>
            <a:endParaRPr lang="fr-FR" sz="1150" dirty="0"/>
          </a:p>
        </p:txBody>
      </p:sp>
      <p:sp>
        <p:nvSpPr>
          <p:cNvPr id="21" name="Text 17"/>
          <p:cNvSpPr txBox="1"/>
          <p:nvPr/>
        </p:nvSpPr>
        <p:spPr>
          <a:xfrm>
            <a:off x="5870448" y="1517904"/>
            <a:ext cx="2788920" cy="530352"/>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Ne renvoyer que les résultats agrégés, pas les milliers de documents sous-jacents.</a:t>
            </a:r>
            <a:endParaRPr lang="fr-FR" sz="1000" dirty="0"/>
          </a:p>
        </p:txBody>
      </p:sp>
      <p:sp>
        <p:nvSpPr>
          <p:cNvPr id="22" name="Shape 18"/>
          <p:cNvSpPr/>
          <p:nvPr/>
        </p:nvSpPr>
        <p:spPr>
          <a:xfrm>
            <a:off x="5349240" y="2148840"/>
            <a:ext cx="384048" cy="384048"/>
          </a:xfrm>
          <a:prstGeom prst="ellipse">
            <a:avLst/>
          </a:prstGeom>
          <a:solidFill>
            <a:srgbClr val="D49A00"/>
          </a:solidFill>
          <a:ln/>
        </p:spPr>
      </p:sp>
      <p:sp>
        <p:nvSpPr>
          <p:cNvPr id="23" name="Text 19"/>
          <p:cNvSpPr txBox="1"/>
          <p:nvPr/>
        </p:nvSpPr>
        <p:spPr>
          <a:xfrm>
            <a:off x="5349240" y="2148840"/>
            <a:ext cx="384048" cy="38404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2</a:t>
            </a:r>
            <a:endParaRPr lang="fr-FR" sz="1400" dirty="0"/>
          </a:p>
        </p:txBody>
      </p:sp>
      <p:sp>
        <p:nvSpPr>
          <p:cNvPr id="24" name="Text 20"/>
          <p:cNvSpPr txBox="1"/>
          <p:nvPr/>
        </p:nvSpPr>
        <p:spPr>
          <a:xfrm>
            <a:off x="5870448" y="2103120"/>
            <a:ext cx="2834640" cy="246888"/>
          </a:xfrm>
          <a:prstGeom prst="rect">
            <a:avLst/>
          </a:prstGeom>
          <a:noFill/>
          <a:ln/>
        </p:spPr>
        <p:txBody>
          <a:bodyPr wrap="square" lIns="0" tIns="0" rIns="0" bIns="0" rtlCol="0" anchor="t"/>
          <a:lstStyle/>
          <a:p>
            <a:pPr marL="0" indent="0">
              <a:buNone/>
            </a:pPr>
            <a:r>
              <a:rPr lang="fr-FR" altLang="en-US" sz="1150" b="1" dirty="0">
                <a:solidFill>
                  <a:srgbClr val="00704A"/>
                </a:solidFill>
                <a:latin typeface="Courier New" pitchFamily="34" charset="0"/>
                <a:ea typeface="Courier New" pitchFamily="34" charset="-122"/>
                <a:cs typeface="Courier New" pitchFamily="34" charset="-120"/>
              </a:rPr>
              <a:t>filter</a:t>
            </a:r>
            <a:endParaRPr lang="fr-FR" sz="1150" dirty="0"/>
          </a:p>
        </p:txBody>
      </p:sp>
      <p:sp>
        <p:nvSpPr>
          <p:cNvPr id="25" name="Text 21"/>
          <p:cNvSpPr txBox="1"/>
          <p:nvPr/>
        </p:nvSpPr>
        <p:spPr>
          <a:xfrm>
            <a:off x="5870448" y="2359152"/>
            <a:ext cx="2788920" cy="530352"/>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Conditions oui/non : sans score de pertinence, en cache, rapides. C’est votre clause WHERE.</a:t>
            </a:r>
            <a:endParaRPr lang="fr-FR" sz="1000" dirty="0"/>
          </a:p>
        </p:txBody>
      </p:sp>
      <p:sp>
        <p:nvSpPr>
          <p:cNvPr id="26" name="Shape 22"/>
          <p:cNvSpPr/>
          <p:nvPr/>
        </p:nvSpPr>
        <p:spPr>
          <a:xfrm>
            <a:off x="5349240" y="2990088"/>
            <a:ext cx="384048" cy="384048"/>
          </a:xfrm>
          <a:prstGeom prst="ellipse">
            <a:avLst/>
          </a:prstGeom>
          <a:solidFill>
            <a:srgbClr val="D49A00"/>
          </a:solidFill>
          <a:ln/>
        </p:spPr>
      </p:sp>
      <p:sp>
        <p:nvSpPr>
          <p:cNvPr id="27" name="Text 23"/>
          <p:cNvSpPr txBox="1"/>
          <p:nvPr/>
        </p:nvSpPr>
        <p:spPr>
          <a:xfrm>
            <a:off x="5349240" y="2990088"/>
            <a:ext cx="384048" cy="38404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3</a:t>
            </a:r>
            <a:endParaRPr lang="fr-FR" sz="1400" dirty="0"/>
          </a:p>
        </p:txBody>
      </p:sp>
      <p:sp>
        <p:nvSpPr>
          <p:cNvPr id="28" name="Text 24"/>
          <p:cNvSpPr txBox="1"/>
          <p:nvPr/>
        </p:nvSpPr>
        <p:spPr>
          <a:xfrm>
            <a:off x="5870448" y="2944368"/>
            <a:ext cx="2834640" cy="246888"/>
          </a:xfrm>
          <a:prstGeom prst="rect">
            <a:avLst/>
          </a:prstGeom>
          <a:noFill/>
          <a:ln/>
        </p:spPr>
        <p:txBody>
          <a:bodyPr wrap="square" lIns="0" tIns="0" rIns="0" bIns="0" rtlCol="0" anchor="t"/>
          <a:lstStyle/>
          <a:p>
            <a:pPr marL="0" indent="0">
              <a:buNone/>
            </a:pPr>
            <a:r>
              <a:rPr lang="fr-FR" altLang="en-US" sz="1150" b="1" dirty="0">
                <a:solidFill>
                  <a:srgbClr val="00704A"/>
                </a:solidFill>
                <a:latin typeface="Courier New" pitchFamily="34" charset="0"/>
                <a:ea typeface="Courier New" pitchFamily="34" charset="-122"/>
                <a:cs typeface="Courier New" pitchFamily="34" charset="-120"/>
              </a:rPr>
              <a:t>terms</a:t>
            </a:r>
            <a:endParaRPr lang="fr-FR" sz="1150" dirty="0"/>
          </a:p>
        </p:txBody>
      </p:sp>
      <p:sp>
        <p:nvSpPr>
          <p:cNvPr id="29" name="Text 25"/>
          <p:cNvSpPr txBox="1"/>
          <p:nvPr/>
        </p:nvSpPr>
        <p:spPr>
          <a:xfrm>
            <a:off x="5870448" y="3200400"/>
            <a:ext cx="2788920" cy="530352"/>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Un bucket par région : le GROUP BY. Fixez size au-delà du nombre de régions.</a:t>
            </a:r>
            <a:endParaRPr lang="fr-FR" sz="1000" dirty="0"/>
          </a:p>
        </p:txBody>
      </p:sp>
      <p:sp>
        <p:nvSpPr>
          <p:cNvPr id="30" name="Shape 26"/>
          <p:cNvSpPr/>
          <p:nvPr/>
        </p:nvSpPr>
        <p:spPr>
          <a:xfrm>
            <a:off x="5349240" y="3831336"/>
            <a:ext cx="384048" cy="384048"/>
          </a:xfrm>
          <a:prstGeom prst="ellipse">
            <a:avLst/>
          </a:prstGeom>
          <a:solidFill>
            <a:srgbClr val="D49A00"/>
          </a:solidFill>
          <a:ln/>
        </p:spPr>
      </p:sp>
      <p:sp>
        <p:nvSpPr>
          <p:cNvPr id="31" name="Text 27"/>
          <p:cNvSpPr txBox="1"/>
          <p:nvPr/>
        </p:nvSpPr>
        <p:spPr>
          <a:xfrm>
            <a:off x="5349240" y="3831336"/>
            <a:ext cx="384048" cy="384048"/>
          </a:xfrm>
          <a:prstGeom prst="rect">
            <a:avLst/>
          </a:prstGeom>
          <a:noFill/>
          <a:ln/>
        </p:spPr>
        <p:txBody>
          <a:bodyPr wrap="square" lIns="0" tIns="0" rIns="0" bIns="0" rtlCol="0" anchor="ctr"/>
          <a:lstStyle/>
          <a:p>
            <a:pPr marL="0" indent="0" algn="ctr">
              <a:buNone/>
            </a:pPr>
            <a:r>
              <a:rPr lang="fr-FR" altLang="en-US" sz="1400" b="1" dirty="0">
                <a:solidFill>
                  <a:srgbClr val="FFFFFF"/>
                </a:solidFill>
                <a:latin typeface="Calibri" pitchFamily="34" charset="0"/>
                <a:ea typeface="Calibri" pitchFamily="34" charset="-122"/>
                <a:cs typeface="Calibri" pitchFamily="34" charset="-120"/>
              </a:rPr>
              <a:t>4</a:t>
            </a:r>
            <a:endParaRPr lang="fr-FR" sz="1400" dirty="0"/>
          </a:p>
        </p:txBody>
      </p:sp>
      <p:sp>
        <p:nvSpPr>
          <p:cNvPr id="32" name="Text 28"/>
          <p:cNvSpPr txBox="1"/>
          <p:nvPr/>
        </p:nvSpPr>
        <p:spPr>
          <a:xfrm>
            <a:off x="5870448" y="3785616"/>
            <a:ext cx="2834640" cy="246888"/>
          </a:xfrm>
          <a:prstGeom prst="rect">
            <a:avLst/>
          </a:prstGeom>
          <a:noFill/>
          <a:ln/>
        </p:spPr>
        <p:txBody>
          <a:bodyPr wrap="square" lIns="0" tIns="0" rIns="0" bIns="0" rtlCol="0" anchor="t"/>
          <a:lstStyle/>
          <a:p>
            <a:pPr marL="0" indent="0">
              <a:buNone/>
            </a:pPr>
            <a:r>
              <a:rPr lang="fr-FR" altLang="en-US" sz="1150" b="1" dirty="0">
                <a:solidFill>
                  <a:srgbClr val="00704A"/>
                </a:solidFill>
                <a:latin typeface="Courier New" pitchFamily="34" charset="0"/>
                <a:ea typeface="Courier New" pitchFamily="34" charset="-122"/>
                <a:cs typeface="Courier New" pitchFamily="34" charset="-120"/>
              </a:rPr>
              <a:t>weighted_avg</a:t>
            </a:r>
            <a:endParaRPr lang="fr-FR" sz="1150" dirty="0"/>
          </a:p>
        </p:txBody>
      </p:sp>
      <p:sp>
        <p:nvSpPr>
          <p:cNvPr id="33" name="Text 29"/>
          <p:cNvSpPr txBox="1"/>
          <p:nvPr/>
        </p:nvSpPr>
        <p:spPr>
          <a:xfrm>
            <a:off x="5870448" y="4041648"/>
            <a:ext cx="2788920" cy="530352"/>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Débit descendant moyen par région, pondéré par le nombre de tests de chaque tuile.</a:t>
            </a:r>
            <a:endParaRPr lang="fr-FR"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La boîte à outils des agrégations et ses mises en garde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21</a:t>
            </a:r>
            <a:endParaRPr lang="fr-FR" sz="850" dirty="0"/>
          </a:p>
        </p:txBody>
      </p:sp>
      <p:sp>
        <p:nvSpPr>
          <p:cNvPr id="16" name="Shape 12"/>
          <p:cNvSpPr/>
          <p:nvPr/>
        </p:nvSpPr>
        <p:spPr>
          <a:xfrm>
            <a:off x="457200" y="1261872"/>
            <a:ext cx="2560320" cy="2487168"/>
          </a:xfrm>
          <a:prstGeom prst="roundRect">
            <a:avLst>
              <a:gd name="adj" fmla="val 2941"/>
            </a:avLst>
          </a:prstGeom>
          <a:solidFill>
            <a:srgbClr val="F4F7F5"/>
          </a:solidFill>
          <a:ln w="9525">
            <a:solidFill>
              <a:srgbClr val="D5DED9"/>
            </a:solidFill>
            <a:prstDash val="solid"/>
          </a:ln>
        </p:spPr>
      </p:sp>
      <p:sp>
        <p:nvSpPr>
          <p:cNvPr id="17" name="Shape 13"/>
          <p:cNvSpPr/>
          <p:nvPr/>
        </p:nvSpPr>
        <p:spPr>
          <a:xfrm>
            <a:off x="603504" y="1371600"/>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480962"/>
            <a:ext cx="201900" cy="201900"/>
          </a:xfrm>
          <a:prstGeom prst="rect">
            <a:avLst/>
          </a:prstGeom>
        </p:spPr>
      </p:pic>
      <p:sp>
        <p:nvSpPr>
          <p:cNvPr id="19" name="Text 14"/>
          <p:cNvSpPr txBox="1"/>
          <p:nvPr/>
        </p:nvSpPr>
        <p:spPr>
          <a:xfrm>
            <a:off x="1133856" y="1371600"/>
            <a:ext cx="173736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Métrique</a:t>
            </a:r>
            <a:endParaRPr lang="fr-FR" sz="1400" dirty="0"/>
          </a:p>
        </p:txBody>
      </p:sp>
      <p:sp>
        <p:nvSpPr>
          <p:cNvPr id="20" name="Text 15"/>
          <p:cNvSpPr txBox="1"/>
          <p:nvPr/>
        </p:nvSpPr>
        <p:spPr>
          <a:xfrm>
            <a:off x="1133856" y="1609344"/>
            <a:ext cx="1737360" cy="201168"/>
          </a:xfrm>
          <a:prstGeom prst="rect">
            <a:avLst/>
          </a:prstGeom>
          <a:noFill/>
          <a:ln/>
        </p:spPr>
        <p:txBody>
          <a:bodyPr wrap="square" lIns="0" tIns="0" rIns="0" bIns="0" rtlCol="0" anchor="t"/>
          <a:lstStyle/>
          <a:p>
            <a:pPr marL="0" indent="0">
              <a:buNone/>
            </a:pPr>
            <a:r>
              <a:rPr lang="fr-FR" altLang="en-US" sz="950" i="1" dirty="0">
                <a:solidFill>
                  <a:srgbClr val="5E6964"/>
                </a:solidFill>
                <a:latin typeface="Calibri" pitchFamily="34" charset="0"/>
                <a:ea typeface="Calibri" pitchFamily="34" charset="-122"/>
                <a:cs typeface="Calibri" pitchFamily="34" charset="-120"/>
              </a:rPr>
              <a:t>calculer une valeur</a:t>
            </a:r>
            <a:endParaRPr lang="fr-FR" sz="950" dirty="0"/>
          </a:p>
        </p:txBody>
      </p:sp>
      <p:sp>
        <p:nvSpPr>
          <p:cNvPr id="21" name="Text 16"/>
          <p:cNvSpPr txBox="1"/>
          <p:nvPr/>
        </p:nvSpPr>
        <p:spPr>
          <a:xfrm>
            <a:off x="603504" y="1965960"/>
            <a:ext cx="2286000" cy="201168"/>
          </a:xfrm>
          <a:prstGeom prst="rect">
            <a:avLst/>
          </a:prstGeom>
          <a:noFill/>
          <a:ln/>
        </p:spPr>
        <p:txBody>
          <a:bodyPr wrap="square" lIns="0" tIns="0" rIns="0" bIns="0" rtlCol="0" anchor="t"/>
          <a:lstStyle/>
          <a:p>
            <a:pPr marL="0" indent="0">
              <a:buNone/>
            </a:pPr>
            <a:r>
              <a:rPr lang="fr-FR" altLang="en-US" sz="950" b="1" dirty="0">
                <a:solidFill>
                  <a:srgbClr val="00A86A"/>
                </a:solidFill>
                <a:latin typeface="Courier New" pitchFamily="34" charset="0"/>
                <a:ea typeface="Courier New" pitchFamily="34" charset="-122"/>
                <a:cs typeface="Courier New" pitchFamily="34" charset="-120"/>
              </a:rPr>
              <a:t>avg · sum · min · max</a:t>
            </a:r>
            <a:endParaRPr lang="fr-FR" sz="950" dirty="0"/>
          </a:p>
        </p:txBody>
      </p:sp>
      <p:sp>
        <p:nvSpPr>
          <p:cNvPr id="22" name="Text 17"/>
          <p:cNvSpPr txBox="1"/>
          <p:nvPr/>
        </p:nvSpPr>
        <p:spPr>
          <a:xfrm>
            <a:off x="603504" y="2157984"/>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mean(), sum()</a:t>
            </a:r>
            <a:endParaRPr lang="fr-FR" sz="950" dirty="0"/>
          </a:p>
        </p:txBody>
      </p:sp>
      <p:sp>
        <p:nvSpPr>
          <p:cNvPr id="23" name="Text 18"/>
          <p:cNvSpPr txBox="1"/>
          <p:nvPr/>
        </p:nvSpPr>
        <p:spPr>
          <a:xfrm>
            <a:off x="603504" y="2395728"/>
            <a:ext cx="2286000" cy="201168"/>
          </a:xfrm>
          <a:prstGeom prst="rect">
            <a:avLst/>
          </a:prstGeom>
          <a:noFill/>
          <a:ln/>
        </p:spPr>
        <p:txBody>
          <a:bodyPr wrap="square" lIns="0" tIns="0" rIns="0" bIns="0" rtlCol="0" anchor="t"/>
          <a:lstStyle/>
          <a:p>
            <a:pPr marL="0" indent="0">
              <a:buNone/>
            </a:pPr>
            <a:r>
              <a:rPr lang="fr-FR" altLang="en-US" sz="950" b="1" dirty="0">
                <a:solidFill>
                  <a:srgbClr val="00A86A"/>
                </a:solidFill>
                <a:latin typeface="Courier New" pitchFamily="34" charset="0"/>
                <a:ea typeface="Courier New" pitchFamily="34" charset="-122"/>
                <a:cs typeface="Courier New" pitchFamily="34" charset="-120"/>
              </a:rPr>
              <a:t>weighted_avg</a:t>
            </a:r>
            <a:endParaRPr lang="fr-FR" sz="950" dirty="0"/>
          </a:p>
        </p:txBody>
      </p:sp>
      <p:sp>
        <p:nvSpPr>
          <p:cNvPr id="24" name="Text 19"/>
          <p:cNvSpPr txBox="1"/>
          <p:nvPr/>
        </p:nvSpPr>
        <p:spPr>
          <a:xfrm>
            <a:off x="603504" y="2587752"/>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np.average(w=)</a:t>
            </a:r>
            <a:endParaRPr lang="fr-FR" sz="950" dirty="0"/>
          </a:p>
        </p:txBody>
      </p:sp>
      <p:sp>
        <p:nvSpPr>
          <p:cNvPr id="25" name="Text 20"/>
          <p:cNvSpPr txBox="1"/>
          <p:nvPr/>
        </p:nvSpPr>
        <p:spPr>
          <a:xfrm>
            <a:off x="603504" y="2825496"/>
            <a:ext cx="2286000" cy="201168"/>
          </a:xfrm>
          <a:prstGeom prst="rect">
            <a:avLst/>
          </a:prstGeom>
          <a:noFill/>
          <a:ln/>
        </p:spPr>
        <p:txBody>
          <a:bodyPr wrap="square" lIns="0" tIns="0" rIns="0" bIns="0" rtlCol="0" anchor="t"/>
          <a:lstStyle/>
          <a:p>
            <a:pPr marL="0" indent="0">
              <a:buNone/>
            </a:pPr>
            <a:r>
              <a:rPr lang="fr-FR" altLang="en-US" sz="950" b="1" dirty="0">
                <a:solidFill>
                  <a:srgbClr val="00A86A"/>
                </a:solidFill>
                <a:latin typeface="Courier New" pitchFamily="34" charset="0"/>
                <a:ea typeface="Courier New" pitchFamily="34" charset="-122"/>
                <a:cs typeface="Courier New" pitchFamily="34" charset="-120"/>
              </a:rPr>
              <a:t>percentiles</a:t>
            </a:r>
            <a:endParaRPr lang="fr-FR" sz="950" dirty="0"/>
          </a:p>
        </p:txBody>
      </p:sp>
      <p:sp>
        <p:nvSpPr>
          <p:cNvPr id="26" name="Text 21"/>
          <p:cNvSpPr txBox="1"/>
          <p:nvPr/>
        </p:nvSpPr>
        <p:spPr>
          <a:xfrm>
            <a:off x="603504" y="3017520"/>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quantile()</a:t>
            </a:r>
            <a:endParaRPr lang="fr-FR" sz="950" dirty="0"/>
          </a:p>
        </p:txBody>
      </p:sp>
      <p:sp>
        <p:nvSpPr>
          <p:cNvPr id="27" name="Text 22"/>
          <p:cNvSpPr txBox="1"/>
          <p:nvPr/>
        </p:nvSpPr>
        <p:spPr>
          <a:xfrm>
            <a:off x="603504" y="3255264"/>
            <a:ext cx="2286000" cy="201168"/>
          </a:xfrm>
          <a:prstGeom prst="rect">
            <a:avLst/>
          </a:prstGeom>
          <a:noFill/>
          <a:ln/>
        </p:spPr>
        <p:txBody>
          <a:bodyPr wrap="square" lIns="0" tIns="0" rIns="0" bIns="0" rtlCol="0" anchor="t"/>
          <a:lstStyle/>
          <a:p>
            <a:pPr marL="0" indent="0">
              <a:buNone/>
            </a:pPr>
            <a:r>
              <a:rPr lang="fr-FR" altLang="en-US" sz="950" b="1" dirty="0">
                <a:solidFill>
                  <a:srgbClr val="00A86A"/>
                </a:solidFill>
                <a:latin typeface="Courier New" pitchFamily="34" charset="0"/>
                <a:ea typeface="Courier New" pitchFamily="34" charset="-122"/>
                <a:cs typeface="Courier New" pitchFamily="34" charset="-120"/>
              </a:rPr>
              <a:t>cardinality</a:t>
            </a:r>
            <a:endParaRPr lang="fr-FR" sz="950" dirty="0"/>
          </a:p>
        </p:txBody>
      </p:sp>
      <p:sp>
        <p:nvSpPr>
          <p:cNvPr id="28" name="Text 23"/>
          <p:cNvSpPr txBox="1"/>
          <p:nvPr/>
        </p:nvSpPr>
        <p:spPr>
          <a:xfrm>
            <a:off x="603504" y="3447288"/>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nunique()</a:t>
            </a:r>
            <a:endParaRPr lang="fr-FR" sz="950" dirty="0"/>
          </a:p>
        </p:txBody>
      </p:sp>
      <p:sp>
        <p:nvSpPr>
          <p:cNvPr id="29" name="Shape 24"/>
          <p:cNvSpPr/>
          <p:nvPr/>
        </p:nvSpPr>
        <p:spPr>
          <a:xfrm>
            <a:off x="3291840" y="1261872"/>
            <a:ext cx="2560320" cy="2487168"/>
          </a:xfrm>
          <a:prstGeom prst="roundRect">
            <a:avLst>
              <a:gd name="adj" fmla="val 2941"/>
            </a:avLst>
          </a:prstGeom>
          <a:solidFill>
            <a:srgbClr val="F4F7F5"/>
          </a:solidFill>
          <a:ln w="9525">
            <a:solidFill>
              <a:srgbClr val="D5DED9"/>
            </a:solidFill>
            <a:prstDash val="solid"/>
          </a:ln>
        </p:spPr>
      </p:sp>
      <p:sp>
        <p:nvSpPr>
          <p:cNvPr id="30" name="Shape 25"/>
          <p:cNvSpPr/>
          <p:nvPr/>
        </p:nvSpPr>
        <p:spPr>
          <a:xfrm>
            <a:off x="3438144" y="1371600"/>
            <a:ext cx="420624" cy="420624"/>
          </a:xfrm>
          <a:prstGeom prst="ellipse">
            <a:avLst/>
          </a:prstGeom>
          <a:solidFill>
            <a:srgbClr val="00704A">
              <a:alpha val="22000"/>
            </a:srgbClr>
          </a:solidFill>
          <a:ln/>
        </p:spPr>
      </p:sp>
      <p:pic>
        <p:nvPicPr>
          <p:cNvPr id="31" name="Image 2" descr="preencoded.png"/>
          <p:cNvPicPr>
            <a:picLocks noChangeAspect="1"/>
          </p:cNvPicPr>
          <p:nvPr/>
        </p:nvPicPr>
        <p:blipFill>
          <a:blip r:embed="rId5"/>
          <a:stretch>
            <a:fillRect/>
          </a:stretch>
        </p:blipFill>
        <p:spPr>
          <a:xfrm>
            <a:off x="3547506" y="1480962"/>
            <a:ext cx="201900" cy="201900"/>
          </a:xfrm>
          <a:prstGeom prst="rect">
            <a:avLst/>
          </a:prstGeom>
        </p:spPr>
      </p:pic>
      <p:sp>
        <p:nvSpPr>
          <p:cNvPr id="32" name="Text 26"/>
          <p:cNvSpPr txBox="1"/>
          <p:nvPr/>
        </p:nvSpPr>
        <p:spPr>
          <a:xfrm>
            <a:off x="3968496" y="1371600"/>
            <a:ext cx="173736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Bucket</a:t>
            </a:r>
            <a:endParaRPr lang="fr-FR" sz="1400" dirty="0"/>
          </a:p>
        </p:txBody>
      </p:sp>
      <p:sp>
        <p:nvSpPr>
          <p:cNvPr id="33" name="Text 27"/>
          <p:cNvSpPr txBox="1"/>
          <p:nvPr/>
        </p:nvSpPr>
        <p:spPr>
          <a:xfrm>
            <a:off x="3968496" y="1609344"/>
            <a:ext cx="1737360" cy="201168"/>
          </a:xfrm>
          <a:prstGeom prst="rect">
            <a:avLst/>
          </a:prstGeom>
          <a:noFill/>
          <a:ln/>
        </p:spPr>
        <p:txBody>
          <a:bodyPr wrap="square" lIns="0" tIns="0" rIns="0" bIns="0" rtlCol="0" anchor="t"/>
          <a:lstStyle/>
          <a:p>
            <a:pPr marL="0" indent="0">
              <a:buNone/>
            </a:pPr>
            <a:r>
              <a:rPr lang="fr-FR" altLang="en-US" sz="950" i="1" dirty="0">
                <a:solidFill>
                  <a:srgbClr val="5E6964"/>
                </a:solidFill>
                <a:latin typeface="Calibri" pitchFamily="34" charset="0"/>
                <a:ea typeface="Calibri" pitchFamily="34" charset="-122"/>
                <a:cs typeface="Calibri" pitchFamily="34" charset="-120"/>
              </a:rPr>
              <a:t>former des groupes</a:t>
            </a:r>
            <a:endParaRPr lang="fr-FR" sz="950" dirty="0"/>
          </a:p>
        </p:txBody>
      </p:sp>
      <p:sp>
        <p:nvSpPr>
          <p:cNvPr id="34" name="Text 28"/>
          <p:cNvSpPr txBox="1"/>
          <p:nvPr/>
        </p:nvSpPr>
        <p:spPr>
          <a:xfrm>
            <a:off x="3438144" y="1965960"/>
            <a:ext cx="2286000" cy="201168"/>
          </a:xfrm>
          <a:prstGeom prst="rect">
            <a:avLst/>
          </a:prstGeom>
          <a:noFill/>
          <a:ln/>
        </p:spPr>
        <p:txBody>
          <a:bodyPr wrap="square" lIns="0" tIns="0" rIns="0" bIns="0" rtlCol="0" anchor="t"/>
          <a:lstStyle/>
          <a:p>
            <a:pPr marL="0" indent="0">
              <a:buNone/>
            </a:pPr>
            <a:r>
              <a:rPr lang="fr-FR" altLang="en-US" sz="950" b="1" dirty="0">
                <a:solidFill>
                  <a:srgbClr val="00704A"/>
                </a:solidFill>
                <a:latin typeface="Courier New" pitchFamily="34" charset="0"/>
                <a:ea typeface="Courier New" pitchFamily="34" charset="-122"/>
                <a:cs typeface="Courier New" pitchFamily="34" charset="-120"/>
              </a:rPr>
              <a:t>terms</a:t>
            </a:r>
            <a:endParaRPr lang="fr-FR" sz="950" dirty="0"/>
          </a:p>
        </p:txBody>
      </p:sp>
      <p:sp>
        <p:nvSpPr>
          <p:cNvPr id="35" name="Text 29"/>
          <p:cNvSpPr txBox="1"/>
          <p:nvPr/>
        </p:nvSpPr>
        <p:spPr>
          <a:xfrm>
            <a:off x="3438144" y="2157984"/>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groupby(col)</a:t>
            </a:r>
            <a:endParaRPr lang="fr-FR" sz="950" dirty="0"/>
          </a:p>
        </p:txBody>
      </p:sp>
      <p:sp>
        <p:nvSpPr>
          <p:cNvPr id="36" name="Text 30"/>
          <p:cNvSpPr txBox="1"/>
          <p:nvPr/>
        </p:nvSpPr>
        <p:spPr>
          <a:xfrm>
            <a:off x="3438144" y="2395728"/>
            <a:ext cx="2286000" cy="201168"/>
          </a:xfrm>
          <a:prstGeom prst="rect">
            <a:avLst/>
          </a:prstGeom>
          <a:noFill/>
          <a:ln/>
        </p:spPr>
        <p:txBody>
          <a:bodyPr wrap="square" lIns="0" tIns="0" rIns="0" bIns="0" rtlCol="0" anchor="t"/>
          <a:lstStyle/>
          <a:p>
            <a:pPr marL="0" indent="0">
              <a:buNone/>
            </a:pPr>
            <a:r>
              <a:rPr lang="fr-FR" altLang="en-US" sz="950" b="1" dirty="0">
                <a:solidFill>
                  <a:srgbClr val="00704A"/>
                </a:solidFill>
                <a:latin typeface="Courier New" pitchFamily="34" charset="0"/>
                <a:ea typeface="Courier New" pitchFamily="34" charset="-122"/>
                <a:cs typeface="Courier New" pitchFamily="34" charset="-120"/>
              </a:rPr>
              <a:t>range · histogram</a:t>
            </a:r>
            <a:endParaRPr lang="fr-FR" sz="950" dirty="0"/>
          </a:p>
        </p:txBody>
      </p:sp>
      <p:sp>
        <p:nvSpPr>
          <p:cNvPr id="37" name="Text 31"/>
          <p:cNvSpPr txBox="1"/>
          <p:nvPr/>
        </p:nvSpPr>
        <p:spPr>
          <a:xfrm>
            <a:off x="3438144" y="2587752"/>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pd.cut()</a:t>
            </a:r>
            <a:endParaRPr lang="fr-FR" sz="950" dirty="0"/>
          </a:p>
        </p:txBody>
      </p:sp>
      <p:sp>
        <p:nvSpPr>
          <p:cNvPr id="38" name="Text 32"/>
          <p:cNvSpPr txBox="1"/>
          <p:nvPr/>
        </p:nvSpPr>
        <p:spPr>
          <a:xfrm>
            <a:off x="3438144" y="2825496"/>
            <a:ext cx="2286000" cy="201168"/>
          </a:xfrm>
          <a:prstGeom prst="rect">
            <a:avLst/>
          </a:prstGeom>
          <a:noFill/>
          <a:ln/>
        </p:spPr>
        <p:txBody>
          <a:bodyPr wrap="square" lIns="0" tIns="0" rIns="0" bIns="0" rtlCol="0" anchor="t"/>
          <a:lstStyle/>
          <a:p>
            <a:pPr marL="0" indent="0">
              <a:buNone/>
            </a:pPr>
            <a:r>
              <a:rPr lang="fr-FR" altLang="en-US" sz="950" b="1" dirty="0">
                <a:solidFill>
                  <a:srgbClr val="00704A"/>
                </a:solidFill>
                <a:latin typeface="Courier New" pitchFamily="34" charset="0"/>
                <a:ea typeface="Courier New" pitchFamily="34" charset="-122"/>
                <a:cs typeface="Courier New" pitchFamily="34" charset="-120"/>
              </a:rPr>
              <a:t>date_histogram</a:t>
            </a:r>
            <a:endParaRPr lang="fr-FR" sz="950" dirty="0"/>
          </a:p>
        </p:txBody>
      </p:sp>
      <p:sp>
        <p:nvSpPr>
          <p:cNvPr id="39" name="Text 33"/>
          <p:cNvSpPr txBox="1"/>
          <p:nvPr/>
        </p:nvSpPr>
        <p:spPr>
          <a:xfrm>
            <a:off x="3438144" y="3017520"/>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resample()</a:t>
            </a:r>
            <a:endParaRPr lang="fr-FR" sz="950" dirty="0"/>
          </a:p>
        </p:txBody>
      </p:sp>
      <p:sp>
        <p:nvSpPr>
          <p:cNvPr id="40" name="Text 34"/>
          <p:cNvSpPr txBox="1"/>
          <p:nvPr/>
        </p:nvSpPr>
        <p:spPr>
          <a:xfrm>
            <a:off x="3438144" y="3255264"/>
            <a:ext cx="2286000" cy="201168"/>
          </a:xfrm>
          <a:prstGeom prst="rect">
            <a:avLst/>
          </a:prstGeom>
          <a:noFill/>
          <a:ln/>
        </p:spPr>
        <p:txBody>
          <a:bodyPr wrap="square" lIns="0" tIns="0" rIns="0" bIns="0" rtlCol="0" anchor="t"/>
          <a:lstStyle/>
          <a:p>
            <a:pPr marL="0" indent="0">
              <a:buNone/>
            </a:pPr>
            <a:r>
              <a:rPr lang="fr-FR" altLang="en-US" sz="950" b="1" dirty="0">
                <a:solidFill>
                  <a:srgbClr val="00704A"/>
                </a:solidFill>
                <a:latin typeface="Courier New" pitchFamily="34" charset="0"/>
                <a:ea typeface="Courier New" pitchFamily="34" charset="-122"/>
                <a:cs typeface="Courier New" pitchFamily="34" charset="-120"/>
              </a:rPr>
              <a:t>geotile_grid</a:t>
            </a:r>
            <a:endParaRPr lang="fr-FR" sz="950" dirty="0"/>
          </a:p>
        </p:txBody>
      </p:sp>
      <p:sp>
        <p:nvSpPr>
          <p:cNvPr id="41" name="Text 35"/>
          <p:cNvSpPr txBox="1"/>
          <p:nvPr/>
        </p:nvSpPr>
        <p:spPr>
          <a:xfrm>
            <a:off x="3438144" y="3447288"/>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grouper par tuile</a:t>
            </a:r>
            <a:endParaRPr lang="fr-FR" sz="950" dirty="0"/>
          </a:p>
        </p:txBody>
      </p:sp>
      <p:sp>
        <p:nvSpPr>
          <p:cNvPr id="42" name="Shape 36"/>
          <p:cNvSpPr/>
          <p:nvPr/>
        </p:nvSpPr>
        <p:spPr>
          <a:xfrm>
            <a:off x="6126480" y="1261872"/>
            <a:ext cx="2560320" cy="2487168"/>
          </a:xfrm>
          <a:prstGeom prst="roundRect">
            <a:avLst>
              <a:gd name="adj" fmla="val 2941"/>
            </a:avLst>
          </a:prstGeom>
          <a:solidFill>
            <a:srgbClr val="F4F7F5"/>
          </a:solidFill>
          <a:ln w="9525">
            <a:solidFill>
              <a:srgbClr val="D5DED9"/>
            </a:solidFill>
            <a:prstDash val="solid"/>
          </a:ln>
        </p:spPr>
      </p:sp>
      <p:sp>
        <p:nvSpPr>
          <p:cNvPr id="43" name="Shape 37"/>
          <p:cNvSpPr/>
          <p:nvPr/>
        </p:nvSpPr>
        <p:spPr>
          <a:xfrm>
            <a:off x="6272784" y="1371600"/>
            <a:ext cx="420624" cy="420624"/>
          </a:xfrm>
          <a:prstGeom prst="ellipse">
            <a:avLst/>
          </a:prstGeom>
          <a:solidFill>
            <a:srgbClr val="0E7C86">
              <a:alpha val="22000"/>
            </a:srgbClr>
          </a:solidFill>
          <a:ln/>
        </p:spPr>
      </p:sp>
      <p:pic>
        <p:nvPicPr>
          <p:cNvPr id="44" name="Image 3" descr="preencoded.png"/>
          <p:cNvPicPr>
            <a:picLocks noChangeAspect="1"/>
          </p:cNvPicPr>
          <p:nvPr/>
        </p:nvPicPr>
        <p:blipFill>
          <a:blip r:embed="rId6"/>
          <a:stretch>
            <a:fillRect/>
          </a:stretch>
        </p:blipFill>
        <p:spPr>
          <a:xfrm>
            <a:off x="6382146" y="1480962"/>
            <a:ext cx="201900" cy="201900"/>
          </a:xfrm>
          <a:prstGeom prst="rect">
            <a:avLst/>
          </a:prstGeom>
        </p:spPr>
      </p:pic>
      <p:sp>
        <p:nvSpPr>
          <p:cNvPr id="45" name="Text 38"/>
          <p:cNvSpPr txBox="1"/>
          <p:nvPr/>
        </p:nvSpPr>
        <p:spPr>
          <a:xfrm>
            <a:off x="6803136" y="1371600"/>
            <a:ext cx="173736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Pipeline</a:t>
            </a:r>
            <a:endParaRPr lang="fr-FR" sz="1400" dirty="0"/>
          </a:p>
        </p:txBody>
      </p:sp>
      <p:sp>
        <p:nvSpPr>
          <p:cNvPr id="46" name="Text 39"/>
          <p:cNvSpPr txBox="1"/>
          <p:nvPr/>
        </p:nvSpPr>
        <p:spPr>
          <a:xfrm>
            <a:off x="6803136" y="1609344"/>
            <a:ext cx="1737360" cy="201168"/>
          </a:xfrm>
          <a:prstGeom prst="rect">
            <a:avLst/>
          </a:prstGeom>
          <a:noFill/>
          <a:ln/>
        </p:spPr>
        <p:txBody>
          <a:bodyPr wrap="square" lIns="0" tIns="0" rIns="0" bIns="0" rtlCol="0" anchor="t"/>
          <a:lstStyle/>
          <a:p>
            <a:pPr marL="0" indent="0">
              <a:buNone/>
            </a:pPr>
            <a:r>
              <a:rPr lang="fr-FR" altLang="en-US" sz="950" i="1" dirty="0">
                <a:solidFill>
                  <a:srgbClr val="5E6964"/>
                </a:solidFill>
                <a:latin typeface="Calibri" pitchFamily="34" charset="0"/>
                <a:ea typeface="Calibri" pitchFamily="34" charset="-122"/>
                <a:cs typeface="Calibri" pitchFamily="34" charset="-120"/>
              </a:rPr>
              <a:t>agréger des agrégations</a:t>
            </a:r>
            <a:endParaRPr lang="fr-FR" sz="950" dirty="0"/>
          </a:p>
        </p:txBody>
      </p:sp>
      <p:sp>
        <p:nvSpPr>
          <p:cNvPr id="47" name="Text 40"/>
          <p:cNvSpPr txBox="1"/>
          <p:nvPr/>
        </p:nvSpPr>
        <p:spPr>
          <a:xfrm>
            <a:off x="6272784" y="1965960"/>
            <a:ext cx="2286000" cy="201168"/>
          </a:xfrm>
          <a:prstGeom prst="rect">
            <a:avLst/>
          </a:prstGeom>
          <a:noFill/>
          <a:ln/>
        </p:spPr>
        <p:txBody>
          <a:bodyPr wrap="square" lIns="0" tIns="0" rIns="0" bIns="0" rtlCol="0" anchor="t"/>
          <a:lstStyle/>
          <a:p>
            <a:pPr marL="0" indent="0">
              <a:buNone/>
            </a:pPr>
            <a:r>
              <a:rPr lang="fr-FR" altLang="en-US" sz="950" b="1" dirty="0">
                <a:solidFill>
                  <a:srgbClr val="0E7C86"/>
                </a:solidFill>
                <a:latin typeface="Courier New" pitchFamily="34" charset="0"/>
                <a:ea typeface="Courier New" pitchFamily="34" charset="-122"/>
                <a:cs typeface="Courier New" pitchFamily="34" charset="-120"/>
              </a:rPr>
              <a:t>derivative</a:t>
            </a:r>
            <a:endParaRPr lang="fr-FR" sz="950" dirty="0"/>
          </a:p>
        </p:txBody>
      </p:sp>
      <p:sp>
        <p:nvSpPr>
          <p:cNvPr id="48" name="Text 41"/>
          <p:cNvSpPr txBox="1"/>
          <p:nvPr/>
        </p:nvSpPr>
        <p:spPr>
          <a:xfrm>
            <a:off x="6272784" y="2157984"/>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diff()</a:t>
            </a:r>
            <a:endParaRPr lang="fr-FR" sz="950" dirty="0"/>
          </a:p>
        </p:txBody>
      </p:sp>
      <p:sp>
        <p:nvSpPr>
          <p:cNvPr id="49" name="Text 42"/>
          <p:cNvSpPr txBox="1"/>
          <p:nvPr/>
        </p:nvSpPr>
        <p:spPr>
          <a:xfrm>
            <a:off x="6272784" y="2395728"/>
            <a:ext cx="2286000" cy="201168"/>
          </a:xfrm>
          <a:prstGeom prst="rect">
            <a:avLst/>
          </a:prstGeom>
          <a:noFill/>
          <a:ln/>
        </p:spPr>
        <p:txBody>
          <a:bodyPr wrap="square" lIns="0" tIns="0" rIns="0" bIns="0" rtlCol="0" anchor="t"/>
          <a:lstStyle/>
          <a:p>
            <a:pPr marL="0" indent="0">
              <a:buNone/>
            </a:pPr>
            <a:r>
              <a:rPr lang="fr-FR" altLang="en-US" sz="950" b="1" dirty="0">
                <a:solidFill>
                  <a:srgbClr val="0E7C86"/>
                </a:solidFill>
                <a:latin typeface="Courier New" pitchFamily="34" charset="0"/>
                <a:ea typeface="Courier New" pitchFamily="34" charset="-122"/>
                <a:cs typeface="Courier New" pitchFamily="34" charset="-120"/>
              </a:rPr>
              <a:t>cumulative_sum</a:t>
            </a:r>
            <a:endParaRPr lang="fr-FR" sz="950" dirty="0"/>
          </a:p>
        </p:txBody>
      </p:sp>
      <p:sp>
        <p:nvSpPr>
          <p:cNvPr id="50" name="Text 43"/>
          <p:cNvSpPr txBox="1"/>
          <p:nvPr/>
        </p:nvSpPr>
        <p:spPr>
          <a:xfrm>
            <a:off x="6272784" y="2587752"/>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cumsum()</a:t>
            </a:r>
            <a:endParaRPr lang="fr-FR" sz="950" dirty="0"/>
          </a:p>
        </p:txBody>
      </p:sp>
      <p:sp>
        <p:nvSpPr>
          <p:cNvPr id="51" name="Text 44"/>
          <p:cNvSpPr txBox="1"/>
          <p:nvPr/>
        </p:nvSpPr>
        <p:spPr>
          <a:xfrm>
            <a:off x="6272784" y="2825496"/>
            <a:ext cx="2286000" cy="201168"/>
          </a:xfrm>
          <a:prstGeom prst="rect">
            <a:avLst/>
          </a:prstGeom>
          <a:noFill/>
          <a:ln/>
        </p:spPr>
        <p:txBody>
          <a:bodyPr wrap="square" lIns="0" tIns="0" rIns="0" bIns="0" rtlCol="0" anchor="t"/>
          <a:lstStyle/>
          <a:p>
            <a:pPr marL="0" indent="0">
              <a:buNone/>
            </a:pPr>
            <a:r>
              <a:rPr lang="fr-FR" altLang="en-US" sz="950" b="1" dirty="0">
                <a:solidFill>
                  <a:srgbClr val="0E7C86"/>
                </a:solidFill>
                <a:latin typeface="Courier New" pitchFamily="34" charset="0"/>
                <a:ea typeface="Courier New" pitchFamily="34" charset="-122"/>
                <a:cs typeface="Courier New" pitchFamily="34" charset="-120"/>
              </a:rPr>
              <a:t>bucket_sort</a:t>
            </a:r>
            <a:endParaRPr lang="fr-FR" sz="950" dirty="0"/>
          </a:p>
        </p:txBody>
      </p:sp>
      <p:sp>
        <p:nvSpPr>
          <p:cNvPr id="52" name="Text 45"/>
          <p:cNvSpPr txBox="1"/>
          <p:nvPr/>
        </p:nvSpPr>
        <p:spPr>
          <a:xfrm>
            <a:off x="6272784" y="3017520"/>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sort + head()</a:t>
            </a:r>
            <a:endParaRPr lang="fr-FR" sz="950" dirty="0"/>
          </a:p>
        </p:txBody>
      </p:sp>
      <p:sp>
        <p:nvSpPr>
          <p:cNvPr id="53" name="Text 46"/>
          <p:cNvSpPr txBox="1"/>
          <p:nvPr/>
        </p:nvSpPr>
        <p:spPr>
          <a:xfrm>
            <a:off x="6272784" y="3255264"/>
            <a:ext cx="2286000" cy="201168"/>
          </a:xfrm>
          <a:prstGeom prst="rect">
            <a:avLst/>
          </a:prstGeom>
          <a:noFill/>
          <a:ln/>
        </p:spPr>
        <p:txBody>
          <a:bodyPr wrap="square" lIns="0" tIns="0" rIns="0" bIns="0" rtlCol="0" anchor="t"/>
          <a:lstStyle/>
          <a:p>
            <a:pPr marL="0" indent="0">
              <a:buNone/>
            </a:pPr>
            <a:r>
              <a:rPr lang="fr-FR" altLang="en-US" sz="950" b="1" dirty="0">
                <a:solidFill>
                  <a:srgbClr val="0E7C86"/>
                </a:solidFill>
                <a:latin typeface="Courier New" pitchFamily="34" charset="0"/>
                <a:ea typeface="Courier New" pitchFamily="34" charset="-122"/>
                <a:cs typeface="Courier New" pitchFamily="34" charset="-120"/>
              </a:rPr>
              <a:t>bucket_script</a:t>
            </a:r>
            <a:endParaRPr lang="fr-FR" sz="950" dirty="0"/>
          </a:p>
        </p:txBody>
      </p:sp>
      <p:sp>
        <p:nvSpPr>
          <p:cNvPr id="54" name="Text 47"/>
          <p:cNvSpPr txBox="1"/>
          <p:nvPr/>
        </p:nvSpPr>
        <p:spPr>
          <a:xfrm>
            <a:off x="6272784" y="3447288"/>
            <a:ext cx="2286000" cy="182880"/>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 ratio calculé</a:t>
            </a:r>
            <a:endParaRPr lang="fr-FR" sz="950" dirty="0"/>
          </a:p>
        </p:txBody>
      </p:sp>
      <p:sp>
        <p:nvSpPr>
          <p:cNvPr id="55" name="Shape 48"/>
          <p:cNvSpPr/>
          <p:nvPr/>
        </p:nvSpPr>
        <p:spPr>
          <a:xfrm>
            <a:off x="457200" y="3886200"/>
            <a:ext cx="8229600" cy="685800"/>
          </a:xfrm>
          <a:prstGeom prst="roundRect">
            <a:avLst>
              <a:gd name="adj" fmla="val 8000"/>
            </a:avLst>
          </a:prstGeom>
          <a:solidFill>
            <a:srgbClr val="D49A00">
              <a:alpha val="13000"/>
            </a:srgbClr>
          </a:solidFill>
          <a:ln w="12700">
            <a:solidFill>
              <a:srgbClr val="D49A00"/>
            </a:solidFill>
            <a:prstDash val="solid"/>
          </a:ln>
        </p:spPr>
      </p:sp>
      <p:pic>
        <p:nvPicPr>
          <p:cNvPr id="56" name="Image 4" descr="preencoded.png"/>
          <p:cNvPicPr>
            <a:picLocks noChangeAspect="1"/>
          </p:cNvPicPr>
          <p:nvPr/>
        </p:nvPicPr>
        <p:blipFill>
          <a:blip r:embed="rId7"/>
          <a:stretch>
            <a:fillRect/>
          </a:stretch>
        </p:blipFill>
        <p:spPr>
          <a:xfrm>
            <a:off x="603504" y="4091940"/>
            <a:ext cx="274320" cy="274320"/>
          </a:xfrm>
          <a:prstGeom prst="rect">
            <a:avLst/>
          </a:prstGeom>
        </p:spPr>
      </p:pic>
      <p:sp>
        <p:nvSpPr>
          <p:cNvPr id="57" name="Text 49"/>
          <p:cNvSpPr txBox="1"/>
          <p:nvPr/>
        </p:nvSpPr>
        <p:spPr>
          <a:xfrm>
            <a:off x="1005840" y="3941064"/>
            <a:ext cx="7543800" cy="576072"/>
          </a:xfrm>
          <a:prstGeom prst="rect">
            <a:avLst/>
          </a:prstGeom>
          <a:noFill/>
          <a:ln/>
        </p:spPr>
        <p:txBody>
          <a:bodyPr wrap="square" lIns="0" tIns="0" rIns="0" bIns="0" rtlCol="0" anchor="ctr"/>
          <a:lstStyle/>
          <a:p>
            <a:pPr marL="0" indent="0">
              <a:buNone/>
            </a:pPr>
            <a:r>
              <a:rPr lang="fr-FR" altLang="en-US" sz="1050" b="1" dirty="0">
                <a:solidFill>
                  <a:srgbClr val="231F20"/>
                </a:solidFill>
                <a:latin typeface="Calibri" pitchFamily="34" charset="0"/>
                <a:ea typeface="Calibri" pitchFamily="34" charset="-122"/>
                <a:cs typeface="Calibri" pitchFamily="34" charset="-120"/>
              </a:rPr>
              <a:t>Approchées par construction : </a:t>
            </a:r>
            <a:r>
              <a:rPr lang="fr-FR" altLang="en-US" sz="1050" dirty="0">
                <a:solidFill>
                  <a:srgbClr val="231F20"/>
                </a:solidFill>
                <a:latin typeface="Calibri" pitchFamily="34" charset="0"/>
                <a:ea typeface="Calibri" pitchFamily="34" charset="-122"/>
                <a:cs typeface="Calibri" pitchFamily="34" charset="-120"/>
              </a:rPr>
              <a:t>cardinality (HyperLogLog++), percentiles (TDigest) et comptages terms multi-shards. Suffisant pour explorer ; vérifiez la précision ou calculez exactement avant de publier.</a:t>
            </a:r>
            <a:endParaRPr lang="fr-FR" sz="10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Un indicateur de connectivité pondéré par la population</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22</a:t>
            </a:r>
            <a:endParaRPr lang="fr-FR" sz="850" dirty="0"/>
          </a:p>
        </p:txBody>
      </p:sp>
      <p:sp>
        <p:nvSpPr>
          <p:cNvPr id="16" name="Shape 12"/>
          <p:cNvSpPr/>
          <p:nvPr/>
        </p:nvSpPr>
        <p:spPr>
          <a:xfrm>
            <a:off x="457200" y="1261872"/>
            <a:ext cx="4023360" cy="868680"/>
          </a:xfrm>
          <a:prstGeom prst="roundRect">
            <a:avLst>
              <a:gd name="adj" fmla="val 8421"/>
            </a:avLst>
          </a:prstGeom>
          <a:solidFill>
            <a:srgbClr val="E8F5EF"/>
          </a:solidFill>
          <a:ln w="15875">
            <a:solidFill>
              <a:srgbClr val="00A86A"/>
            </a:solidFill>
            <a:prstDash val="solid"/>
          </a:ln>
        </p:spPr>
      </p:sp>
      <p:sp>
        <p:nvSpPr>
          <p:cNvPr id="17" name="Text 13"/>
          <p:cNvSpPr txBox="1"/>
          <p:nvPr/>
        </p:nvSpPr>
        <p:spPr>
          <a:xfrm>
            <a:off x="621792" y="1335024"/>
            <a:ext cx="3657600" cy="182880"/>
          </a:xfrm>
          <a:prstGeom prst="rect">
            <a:avLst/>
          </a:prstGeom>
          <a:noFill/>
          <a:ln/>
        </p:spPr>
        <p:txBody>
          <a:bodyPr wrap="square" lIns="0" tIns="0" rIns="0" bIns="0" rtlCol="0" anchor="t"/>
          <a:lstStyle/>
          <a:p>
            <a:pPr marL="0" indent="0">
              <a:buNone/>
            </a:pPr>
            <a:r>
              <a:rPr lang="fr-FR" altLang="en-US" sz="900" b="1" kern="0" spc="200" dirty="0">
                <a:solidFill>
                  <a:srgbClr val="00704A"/>
                </a:solidFill>
                <a:latin typeface="Calibri" pitchFamily="34" charset="0"/>
                <a:ea typeface="Calibri" pitchFamily="34" charset="-122"/>
                <a:cs typeface="Calibri" pitchFamily="34" charset="-120"/>
              </a:rPr>
              <a:t>FORMULE POUR LA RÉGION r</a:t>
            </a:r>
            <a:endParaRPr lang="fr-FR" sz="900" dirty="0"/>
          </a:p>
        </p:txBody>
      </p:sp>
      <p:sp>
        <p:nvSpPr>
          <p:cNvPr id="18" name="Text 14"/>
          <p:cNvSpPr txBox="1"/>
          <p:nvPr/>
        </p:nvSpPr>
        <p:spPr>
          <a:xfrm>
            <a:off x="621792" y="1554480"/>
            <a:ext cx="3749040" cy="457200"/>
          </a:xfrm>
          <a:prstGeom prst="rect">
            <a:avLst/>
          </a:prstGeom>
          <a:noFill/>
          <a:ln/>
        </p:spPr>
        <p:txBody>
          <a:bodyPr wrap="square" lIns="0" tIns="0" rIns="0" bIns="0" rtlCol="0" anchor="ctr"/>
          <a:lstStyle/>
          <a:p>
            <a:pPr marL="0" indent="0">
              <a:buNone/>
            </a:pPr>
            <a:r>
              <a:rPr lang="fr-FR" altLang="en-US" sz="2000" b="1" dirty="0">
                <a:solidFill>
                  <a:srgbClr val="231F20"/>
                </a:solidFill>
                <a:latin typeface="Cambria" pitchFamily="34" charset="0"/>
                <a:ea typeface="Cambria" pitchFamily="34" charset="-122"/>
                <a:cs typeface="Cambria" pitchFamily="34" charset="-120"/>
              </a:rPr>
              <a:t>C</a:t>
            </a:r>
            <a:r>
              <a:rPr lang="fr-FR" altLang="en-US" sz="2000" b="1" baseline="-40000" dirty="0">
                <a:solidFill>
                  <a:srgbClr val="231F20"/>
                </a:solidFill>
                <a:latin typeface="Cambria" pitchFamily="34" charset="0"/>
                <a:ea typeface="Cambria" pitchFamily="34" charset="-122"/>
                <a:cs typeface="Cambria" pitchFamily="34" charset="-120"/>
              </a:rPr>
              <a:t>r</a:t>
            </a:r>
            <a:r>
              <a:rPr lang="fr-FR" altLang="en-US" sz="2000" dirty="0">
                <a:solidFill>
                  <a:srgbClr val="231F20"/>
                </a:solidFill>
                <a:latin typeface="Cambria" pitchFamily="34" charset="0"/>
                <a:ea typeface="Cambria" pitchFamily="34" charset="-122"/>
                <a:cs typeface="Cambria" pitchFamily="34" charset="-120"/>
              </a:rPr>
              <a:t>  =  Σ (pop</a:t>
            </a:r>
            <a:r>
              <a:rPr lang="fr-FR" altLang="en-US" sz="2000" baseline="-40000" dirty="0">
                <a:solidFill>
                  <a:srgbClr val="231F20"/>
                </a:solidFill>
                <a:latin typeface="Cambria" pitchFamily="34" charset="0"/>
                <a:ea typeface="Cambria" pitchFamily="34" charset="-122"/>
                <a:cs typeface="Cambria" pitchFamily="34" charset="-120"/>
              </a:rPr>
              <a:t>i</a:t>
            </a:r>
            <a:r>
              <a:rPr lang="fr-FR" altLang="en-US" sz="2000" dirty="0">
                <a:solidFill>
                  <a:srgbClr val="231F20"/>
                </a:solidFill>
                <a:latin typeface="Cambria" pitchFamily="34" charset="0"/>
                <a:ea typeface="Cambria" pitchFamily="34" charset="-122"/>
                <a:cs typeface="Cambria" pitchFamily="34" charset="-120"/>
              </a:rPr>
              <a:t> × débit</a:t>
            </a:r>
            <a:r>
              <a:rPr lang="fr-FR" altLang="en-US" sz="2000" baseline="-40000" dirty="0">
                <a:solidFill>
                  <a:srgbClr val="231F20"/>
                </a:solidFill>
                <a:latin typeface="Cambria" pitchFamily="34" charset="0"/>
                <a:ea typeface="Cambria" pitchFamily="34" charset="-122"/>
                <a:cs typeface="Cambria" pitchFamily="34" charset="-120"/>
              </a:rPr>
              <a:t>i</a:t>
            </a:r>
            <a:r>
              <a:rPr lang="fr-FR" altLang="en-US" sz="2000" dirty="0">
                <a:solidFill>
                  <a:srgbClr val="231F20"/>
                </a:solidFill>
                <a:latin typeface="Cambria" pitchFamily="34" charset="0"/>
                <a:ea typeface="Cambria" pitchFamily="34" charset="-122"/>
                <a:cs typeface="Cambria" pitchFamily="34" charset="-120"/>
              </a:rPr>
              <a:t>)  ÷  Σ pop</a:t>
            </a:r>
            <a:r>
              <a:rPr lang="fr-FR" altLang="en-US" sz="2000" baseline="-40000" dirty="0">
                <a:solidFill>
                  <a:srgbClr val="231F20"/>
                </a:solidFill>
                <a:latin typeface="Cambria" pitchFamily="34" charset="0"/>
                <a:ea typeface="Cambria" pitchFamily="34" charset="-122"/>
                <a:cs typeface="Cambria" pitchFamily="34" charset="-120"/>
              </a:rPr>
              <a:t>i</a:t>
            </a:r>
            <a:endParaRPr lang="fr-FR" sz="2000" dirty="0"/>
          </a:p>
        </p:txBody>
      </p:sp>
      <p:sp>
        <p:nvSpPr>
          <p:cNvPr id="19" name="Text 15"/>
          <p:cNvSpPr txBox="1"/>
          <p:nvPr/>
        </p:nvSpPr>
        <p:spPr>
          <a:xfrm>
            <a:off x="594360" y="2258568"/>
            <a:ext cx="731520" cy="201168"/>
          </a:xfrm>
          <a:prstGeom prst="rect">
            <a:avLst/>
          </a:prstGeom>
          <a:noFill/>
          <a:ln/>
        </p:spPr>
        <p:txBody>
          <a:bodyPr wrap="square" lIns="0" tIns="0" rIns="0" bIns="0" rtlCol="0" anchor="t"/>
          <a:lstStyle/>
          <a:p>
            <a:pPr marL="0" indent="0" algn="l">
              <a:buNone/>
            </a:pPr>
            <a:r>
              <a:rPr lang="fr-FR" altLang="en-US" sz="950" b="1" dirty="0">
                <a:solidFill>
                  <a:srgbClr val="5E6964"/>
                </a:solidFill>
                <a:latin typeface="Calibri" pitchFamily="34" charset="0"/>
                <a:ea typeface="Calibri" pitchFamily="34" charset="-122"/>
                <a:cs typeface="Calibri" pitchFamily="34" charset="-120"/>
              </a:rPr>
              <a:t>Tuile</a:t>
            </a:r>
            <a:endParaRPr lang="fr-FR" sz="950" dirty="0"/>
          </a:p>
        </p:txBody>
      </p:sp>
      <p:sp>
        <p:nvSpPr>
          <p:cNvPr id="20" name="Text 16"/>
          <p:cNvSpPr txBox="1"/>
          <p:nvPr/>
        </p:nvSpPr>
        <p:spPr>
          <a:xfrm>
            <a:off x="1417320" y="2258568"/>
            <a:ext cx="1005840" cy="201168"/>
          </a:xfrm>
          <a:prstGeom prst="rect">
            <a:avLst/>
          </a:prstGeom>
          <a:noFill/>
          <a:ln/>
        </p:spPr>
        <p:txBody>
          <a:bodyPr wrap="square" lIns="0" tIns="0" rIns="0" bIns="0" rtlCol="0" anchor="t"/>
          <a:lstStyle/>
          <a:p>
            <a:pPr marL="0" indent="0" algn="r">
              <a:buNone/>
            </a:pPr>
            <a:r>
              <a:rPr lang="fr-FR" altLang="en-US" sz="950" b="1" dirty="0">
                <a:solidFill>
                  <a:srgbClr val="5E6964"/>
                </a:solidFill>
                <a:latin typeface="Calibri" pitchFamily="34" charset="0"/>
                <a:ea typeface="Calibri" pitchFamily="34" charset="-122"/>
                <a:cs typeface="Calibri" pitchFamily="34" charset="-120"/>
              </a:rPr>
              <a:t>Population</a:t>
            </a:r>
            <a:endParaRPr lang="fr-FR" sz="950" dirty="0"/>
          </a:p>
        </p:txBody>
      </p:sp>
      <p:sp>
        <p:nvSpPr>
          <p:cNvPr id="21" name="Text 17"/>
          <p:cNvSpPr txBox="1"/>
          <p:nvPr/>
        </p:nvSpPr>
        <p:spPr>
          <a:xfrm>
            <a:off x="2514600" y="2258568"/>
            <a:ext cx="822960" cy="201168"/>
          </a:xfrm>
          <a:prstGeom prst="rect">
            <a:avLst/>
          </a:prstGeom>
          <a:noFill/>
          <a:ln/>
        </p:spPr>
        <p:txBody>
          <a:bodyPr wrap="square" lIns="0" tIns="0" rIns="0" bIns="0" rtlCol="0" anchor="t"/>
          <a:lstStyle/>
          <a:p>
            <a:pPr marL="0" indent="0" algn="r">
              <a:buNone/>
            </a:pPr>
            <a:r>
              <a:rPr lang="fr-FR" altLang="en-US" sz="950" b="1" dirty="0">
                <a:solidFill>
                  <a:srgbClr val="5E6964"/>
                </a:solidFill>
                <a:latin typeface="Calibri" pitchFamily="34" charset="0"/>
                <a:ea typeface="Calibri" pitchFamily="34" charset="-122"/>
                <a:cs typeface="Calibri" pitchFamily="34" charset="-120"/>
              </a:rPr>
              <a:t>Tests</a:t>
            </a:r>
            <a:endParaRPr lang="fr-FR" sz="950" dirty="0"/>
          </a:p>
        </p:txBody>
      </p:sp>
      <p:sp>
        <p:nvSpPr>
          <p:cNvPr id="22" name="Text 18"/>
          <p:cNvSpPr txBox="1"/>
          <p:nvPr/>
        </p:nvSpPr>
        <p:spPr>
          <a:xfrm>
            <a:off x="3429000" y="2258568"/>
            <a:ext cx="822960" cy="201168"/>
          </a:xfrm>
          <a:prstGeom prst="rect">
            <a:avLst/>
          </a:prstGeom>
          <a:noFill/>
          <a:ln/>
        </p:spPr>
        <p:txBody>
          <a:bodyPr wrap="square" lIns="0" tIns="0" rIns="0" bIns="0" rtlCol="0" anchor="t"/>
          <a:lstStyle/>
          <a:p>
            <a:pPr marL="0" indent="0" algn="r">
              <a:buNone/>
            </a:pPr>
            <a:r>
              <a:rPr lang="fr-FR" altLang="en-US" sz="950" b="1" dirty="0">
                <a:solidFill>
                  <a:srgbClr val="5E6964"/>
                </a:solidFill>
                <a:latin typeface="Calibri" pitchFamily="34" charset="0"/>
                <a:ea typeface="Calibri" pitchFamily="34" charset="-122"/>
                <a:cs typeface="Calibri" pitchFamily="34" charset="-120"/>
              </a:rPr>
              <a:t>Mbit/s</a:t>
            </a:r>
            <a:endParaRPr lang="fr-FR" sz="950" dirty="0"/>
          </a:p>
        </p:txBody>
      </p:sp>
      <p:sp>
        <p:nvSpPr>
          <p:cNvPr id="23" name="Shape 19"/>
          <p:cNvSpPr/>
          <p:nvPr/>
        </p:nvSpPr>
        <p:spPr>
          <a:xfrm>
            <a:off x="457200" y="2505456"/>
            <a:ext cx="4023360" cy="310896"/>
          </a:xfrm>
          <a:prstGeom prst="roundRect">
            <a:avLst>
              <a:gd name="adj" fmla="val 23529"/>
            </a:avLst>
          </a:prstGeom>
          <a:solidFill>
            <a:srgbClr val="F4F7F5"/>
          </a:solidFill>
          <a:ln w="9525">
            <a:solidFill>
              <a:srgbClr val="D5DED9"/>
            </a:solidFill>
            <a:prstDash val="solid"/>
          </a:ln>
        </p:spPr>
      </p:sp>
      <p:sp>
        <p:nvSpPr>
          <p:cNvPr id="24" name="Text 20"/>
          <p:cNvSpPr txBox="1"/>
          <p:nvPr/>
        </p:nvSpPr>
        <p:spPr>
          <a:xfrm>
            <a:off x="594360" y="2505456"/>
            <a:ext cx="1097280" cy="310896"/>
          </a:xfrm>
          <a:prstGeom prst="rect">
            <a:avLst/>
          </a:prstGeom>
          <a:noFill/>
          <a:ln/>
        </p:spPr>
        <p:txBody>
          <a:bodyPr wrap="square" lIns="0" tIns="0" rIns="0" bIns="0" rtlCol="0" anchor="ctr"/>
          <a:lstStyle/>
          <a:p>
            <a:pPr marL="0" indent="0" algn="l">
              <a:buNone/>
            </a:pPr>
            <a:r>
              <a:rPr lang="fr-FR" altLang="en-US" sz="1050" dirty="0">
                <a:solidFill>
                  <a:srgbClr val="231F20"/>
                </a:solidFill>
                <a:latin typeface="Calibri" pitchFamily="34" charset="0"/>
                <a:ea typeface="Calibri" pitchFamily="34" charset="-122"/>
                <a:cs typeface="Calibri" pitchFamily="34" charset="-120"/>
              </a:rPr>
              <a:t>A · urbaine</a:t>
            </a:r>
            <a:endParaRPr lang="fr-FR" sz="1050" dirty="0"/>
          </a:p>
        </p:txBody>
      </p:sp>
      <p:sp>
        <p:nvSpPr>
          <p:cNvPr id="25" name="Text 21"/>
          <p:cNvSpPr txBox="1"/>
          <p:nvPr/>
        </p:nvSpPr>
        <p:spPr>
          <a:xfrm>
            <a:off x="1417320" y="2505456"/>
            <a:ext cx="100584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5 000</a:t>
            </a:r>
            <a:endParaRPr lang="fr-FR" sz="1050" dirty="0"/>
          </a:p>
        </p:txBody>
      </p:sp>
      <p:sp>
        <p:nvSpPr>
          <p:cNvPr id="26" name="Text 22"/>
          <p:cNvSpPr txBox="1"/>
          <p:nvPr/>
        </p:nvSpPr>
        <p:spPr>
          <a:xfrm>
            <a:off x="2514600" y="2505456"/>
            <a:ext cx="82296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400</a:t>
            </a:r>
            <a:endParaRPr lang="fr-FR" sz="1050" dirty="0"/>
          </a:p>
        </p:txBody>
      </p:sp>
      <p:sp>
        <p:nvSpPr>
          <p:cNvPr id="27" name="Text 23"/>
          <p:cNvSpPr txBox="1"/>
          <p:nvPr/>
        </p:nvSpPr>
        <p:spPr>
          <a:xfrm>
            <a:off x="3429000" y="2505456"/>
            <a:ext cx="822960" cy="310896"/>
          </a:xfrm>
          <a:prstGeom prst="rect">
            <a:avLst/>
          </a:prstGeom>
          <a:noFill/>
          <a:ln/>
        </p:spPr>
        <p:txBody>
          <a:bodyPr wrap="square" lIns="0" tIns="0" rIns="0" bIns="0" rtlCol="0" anchor="ctr"/>
          <a:lstStyle/>
          <a:p>
            <a:pPr marL="0" indent="0" algn="r">
              <a:buNone/>
            </a:pPr>
            <a:r>
              <a:rPr lang="fr-FR" altLang="en-US" sz="1050" b="1" dirty="0">
                <a:solidFill>
                  <a:srgbClr val="231F20"/>
                </a:solidFill>
                <a:latin typeface="Calibri" pitchFamily="34" charset="0"/>
                <a:ea typeface="Calibri" pitchFamily="34" charset="-122"/>
                <a:cs typeface="Calibri" pitchFamily="34" charset="-120"/>
              </a:rPr>
              <a:t>20</a:t>
            </a:r>
            <a:endParaRPr lang="fr-FR" sz="1050" dirty="0"/>
          </a:p>
        </p:txBody>
      </p:sp>
      <p:sp>
        <p:nvSpPr>
          <p:cNvPr id="28" name="Shape 24"/>
          <p:cNvSpPr/>
          <p:nvPr/>
        </p:nvSpPr>
        <p:spPr>
          <a:xfrm>
            <a:off x="457200" y="2871216"/>
            <a:ext cx="4023360" cy="310896"/>
          </a:xfrm>
          <a:prstGeom prst="roundRect">
            <a:avLst>
              <a:gd name="adj" fmla="val 23529"/>
            </a:avLst>
          </a:prstGeom>
          <a:solidFill>
            <a:srgbClr val="FFFFFF"/>
          </a:solidFill>
          <a:ln w="9525">
            <a:solidFill>
              <a:srgbClr val="D5DED9"/>
            </a:solidFill>
            <a:prstDash val="solid"/>
          </a:ln>
        </p:spPr>
      </p:sp>
      <p:sp>
        <p:nvSpPr>
          <p:cNvPr id="29" name="Text 25"/>
          <p:cNvSpPr txBox="1"/>
          <p:nvPr/>
        </p:nvSpPr>
        <p:spPr>
          <a:xfrm>
            <a:off x="594360" y="2871216"/>
            <a:ext cx="1097280" cy="310896"/>
          </a:xfrm>
          <a:prstGeom prst="rect">
            <a:avLst/>
          </a:prstGeom>
          <a:noFill/>
          <a:ln/>
        </p:spPr>
        <p:txBody>
          <a:bodyPr wrap="square" lIns="0" tIns="0" rIns="0" bIns="0" rtlCol="0" anchor="ctr"/>
          <a:lstStyle/>
          <a:p>
            <a:pPr marL="0" indent="0" algn="l">
              <a:buNone/>
            </a:pPr>
            <a:r>
              <a:rPr lang="fr-FR" altLang="en-US" sz="1050" dirty="0">
                <a:solidFill>
                  <a:srgbClr val="231F20"/>
                </a:solidFill>
                <a:latin typeface="Calibri" pitchFamily="34" charset="0"/>
                <a:ea typeface="Calibri" pitchFamily="34" charset="-122"/>
                <a:cs typeface="Calibri" pitchFamily="34" charset="-120"/>
              </a:rPr>
              <a:t>B · périurbaine</a:t>
            </a:r>
            <a:endParaRPr lang="fr-FR" sz="1050" dirty="0"/>
          </a:p>
        </p:txBody>
      </p:sp>
      <p:sp>
        <p:nvSpPr>
          <p:cNvPr id="30" name="Text 26"/>
          <p:cNvSpPr txBox="1"/>
          <p:nvPr/>
        </p:nvSpPr>
        <p:spPr>
          <a:xfrm>
            <a:off x="1417320" y="2871216"/>
            <a:ext cx="100584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1 200</a:t>
            </a:r>
            <a:endParaRPr lang="fr-FR" sz="1050" dirty="0"/>
          </a:p>
        </p:txBody>
      </p:sp>
      <p:sp>
        <p:nvSpPr>
          <p:cNvPr id="31" name="Text 27"/>
          <p:cNvSpPr txBox="1"/>
          <p:nvPr/>
        </p:nvSpPr>
        <p:spPr>
          <a:xfrm>
            <a:off x="2514600" y="2871216"/>
            <a:ext cx="82296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40</a:t>
            </a:r>
            <a:endParaRPr lang="fr-FR" sz="1050" dirty="0"/>
          </a:p>
        </p:txBody>
      </p:sp>
      <p:sp>
        <p:nvSpPr>
          <p:cNvPr id="32" name="Text 28"/>
          <p:cNvSpPr txBox="1"/>
          <p:nvPr/>
        </p:nvSpPr>
        <p:spPr>
          <a:xfrm>
            <a:off x="3429000" y="2871216"/>
            <a:ext cx="822960" cy="310896"/>
          </a:xfrm>
          <a:prstGeom prst="rect">
            <a:avLst/>
          </a:prstGeom>
          <a:noFill/>
          <a:ln/>
        </p:spPr>
        <p:txBody>
          <a:bodyPr wrap="square" lIns="0" tIns="0" rIns="0" bIns="0" rtlCol="0" anchor="ctr"/>
          <a:lstStyle/>
          <a:p>
            <a:pPr marL="0" indent="0" algn="r">
              <a:buNone/>
            </a:pPr>
            <a:r>
              <a:rPr lang="fr-FR" altLang="en-US" sz="1050" b="1" dirty="0">
                <a:solidFill>
                  <a:srgbClr val="231F20"/>
                </a:solidFill>
                <a:latin typeface="Calibri" pitchFamily="34" charset="0"/>
                <a:ea typeface="Calibri" pitchFamily="34" charset="-122"/>
                <a:cs typeface="Calibri" pitchFamily="34" charset="-120"/>
              </a:rPr>
              <a:t>8</a:t>
            </a:r>
            <a:endParaRPr lang="fr-FR" sz="1050" dirty="0"/>
          </a:p>
        </p:txBody>
      </p:sp>
      <p:sp>
        <p:nvSpPr>
          <p:cNvPr id="33" name="Shape 29"/>
          <p:cNvSpPr/>
          <p:nvPr/>
        </p:nvSpPr>
        <p:spPr>
          <a:xfrm>
            <a:off x="457200" y="3236976"/>
            <a:ext cx="4023360" cy="310896"/>
          </a:xfrm>
          <a:prstGeom prst="roundRect">
            <a:avLst>
              <a:gd name="adj" fmla="val 23529"/>
            </a:avLst>
          </a:prstGeom>
          <a:solidFill>
            <a:srgbClr val="F4F7F5"/>
          </a:solidFill>
          <a:ln w="9525">
            <a:solidFill>
              <a:srgbClr val="D5DED9"/>
            </a:solidFill>
            <a:prstDash val="solid"/>
          </a:ln>
        </p:spPr>
      </p:sp>
      <p:sp>
        <p:nvSpPr>
          <p:cNvPr id="34" name="Text 30"/>
          <p:cNvSpPr txBox="1"/>
          <p:nvPr/>
        </p:nvSpPr>
        <p:spPr>
          <a:xfrm>
            <a:off x="594360" y="3236976"/>
            <a:ext cx="1097280" cy="310896"/>
          </a:xfrm>
          <a:prstGeom prst="rect">
            <a:avLst/>
          </a:prstGeom>
          <a:noFill/>
          <a:ln/>
        </p:spPr>
        <p:txBody>
          <a:bodyPr wrap="square" lIns="0" tIns="0" rIns="0" bIns="0" rtlCol="0" anchor="ctr"/>
          <a:lstStyle/>
          <a:p>
            <a:pPr marL="0" indent="0" algn="l">
              <a:buNone/>
            </a:pPr>
            <a:r>
              <a:rPr lang="fr-FR" altLang="en-US" sz="1050" dirty="0">
                <a:solidFill>
                  <a:srgbClr val="231F20"/>
                </a:solidFill>
                <a:latin typeface="Calibri" pitchFamily="34" charset="0"/>
                <a:ea typeface="Calibri" pitchFamily="34" charset="-122"/>
                <a:cs typeface="Calibri" pitchFamily="34" charset="-120"/>
              </a:rPr>
              <a:t>C · rurale</a:t>
            </a:r>
            <a:endParaRPr lang="fr-FR" sz="1050" dirty="0"/>
          </a:p>
        </p:txBody>
      </p:sp>
      <p:sp>
        <p:nvSpPr>
          <p:cNvPr id="35" name="Text 31"/>
          <p:cNvSpPr txBox="1"/>
          <p:nvPr/>
        </p:nvSpPr>
        <p:spPr>
          <a:xfrm>
            <a:off x="1417320" y="3236976"/>
            <a:ext cx="100584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300</a:t>
            </a:r>
            <a:endParaRPr lang="fr-FR" sz="1050" dirty="0"/>
          </a:p>
        </p:txBody>
      </p:sp>
      <p:sp>
        <p:nvSpPr>
          <p:cNvPr id="36" name="Text 32"/>
          <p:cNvSpPr txBox="1"/>
          <p:nvPr/>
        </p:nvSpPr>
        <p:spPr>
          <a:xfrm>
            <a:off x="2514600" y="3236976"/>
            <a:ext cx="822960" cy="310896"/>
          </a:xfrm>
          <a:prstGeom prst="rect">
            <a:avLst/>
          </a:prstGeom>
          <a:noFill/>
          <a:ln/>
        </p:spPr>
        <p:txBody>
          <a:bodyPr wrap="square" lIns="0" tIns="0" rIns="0" bIns="0" rtlCol="0" anchor="ctr"/>
          <a:lstStyle/>
          <a:p>
            <a:pPr marL="0" indent="0" algn="r">
              <a:buNone/>
            </a:pPr>
            <a:r>
              <a:rPr lang="fr-FR" altLang="en-US" sz="1050" dirty="0">
                <a:solidFill>
                  <a:srgbClr val="231F20"/>
                </a:solidFill>
                <a:latin typeface="Calibri" pitchFamily="34" charset="0"/>
                <a:ea typeface="Calibri" pitchFamily="34" charset="-122"/>
                <a:cs typeface="Calibri" pitchFamily="34" charset="-120"/>
              </a:rPr>
              <a:t>5</a:t>
            </a:r>
            <a:endParaRPr lang="fr-FR" sz="1050" dirty="0"/>
          </a:p>
        </p:txBody>
      </p:sp>
      <p:sp>
        <p:nvSpPr>
          <p:cNvPr id="37" name="Text 33"/>
          <p:cNvSpPr txBox="1"/>
          <p:nvPr/>
        </p:nvSpPr>
        <p:spPr>
          <a:xfrm>
            <a:off x="3429000" y="3236976"/>
            <a:ext cx="822960" cy="310896"/>
          </a:xfrm>
          <a:prstGeom prst="rect">
            <a:avLst/>
          </a:prstGeom>
          <a:noFill/>
          <a:ln/>
        </p:spPr>
        <p:txBody>
          <a:bodyPr wrap="square" lIns="0" tIns="0" rIns="0" bIns="0" rtlCol="0" anchor="ctr"/>
          <a:lstStyle/>
          <a:p>
            <a:pPr marL="0" indent="0" algn="r">
              <a:buNone/>
            </a:pPr>
            <a:r>
              <a:rPr lang="fr-FR" altLang="en-US" sz="1050" b="1" dirty="0">
                <a:solidFill>
                  <a:srgbClr val="231F20"/>
                </a:solidFill>
                <a:latin typeface="Calibri" pitchFamily="34" charset="0"/>
                <a:ea typeface="Calibri" pitchFamily="34" charset="-122"/>
                <a:cs typeface="Calibri" pitchFamily="34" charset="-120"/>
              </a:rPr>
              <a:t>2</a:t>
            </a:r>
            <a:endParaRPr lang="fr-FR" sz="1050" dirty="0"/>
          </a:p>
        </p:txBody>
      </p:sp>
      <p:graphicFrame>
        <p:nvGraphicFramePr>
          <p:cNvPr id="38" name="Chart 0"/>
          <p:cNvGraphicFramePr/>
          <p:nvPr/>
        </p:nvGraphicFramePr>
        <p:xfrm>
          <a:off x="4709160" y="1261872"/>
          <a:ext cx="3977640" cy="2487168"/>
        </p:xfrm>
        <a:graphic>
          <a:graphicData uri="http://schemas.openxmlformats.org/drawingml/2006/chart">
            <c:chart xmlns:c="http://schemas.openxmlformats.org/drawingml/2006/chart" xmlns:r="http://schemas.openxmlformats.org/officeDocument/2006/relationships" r:id="rId4"/>
          </a:graphicData>
        </a:graphic>
      </p:graphicFrame>
      <p:sp>
        <p:nvSpPr>
          <p:cNvPr id="39" name="Shape 34"/>
          <p:cNvSpPr/>
          <p:nvPr/>
        </p:nvSpPr>
        <p:spPr>
          <a:xfrm>
            <a:off x="457200" y="3749040"/>
            <a:ext cx="8229600" cy="822960"/>
          </a:xfrm>
          <a:prstGeom prst="roundRect">
            <a:avLst>
              <a:gd name="adj" fmla="val 6667"/>
            </a:avLst>
          </a:prstGeom>
          <a:solidFill>
            <a:srgbClr val="D49A00">
              <a:alpha val="13000"/>
            </a:srgbClr>
          </a:solidFill>
          <a:ln w="12700">
            <a:solidFill>
              <a:srgbClr val="D49A00"/>
            </a:solidFill>
            <a:prstDash val="solid"/>
          </a:ln>
        </p:spPr>
      </p:sp>
      <p:pic>
        <p:nvPicPr>
          <p:cNvPr id="40" name="Image 1" descr="preencoded.png"/>
          <p:cNvPicPr>
            <a:picLocks noChangeAspect="1"/>
          </p:cNvPicPr>
          <p:nvPr/>
        </p:nvPicPr>
        <p:blipFill>
          <a:blip r:embed="rId5"/>
          <a:stretch>
            <a:fillRect/>
          </a:stretch>
        </p:blipFill>
        <p:spPr>
          <a:xfrm>
            <a:off x="603504" y="4023360"/>
            <a:ext cx="274320" cy="274320"/>
          </a:xfrm>
          <a:prstGeom prst="rect">
            <a:avLst/>
          </a:prstGeom>
        </p:spPr>
      </p:pic>
      <p:sp>
        <p:nvSpPr>
          <p:cNvPr id="41" name="Text 35"/>
          <p:cNvSpPr txBox="1"/>
          <p:nvPr/>
        </p:nvSpPr>
        <p:spPr>
          <a:xfrm>
            <a:off x="1005840" y="3803904"/>
            <a:ext cx="7543800" cy="713232"/>
          </a:xfrm>
          <a:prstGeom prst="rect">
            <a:avLst/>
          </a:prstGeom>
          <a:noFill/>
          <a:ln/>
        </p:spPr>
        <p:txBody>
          <a:bodyPr wrap="square" lIns="0" tIns="0" rIns="0" bIns="0" rtlCol="0" anchor="ctr"/>
          <a:lstStyle/>
          <a:p>
            <a:pPr marL="0" indent="0">
              <a:buNone/>
            </a:pPr>
            <a:r>
              <a:rPr lang="fr-FR" altLang="en-US" sz="1050" b="1" dirty="0">
                <a:solidFill>
                  <a:srgbClr val="231F20"/>
                </a:solidFill>
                <a:latin typeface="Calibri" pitchFamily="34" charset="0"/>
                <a:ea typeface="Calibri" pitchFamily="34" charset="-122"/>
                <a:cs typeface="Calibri" pitchFamily="34" charset="-120"/>
              </a:rPr>
              <a:t>Deux règles. </a:t>
            </a:r>
            <a:r>
              <a:rPr lang="fr-FR" altLang="en-US" sz="1050" dirty="0">
                <a:solidFill>
                  <a:srgbClr val="231F20"/>
                </a:solidFill>
                <a:latin typeface="Calibri" pitchFamily="34" charset="0"/>
                <a:ea typeface="Calibri" pitchFamily="34" charset="-122"/>
                <a:cs typeface="Calibri" pitchFamily="34" charset="-120"/>
              </a:rPr>
              <a:t>Documentez la pondération utilisée : elle change le résultat. Et les tuiles sans test n’ont pas de débit, leur population disparaît : publiez la part de population couverte à côté de l’indicateur.</a:t>
            </a:r>
            <a:endParaRPr lang="fr-FR" sz="1050" dirty="0"/>
          </a:p>
        </p:txBody>
      </p:sp>
      <p:sp>
        <p:nvSpPr>
          <p:cNvPr id="42"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Chiffres illustratifs à visée pédagogique, non observés. Dans Elasticsearch : weighted_avg avec pop_worldpop comme poids.</a:t>
            </a:r>
            <a:endParaRPr lang="fr-FR"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Poser des questions géographiques</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23</a:t>
            </a:r>
            <a:endParaRPr lang="fr-FR" sz="850" dirty="0"/>
          </a:p>
        </p:txBody>
      </p:sp>
      <p:sp>
        <p:nvSpPr>
          <p:cNvPr id="16" name="Shape 12"/>
          <p:cNvSpPr/>
          <p:nvPr/>
        </p:nvSpPr>
        <p:spPr>
          <a:xfrm>
            <a:off x="457200" y="1261872"/>
            <a:ext cx="2560320" cy="2057400"/>
          </a:xfrm>
          <a:prstGeom prst="roundRect">
            <a:avLst>
              <a:gd name="adj" fmla="val 3556"/>
            </a:avLst>
          </a:prstGeom>
          <a:solidFill>
            <a:srgbClr val="F4F7F5"/>
          </a:solidFill>
          <a:ln w="9525">
            <a:solidFill>
              <a:srgbClr val="D5DED9"/>
            </a:solidFill>
            <a:prstDash val="solid"/>
          </a:ln>
        </p:spPr>
      </p:sp>
      <p:sp>
        <p:nvSpPr>
          <p:cNvPr id="17" name="Shape 13"/>
          <p:cNvSpPr/>
          <p:nvPr/>
        </p:nvSpPr>
        <p:spPr>
          <a:xfrm>
            <a:off x="640080" y="1389888"/>
            <a:ext cx="914400" cy="777240"/>
          </a:xfrm>
          <a:prstGeom prst="hexagon">
            <a:avLst/>
          </a:prstGeom>
          <a:solidFill>
            <a:srgbClr val="0E7C86">
              <a:alpha val="15000"/>
            </a:srgbClr>
          </a:solidFill>
          <a:ln w="15875">
            <a:solidFill>
              <a:srgbClr val="0E7C86"/>
            </a:solidFill>
            <a:prstDash val="solid"/>
          </a:ln>
        </p:spPr>
      </p:sp>
      <p:sp>
        <p:nvSpPr>
          <p:cNvPr id="18" name="Shape 14"/>
          <p:cNvSpPr/>
          <p:nvPr/>
        </p:nvSpPr>
        <p:spPr>
          <a:xfrm>
            <a:off x="777240" y="1527048"/>
            <a:ext cx="182880" cy="182880"/>
          </a:xfrm>
          <a:prstGeom prst="rect">
            <a:avLst/>
          </a:prstGeom>
          <a:solidFill>
            <a:srgbClr val="00A86A">
              <a:alpha val="70000"/>
            </a:srgbClr>
          </a:solidFill>
          <a:ln w="6350">
            <a:solidFill>
              <a:srgbClr val="FFFFFF"/>
            </a:solidFill>
            <a:prstDash val="solid"/>
          </a:ln>
        </p:spPr>
      </p:sp>
      <p:sp>
        <p:nvSpPr>
          <p:cNvPr id="19" name="Shape 15"/>
          <p:cNvSpPr/>
          <p:nvPr/>
        </p:nvSpPr>
        <p:spPr>
          <a:xfrm>
            <a:off x="1005840" y="1527048"/>
            <a:ext cx="182880" cy="182880"/>
          </a:xfrm>
          <a:prstGeom prst="rect">
            <a:avLst/>
          </a:prstGeom>
          <a:solidFill>
            <a:srgbClr val="00A86A">
              <a:alpha val="70000"/>
            </a:srgbClr>
          </a:solidFill>
          <a:ln w="6350">
            <a:solidFill>
              <a:srgbClr val="FFFFFF"/>
            </a:solidFill>
            <a:prstDash val="solid"/>
          </a:ln>
        </p:spPr>
      </p:sp>
      <p:sp>
        <p:nvSpPr>
          <p:cNvPr id="20" name="Shape 16"/>
          <p:cNvSpPr/>
          <p:nvPr/>
        </p:nvSpPr>
        <p:spPr>
          <a:xfrm>
            <a:off x="777240" y="1755648"/>
            <a:ext cx="182880" cy="182880"/>
          </a:xfrm>
          <a:prstGeom prst="rect">
            <a:avLst/>
          </a:prstGeom>
          <a:solidFill>
            <a:srgbClr val="00A86A">
              <a:alpha val="70000"/>
            </a:srgbClr>
          </a:solidFill>
          <a:ln w="6350">
            <a:solidFill>
              <a:srgbClr val="FFFFFF"/>
            </a:solidFill>
            <a:prstDash val="solid"/>
          </a:ln>
        </p:spPr>
      </p:sp>
      <p:sp>
        <p:nvSpPr>
          <p:cNvPr id="21" name="Shape 17"/>
          <p:cNvSpPr/>
          <p:nvPr/>
        </p:nvSpPr>
        <p:spPr>
          <a:xfrm>
            <a:off x="1005840" y="1755648"/>
            <a:ext cx="182880" cy="182880"/>
          </a:xfrm>
          <a:prstGeom prst="rect">
            <a:avLst/>
          </a:prstGeom>
          <a:solidFill>
            <a:srgbClr val="00A86A">
              <a:alpha val="70000"/>
            </a:srgbClr>
          </a:solidFill>
          <a:ln w="6350">
            <a:solidFill>
              <a:srgbClr val="FFFFFF"/>
            </a:solidFill>
            <a:prstDash val="solid"/>
          </a:ln>
        </p:spPr>
      </p:sp>
      <p:sp>
        <p:nvSpPr>
          <p:cNvPr id="22" name="Shape 18"/>
          <p:cNvSpPr/>
          <p:nvPr/>
        </p:nvSpPr>
        <p:spPr>
          <a:xfrm>
            <a:off x="1234440" y="1755648"/>
            <a:ext cx="182880" cy="182880"/>
          </a:xfrm>
          <a:prstGeom prst="rect">
            <a:avLst/>
          </a:prstGeom>
          <a:solidFill>
            <a:srgbClr val="00A86A">
              <a:alpha val="70000"/>
            </a:srgbClr>
          </a:solidFill>
          <a:ln w="6350">
            <a:solidFill>
              <a:srgbClr val="FFFFFF"/>
            </a:solidFill>
            <a:prstDash val="solid"/>
          </a:ln>
        </p:spPr>
      </p:sp>
      <p:sp>
        <p:nvSpPr>
          <p:cNvPr id="23" name="Text 19"/>
          <p:cNvSpPr txBox="1"/>
          <p:nvPr/>
        </p:nvSpPr>
        <p:spPr>
          <a:xfrm>
            <a:off x="1645920" y="1554480"/>
            <a:ext cx="1325880" cy="457200"/>
          </a:xfrm>
          <a:prstGeom prst="rect">
            <a:avLst/>
          </a:prstGeom>
          <a:noFill/>
          <a:ln/>
        </p:spPr>
        <p:txBody>
          <a:bodyPr wrap="square" lIns="0" tIns="0" rIns="0" bIns="0" rtlCol="0" anchor="ctr"/>
          <a:lstStyle/>
          <a:p>
            <a:pPr marL="0" indent="0">
              <a:buNone/>
            </a:pPr>
            <a:r>
              <a:rPr lang="fr-FR" altLang="en-US" sz="1100" b="1" dirty="0">
                <a:solidFill>
                  <a:srgbClr val="00704A"/>
                </a:solidFill>
                <a:latin typeface="Courier New" pitchFamily="34" charset="0"/>
                <a:ea typeface="Courier New" pitchFamily="34" charset="-122"/>
                <a:cs typeface="Courier New" pitchFamily="34" charset="-120"/>
              </a:rPr>
              <a:t>geo_shape</a:t>
            </a:r>
            <a:endParaRPr lang="fr-FR" sz="1100" dirty="0"/>
          </a:p>
        </p:txBody>
      </p:sp>
      <p:sp>
        <p:nvSpPr>
          <p:cNvPr id="24" name="Text 20"/>
          <p:cNvSpPr txBox="1"/>
          <p:nvPr/>
        </p:nvSpPr>
        <p:spPr>
          <a:xfrm>
            <a:off x="640080" y="2304288"/>
            <a:ext cx="2240280" cy="411480"/>
          </a:xfrm>
          <a:prstGeom prst="rect">
            <a:avLst/>
          </a:prstGeom>
          <a:noFill/>
          <a:ln/>
        </p:spPr>
        <p:txBody>
          <a:bodyPr wrap="square" lIns="0" tIns="0" rIns="0" bIns="0" rtlCol="0" anchor="t"/>
          <a:lstStyle/>
          <a:p>
            <a:pPr marL="0" indent="0">
              <a:buNone/>
            </a:pPr>
            <a:r>
              <a:rPr lang="fr-FR" altLang="en-US" sz="1100" b="1" dirty="0">
                <a:solidFill>
                  <a:srgbClr val="231F20"/>
                </a:solidFill>
                <a:latin typeface="Calibri" pitchFamily="34" charset="0"/>
                <a:ea typeface="Calibri" pitchFamily="34" charset="-122"/>
                <a:cs typeface="Calibri" pitchFamily="34" charset="-120"/>
              </a:rPr>
              <a:t>Quelles tuiles touchent ce district ?</a:t>
            </a:r>
            <a:endParaRPr lang="fr-FR" sz="1100" dirty="0"/>
          </a:p>
        </p:txBody>
      </p:sp>
      <p:sp>
        <p:nvSpPr>
          <p:cNvPr id="25" name="Text 21"/>
          <p:cNvSpPr txBox="1"/>
          <p:nvPr/>
        </p:nvSpPr>
        <p:spPr>
          <a:xfrm>
            <a:off x="640080" y="2724912"/>
            <a:ext cx="2240280" cy="50292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Indicateurs infranationaux, tuiles frontalières comprises.</a:t>
            </a:r>
            <a:endParaRPr lang="fr-FR" sz="1000" dirty="0"/>
          </a:p>
        </p:txBody>
      </p:sp>
      <p:sp>
        <p:nvSpPr>
          <p:cNvPr id="26" name="Shape 22"/>
          <p:cNvSpPr/>
          <p:nvPr/>
        </p:nvSpPr>
        <p:spPr>
          <a:xfrm>
            <a:off x="3291840" y="1261872"/>
            <a:ext cx="2560320" cy="2057400"/>
          </a:xfrm>
          <a:prstGeom prst="roundRect">
            <a:avLst>
              <a:gd name="adj" fmla="val 3556"/>
            </a:avLst>
          </a:prstGeom>
          <a:solidFill>
            <a:srgbClr val="F4F7F5"/>
          </a:solidFill>
          <a:ln w="9525">
            <a:solidFill>
              <a:srgbClr val="D5DED9"/>
            </a:solidFill>
            <a:prstDash val="solid"/>
          </a:ln>
        </p:spPr>
      </p:sp>
      <p:sp>
        <p:nvSpPr>
          <p:cNvPr id="27" name="Shape 23"/>
          <p:cNvSpPr/>
          <p:nvPr/>
        </p:nvSpPr>
        <p:spPr>
          <a:xfrm>
            <a:off x="3520440" y="1389888"/>
            <a:ext cx="777240" cy="777240"/>
          </a:xfrm>
          <a:prstGeom prst="ellipse">
            <a:avLst/>
          </a:prstGeom>
          <a:solidFill>
            <a:srgbClr val="00A86A">
              <a:alpha val="12000"/>
            </a:srgbClr>
          </a:solidFill>
          <a:ln w="12700">
            <a:solidFill>
              <a:srgbClr val="00A86A"/>
            </a:solidFill>
            <a:prstDash val="dash"/>
          </a:ln>
        </p:spPr>
      </p:sp>
      <p:sp>
        <p:nvSpPr>
          <p:cNvPr id="28" name="Shape 24"/>
          <p:cNvSpPr/>
          <p:nvPr/>
        </p:nvSpPr>
        <p:spPr>
          <a:xfrm>
            <a:off x="3849624" y="1719072"/>
            <a:ext cx="118872" cy="118872"/>
          </a:xfrm>
          <a:prstGeom prst="ellipse">
            <a:avLst/>
          </a:prstGeom>
          <a:solidFill>
            <a:srgbClr val="B83B2E"/>
          </a:solidFill>
          <a:ln/>
        </p:spPr>
      </p:sp>
      <p:sp>
        <p:nvSpPr>
          <p:cNvPr id="29" name="Shape 25"/>
          <p:cNvSpPr/>
          <p:nvPr/>
        </p:nvSpPr>
        <p:spPr>
          <a:xfrm>
            <a:off x="3657600" y="1664208"/>
            <a:ext cx="73152" cy="73152"/>
          </a:xfrm>
          <a:prstGeom prst="ellipse">
            <a:avLst/>
          </a:prstGeom>
          <a:solidFill>
            <a:srgbClr val="00A86A"/>
          </a:solidFill>
          <a:ln/>
        </p:spPr>
      </p:sp>
      <p:sp>
        <p:nvSpPr>
          <p:cNvPr id="30" name="Shape 26"/>
          <p:cNvSpPr/>
          <p:nvPr/>
        </p:nvSpPr>
        <p:spPr>
          <a:xfrm>
            <a:off x="4069080" y="1618488"/>
            <a:ext cx="73152" cy="73152"/>
          </a:xfrm>
          <a:prstGeom prst="ellipse">
            <a:avLst/>
          </a:prstGeom>
          <a:solidFill>
            <a:srgbClr val="00A86A"/>
          </a:solidFill>
          <a:ln/>
        </p:spPr>
      </p:sp>
      <p:sp>
        <p:nvSpPr>
          <p:cNvPr id="31" name="Shape 27"/>
          <p:cNvSpPr/>
          <p:nvPr/>
        </p:nvSpPr>
        <p:spPr>
          <a:xfrm>
            <a:off x="3749040" y="1984248"/>
            <a:ext cx="73152" cy="73152"/>
          </a:xfrm>
          <a:prstGeom prst="ellipse">
            <a:avLst/>
          </a:prstGeom>
          <a:solidFill>
            <a:srgbClr val="00A86A"/>
          </a:solidFill>
          <a:ln/>
        </p:spPr>
      </p:sp>
      <p:sp>
        <p:nvSpPr>
          <p:cNvPr id="32" name="Shape 28"/>
          <p:cNvSpPr/>
          <p:nvPr/>
        </p:nvSpPr>
        <p:spPr>
          <a:xfrm>
            <a:off x="4041648" y="1956816"/>
            <a:ext cx="73152" cy="73152"/>
          </a:xfrm>
          <a:prstGeom prst="ellipse">
            <a:avLst/>
          </a:prstGeom>
          <a:solidFill>
            <a:srgbClr val="00A86A"/>
          </a:solidFill>
          <a:ln/>
        </p:spPr>
      </p:sp>
      <p:sp>
        <p:nvSpPr>
          <p:cNvPr id="33" name="Shape 29"/>
          <p:cNvSpPr/>
          <p:nvPr/>
        </p:nvSpPr>
        <p:spPr>
          <a:xfrm>
            <a:off x="4370832" y="1481328"/>
            <a:ext cx="73152" cy="73152"/>
          </a:xfrm>
          <a:prstGeom prst="ellipse">
            <a:avLst/>
          </a:prstGeom>
          <a:solidFill>
            <a:srgbClr val="A9B5B0"/>
          </a:solidFill>
          <a:ln/>
        </p:spPr>
      </p:sp>
      <p:sp>
        <p:nvSpPr>
          <p:cNvPr id="34" name="Shape 30"/>
          <p:cNvSpPr/>
          <p:nvPr/>
        </p:nvSpPr>
        <p:spPr>
          <a:xfrm>
            <a:off x="4370832" y="2075688"/>
            <a:ext cx="73152" cy="73152"/>
          </a:xfrm>
          <a:prstGeom prst="ellipse">
            <a:avLst/>
          </a:prstGeom>
          <a:solidFill>
            <a:srgbClr val="A9B5B0"/>
          </a:solidFill>
          <a:ln/>
        </p:spPr>
      </p:sp>
      <p:sp>
        <p:nvSpPr>
          <p:cNvPr id="35" name="Text 31"/>
          <p:cNvSpPr txBox="1"/>
          <p:nvPr/>
        </p:nvSpPr>
        <p:spPr>
          <a:xfrm>
            <a:off x="4480560" y="1554480"/>
            <a:ext cx="1325880" cy="457200"/>
          </a:xfrm>
          <a:prstGeom prst="rect">
            <a:avLst/>
          </a:prstGeom>
          <a:noFill/>
          <a:ln/>
        </p:spPr>
        <p:txBody>
          <a:bodyPr wrap="square" lIns="0" tIns="0" rIns="0" bIns="0" rtlCol="0" anchor="ctr"/>
          <a:lstStyle/>
          <a:p>
            <a:pPr marL="0" indent="0">
              <a:buNone/>
            </a:pPr>
            <a:r>
              <a:rPr lang="fr-FR" altLang="en-US" sz="1100" b="1" dirty="0">
                <a:solidFill>
                  <a:srgbClr val="00704A"/>
                </a:solidFill>
                <a:latin typeface="Courier New" pitchFamily="34" charset="0"/>
                <a:ea typeface="Courier New" pitchFamily="34" charset="-122"/>
                <a:cs typeface="Courier New" pitchFamily="34" charset="-120"/>
              </a:rPr>
              <a:t>geo_distance</a:t>
            </a:r>
            <a:endParaRPr lang="fr-FR" sz="1100" dirty="0"/>
          </a:p>
        </p:txBody>
      </p:sp>
      <p:sp>
        <p:nvSpPr>
          <p:cNvPr id="36" name="Text 32"/>
          <p:cNvSpPr txBox="1"/>
          <p:nvPr/>
        </p:nvSpPr>
        <p:spPr>
          <a:xfrm>
            <a:off x="3474720" y="2304288"/>
            <a:ext cx="2240280" cy="411480"/>
          </a:xfrm>
          <a:prstGeom prst="rect">
            <a:avLst/>
          </a:prstGeom>
          <a:noFill/>
          <a:ln/>
        </p:spPr>
        <p:txBody>
          <a:bodyPr wrap="square" lIns="0" tIns="0" rIns="0" bIns="0" rtlCol="0" anchor="t"/>
          <a:lstStyle/>
          <a:p>
            <a:pPr marL="0" indent="0">
              <a:buNone/>
            </a:pPr>
            <a:r>
              <a:rPr lang="fr-FR" altLang="en-US" sz="1100" b="1" dirty="0">
                <a:solidFill>
                  <a:srgbClr val="231F20"/>
                </a:solidFill>
                <a:latin typeface="Calibri" pitchFamily="34" charset="0"/>
                <a:ea typeface="Calibri" pitchFamily="34" charset="-122"/>
                <a:cs typeface="Calibri" pitchFamily="34" charset="-120"/>
              </a:rPr>
              <a:t>Quelles tuiles à moins de 10 km de ce point ?</a:t>
            </a:r>
            <a:endParaRPr lang="fr-FR" sz="1100" dirty="0"/>
          </a:p>
        </p:txBody>
      </p:sp>
      <p:sp>
        <p:nvSpPr>
          <p:cNvPr id="37" name="Text 33"/>
          <p:cNvSpPr txBox="1"/>
          <p:nvPr/>
        </p:nvSpPr>
        <p:spPr>
          <a:xfrm>
            <a:off x="3474720" y="2724912"/>
            <a:ext cx="2240280" cy="50292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Accès autour des hôpitaux, écoles ou marchés.</a:t>
            </a:r>
            <a:endParaRPr lang="fr-FR" sz="1000" dirty="0"/>
          </a:p>
        </p:txBody>
      </p:sp>
      <p:sp>
        <p:nvSpPr>
          <p:cNvPr id="38" name="Shape 34"/>
          <p:cNvSpPr/>
          <p:nvPr/>
        </p:nvSpPr>
        <p:spPr>
          <a:xfrm>
            <a:off x="6126480" y="1261872"/>
            <a:ext cx="2560320" cy="2057400"/>
          </a:xfrm>
          <a:prstGeom prst="roundRect">
            <a:avLst>
              <a:gd name="adj" fmla="val 3556"/>
            </a:avLst>
          </a:prstGeom>
          <a:solidFill>
            <a:srgbClr val="F4F7F5"/>
          </a:solidFill>
          <a:ln w="9525">
            <a:solidFill>
              <a:srgbClr val="D5DED9"/>
            </a:solidFill>
            <a:prstDash val="solid"/>
          </a:ln>
        </p:spPr>
      </p:sp>
      <p:sp>
        <p:nvSpPr>
          <p:cNvPr id="39" name="Shape 35"/>
          <p:cNvSpPr/>
          <p:nvPr/>
        </p:nvSpPr>
        <p:spPr>
          <a:xfrm>
            <a:off x="6309360" y="1389888"/>
            <a:ext cx="256032" cy="237744"/>
          </a:xfrm>
          <a:prstGeom prst="rect">
            <a:avLst/>
          </a:prstGeom>
          <a:solidFill>
            <a:srgbClr val="E8F5EF"/>
          </a:solidFill>
          <a:ln w="6350">
            <a:solidFill>
              <a:srgbClr val="FFFFFF"/>
            </a:solidFill>
            <a:prstDash val="solid"/>
          </a:ln>
        </p:spPr>
      </p:sp>
      <p:sp>
        <p:nvSpPr>
          <p:cNvPr id="40" name="Shape 36"/>
          <p:cNvSpPr/>
          <p:nvPr/>
        </p:nvSpPr>
        <p:spPr>
          <a:xfrm>
            <a:off x="6583680" y="1389888"/>
            <a:ext cx="256032" cy="237744"/>
          </a:xfrm>
          <a:prstGeom prst="rect">
            <a:avLst/>
          </a:prstGeom>
          <a:solidFill>
            <a:srgbClr val="9ED9C0"/>
          </a:solidFill>
          <a:ln w="6350">
            <a:solidFill>
              <a:srgbClr val="FFFFFF"/>
            </a:solidFill>
            <a:prstDash val="solid"/>
          </a:ln>
        </p:spPr>
      </p:sp>
      <p:sp>
        <p:nvSpPr>
          <p:cNvPr id="41" name="Shape 37"/>
          <p:cNvSpPr/>
          <p:nvPr/>
        </p:nvSpPr>
        <p:spPr>
          <a:xfrm>
            <a:off x="6858000" y="1389888"/>
            <a:ext cx="256032" cy="237744"/>
          </a:xfrm>
          <a:prstGeom prst="rect">
            <a:avLst/>
          </a:prstGeom>
          <a:solidFill>
            <a:srgbClr val="57BD92"/>
          </a:solidFill>
          <a:ln w="6350">
            <a:solidFill>
              <a:srgbClr val="FFFFFF"/>
            </a:solidFill>
            <a:prstDash val="solid"/>
          </a:ln>
        </p:spPr>
      </p:sp>
      <p:sp>
        <p:nvSpPr>
          <p:cNvPr id="42" name="Shape 38"/>
          <p:cNvSpPr/>
          <p:nvPr/>
        </p:nvSpPr>
        <p:spPr>
          <a:xfrm>
            <a:off x="6309360" y="1645920"/>
            <a:ext cx="256032" cy="237744"/>
          </a:xfrm>
          <a:prstGeom prst="rect">
            <a:avLst/>
          </a:prstGeom>
          <a:solidFill>
            <a:srgbClr val="9ED9C0"/>
          </a:solidFill>
          <a:ln w="6350">
            <a:solidFill>
              <a:srgbClr val="FFFFFF"/>
            </a:solidFill>
            <a:prstDash val="solid"/>
          </a:ln>
        </p:spPr>
      </p:sp>
      <p:sp>
        <p:nvSpPr>
          <p:cNvPr id="43" name="Shape 39"/>
          <p:cNvSpPr/>
          <p:nvPr/>
        </p:nvSpPr>
        <p:spPr>
          <a:xfrm>
            <a:off x="6583680" y="1645920"/>
            <a:ext cx="256032" cy="237744"/>
          </a:xfrm>
          <a:prstGeom prst="rect">
            <a:avLst/>
          </a:prstGeom>
          <a:solidFill>
            <a:srgbClr val="33AF7C"/>
          </a:solidFill>
          <a:ln w="6350">
            <a:solidFill>
              <a:srgbClr val="FFFFFF"/>
            </a:solidFill>
            <a:prstDash val="solid"/>
          </a:ln>
        </p:spPr>
      </p:sp>
      <p:sp>
        <p:nvSpPr>
          <p:cNvPr id="44" name="Shape 40"/>
          <p:cNvSpPr/>
          <p:nvPr/>
        </p:nvSpPr>
        <p:spPr>
          <a:xfrm>
            <a:off x="6858000" y="1645920"/>
            <a:ext cx="256032" cy="237744"/>
          </a:xfrm>
          <a:prstGeom prst="rect">
            <a:avLst/>
          </a:prstGeom>
          <a:solidFill>
            <a:srgbClr val="008A5B"/>
          </a:solidFill>
          <a:ln w="6350">
            <a:solidFill>
              <a:srgbClr val="FFFFFF"/>
            </a:solidFill>
            <a:prstDash val="solid"/>
          </a:ln>
        </p:spPr>
      </p:sp>
      <p:sp>
        <p:nvSpPr>
          <p:cNvPr id="45" name="Shape 41"/>
          <p:cNvSpPr/>
          <p:nvPr/>
        </p:nvSpPr>
        <p:spPr>
          <a:xfrm>
            <a:off x="6309360" y="1901952"/>
            <a:ext cx="256032" cy="237744"/>
          </a:xfrm>
          <a:prstGeom prst="rect">
            <a:avLst/>
          </a:prstGeom>
          <a:solidFill>
            <a:srgbClr val="E8F5EF"/>
          </a:solidFill>
          <a:ln w="6350">
            <a:solidFill>
              <a:srgbClr val="FFFFFF"/>
            </a:solidFill>
            <a:prstDash val="solid"/>
          </a:ln>
        </p:spPr>
      </p:sp>
      <p:sp>
        <p:nvSpPr>
          <p:cNvPr id="46" name="Shape 42"/>
          <p:cNvSpPr/>
          <p:nvPr/>
        </p:nvSpPr>
        <p:spPr>
          <a:xfrm>
            <a:off x="6583680" y="1901952"/>
            <a:ext cx="256032" cy="237744"/>
          </a:xfrm>
          <a:prstGeom prst="rect">
            <a:avLst/>
          </a:prstGeom>
          <a:solidFill>
            <a:srgbClr val="7BCBA9"/>
          </a:solidFill>
          <a:ln w="6350">
            <a:solidFill>
              <a:srgbClr val="FFFFFF"/>
            </a:solidFill>
            <a:prstDash val="solid"/>
          </a:ln>
        </p:spPr>
      </p:sp>
      <p:sp>
        <p:nvSpPr>
          <p:cNvPr id="47" name="Shape 43"/>
          <p:cNvSpPr/>
          <p:nvPr/>
        </p:nvSpPr>
        <p:spPr>
          <a:xfrm>
            <a:off x="6858000" y="1901952"/>
            <a:ext cx="256032" cy="237744"/>
          </a:xfrm>
          <a:prstGeom prst="rect">
            <a:avLst/>
          </a:prstGeom>
          <a:solidFill>
            <a:srgbClr val="33AF7C"/>
          </a:solidFill>
          <a:ln w="6350">
            <a:solidFill>
              <a:srgbClr val="FFFFFF"/>
            </a:solidFill>
            <a:prstDash val="solid"/>
          </a:ln>
        </p:spPr>
      </p:sp>
      <p:sp>
        <p:nvSpPr>
          <p:cNvPr id="48" name="Text 44"/>
          <p:cNvSpPr txBox="1"/>
          <p:nvPr/>
        </p:nvSpPr>
        <p:spPr>
          <a:xfrm>
            <a:off x="7315200" y="1554480"/>
            <a:ext cx="1325880" cy="457200"/>
          </a:xfrm>
          <a:prstGeom prst="rect">
            <a:avLst/>
          </a:prstGeom>
          <a:noFill/>
          <a:ln/>
        </p:spPr>
        <p:txBody>
          <a:bodyPr wrap="square" lIns="0" tIns="0" rIns="0" bIns="0" rtlCol="0" anchor="ctr"/>
          <a:lstStyle/>
          <a:p>
            <a:pPr marL="0" indent="0">
              <a:buNone/>
            </a:pPr>
            <a:r>
              <a:rPr lang="fr-FR" altLang="en-US" sz="1100" b="1" dirty="0">
                <a:solidFill>
                  <a:srgbClr val="00704A"/>
                </a:solidFill>
                <a:latin typeface="Courier New" pitchFamily="34" charset="0"/>
                <a:ea typeface="Courier New" pitchFamily="34" charset="-122"/>
                <a:cs typeface="Courier New" pitchFamily="34" charset="-120"/>
              </a:rPr>
              <a:t>geotile_grid</a:t>
            </a:r>
            <a:endParaRPr lang="fr-FR" sz="1100" dirty="0"/>
          </a:p>
        </p:txBody>
      </p:sp>
      <p:sp>
        <p:nvSpPr>
          <p:cNvPr id="49" name="Text 45"/>
          <p:cNvSpPr txBox="1"/>
          <p:nvPr/>
        </p:nvSpPr>
        <p:spPr>
          <a:xfrm>
            <a:off x="6309360" y="2304288"/>
            <a:ext cx="2240280" cy="411480"/>
          </a:xfrm>
          <a:prstGeom prst="rect">
            <a:avLst/>
          </a:prstGeom>
          <a:noFill/>
          <a:ln/>
        </p:spPr>
        <p:txBody>
          <a:bodyPr wrap="square" lIns="0" tIns="0" rIns="0" bIns="0" rtlCol="0" anchor="t"/>
          <a:lstStyle/>
          <a:p>
            <a:pPr marL="0" indent="0">
              <a:buNone/>
            </a:pPr>
            <a:r>
              <a:rPr lang="fr-FR" altLang="en-US" sz="1100" b="1" dirty="0">
                <a:solidFill>
                  <a:srgbClr val="231F20"/>
                </a:solidFill>
                <a:latin typeface="Calibri" pitchFamily="34" charset="0"/>
                <a:ea typeface="Calibri" pitchFamily="34" charset="-122"/>
                <a:cs typeface="Calibri" pitchFamily="34" charset="-120"/>
              </a:rPr>
              <a:t>Combien de tests par cellule ?</a:t>
            </a:r>
            <a:endParaRPr lang="fr-FR" sz="1100" dirty="0"/>
          </a:p>
        </p:txBody>
      </p:sp>
      <p:sp>
        <p:nvSpPr>
          <p:cNvPr id="50" name="Text 46"/>
          <p:cNvSpPr txBox="1"/>
          <p:nvPr/>
        </p:nvSpPr>
        <p:spPr>
          <a:xfrm>
            <a:off x="6309360" y="2724912"/>
            <a:ext cx="2240280" cy="502920"/>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Cartes de chaleur et synthèses multi-échelles.</a:t>
            </a:r>
            <a:endParaRPr lang="fr-FR" sz="1000" dirty="0"/>
          </a:p>
        </p:txBody>
      </p:sp>
      <p:sp>
        <p:nvSpPr>
          <p:cNvPr id="51" name="Text 47"/>
          <p:cNvSpPr txBox="1"/>
          <p:nvPr/>
        </p:nvSpPr>
        <p:spPr>
          <a:xfrm>
            <a:off x="457200" y="3456432"/>
            <a:ext cx="82296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RÉUTILISER UNE LIMITE STOCKÉE PLUTÔT QUE COLLER DES COORDONNÉES</a:t>
            </a:r>
            <a:endParaRPr lang="fr-FR" sz="900" dirty="0"/>
          </a:p>
        </p:txBody>
      </p:sp>
      <p:sp>
        <p:nvSpPr>
          <p:cNvPr id="52" name="Shape 48"/>
          <p:cNvSpPr/>
          <p:nvPr/>
        </p:nvSpPr>
        <p:spPr>
          <a:xfrm>
            <a:off x="457200" y="3703320"/>
            <a:ext cx="8229600" cy="868680"/>
          </a:xfrm>
          <a:prstGeom prst="roundRect">
            <a:avLst>
              <a:gd name="adj" fmla="val 6316"/>
            </a:avLst>
          </a:prstGeom>
          <a:solidFill>
            <a:srgbClr val="FBFCFB"/>
          </a:solidFill>
          <a:ln w="9525">
            <a:solidFill>
              <a:srgbClr val="D5DED9"/>
            </a:solidFill>
            <a:prstDash val="solid"/>
          </a:ln>
        </p:spPr>
      </p:sp>
      <p:sp>
        <p:nvSpPr>
          <p:cNvPr id="53" name="Text 49"/>
          <p:cNvSpPr txBox="1"/>
          <p:nvPr/>
        </p:nvSpPr>
        <p:spPr>
          <a:xfrm>
            <a:off x="585216" y="3794760"/>
            <a:ext cx="7973568" cy="685800"/>
          </a:xfrm>
          <a:prstGeom prst="rect">
            <a:avLst/>
          </a:prstGeom>
          <a:noFill/>
          <a:ln/>
        </p:spPr>
        <p:txBody>
          <a:bodyPr wrap="square" lIns="0" tIns="0" rIns="0" bIns="0" rtlCol="0" anchor="t"/>
          <a:lstStyle/>
          <a:p>
            <a:pPr marL="0" indent="0">
              <a:buNone/>
            </a:pPr>
            <a:r>
              <a:rPr lang="fr-FR" altLang="en-US" sz="900" dirty="0">
                <a:solidFill>
                  <a:srgbClr val="231F20"/>
                </a:solidFill>
                <a:latin typeface="Courier New" pitchFamily="34" charset="0"/>
                <a:ea typeface="Courier New" pitchFamily="34" charset="-122"/>
                <a:cs typeface="Courier New" pitchFamily="34" charset="-120"/>
              </a:rPr>
              <a:t>"query": {"bool": {"filter": {"geo_shape": {"tile": {</a:t>
            </a:r>
            <a:endParaRPr lang="fr-FR" sz="900" dirty="0"/>
          </a:p>
          <a:p>
            <a:pPr marL="0" indent="0">
              <a:buNone/>
            </a:pPr>
            <a:r>
              <a:rPr lang="fr-FR" altLang="en-US" sz="900" dirty="0">
                <a:solidFill>
                  <a:srgbClr val="00704A"/>
                </a:solidFill>
                <a:latin typeface="Courier New" pitchFamily="34" charset="0"/>
                <a:ea typeface="Courier New" pitchFamily="34" charset="-122"/>
                <a:cs typeface="Courier New" pitchFamily="34" charset="-120"/>
              </a:rPr>
              <a:t>  "indexed_shape": {"index": "admin-boundaries", "id": "RW-02", "path": "geometry"},</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"relation": "intersects"}}}}}</a:t>
            </a:r>
            <a:endParaRPr lang="fr-FR"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ES|QL : la même question, écrite en pipeline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24</a:t>
            </a:r>
            <a:endParaRPr lang="fr-FR" sz="850" dirty="0"/>
          </a:p>
        </p:txBody>
      </p:sp>
      <p:sp>
        <p:nvSpPr>
          <p:cNvPr id="16" name="Shape 12"/>
          <p:cNvSpPr/>
          <p:nvPr/>
        </p:nvSpPr>
        <p:spPr>
          <a:xfrm>
            <a:off x="457200" y="1261872"/>
            <a:ext cx="4937760" cy="2194560"/>
          </a:xfrm>
          <a:prstGeom prst="roundRect">
            <a:avLst>
              <a:gd name="adj" fmla="val 2500"/>
            </a:avLst>
          </a:prstGeom>
          <a:solidFill>
            <a:srgbClr val="FBFCFB"/>
          </a:solidFill>
          <a:ln w="9525">
            <a:solidFill>
              <a:srgbClr val="D5DED9"/>
            </a:solidFill>
            <a:prstDash val="solid"/>
          </a:ln>
        </p:spPr>
      </p:sp>
      <p:sp>
        <p:nvSpPr>
          <p:cNvPr id="17" name="Text 13"/>
          <p:cNvSpPr txBox="1"/>
          <p:nvPr/>
        </p:nvSpPr>
        <p:spPr>
          <a:xfrm>
            <a:off x="585216" y="1353312"/>
            <a:ext cx="4681728" cy="2011680"/>
          </a:xfrm>
          <a:prstGeom prst="rect">
            <a:avLst/>
          </a:prstGeom>
          <a:noFill/>
          <a:ln/>
        </p:spPr>
        <p:txBody>
          <a:bodyPr wrap="square" lIns="0" tIns="0" rIns="0" bIns="0" rtlCol="0" anchor="t"/>
          <a:lstStyle/>
          <a:p>
            <a:pPr marL="0" indent="0">
              <a:buNone/>
            </a:pPr>
            <a:r>
              <a:rPr lang="fr-FR" altLang="en-US" sz="950" dirty="0">
                <a:solidFill>
                  <a:srgbClr val="00704A"/>
                </a:solidFill>
                <a:latin typeface="Courier New" pitchFamily="34" charset="0"/>
                <a:ea typeface="Courier New" pitchFamily="34" charset="-122"/>
                <a:cs typeface="Courier New" pitchFamily="34" charset="-120"/>
              </a:rPr>
              <a:t>FROM ookla-tiles</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WHERE service_type == "mobile"</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AND quarter == "2025-Q2"</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EVAL w = TO_DOUBLE(avg_d_kbps) * tests</a:t>
            </a:r>
            <a:r>
              <a:rPr lang="fr-FR" altLang="en-US" sz="950" b="1" dirty="0">
                <a:solidFill>
                  <a:srgbClr val="D49A00"/>
                </a:solidFill>
                <a:latin typeface="Courier New" pitchFamily="34" charset="0"/>
                <a:ea typeface="Courier New" pitchFamily="34" charset="-122"/>
                <a:cs typeface="Courier New" pitchFamily="34" charset="-120"/>
              </a:rPr>
              <a:t>  ◀ en décimal</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STATS sum_w = SUM(w),</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n_tests = SUM(tests) BY admin1</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EVAL mean_mbps = ROUND(sum_w / n_tests / 1000, 1)</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SORT mean_mbps DESC</a:t>
            </a:r>
            <a:endParaRPr lang="fr-FR" sz="950" dirty="0"/>
          </a:p>
          <a:p>
            <a:pPr marL="0" indent="0">
              <a:buNone/>
            </a:pPr>
            <a:r>
              <a:rPr lang="fr-FR" altLang="en-US" sz="950" dirty="0">
                <a:solidFill>
                  <a:srgbClr val="231F20"/>
                </a:solidFill>
                <a:latin typeface="Courier New" pitchFamily="34" charset="0"/>
                <a:ea typeface="Courier New" pitchFamily="34" charset="-122"/>
                <a:cs typeface="Courier New" pitchFamily="34" charset="-120"/>
              </a:rPr>
              <a:t>| KEEP admin1, mean_mbps, n_tests</a:t>
            </a:r>
            <a:endParaRPr lang="fr-FR" sz="950" dirty="0"/>
          </a:p>
        </p:txBody>
      </p:sp>
      <p:sp>
        <p:nvSpPr>
          <p:cNvPr id="18" name="Shape 14"/>
          <p:cNvSpPr/>
          <p:nvPr/>
        </p:nvSpPr>
        <p:spPr>
          <a:xfrm>
            <a:off x="457200" y="3657600"/>
            <a:ext cx="822960" cy="274320"/>
          </a:xfrm>
          <a:prstGeom prst="roundRect">
            <a:avLst>
              <a:gd name="adj" fmla="val 50000"/>
            </a:avLst>
          </a:prstGeom>
          <a:solidFill>
            <a:srgbClr val="00A86A">
              <a:alpha val="15000"/>
            </a:srgbClr>
          </a:solidFill>
          <a:ln w="9525">
            <a:solidFill>
              <a:srgbClr val="00A86A"/>
            </a:solidFill>
            <a:prstDash val="solid"/>
          </a:ln>
        </p:spPr>
      </p:sp>
      <p:sp>
        <p:nvSpPr>
          <p:cNvPr id="19" name="Text 15"/>
          <p:cNvSpPr txBox="1"/>
          <p:nvPr/>
        </p:nvSpPr>
        <p:spPr>
          <a:xfrm>
            <a:off x="457200" y="3657600"/>
            <a:ext cx="822960" cy="274320"/>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ourier New" pitchFamily="34" charset="0"/>
                <a:ea typeface="Courier New" pitchFamily="34" charset="-122"/>
                <a:cs typeface="Courier New" pitchFamily="34" charset="-120"/>
              </a:rPr>
              <a:t>FROM</a:t>
            </a:r>
            <a:endParaRPr lang="fr-FR" sz="950" dirty="0"/>
          </a:p>
        </p:txBody>
      </p:sp>
      <p:sp>
        <p:nvSpPr>
          <p:cNvPr id="20" name="Shape 16"/>
          <p:cNvSpPr/>
          <p:nvPr/>
        </p:nvSpPr>
        <p:spPr>
          <a:xfrm>
            <a:off x="1298448" y="3794760"/>
            <a:ext cx="146304" cy="0"/>
          </a:xfrm>
          <a:prstGeom prst="line">
            <a:avLst/>
          </a:prstGeom>
          <a:noFill/>
          <a:ln w="12700">
            <a:solidFill>
              <a:srgbClr val="5E6964"/>
            </a:solidFill>
            <a:prstDash val="solid"/>
            <a:tailEnd type="triangle"/>
          </a:ln>
        </p:spPr>
      </p:sp>
      <p:sp>
        <p:nvSpPr>
          <p:cNvPr id="21" name="Shape 17"/>
          <p:cNvSpPr/>
          <p:nvPr/>
        </p:nvSpPr>
        <p:spPr>
          <a:xfrm>
            <a:off x="1463040" y="3657600"/>
            <a:ext cx="822960" cy="274320"/>
          </a:xfrm>
          <a:prstGeom prst="roundRect">
            <a:avLst>
              <a:gd name="adj" fmla="val 50000"/>
            </a:avLst>
          </a:prstGeom>
          <a:solidFill>
            <a:srgbClr val="00704A">
              <a:alpha val="15000"/>
            </a:srgbClr>
          </a:solidFill>
          <a:ln w="9525">
            <a:solidFill>
              <a:srgbClr val="00704A"/>
            </a:solidFill>
            <a:prstDash val="solid"/>
          </a:ln>
        </p:spPr>
      </p:sp>
      <p:sp>
        <p:nvSpPr>
          <p:cNvPr id="22" name="Text 18"/>
          <p:cNvSpPr txBox="1"/>
          <p:nvPr/>
        </p:nvSpPr>
        <p:spPr>
          <a:xfrm>
            <a:off x="1463040" y="3657600"/>
            <a:ext cx="822960" cy="274320"/>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ourier New" pitchFamily="34" charset="0"/>
                <a:ea typeface="Courier New" pitchFamily="34" charset="-122"/>
                <a:cs typeface="Courier New" pitchFamily="34" charset="-120"/>
              </a:rPr>
              <a:t>WHERE</a:t>
            </a:r>
            <a:endParaRPr lang="fr-FR" sz="950" dirty="0"/>
          </a:p>
        </p:txBody>
      </p:sp>
      <p:sp>
        <p:nvSpPr>
          <p:cNvPr id="23" name="Shape 19"/>
          <p:cNvSpPr/>
          <p:nvPr/>
        </p:nvSpPr>
        <p:spPr>
          <a:xfrm>
            <a:off x="2304288" y="3794760"/>
            <a:ext cx="146304" cy="0"/>
          </a:xfrm>
          <a:prstGeom prst="line">
            <a:avLst/>
          </a:prstGeom>
          <a:noFill/>
          <a:ln w="12700">
            <a:solidFill>
              <a:srgbClr val="5E6964"/>
            </a:solidFill>
            <a:prstDash val="solid"/>
            <a:tailEnd type="triangle"/>
          </a:ln>
        </p:spPr>
      </p:sp>
      <p:sp>
        <p:nvSpPr>
          <p:cNvPr id="24" name="Shape 20"/>
          <p:cNvSpPr/>
          <p:nvPr/>
        </p:nvSpPr>
        <p:spPr>
          <a:xfrm>
            <a:off x="2468880" y="3657600"/>
            <a:ext cx="822960" cy="274320"/>
          </a:xfrm>
          <a:prstGeom prst="roundRect">
            <a:avLst>
              <a:gd name="adj" fmla="val 50000"/>
            </a:avLst>
          </a:prstGeom>
          <a:solidFill>
            <a:srgbClr val="0E7C86">
              <a:alpha val="15000"/>
            </a:srgbClr>
          </a:solidFill>
          <a:ln w="9525">
            <a:solidFill>
              <a:srgbClr val="0E7C86"/>
            </a:solidFill>
            <a:prstDash val="solid"/>
          </a:ln>
        </p:spPr>
      </p:sp>
      <p:sp>
        <p:nvSpPr>
          <p:cNvPr id="25" name="Text 21"/>
          <p:cNvSpPr txBox="1"/>
          <p:nvPr/>
        </p:nvSpPr>
        <p:spPr>
          <a:xfrm>
            <a:off x="2468880" y="3657600"/>
            <a:ext cx="822960" cy="274320"/>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ourier New" pitchFamily="34" charset="0"/>
                <a:ea typeface="Courier New" pitchFamily="34" charset="-122"/>
                <a:cs typeface="Courier New" pitchFamily="34" charset="-120"/>
              </a:rPr>
              <a:t>EVAL</a:t>
            </a:r>
            <a:endParaRPr lang="fr-FR" sz="950" dirty="0"/>
          </a:p>
        </p:txBody>
      </p:sp>
      <p:sp>
        <p:nvSpPr>
          <p:cNvPr id="26" name="Shape 22"/>
          <p:cNvSpPr/>
          <p:nvPr/>
        </p:nvSpPr>
        <p:spPr>
          <a:xfrm>
            <a:off x="3310128" y="3794760"/>
            <a:ext cx="146304" cy="0"/>
          </a:xfrm>
          <a:prstGeom prst="line">
            <a:avLst/>
          </a:prstGeom>
          <a:noFill/>
          <a:ln w="12700">
            <a:solidFill>
              <a:srgbClr val="5E6964"/>
            </a:solidFill>
            <a:prstDash val="solid"/>
            <a:tailEnd type="triangle"/>
          </a:ln>
        </p:spPr>
      </p:sp>
      <p:sp>
        <p:nvSpPr>
          <p:cNvPr id="27" name="Shape 23"/>
          <p:cNvSpPr/>
          <p:nvPr/>
        </p:nvSpPr>
        <p:spPr>
          <a:xfrm>
            <a:off x="3474720" y="3657600"/>
            <a:ext cx="822960" cy="274320"/>
          </a:xfrm>
          <a:prstGeom prst="roundRect">
            <a:avLst>
              <a:gd name="adj" fmla="val 50000"/>
            </a:avLst>
          </a:prstGeom>
          <a:solidFill>
            <a:srgbClr val="D49A00">
              <a:alpha val="15000"/>
            </a:srgbClr>
          </a:solidFill>
          <a:ln w="9525">
            <a:solidFill>
              <a:srgbClr val="D49A00"/>
            </a:solidFill>
            <a:prstDash val="solid"/>
          </a:ln>
        </p:spPr>
      </p:sp>
      <p:sp>
        <p:nvSpPr>
          <p:cNvPr id="28" name="Text 24"/>
          <p:cNvSpPr txBox="1"/>
          <p:nvPr/>
        </p:nvSpPr>
        <p:spPr>
          <a:xfrm>
            <a:off x="3474720" y="3657600"/>
            <a:ext cx="822960" cy="274320"/>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ourier New" pitchFamily="34" charset="0"/>
                <a:ea typeface="Courier New" pitchFamily="34" charset="-122"/>
                <a:cs typeface="Courier New" pitchFamily="34" charset="-120"/>
              </a:rPr>
              <a:t>STATS</a:t>
            </a:r>
            <a:endParaRPr lang="fr-FR" sz="950" dirty="0"/>
          </a:p>
        </p:txBody>
      </p:sp>
      <p:sp>
        <p:nvSpPr>
          <p:cNvPr id="29" name="Shape 25"/>
          <p:cNvSpPr/>
          <p:nvPr/>
        </p:nvSpPr>
        <p:spPr>
          <a:xfrm>
            <a:off x="4315968" y="3794760"/>
            <a:ext cx="146304" cy="0"/>
          </a:xfrm>
          <a:prstGeom prst="line">
            <a:avLst/>
          </a:prstGeom>
          <a:noFill/>
          <a:ln w="12700">
            <a:solidFill>
              <a:srgbClr val="5E6964"/>
            </a:solidFill>
            <a:prstDash val="solid"/>
            <a:tailEnd type="triangle"/>
          </a:ln>
        </p:spPr>
      </p:sp>
      <p:sp>
        <p:nvSpPr>
          <p:cNvPr id="30" name="Shape 26"/>
          <p:cNvSpPr/>
          <p:nvPr/>
        </p:nvSpPr>
        <p:spPr>
          <a:xfrm>
            <a:off x="4480560" y="3657600"/>
            <a:ext cx="822960" cy="274320"/>
          </a:xfrm>
          <a:prstGeom prst="roundRect">
            <a:avLst>
              <a:gd name="adj" fmla="val 50000"/>
            </a:avLst>
          </a:prstGeom>
          <a:solidFill>
            <a:srgbClr val="C4621D">
              <a:alpha val="15000"/>
            </a:srgbClr>
          </a:solidFill>
          <a:ln w="9525">
            <a:solidFill>
              <a:srgbClr val="C4621D"/>
            </a:solidFill>
            <a:prstDash val="solid"/>
          </a:ln>
        </p:spPr>
      </p:sp>
      <p:sp>
        <p:nvSpPr>
          <p:cNvPr id="31" name="Text 27"/>
          <p:cNvSpPr txBox="1"/>
          <p:nvPr/>
        </p:nvSpPr>
        <p:spPr>
          <a:xfrm>
            <a:off x="4480560" y="3657600"/>
            <a:ext cx="822960" cy="274320"/>
          </a:xfrm>
          <a:prstGeom prst="rect">
            <a:avLst/>
          </a:prstGeom>
          <a:noFill/>
          <a:ln/>
        </p:spPr>
        <p:txBody>
          <a:bodyPr wrap="square" lIns="0" tIns="0" rIns="0" bIns="0" rtlCol="0" anchor="ctr"/>
          <a:lstStyle/>
          <a:p>
            <a:pPr marL="0" indent="0" algn="ctr">
              <a:buNone/>
            </a:pPr>
            <a:r>
              <a:rPr lang="fr-FR" altLang="en-US" sz="950" b="1" dirty="0">
                <a:solidFill>
                  <a:srgbClr val="231F20"/>
                </a:solidFill>
                <a:latin typeface="Courier New" pitchFamily="34" charset="0"/>
                <a:ea typeface="Courier New" pitchFamily="34" charset="-122"/>
                <a:cs typeface="Courier New" pitchFamily="34" charset="-120"/>
              </a:rPr>
              <a:t>SORT</a:t>
            </a:r>
            <a:endParaRPr lang="fr-FR" sz="950" dirty="0"/>
          </a:p>
        </p:txBody>
      </p:sp>
      <p:sp>
        <p:nvSpPr>
          <p:cNvPr id="32" name="Text 28"/>
          <p:cNvSpPr txBox="1"/>
          <p:nvPr/>
        </p:nvSpPr>
        <p:spPr>
          <a:xfrm>
            <a:off x="457200" y="4069080"/>
            <a:ext cx="4937760" cy="457200"/>
          </a:xfrm>
          <a:prstGeom prst="rect">
            <a:avLst/>
          </a:prstGeom>
          <a:noFill/>
          <a:ln/>
        </p:spPr>
        <p:txBody>
          <a:bodyPr wrap="square" lIns="0" tIns="0" rIns="0" bIns="0" rtlCol="0" anchor="t"/>
          <a:lstStyle/>
          <a:p>
            <a:pPr marL="0" indent="0">
              <a:buNone/>
            </a:pPr>
            <a:r>
              <a:rPr lang="fr-FR" altLang="en-US" sz="1050" i="1" dirty="0">
                <a:solidFill>
                  <a:srgbClr val="5E6964"/>
                </a:solidFill>
                <a:latin typeface="Calibri" pitchFamily="34" charset="0"/>
                <a:ea typeface="Calibri" pitchFamily="34" charset="-122"/>
                <a:cs typeface="Calibri" pitchFamily="34" charset="-120"/>
              </a:rPr>
              <a:t>Chaque étape reçoit la table produite par la précédente, comme un pipe en R ou un chaînage pandas.</a:t>
            </a:r>
            <a:endParaRPr lang="fr-FR" sz="1050" dirty="0"/>
          </a:p>
        </p:txBody>
      </p:sp>
      <p:sp>
        <p:nvSpPr>
          <p:cNvPr id="33" name="Shape 29"/>
          <p:cNvSpPr/>
          <p:nvPr/>
        </p:nvSpPr>
        <p:spPr>
          <a:xfrm>
            <a:off x="5669280" y="1261872"/>
            <a:ext cx="3017520" cy="1508760"/>
          </a:xfrm>
          <a:prstGeom prst="roundRect">
            <a:avLst>
              <a:gd name="adj" fmla="val 4848"/>
            </a:avLst>
          </a:prstGeom>
          <a:solidFill>
            <a:srgbClr val="F4F7F5"/>
          </a:solidFill>
          <a:ln w="9525">
            <a:solidFill>
              <a:srgbClr val="D5DED9"/>
            </a:solidFill>
            <a:prstDash val="solid"/>
          </a:ln>
        </p:spPr>
      </p:sp>
      <p:sp>
        <p:nvSpPr>
          <p:cNvPr id="34" name="Text 30"/>
          <p:cNvSpPr txBox="1"/>
          <p:nvPr/>
        </p:nvSpPr>
        <p:spPr>
          <a:xfrm>
            <a:off x="5815584" y="1371600"/>
            <a:ext cx="2743200" cy="274320"/>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Query DSL</a:t>
            </a:r>
            <a:r>
              <a:rPr lang="fr-FR" altLang="en-US" sz="1000" i="1" dirty="0">
                <a:solidFill>
                  <a:srgbClr val="5E6964"/>
                </a:solidFill>
                <a:latin typeface="Calibri" pitchFamily="34" charset="0"/>
                <a:ea typeface="Calibri" pitchFamily="34" charset="-122"/>
                <a:cs typeface="Calibri" pitchFamily="34" charset="-120"/>
              </a:rPr>
              <a:t>  ·  JSON</a:t>
            </a:r>
            <a:endParaRPr lang="fr-FR" sz="1400" dirty="0"/>
          </a:p>
        </p:txBody>
      </p:sp>
      <p:sp>
        <p:nvSpPr>
          <p:cNvPr id="35" name="Text 31"/>
          <p:cNvSpPr txBox="1"/>
          <p:nvPr/>
        </p:nvSpPr>
        <p:spPr>
          <a:xfrm>
            <a:off x="5815584" y="1737360"/>
            <a:ext cx="2743200" cy="9601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Toutes les fonctions Elasticsearch</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Idéal pour applications et tableaux de bord</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Verbeux, mais précis</a:t>
            </a:r>
            <a:endParaRPr lang="fr-FR" sz="1050" dirty="0"/>
          </a:p>
        </p:txBody>
      </p:sp>
      <p:sp>
        <p:nvSpPr>
          <p:cNvPr id="36" name="Shape 32"/>
          <p:cNvSpPr/>
          <p:nvPr/>
        </p:nvSpPr>
        <p:spPr>
          <a:xfrm>
            <a:off x="5669280" y="2935224"/>
            <a:ext cx="3017520" cy="1508760"/>
          </a:xfrm>
          <a:prstGeom prst="roundRect">
            <a:avLst>
              <a:gd name="adj" fmla="val 4848"/>
            </a:avLst>
          </a:prstGeom>
          <a:solidFill>
            <a:srgbClr val="E8F5EF"/>
          </a:solidFill>
          <a:ln w="15875">
            <a:solidFill>
              <a:srgbClr val="00A86A"/>
            </a:solidFill>
            <a:prstDash val="solid"/>
          </a:ln>
        </p:spPr>
      </p:sp>
      <p:sp>
        <p:nvSpPr>
          <p:cNvPr id="37" name="Text 33"/>
          <p:cNvSpPr txBox="1"/>
          <p:nvPr/>
        </p:nvSpPr>
        <p:spPr>
          <a:xfrm>
            <a:off x="5815584" y="3044952"/>
            <a:ext cx="2743200" cy="274320"/>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ES|QL</a:t>
            </a:r>
            <a:r>
              <a:rPr lang="fr-FR" altLang="en-US" sz="1000" i="1" dirty="0">
                <a:solidFill>
                  <a:srgbClr val="5E6964"/>
                </a:solidFill>
                <a:latin typeface="Calibri" pitchFamily="34" charset="0"/>
                <a:ea typeface="Calibri" pitchFamily="34" charset="-122"/>
                <a:cs typeface="Calibri" pitchFamily="34" charset="-120"/>
              </a:rPr>
              <a:t>  ·  texte en pipeline</a:t>
            </a:r>
            <a:endParaRPr lang="fr-FR" sz="1400" dirty="0"/>
          </a:p>
        </p:txBody>
      </p:sp>
      <p:sp>
        <p:nvSpPr>
          <p:cNvPr id="38" name="Text 34"/>
          <p:cNvSpPr txBox="1"/>
          <p:nvPr/>
        </p:nvSpPr>
        <p:spPr>
          <a:xfrm>
            <a:off x="5815584" y="3410712"/>
            <a:ext cx="2743200" cy="9601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Se lit comme une recette</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Idéal pour explorer dans Discover</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GA depuis la 8.14 (juin 2024)</a:t>
            </a:r>
            <a:endParaRPr lang="fr-FR" sz="1050" dirty="0"/>
          </a:p>
        </p:txBody>
      </p:sp>
      <p:sp>
        <p:nvSpPr>
          <p:cNvPr id="39" name="Text 35"/>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Source : Elastic, « Elastic 8.14: Announcing the GA of ES|QL » (juin 2024).</a:t>
            </a:r>
            <a:endParaRPr lang="fr-FR"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05</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05</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Explorer avec Kibana</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Comment les collègues qui ne codent pas obtiennent-ils des réponses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5C242"/>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25</a:t>
            </a:r>
            <a:endParaRPr lang="fr-FR"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Kibana : cinq outils utilisés au labo</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26</a:t>
            </a:r>
            <a:endParaRPr lang="fr-FR" sz="850" dirty="0"/>
          </a:p>
        </p:txBody>
      </p:sp>
      <p:sp>
        <p:nvSpPr>
          <p:cNvPr id="16" name="Shape 12"/>
          <p:cNvSpPr/>
          <p:nvPr/>
        </p:nvSpPr>
        <p:spPr>
          <a:xfrm>
            <a:off x="457200" y="1261872"/>
            <a:ext cx="1517904" cy="2468880"/>
          </a:xfrm>
          <a:prstGeom prst="roundRect">
            <a:avLst>
              <a:gd name="adj" fmla="val 4819"/>
            </a:avLst>
          </a:prstGeom>
          <a:solidFill>
            <a:srgbClr val="F4F7F5"/>
          </a:solidFill>
          <a:ln w="9525">
            <a:solidFill>
              <a:srgbClr val="D5DED9"/>
            </a:solidFill>
            <a:prstDash val="solid"/>
          </a:ln>
        </p:spPr>
      </p:sp>
      <p:sp>
        <p:nvSpPr>
          <p:cNvPr id="17" name="Shape 13"/>
          <p:cNvSpPr/>
          <p:nvPr/>
        </p:nvSpPr>
        <p:spPr>
          <a:xfrm>
            <a:off x="960120" y="1389888"/>
            <a:ext cx="512064" cy="512064"/>
          </a:xfrm>
          <a:prstGeom prst="ellipse">
            <a:avLst/>
          </a:prstGeom>
          <a:solidFill>
            <a:srgbClr val="C4621D">
              <a:alpha val="22000"/>
            </a:srgbClr>
          </a:solidFill>
          <a:ln/>
        </p:spPr>
      </p:sp>
      <p:pic>
        <p:nvPicPr>
          <p:cNvPr id="18" name="Image 1" descr="preencoded.png"/>
          <p:cNvPicPr>
            <a:picLocks noChangeAspect="1"/>
          </p:cNvPicPr>
          <p:nvPr/>
        </p:nvPicPr>
        <p:blipFill>
          <a:blip r:embed="rId4"/>
          <a:stretch>
            <a:fillRect/>
          </a:stretch>
        </p:blipFill>
        <p:spPr>
          <a:xfrm>
            <a:off x="1093257" y="1523025"/>
            <a:ext cx="245791" cy="245791"/>
          </a:xfrm>
          <a:prstGeom prst="rect">
            <a:avLst/>
          </a:prstGeom>
        </p:spPr>
      </p:pic>
      <p:sp>
        <p:nvSpPr>
          <p:cNvPr id="19" name="Text 14"/>
          <p:cNvSpPr txBox="1"/>
          <p:nvPr/>
        </p:nvSpPr>
        <p:spPr>
          <a:xfrm>
            <a:off x="548640" y="1975104"/>
            <a:ext cx="1335024" cy="256032"/>
          </a:xfrm>
          <a:prstGeom prst="rect">
            <a:avLst/>
          </a:prstGeom>
          <a:noFill/>
          <a:ln/>
        </p:spPr>
        <p:txBody>
          <a:bodyPr wrap="square" lIns="0" tIns="0" rIns="0" bIns="0" rtlCol="0" anchor="t"/>
          <a:lstStyle/>
          <a:p>
            <a:pPr marL="0" indent="0" algn="ctr">
              <a:buNone/>
            </a:pPr>
            <a:r>
              <a:rPr lang="fr-FR" altLang="en-US" sz="1300" b="1" dirty="0">
                <a:solidFill>
                  <a:srgbClr val="231F20"/>
                </a:solidFill>
                <a:latin typeface="Calibri" pitchFamily="34" charset="0"/>
                <a:ea typeface="Calibri" pitchFamily="34" charset="-122"/>
                <a:cs typeface="Calibri" pitchFamily="34" charset="-120"/>
              </a:rPr>
              <a:t>Dev Tools</a:t>
            </a:r>
            <a:endParaRPr lang="fr-FR" sz="1300" dirty="0"/>
          </a:p>
        </p:txBody>
      </p:sp>
      <p:sp>
        <p:nvSpPr>
          <p:cNvPr id="20" name="Text 15"/>
          <p:cNvSpPr txBox="1"/>
          <p:nvPr/>
        </p:nvSpPr>
        <p:spPr>
          <a:xfrm>
            <a:off x="585216" y="2267712"/>
            <a:ext cx="1280160" cy="658368"/>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Console pour exécuter des requêtes Query DSL et ES|QL.</a:t>
            </a:r>
            <a:endParaRPr lang="fr-FR" sz="950" dirty="0"/>
          </a:p>
        </p:txBody>
      </p:sp>
      <p:sp>
        <p:nvSpPr>
          <p:cNvPr id="21" name="Shape 16"/>
          <p:cNvSpPr/>
          <p:nvPr/>
        </p:nvSpPr>
        <p:spPr>
          <a:xfrm>
            <a:off x="585216" y="2944368"/>
            <a:ext cx="1261872" cy="0"/>
          </a:xfrm>
          <a:prstGeom prst="line">
            <a:avLst/>
          </a:prstGeom>
          <a:noFill/>
          <a:ln w="9525">
            <a:solidFill>
              <a:srgbClr val="D5DED9"/>
            </a:solidFill>
            <a:prstDash val="solid"/>
          </a:ln>
        </p:spPr>
      </p:sp>
      <p:sp>
        <p:nvSpPr>
          <p:cNvPr id="22" name="Text 17"/>
          <p:cNvSpPr txBox="1"/>
          <p:nvPr/>
        </p:nvSpPr>
        <p:spPr>
          <a:xfrm>
            <a:off x="585216" y="2999232"/>
            <a:ext cx="1280160" cy="658368"/>
          </a:xfrm>
          <a:prstGeom prst="rect">
            <a:avLst/>
          </a:prstGeom>
          <a:noFill/>
          <a:ln/>
        </p:spPr>
        <p:txBody>
          <a:bodyPr wrap="square" lIns="0" tIns="0" rIns="0" bIns="0" rtlCol="0" anchor="t"/>
          <a:lstStyle/>
          <a:p>
            <a:pPr marL="0" indent="0">
              <a:buNone/>
            </a:pPr>
            <a:r>
              <a:rPr lang="fr-FR" altLang="en-US" sz="900" i="1" dirty="0">
                <a:solidFill>
                  <a:srgbClr val="C4621D"/>
                </a:solidFill>
                <a:latin typeface="Calibri" pitchFamily="34" charset="0"/>
                <a:ea typeface="Calibri" pitchFamily="34" charset="-122"/>
                <a:cs typeface="Calibri" pitchFamily="34" charset="-120"/>
              </a:rPr>
              <a:t>Labo 1 : mapping, contrôles d’indexation, premières requêtes</a:t>
            </a:r>
            <a:endParaRPr lang="fr-FR" sz="900" dirty="0"/>
          </a:p>
        </p:txBody>
      </p:sp>
      <p:sp>
        <p:nvSpPr>
          <p:cNvPr id="23" name="Shape 18"/>
          <p:cNvSpPr/>
          <p:nvPr/>
        </p:nvSpPr>
        <p:spPr>
          <a:xfrm>
            <a:off x="2121408" y="1261872"/>
            <a:ext cx="1517904" cy="2468880"/>
          </a:xfrm>
          <a:prstGeom prst="roundRect">
            <a:avLst>
              <a:gd name="adj" fmla="val 4819"/>
            </a:avLst>
          </a:prstGeom>
          <a:solidFill>
            <a:srgbClr val="F4F7F5"/>
          </a:solidFill>
          <a:ln w="9525">
            <a:solidFill>
              <a:srgbClr val="D5DED9"/>
            </a:solidFill>
            <a:prstDash val="solid"/>
          </a:ln>
        </p:spPr>
      </p:sp>
      <p:sp>
        <p:nvSpPr>
          <p:cNvPr id="24" name="Shape 19"/>
          <p:cNvSpPr/>
          <p:nvPr/>
        </p:nvSpPr>
        <p:spPr>
          <a:xfrm>
            <a:off x="2624328" y="1389888"/>
            <a:ext cx="512064" cy="512064"/>
          </a:xfrm>
          <a:prstGeom prst="ellipse">
            <a:avLst/>
          </a:prstGeom>
          <a:solidFill>
            <a:srgbClr val="C4621D">
              <a:alpha val="22000"/>
            </a:srgbClr>
          </a:solidFill>
          <a:ln/>
        </p:spPr>
      </p:sp>
      <p:pic>
        <p:nvPicPr>
          <p:cNvPr id="25" name="Image 2" descr="preencoded.png"/>
          <p:cNvPicPr>
            <a:picLocks noChangeAspect="1"/>
          </p:cNvPicPr>
          <p:nvPr/>
        </p:nvPicPr>
        <p:blipFill>
          <a:blip r:embed="rId5"/>
          <a:stretch>
            <a:fillRect/>
          </a:stretch>
        </p:blipFill>
        <p:spPr>
          <a:xfrm>
            <a:off x="2757465" y="1523025"/>
            <a:ext cx="245791" cy="245791"/>
          </a:xfrm>
          <a:prstGeom prst="rect">
            <a:avLst/>
          </a:prstGeom>
        </p:spPr>
      </p:pic>
      <p:sp>
        <p:nvSpPr>
          <p:cNvPr id="26" name="Text 20"/>
          <p:cNvSpPr txBox="1"/>
          <p:nvPr/>
        </p:nvSpPr>
        <p:spPr>
          <a:xfrm>
            <a:off x="2212848" y="1975104"/>
            <a:ext cx="1335024" cy="256032"/>
          </a:xfrm>
          <a:prstGeom prst="rect">
            <a:avLst/>
          </a:prstGeom>
          <a:noFill/>
          <a:ln/>
        </p:spPr>
        <p:txBody>
          <a:bodyPr wrap="square" lIns="0" tIns="0" rIns="0" bIns="0" rtlCol="0" anchor="t"/>
          <a:lstStyle/>
          <a:p>
            <a:pPr marL="0" indent="0" algn="ctr">
              <a:buNone/>
            </a:pPr>
            <a:r>
              <a:rPr lang="fr-FR" altLang="en-US" sz="1300" b="1" dirty="0">
                <a:solidFill>
                  <a:srgbClr val="231F20"/>
                </a:solidFill>
                <a:latin typeface="Calibri" pitchFamily="34" charset="0"/>
                <a:ea typeface="Calibri" pitchFamily="34" charset="-122"/>
                <a:cs typeface="Calibri" pitchFamily="34" charset="-120"/>
              </a:rPr>
              <a:t>Discover</a:t>
            </a:r>
            <a:endParaRPr lang="fr-FR" sz="1300" dirty="0"/>
          </a:p>
        </p:txBody>
      </p:sp>
      <p:sp>
        <p:nvSpPr>
          <p:cNvPr id="27" name="Text 21"/>
          <p:cNvSpPr txBox="1"/>
          <p:nvPr/>
        </p:nvSpPr>
        <p:spPr>
          <a:xfrm>
            <a:off x="2249424" y="2267712"/>
            <a:ext cx="1280160" cy="658368"/>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Parcourir et filtrer les documents ; inspecter les champs.</a:t>
            </a:r>
            <a:endParaRPr lang="fr-FR" sz="950" dirty="0"/>
          </a:p>
        </p:txBody>
      </p:sp>
      <p:sp>
        <p:nvSpPr>
          <p:cNvPr id="28" name="Shape 22"/>
          <p:cNvSpPr/>
          <p:nvPr/>
        </p:nvSpPr>
        <p:spPr>
          <a:xfrm>
            <a:off x="2249424" y="2944368"/>
            <a:ext cx="1261872" cy="0"/>
          </a:xfrm>
          <a:prstGeom prst="line">
            <a:avLst/>
          </a:prstGeom>
          <a:noFill/>
          <a:ln w="9525">
            <a:solidFill>
              <a:srgbClr val="D5DED9"/>
            </a:solidFill>
            <a:prstDash val="solid"/>
          </a:ln>
        </p:spPr>
      </p:sp>
      <p:sp>
        <p:nvSpPr>
          <p:cNvPr id="29" name="Text 23"/>
          <p:cNvSpPr txBox="1"/>
          <p:nvPr/>
        </p:nvSpPr>
        <p:spPr>
          <a:xfrm>
            <a:off x="2249424" y="2999232"/>
            <a:ext cx="1280160" cy="658368"/>
          </a:xfrm>
          <a:prstGeom prst="rect">
            <a:avLst/>
          </a:prstGeom>
          <a:noFill/>
          <a:ln/>
        </p:spPr>
        <p:txBody>
          <a:bodyPr wrap="square" lIns="0" tIns="0" rIns="0" bIns="0" rtlCol="0" anchor="t"/>
          <a:lstStyle/>
          <a:p>
            <a:pPr marL="0" indent="0">
              <a:buNone/>
            </a:pPr>
            <a:r>
              <a:rPr lang="fr-FR" altLang="en-US" sz="900" i="1" dirty="0">
                <a:solidFill>
                  <a:srgbClr val="C4621D"/>
                </a:solidFill>
                <a:latin typeface="Calibri" pitchFamily="34" charset="0"/>
                <a:ea typeface="Calibri" pitchFamily="34" charset="-122"/>
                <a:cs typeface="Calibri" pitchFamily="34" charset="-120"/>
              </a:rPr>
              <a:t>Labo 2 : contrôles de cohérence, filtres KQL</a:t>
            </a:r>
            <a:endParaRPr lang="fr-FR" sz="900" dirty="0"/>
          </a:p>
        </p:txBody>
      </p:sp>
      <p:sp>
        <p:nvSpPr>
          <p:cNvPr id="30" name="Shape 24"/>
          <p:cNvSpPr/>
          <p:nvPr/>
        </p:nvSpPr>
        <p:spPr>
          <a:xfrm>
            <a:off x="3785616" y="1261872"/>
            <a:ext cx="1517904" cy="2468880"/>
          </a:xfrm>
          <a:prstGeom prst="roundRect">
            <a:avLst>
              <a:gd name="adj" fmla="val 4819"/>
            </a:avLst>
          </a:prstGeom>
          <a:solidFill>
            <a:srgbClr val="F4F7F5"/>
          </a:solidFill>
          <a:ln w="9525">
            <a:solidFill>
              <a:srgbClr val="D5DED9"/>
            </a:solidFill>
            <a:prstDash val="solid"/>
          </a:ln>
        </p:spPr>
      </p:sp>
      <p:sp>
        <p:nvSpPr>
          <p:cNvPr id="31" name="Shape 25"/>
          <p:cNvSpPr/>
          <p:nvPr/>
        </p:nvSpPr>
        <p:spPr>
          <a:xfrm>
            <a:off x="4288536" y="1389888"/>
            <a:ext cx="512064" cy="512064"/>
          </a:xfrm>
          <a:prstGeom prst="ellipse">
            <a:avLst/>
          </a:prstGeom>
          <a:solidFill>
            <a:srgbClr val="C4621D">
              <a:alpha val="22000"/>
            </a:srgbClr>
          </a:solidFill>
          <a:ln/>
        </p:spPr>
      </p:sp>
      <p:pic>
        <p:nvPicPr>
          <p:cNvPr id="32" name="Image 3" descr="preencoded.png"/>
          <p:cNvPicPr>
            <a:picLocks noChangeAspect="1"/>
          </p:cNvPicPr>
          <p:nvPr/>
        </p:nvPicPr>
        <p:blipFill>
          <a:blip r:embed="rId6"/>
          <a:stretch>
            <a:fillRect/>
          </a:stretch>
        </p:blipFill>
        <p:spPr>
          <a:xfrm>
            <a:off x="4421673" y="1523025"/>
            <a:ext cx="245791" cy="245791"/>
          </a:xfrm>
          <a:prstGeom prst="rect">
            <a:avLst/>
          </a:prstGeom>
        </p:spPr>
      </p:pic>
      <p:sp>
        <p:nvSpPr>
          <p:cNvPr id="33" name="Text 26"/>
          <p:cNvSpPr txBox="1"/>
          <p:nvPr/>
        </p:nvSpPr>
        <p:spPr>
          <a:xfrm>
            <a:off x="3877056" y="1975104"/>
            <a:ext cx="1335024" cy="256032"/>
          </a:xfrm>
          <a:prstGeom prst="rect">
            <a:avLst/>
          </a:prstGeom>
          <a:noFill/>
          <a:ln/>
        </p:spPr>
        <p:txBody>
          <a:bodyPr wrap="square" lIns="0" tIns="0" rIns="0" bIns="0" rtlCol="0" anchor="t"/>
          <a:lstStyle/>
          <a:p>
            <a:pPr marL="0" indent="0" algn="ctr">
              <a:buNone/>
            </a:pPr>
            <a:r>
              <a:rPr lang="fr-FR" altLang="en-US" sz="1300" b="1" dirty="0">
                <a:solidFill>
                  <a:srgbClr val="231F20"/>
                </a:solidFill>
                <a:latin typeface="Calibri" pitchFamily="34" charset="0"/>
                <a:ea typeface="Calibri" pitchFamily="34" charset="-122"/>
                <a:cs typeface="Calibri" pitchFamily="34" charset="-120"/>
              </a:rPr>
              <a:t>Lens</a:t>
            </a:r>
            <a:endParaRPr lang="fr-FR" sz="1300" dirty="0"/>
          </a:p>
        </p:txBody>
      </p:sp>
      <p:sp>
        <p:nvSpPr>
          <p:cNvPr id="34" name="Text 27"/>
          <p:cNvSpPr txBox="1"/>
          <p:nvPr/>
        </p:nvSpPr>
        <p:spPr>
          <a:xfrm>
            <a:off x="3913632" y="2267712"/>
            <a:ext cx="1280160" cy="658368"/>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Graphiques par glisser-déposer : barres, courbes, tableaux.</a:t>
            </a:r>
            <a:endParaRPr lang="fr-FR" sz="950" dirty="0"/>
          </a:p>
        </p:txBody>
      </p:sp>
      <p:sp>
        <p:nvSpPr>
          <p:cNvPr id="35" name="Shape 28"/>
          <p:cNvSpPr/>
          <p:nvPr/>
        </p:nvSpPr>
        <p:spPr>
          <a:xfrm>
            <a:off x="3913632" y="2944368"/>
            <a:ext cx="1261872" cy="0"/>
          </a:xfrm>
          <a:prstGeom prst="line">
            <a:avLst/>
          </a:prstGeom>
          <a:noFill/>
          <a:ln w="9525">
            <a:solidFill>
              <a:srgbClr val="D5DED9"/>
            </a:solidFill>
            <a:prstDash val="solid"/>
          </a:ln>
        </p:spPr>
      </p:sp>
      <p:sp>
        <p:nvSpPr>
          <p:cNvPr id="36" name="Text 29"/>
          <p:cNvSpPr txBox="1"/>
          <p:nvPr/>
        </p:nvSpPr>
        <p:spPr>
          <a:xfrm>
            <a:off x="3913632" y="2999232"/>
            <a:ext cx="1280160" cy="658368"/>
          </a:xfrm>
          <a:prstGeom prst="rect">
            <a:avLst/>
          </a:prstGeom>
          <a:noFill/>
          <a:ln/>
        </p:spPr>
        <p:txBody>
          <a:bodyPr wrap="square" lIns="0" tIns="0" rIns="0" bIns="0" rtlCol="0" anchor="t"/>
          <a:lstStyle/>
          <a:p>
            <a:pPr marL="0" indent="0">
              <a:buNone/>
            </a:pPr>
            <a:r>
              <a:rPr lang="fr-FR" altLang="en-US" sz="900" i="1" dirty="0">
                <a:solidFill>
                  <a:srgbClr val="C4621D"/>
                </a:solidFill>
                <a:latin typeface="Calibri" pitchFamily="34" charset="0"/>
                <a:ea typeface="Calibri" pitchFamily="34" charset="-122"/>
                <a:cs typeface="Calibri" pitchFamily="34" charset="-120"/>
              </a:rPr>
              <a:t>Labo 2 : débit par trimestre, fixe vs mobile</a:t>
            </a:r>
            <a:endParaRPr lang="fr-FR" sz="900" dirty="0"/>
          </a:p>
        </p:txBody>
      </p:sp>
      <p:sp>
        <p:nvSpPr>
          <p:cNvPr id="37" name="Shape 30"/>
          <p:cNvSpPr/>
          <p:nvPr/>
        </p:nvSpPr>
        <p:spPr>
          <a:xfrm>
            <a:off x="5449824" y="1261872"/>
            <a:ext cx="1517904" cy="2468880"/>
          </a:xfrm>
          <a:prstGeom prst="roundRect">
            <a:avLst>
              <a:gd name="adj" fmla="val 4819"/>
            </a:avLst>
          </a:prstGeom>
          <a:solidFill>
            <a:srgbClr val="F4F7F5"/>
          </a:solidFill>
          <a:ln w="9525">
            <a:solidFill>
              <a:srgbClr val="D5DED9"/>
            </a:solidFill>
            <a:prstDash val="solid"/>
          </a:ln>
        </p:spPr>
      </p:sp>
      <p:sp>
        <p:nvSpPr>
          <p:cNvPr id="38" name="Shape 31"/>
          <p:cNvSpPr/>
          <p:nvPr/>
        </p:nvSpPr>
        <p:spPr>
          <a:xfrm>
            <a:off x="5952744" y="1389888"/>
            <a:ext cx="512064" cy="512064"/>
          </a:xfrm>
          <a:prstGeom prst="ellipse">
            <a:avLst/>
          </a:prstGeom>
          <a:solidFill>
            <a:srgbClr val="C4621D">
              <a:alpha val="22000"/>
            </a:srgbClr>
          </a:solidFill>
          <a:ln/>
        </p:spPr>
      </p:sp>
      <p:pic>
        <p:nvPicPr>
          <p:cNvPr id="39" name="Image 4" descr="preencoded.png"/>
          <p:cNvPicPr>
            <a:picLocks noChangeAspect="1"/>
          </p:cNvPicPr>
          <p:nvPr/>
        </p:nvPicPr>
        <p:blipFill>
          <a:blip r:embed="rId7"/>
          <a:stretch>
            <a:fillRect/>
          </a:stretch>
        </p:blipFill>
        <p:spPr>
          <a:xfrm>
            <a:off x="6085881" y="1523025"/>
            <a:ext cx="245791" cy="245791"/>
          </a:xfrm>
          <a:prstGeom prst="rect">
            <a:avLst/>
          </a:prstGeom>
        </p:spPr>
      </p:pic>
      <p:sp>
        <p:nvSpPr>
          <p:cNvPr id="40" name="Text 32"/>
          <p:cNvSpPr txBox="1"/>
          <p:nvPr/>
        </p:nvSpPr>
        <p:spPr>
          <a:xfrm>
            <a:off x="5541264" y="1975104"/>
            <a:ext cx="1335024" cy="256032"/>
          </a:xfrm>
          <a:prstGeom prst="rect">
            <a:avLst/>
          </a:prstGeom>
          <a:noFill/>
          <a:ln/>
        </p:spPr>
        <p:txBody>
          <a:bodyPr wrap="square" lIns="0" tIns="0" rIns="0" bIns="0" rtlCol="0" anchor="t"/>
          <a:lstStyle/>
          <a:p>
            <a:pPr marL="0" indent="0" algn="ctr">
              <a:buNone/>
            </a:pPr>
            <a:r>
              <a:rPr lang="fr-FR" altLang="en-US" sz="1300" b="1" dirty="0">
                <a:solidFill>
                  <a:srgbClr val="231F20"/>
                </a:solidFill>
                <a:latin typeface="Calibri" pitchFamily="34" charset="0"/>
                <a:ea typeface="Calibri" pitchFamily="34" charset="-122"/>
                <a:cs typeface="Calibri" pitchFamily="34" charset="-120"/>
              </a:rPr>
              <a:t>Maps</a:t>
            </a:r>
            <a:endParaRPr lang="fr-FR" sz="1300" dirty="0"/>
          </a:p>
        </p:txBody>
      </p:sp>
      <p:sp>
        <p:nvSpPr>
          <p:cNvPr id="41" name="Text 33"/>
          <p:cNvSpPr txBox="1"/>
          <p:nvPr/>
        </p:nvSpPr>
        <p:spPr>
          <a:xfrm>
            <a:off x="5577840" y="2267712"/>
            <a:ext cx="1280160" cy="658368"/>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Polygones de tuiles, points et choroplèthes.</a:t>
            </a:r>
            <a:endParaRPr lang="fr-FR" sz="950" dirty="0"/>
          </a:p>
        </p:txBody>
      </p:sp>
      <p:sp>
        <p:nvSpPr>
          <p:cNvPr id="42" name="Shape 34"/>
          <p:cNvSpPr/>
          <p:nvPr/>
        </p:nvSpPr>
        <p:spPr>
          <a:xfrm>
            <a:off x="5577840" y="2944368"/>
            <a:ext cx="1261872" cy="0"/>
          </a:xfrm>
          <a:prstGeom prst="line">
            <a:avLst/>
          </a:prstGeom>
          <a:noFill/>
          <a:ln w="9525">
            <a:solidFill>
              <a:srgbClr val="D5DED9"/>
            </a:solidFill>
            <a:prstDash val="solid"/>
          </a:ln>
        </p:spPr>
      </p:sp>
      <p:sp>
        <p:nvSpPr>
          <p:cNvPr id="43" name="Text 35"/>
          <p:cNvSpPr txBox="1"/>
          <p:nvPr/>
        </p:nvSpPr>
        <p:spPr>
          <a:xfrm>
            <a:off x="5577840" y="2999232"/>
            <a:ext cx="1280160" cy="658368"/>
          </a:xfrm>
          <a:prstGeom prst="rect">
            <a:avLst/>
          </a:prstGeom>
          <a:noFill/>
          <a:ln/>
        </p:spPr>
        <p:txBody>
          <a:bodyPr wrap="square" lIns="0" tIns="0" rIns="0" bIns="0" rtlCol="0" anchor="t"/>
          <a:lstStyle/>
          <a:p>
            <a:pPr marL="0" indent="0">
              <a:buNone/>
            </a:pPr>
            <a:r>
              <a:rPr lang="fr-FR" altLang="en-US" sz="900" i="1" dirty="0">
                <a:solidFill>
                  <a:srgbClr val="C4621D"/>
                </a:solidFill>
                <a:latin typeface="Calibri" pitchFamily="34" charset="0"/>
                <a:ea typeface="Calibri" pitchFamily="34" charset="-122"/>
                <a:cs typeface="Calibri" pitchFamily="34" charset="-120"/>
              </a:rPr>
              <a:t>Labo 2 : carte régionale, zoom sur les tuiles</a:t>
            </a:r>
            <a:endParaRPr lang="fr-FR" sz="900" dirty="0"/>
          </a:p>
        </p:txBody>
      </p:sp>
      <p:sp>
        <p:nvSpPr>
          <p:cNvPr id="44" name="Shape 36"/>
          <p:cNvSpPr/>
          <p:nvPr/>
        </p:nvSpPr>
        <p:spPr>
          <a:xfrm>
            <a:off x="7114032" y="1261872"/>
            <a:ext cx="1517904" cy="2468880"/>
          </a:xfrm>
          <a:prstGeom prst="roundRect">
            <a:avLst>
              <a:gd name="adj" fmla="val 4819"/>
            </a:avLst>
          </a:prstGeom>
          <a:solidFill>
            <a:srgbClr val="E8F5EF"/>
          </a:solidFill>
          <a:ln w="15875">
            <a:solidFill>
              <a:srgbClr val="C4621D"/>
            </a:solidFill>
            <a:prstDash val="solid"/>
          </a:ln>
        </p:spPr>
      </p:sp>
      <p:sp>
        <p:nvSpPr>
          <p:cNvPr id="45" name="Shape 37"/>
          <p:cNvSpPr/>
          <p:nvPr/>
        </p:nvSpPr>
        <p:spPr>
          <a:xfrm>
            <a:off x="7616952" y="1389888"/>
            <a:ext cx="512064" cy="512064"/>
          </a:xfrm>
          <a:prstGeom prst="ellipse">
            <a:avLst/>
          </a:prstGeom>
          <a:solidFill>
            <a:srgbClr val="C4621D">
              <a:alpha val="22000"/>
            </a:srgbClr>
          </a:solidFill>
          <a:ln/>
        </p:spPr>
      </p:sp>
      <p:pic>
        <p:nvPicPr>
          <p:cNvPr id="46" name="Image 5" descr="preencoded.png"/>
          <p:cNvPicPr>
            <a:picLocks noChangeAspect="1"/>
          </p:cNvPicPr>
          <p:nvPr/>
        </p:nvPicPr>
        <p:blipFill>
          <a:blip r:embed="rId8"/>
          <a:stretch>
            <a:fillRect/>
          </a:stretch>
        </p:blipFill>
        <p:spPr>
          <a:xfrm>
            <a:off x="7750089" y="1523025"/>
            <a:ext cx="245791" cy="245791"/>
          </a:xfrm>
          <a:prstGeom prst="rect">
            <a:avLst/>
          </a:prstGeom>
        </p:spPr>
      </p:pic>
      <p:sp>
        <p:nvSpPr>
          <p:cNvPr id="47" name="Text 38"/>
          <p:cNvSpPr txBox="1"/>
          <p:nvPr/>
        </p:nvSpPr>
        <p:spPr>
          <a:xfrm>
            <a:off x="7205472" y="1975104"/>
            <a:ext cx="1335024" cy="256032"/>
          </a:xfrm>
          <a:prstGeom prst="rect">
            <a:avLst/>
          </a:prstGeom>
          <a:noFill/>
          <a:ln/>
        </p:spPr>
        <p:txBody>
          <a:bodyPr wrap="square" lIns="0" tIns="0" rIns="0" bIns="0" rtlCol="0" anchor="t"/>
          <a:lstStyle/>
          <a:p>
            <a:pPr marL="0" indent="0" algn="ctr">
              <a:buNone/>
            </a:pPr>
            <a:r>
              <a:rPr lang="fr-FR" altLang="en-US" sz="1300" b="1" dirty="0">
                <a:solidFill>
                  <a:srgbClr val="231F20"/>
                </a:solidFill>
                <a:latin typeface="Calibri" pitchFamily="34" charset="0"/>
                <a:ea typeface="Calibri" pitchFamily="34" charset="-122"/>
                <a:cs typeface="Calibri" pitchFamily="34" charset="-120"/>
              </a:rPr>
              <a:t>Dashboards</a:t>
            </a:r>
            <a:endParaRPr lang="fr-FR" sz="1300" dirty="0"/>
          </a:p>
        </p:txBody>
      </p:sp>
      <p:sp>
        <p:nvSpPr>
          <p:cNvPr id="48" name="Text 39"/>
          <p:cNvSpPr txBox="1"/>
          <p:nvPr/>
        </p:nvSpPr>
        <p:spPr>
          <a:xfrm>
            <a:off x="7242048" y="2267712"/>
            <a:ext cx="1280160" cy="658368"/>
          </a:xfrm>
          <a:prstGeom prst="rect">
            <a:avLst/>
          </a:prstGeom>
          <a:noFill/>
          <a:ln/>
        </p:spPr>
        <p:txBody>
          <a:bodyPr wrap="square" lIns="0" tIns="0" rIns="0" bIns="0" rtlCol="0" anchor="t"/>
          <a:lstStyle/>
          <a:p>
            <a:pPr marL="0" indent="0">
              <a:buNone/>
            </a:pPr>
            <a:r>
              <a:rPr lang="fr-FR" altLang="en-US" sz="950" dirty="0">
                <a:solidFill>
                  <a:srgbClr val="5E6964"/>
                </a:solidFill>
                <a:latin typeface="Calibri" pitchFamily="34" charset="0"/>
                <a:ea typeface="Calibri" pitchFamily="34" charset="-122"/>
                <a:cs typeface="Calibri" pitchFamily="34" charset="-120"/>
              </a:rPr>
              <a:t>Combiner des panneaux avec filtres communs.</a:t>
            </a:r>
            <a:endParaRPr lang="fr-FR" sz="950" dirty="0"/>
          </a:p>
        </p:txBody>
      </p:sp>
      <p:sp>
        <p:nvSpPr>
          <p:cNvPr id="49" name="Shape 40"/>
          <p:cNvSpPr/>
          <p:nvPr/>
        </p:nvSpPr>
        <p:spPr>
          <a:xfrm>
            <a:off x="7242048" y="2944368"/>
            <a:ext cx="1261872" cy="0"/>
          </a:xfrm>
          <a:prstGeom prst="line">
            <a:avLst/>
          </a:prstGeom>
          <a:noFill/>
          <a:ln w="9525">
            <a:solidFill>
              <a:srgbClr val="D5DED9"/>
            </a:solidFill>
            <a:prstDash val="solid"/>
          </a:ln>
        </p:spPr>
      </p:sp>
      <p:sp>
        <p:nvSpPr>
          <p:cNvPr id="50" name="Text 41"/>
          <p:cNvSpPr txBox="1"/>
          <p:nvPr/>
        </p:nvSpPr>
        <p:spPr>
          <a:xfrm>
            <a:off x="7242048" y="2999232"/>
            <a:ext cx="1280160" cy="658368"/>
          </a:xfrm>
          <a:prstGeom prst="rect">
            <a:avLst/>
          </a:prstGeom>
          <a:noFill/>
          <a:ln/>
        </p:spPr>
        <p:txBody>
          <a:bodyPr wrap="square" lIns="0" tIns="0" rIns="0" bIns="0" rtlCol="0" anchor="t"/>
          <a:lstStyle/>
          <a:p>
            <a:pPr marL="0" indent="0">
              <a:buNone/>
            </a:pPr>
            <a:r>
              <a:rPr lang="fr-FR" altLang="en-US" sz="900" i="1" dirty="0">
                <a:solidFill>
                  <a:srgbClr val="C4621D"/>
                </a:solidFill>
                <a:latin typeface="Calibri" pitchFamily="34" charset="0"/>
                <a:ea typeface="Calibri" pitchFamily="34" charset="-122"/>
                <a:cs typeface="Calibri" pitchFamily="34" charset="-120"/>
              </a:rPr>
              <a:t>Labo 2 : l’explorateur de connectivité</a:t>
            </a:r>
            <a:endParaRPr lang="fr-FR" sz="900" dirty="0"/>
          </a:p>
        </p:txBody>
      </p:sp>
      <p:sp>
        <p:nvSpPr>
          <p:cNvPr id="51" name="Text 42"/>
          <p:cNvSpPr txBox="1"/>
          <p:nvPr/>
        </p:nvSpPr>
        <p:spPr>
          <a:xfrm>
            <a:off x="457200" y="3840480"/>
            <a:ext cx="82296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KQL — LE LANGAGE DE LA BARRE DE FILTRES DANS DISCOVER ET DASHBOARDS</a:t>
            </a:r>
            <a:endParaRPr lang="fr-FR" sz="900" dirty="0"/>
          </a:p>
        </p:txBody>
      </p:sp>
      <p:sp>
        <p:nvSpPr>
          <p:cNvPr id="52" name="Shape 43"/>
          <p:cNvSpPr/>
          <p:nvPr/>
        </p:nvSpPr>
        <p:spPr>
          <a:xfrm>
            <a:off x="457200" y="4078224"/>
            <a:ext cx="8229600" cy="475488"/>
          </a:xfrm>
          <a:prstGeom prst="roundRect">
            <a:avLst>
              <a:gd name="adj" fmla="val 11538"/>
            </a:avLst>
          </a:prstGeom>
          <a:solidFill>
            <a:srgbClr val="FBFCFB"/>
          </a:solidFill>
          <a:ln w="9525">
            <a:solidFill>
              <a:srgbClr val="D5DED9"/>
            </a:solidFill>
            <a:prstDash val="solid"/>
          </a:ln>
        </p:spPr>
      </p:sp>
      <p:sp>
        <p:nvSpPr>
          <p:cNvPr id="53" name="Text 44"/>
          <p:cNvSpPr txBox="1"/>
          <p:nvPr/>
        </p:nvSpPr>
        <p:spPr>
          <a:xfrm>
            <a:off x="585216" y="4169664"/>
            <a:ext cx="7973568" cy="292608"/>
          </a:xfrm>
          <a:prstGeom prst="rect">
            <a:avLst/>
          </a:prstGeom>
          <a:noFill/>
          <a:ln/>
        </p:spPr>
        <p:txBody>
          <a:bodyPr wrap="square" lIns="0" tIns="0" rIns="0" bIns="0" rtlCol="0" anchor="t"/>
          <a:lstStyle/>
          <a:p>
            <a:pPr marL="0" indent="0">
              <a:buNone/>
            </a:pPr>
            <a:r>
              <a:rPr lang="fr-FR" altLang="en-US" sz="1050" dirty="0">
                <a:solidFill>
                  <a:srgbClr val="231F20"/>
                </a:solidFill>
                <a:latin typeface="Courier New" pitchFamily="34" charset="0"/>
                <a:ea typeface="Courier New" pitchFamily="34" charset="-122"/>
                <a:cs typeface="Courier New" pitchFamily="34" charset="-120"/>
              </a:rPr>
              <a:t>service_type : "mobile" and tests &gt;= 5 and admin1 : "Kigali City"</a:t>
            </a:r>
            <a:endParaRPr lang="fr-FR" sz="10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Labo 2 : construire un explorateur de connectivité</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27</a:t>
            </a:r>
            <a:endParaRPr lang="fr-FR" sz="850" dirty="0"/>
          </a:p>
        </p:txBody>
      </p:sp>
      <p:sp>
        <p:nvSpPr>
          <p:cNvPr id="16" name="Shape 12"/>
          <p:cNvSpPr/>
          <p:nvPr/>
        </p:nvSpPr>
        <p:spPr>
          <a:xfrm>
            <a:off x="1097280" y="1691640"/>
            <a:ext cx="6949440" cy="0"/>
          </a:xfrm>
          <a:prstGeom prst="line">
            <a:avLst/>
          </a:prstGeom>
          <a:noFill/>
          <a:ln w="25400">
            <a:solidFill>
              <a:srgbClr val="D5DED9"/>
            </a:solidFill>
            <a:prstDash val="solid"/>
          </a:ln>
        </p:spPr>
      </p:sp>
      <p:sp>
        <p:nvSpPr>
          <p:cNvPr id="17" name="Shape 13"/>
          <p:cNvSpPr/>
          <p:nvPr/>
        </p:nvSpPr>
        <p:spPr>
          <a:xfrm>
            <a:off x="822960" y="1417320"/>
            <a:ext cx="548640" cy="548640"/>
          </a:xfrm>
          <a:prstGeom prst="ellipse">
            <a:avLst/>
          </a:prstGeom>
          <a:solidFill>
            <a:srgbClr val="C4621D"/>
          </a:solidFill>
          <a:ln w="25400">
            <a:solidFill>
              <a:srgbClr val="FFFFFF"/>
            </a:solidFill>
            <a:prstDash val="solid"/>
          </a:ln>
        </p:spPr>
      </p:sp>
      <p:sp>
        <p:nvSpPr>
          <p:cNvPr id="18" name="Text 14"/>
          <p:cNvSpPr txBox="1"/>
          <p:nvPr/>
        </p:nvSpPr>
        <p:spPr>
          <a:xfrm>
            <a:off x="822960"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19" name="Text 15"/>
          <p:cNvSpPr txBox="1"/>
          <p:nvPr/>
        </p:nvSpPr>
        <p:spPr>
          <a:xfrm>
            <a:off x="457200"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Data view</a:t>
            </a:r>
            <a:endParaRPr lang="fr-FR" sz="1200" dirty="0"/>
          </a:p>
        </p:txBody>
      </p:sp>
      <p:sp>
        <p:nvSpPr>
          <p:cNvPr id="20" name="Text 16"/>
          <p:cNvSpPr txBox="1"/>
          <p:nvPr/>
        </p:nvSpPr>
        <p:spPr>
          <a:xfrm>
            <a:off x="475488"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ookla-tiles, champ temporel quarter_start</a:t>
            </a:r>
            <a:endParaRPr lang="fr-FR" sz="950" dirty="0"/>
          </a:p>
        </p:txBody>
      </p:sp>
      <p:sp>
        <p:nvSpPr>
          <p:cNvPr id="21" name="Shape 17"/>
          <p:cNvSpPr/>
          <p:nvPr/>
        </p:nvSpPr>
        <p:spPr>
          <a:xfrm>
            <a:off x="77724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777240"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5 min</a:t>
            </a:r>
            <a:endParaRPr lang="fr-FR" sz="850" dirty="0"/>
          </a:p>
        </p:txBody>
      </p:sp>
      <p:sp>
        <p:nvSpPr>
          <p:cNvPr id="23" name="Shape 19"/>
          <p:cNvSpPr/>
          <p:nvPr/>
        </p:nvSpPr>
        <p:spPr>
          <a:xfrm>
            <a:off x="2212848" y="1417320"/>
            <a:ext cx="548640" cy="548640"/>
          </a:xfrm>
          <a:prstGeom prst="ellipse">
            <a:avLst/>
          </a:prstGeom>
          <a:solidFill>
            <a:srgbClr val="C4621D"/>
          </a:solidFill>
          <a:ln w="25400">
            <a:solidFill>
              <a:srgbClr val="FFFFFF"/>
            </a:solidFill>
            <a:prstDash val="solid"/>
          </a:ln>
        </p:spPr>
      </p:sp>
      <p:sp>
        <p:nvSpPr>
          <p:cNvPr id="24" name="Text 20"/>
          <p:cNvSpPr txBox="1"/>
          <p:nvPr/>
        </p:nvSpPr>
        <p:spPr>
          <a:xfrm>
            <a:off x="2212848"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25" name="Text 21"/>
          <p:cNvSpPr txBox="1"/>
          <p:nvPr/>
        </p:nvSpPr>
        <p:spPr>
          <a:xfrm>
            <a:off x="1847088"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Discover</a:t>
            </a:r>
            <a:endParaRPr lang="fr-FR" sz="1200" dirty="0"/>
          </a:p>
        </p:txBody>
      </p:sp>
      <p:sp>
        <p:nvSpPr>
          <p:cNvPr id="26" name="Text 22"/>
          <p:cNvSpPr txBox="1"/>
          <p:nvPr/>
        </p:nvSpPr>
        <p:spPr>
          <a:xfrm>
            <a:off x="1865376"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Vérifier les champs, écarter les tuiles peu testées</a:t>
            </a:r>
            <a:endParaRPr lang="fr-FR" sz="950" dirty="0"/>
          </a:p>
        </p:txBody>
      </p:sp>
      <p:sp>
        <p:nvSpPr>
          <p:cNvPr id="27" name="Shape 23"/>
          <p:cNvSpPr/>
          <p:nvPr/>
        </p:nvSpPr>
        <p:spPr>
          <a:xfrm>
            <a:off x="2167128"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8" name="Text 24"/>
          <p:cNvSpPr txBox="1"/>
          <p:nvPr/>
        </p:nvSpPr>
        <p:spPr>
          <a:xfrm>
            <a:off x="2167128"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5 min</a:t>
            </a:r>
            <a:endParaRPr lang="fr-FR" sz="850" dirty="0"/>
          </a:p>
        </p:txBody>
      </p:sp>
      <p:sp>
        <p:nvSpPr>
          <p:cNvPr id="29" name="Shape 25"/>
          <p:cNvSpPr/>
          <p:nvPr/>
        </p:nvSpPr>
        <p:spPr>
          <a:xfrm>
            <a:off x="3602736" y="1417320"/>
            <a:ext cx="548640" cy="548640"/>
          </a:xfrm>
          <a:prstGeom prst="ellipse">
            <a:avLst/>
          </a:prstGeom>
          <a:solidFill>
            <a:srgbClr val="C4621D"/>
          </a:solidFill>
          <a:ln w="25400">
            <a:solidFill>
              <a:srgbClr val="FFFFFF"/>
            </a:solidFill>
            <a:prstDash val="solid"/>
          </a:ln>
        </p:spPr>
      </p:sp>
      <p:sp>
        <p:nvSpPr>
          <p:cNvPr id="30" name="Text 26"/>
          <p:cNvSpPr txBox="1"/>
          <p:nvPr/>
        </p:nvSpPr>
        <p:spPr>
          <a:xfrm>
            <a:off x="3602736"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31" name="Text 27"/>
          <p:cNvSpPr txBox="1"/>
          <p:nvPr/>
        </p:nvSpPr>
        <p:spPr>
          <a:xfrm>
            <a:off x="3236976"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Carte</a:t>
            </a:r>
            <a:endParaRPr lang="fr-FR" sz="1200" dirty="0"/>
          </a:p>
        </p:txBody>
      </p:sp>
      <p:sp>
        <p:nvSpPr>
          <p:cNvPr id="32" name="Text 28"/>
          <p:cNvSpPr txBox="1"/>
          <p:nvPr/>
        </p:nvSpPr>
        <p:spPr>
          <a:xfrm>
            <a:off x="3255264"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Choroplèthe admin1 par débit pondéré</a:t>
            </a:r>
            <a:endParaRPr lang="fr-FR" sz="950" dirty="0"/>
          </a:p>
        </p:txBody>
      </p:sp>
      <p:sp>
        <p:nvSpPr>
          <p:cNvPr id="33" name="Shape 29"/>
          <p:cNvSpPr/>
          <p:nvPr/>
        </p:nvSpPr>
        <p:spPr>
          <a:xfrm>
            <a:off x="3557016"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34" name="Text 30"/>
          <p:cNvSpPr txBox="1"/>
          <p:nvPr/>
        </p:nvSpPr>
        <p:spPr>
          <a:xfrm>
            <a:off x="3557016"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15 min</a:t>
            </a:r>
            <a:endParaRPr lang="fr-FR" sz="850" dirty="0"/>
          </a:p>
        </p:txBody>
      </p:sp>
      <p:sp>
        <p:nvSpPr>
          <p:cNvPr id="35" name="Shape 31"/>
          <p:cNvSpPr/>
          <p:nvPr/>
        </p:nvSpPr>
        <p:spPr>
          <a:xfrm>
            <a:off x="4992624" y="1417320"/>
            <a:ext cx="548640" cy="548640"/>
          </a:xfrm>
          <a:prstGeom prst="ellipse">
            <a:avLst/>
          </a:prstGeom>
          <a:solidFill>
            <a:srgbClr val="C4621D"/>
          </a:solidFill>
          <a:ln w="25400">
            <a:solidFill>
              <a:srgbClr val="FFFFFF"/>
            </a:solidFill>
            <a:prstDash val="solid"/>
          </a:ln>
        </p:spPr>
      </p:sp>
      <p:sp>
        <p:nvSpPr>
          <p:cNvPr id="36" name="Text 32"/>
          <p:cNvSpPr txBox="1"/>
          <p:nvPr/>
        </p:nvSpPr>
        <p:spPr>
          <a:xfrm>
            <a:off x="4992624"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FFFFFF"/>
                </a:solidFill>
                <a:latin typeface="Calibri" pitchFamily="34" charset="0"/>
                <a:ea typeface="Calibri" pitchFamily="34" charset="-122"/>
                <a:cs typeface="Calibri" pitchFamily="34" charset="-120"/>
              </a:rPr>
              <a:t>4</a:t>
            </a:r>
            <a:endParaRPr lang="fr-FR" sz="1800" dirty="0"/>
          </a:p>
        </p:txBody>
      </p:sp>
      <p:sp>
        <p:nvSpPr>
          <p:cNvPr id="37" name="Text 33"/>
          <p:cNvSpPr txBox="1"/>
          <p:nvPr/>
        </p:nvSpPr>
        <p:spPr>
          <a:xfrm>
            <a:off x="4626864"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Lens</a:t>
            </a:r>
            <a:endParaRPr lang="fr-FR" sz="1200" dirty="0"/>
          </a:p>
        </p:txBody>
      </p:sp>
      <p:sp>
        <p:nvSpPr>
          <p:cNvPr id="38" name="Text 34"/>
          <p:cNvSpPr txBox="1"/>
          <p:nvPr/>
        </p:nvSpPr>
        <p:spPr>
          <a:xfrm>
            <a:off x="4645152"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Débit par trimestre, fixe vs mobile</a:t>
            </a:r>
            <a:endParaRPr lang="fr-FR" sz="950" dirty="0"/>
          </a:p>
        </p:txBody>
      </p:sp>
      <p:sp>
        <p:nvSpPr>
          <p:cNvPr id="39" name="Shape 35"/>
          <p:cNvSpPr/>
          <p:nvPr/>
        </p:nvSpPr>
        <p:spPr>
          <a:xfrm>
            <a:off x="4946904"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0" name="Text 36"/>
          <p:cNvSpPr txBox="1"/>
          <p:nvPr/>
        </p:nvSpPr>
        <p:spPr>
          <a:xfrm>
            <a:off x="4946904"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10 min</a:t>
            </a:r>
            <a:endParaRPr lang="fr-FR" sz="850" dirty="0"/>
          </a:p>
        </p:txBody>
      </p:sp>
      <p:sp>
        <p:nvSpPr>
          <p:cNvPr id="41" name="Shape 37"/>
          <p:cNvSpPr/>
          <p:nvPr/>
        </p:nvSpPr>
        <p:spPr>
          <a:xfrm>
            <a:off x="6382512" y="1417320"/>
            <a:ext cx="548640" cy="548640"/>
          </a:xfrm>
          <a:prstGeom prst="ellipse">
            <a:avLst/>
          </a:prstGeom>
          <a:solidFill>
            <a:srgbClr val="C4621D"/>
          </a:solidFill>
          <a:ln w="25400">
            <a:solidFill>
              <a:srgbClr val="FFFFFF"/>
            </a:solidFill>
            <a:prstDash val="solid"/>
          </a:ln>
        </p:spPr>
      </p:sp>
      <p:sp>
        <p:nvSpPr>
          <p:cNvPr id="42" name="Text 38"/>
          <p:cNvSpPr txBox="1"/>
          <p:nvPr/>
        </p:nvSpPr>
        <p:spPr>
          <a:xfrm>
            <a:off x="6382512"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FFFFFF"/>
                </a:solidFill>
                <a:latin typeface="Calibri" pitchFamily="34" charset="0"/>
                <a:ea typeface="Calibri" pitchFamily="34" charset="-122"/>
                <a:cs typeface="Calibri" pitchFamily="34" charset="-120"/>
              </a:rPr>
              <a:t>5</a:t>
            </a:r>
            <a:endParaRPr lang="fr-FR" sz="1800" dirty="0"/>
          </a:p>
        </p:txBody>
      </p:sp>
      <p:sp>
        <p:nvSpPr>
          <p:cNvPr id="43" name="Text 39"/>
          <p:cNvSpPr txBox="1"/>
          <p:nvPr/>
        </p:nvSpPr>
        <p:spPr>
          <a:xfrm>
            <a:off x="6016752"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Tableau de bord</a:t>
            </a:r>
            <a:endParaRPr lang="fr-FR" sz="1200" dirty="0"/>
          </a:p>
        </p:txBody>
      </p:sp>
      <p:sp>
        <p:nvSpPr>
          <p:cNvPr id="44" name="Text 40"/>
          <p:cNvSpPr txBox="1"/>
          <p:nvPr/>
        </p:nvSpPr>
        <p:spPr>
          <a:xfrm>
            <a:off x="6035040"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Contrôles région et trimestre</a:t>
            </a:r>
            <a:endParaRPr lang="fr-FR" sz="950" dirty="0"/>
          </a:p>
        </p:txBody>
      </p:sp>
      <p:sp>
        <p:nvSpPr>
          <p:cNvPr id="45" name="Shape 41"/>
          <p:cNvSpPr/>
          <p:nvPr/>
        </p:nvSpPr>
        <p:spPr>
          <a:xfrm>
            <a:off x="6336792"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6" name="Text 42"/>
          <p:cNvSpPr txBox="1"/>
          <p:nvPr/>
        </p:nvSpPr>
        <p:spPr>
          <a:xfrm>
            <a:off x="6336792"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10 min</a:t>
            </a:r>
            <a:endParaRPr lang="fr-FR" sz="850" dirty="0"/>
          </a:p>
        </p:txBody>
      </p:sp>
      <p:sp>
        <p:nvSpPr>
          <p:cNvPr id="47" name="Shape 43"/>
          <p:cNvSpPr/>
          <p:nvPr/>
        </p:nvSpPr>
        <p:spPr>
          <a:xfrm>
            <a:off x="7772400" y="1417320"/>
            <a:ext cx="548640" cy="548640"/>
          </a:xfrm>
          <a:prstGeom prst="ellipse">
            <a:avLst/>
          </a:prstGeom>
          <a:solidFill>
            <a:srgbClr val="F5C242"/>
          </a:solidFill>
          <a:ln w="25400">
            <a:solidFill>
              <a:srgbClr val="FFFFFF"/>
            </a:solidFill>
            <a:prstDash val="solid"/>
          </a:ln>
        </p:spPr>
      </p:sp>
      <p:sp>
        <p:nvSpPr>
          <p:cNvPr id="48" name="Text 44"/>
          <p:cNvSpPr txBox="1"/>
          <p:nvPr/>
        </p:nvSpPr>
        <p:spPr>
          <a:xfrm>
            <a:off x="7772400" y="1417320"/>
            <a:ext cx="548640" cy="548640"/>
          </a:xfrm>
          <a:prstGeom prst="rect">
            <a:avLst/>
          </a:prstGeom>
          <a:noFill/>
          <a:ln/>
        </p:spPr>
        <p:txBody>
          <a:bodyPr wrap="square" lIns="0" tIns="0" rIns="0" bIns="0" rtlCol="0" anchor="ctr"/>
          <a:lstStyle/>
          <a:p>
            <a:pPr marL="0" indent="0" algn="ctr">
              <a:buNone/>
            </a:pPr>
            <a:r>
              <a:rPr lang="fr-FR" altLang="en-US" sz="1800" b="1" dirty="0">
                <a:solidFill>
                  <a:srgbClr val="231F20"/>
                </a:solidFill>
                <a:latin typeface="Calibri" pitchFamily="34" charset="0"/>
                <a:ea typeface="Calibri" pitchFamily="34" charset="-122"/>
                <a:cs typeface="Calibri" pitchFamily="34" charset="-120"/>
              </a:rPr>
              <a:t>6</a:t>
            </a:r>
            <a:endParaRPr lang="fr-FR" sz="1800" dirty="0"/>
          </a:p>
        </p:txBody>
      </p:sp>
      <p:sp>
        <p:nvSpPr>
          <p:cNvPr id="49" name="Text 45"/>
          <p:cNvSpPr txBox="1"/>
          <p:nvPr/>
        </p:nvSpPr>
        <p:spPr>
          <a:xfrm>
            <a:off x="7406640" y="2103120"/>
            <a:ext cx="1280160" cy="411480"/>
          </a:xfrm>
          <a:prstGeom prst="rect">
            <a:avLst/>
          </a:prstGeom>
          <a:noFill/>
          <a:ln/>
        </p:spPr>
        <p:txBody>
          <a:bodyPr wrap="square" lIns="0" tIns="0" rIns="0" bIns="0" rtlCol="0" anchor="t"/>
          <a:lstStyle/>
          <a:p>
            <a:pPr marL="0" indent="0" algn="ctr">
              <a:buNone/>
            </a:pPr>
            <a:r>
              <a:rPr lang="fr-FR" altLang="en-US" sz="1200" b="1" dirty="0">
                <a:solidFill>
                  <a:srgbClr val="231F20"/>
                </a:solidFill>
                <a:latin typeface="Calibri" pitchFamily="34" charset="0"/>
                <a:ea typeface="Calibri" pitchFamily="34" charset="-122"/>
                <a:cs typeface="Calibri" pitchFamily="34" charset="-120"/>
              </a:rPr>
              <a:t>Comparer et publier</a:t>
            </a:r>
            <a:endParaRPr lang="fr-FR" sz="1200" dirty="0"/>
          </a:p>
        </p:txBody>
      </p:sp>
      <p:sp>
        <p:nvSpPr>
          <p:cNvPr id="50" name="Text 46"/>
          <p:cNvSpPr txBox="1"/>
          <p:nvPr/>
        </p:nvSpPr>
        <p:spPr>
          <a:xfrm>
            <a:off x="7424928" y="2542032"/>
            <a:ext cx="1243584" cy="685800"/>
          </a:xfrm>
          <a:prstGeom prst="rect">
            <a:avLst/>
          </a:prstGeom>
          <a:noFill/>
          <a:ln/>
        </p:spPr>
        <p:txBody>
          <a:bodyPr wrap="square" lIns="0" tIns="0" rIns="0" bIns="0" rtlCol="0" anchor="t"/>
          <a:lstStyle/>
          <a:p>
            <a:pPr marL="0" indent="0" algn="ctr">
              <a:buNone/>
            </a:pPr>
            <a:r>
              <a:rPr lang="fr-FR" altLang="en-US" sz="950" dirty="0">
                <a:solidFill>
                  <a:srgbClr val="5E6964"/>
                </a:solidFill>
                <a:latin typeface="Calibri" pitchFamily="34" charset="0"/>
                <a:ea typeface="Calibri" pitchFamily="34" charset="-122"/>
                <a:cs typeface="Calibri" pitchFamily="34" charset="-120"/>
              </a:rPr>
              <a:t>Test face à pandas ; commit sur GitHub</a:t>
            </a:r>
            <a:endParaRPr lang="fr-FR" sz="950" dirty="0"/>
          </a:p>
        </p:txBody>
      </p:sp>
      <p:sp>
        <p:nvSpPr>
          <p:cNvPr id="51" name="Shape 47"/>
          <p:cNvSpPr/>
          <p:nvPr/>
        </p:nvSpPr>
        <p:spPr>
          <a:xfrm>
            <a:off x="772668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52" name="Text 48"/>
          <p:cNvSpPr txBox="1"/>
          <p:nvPr/>
        </p:nvSpPr>
        <p:spPr>
          <a:xfrm>
            <a:off x="7726680" y="3246120"/>
            <a:ext cx="640080" cy="219456"/>
          </a:xfrm>
          <a:prstGeom prst="rect">
            <a:avLst/>
          </a:prstGeom>
          <a:noFill/>
          <a:ln/>
        </p:spPr>
        <p:txBody>
          <a:bodyPr wrap="square" lIns="0" tIns="0" rIns="0" bIns="0" rtlCol="0" anchor="ctr"/>
          <a:lstStyle/>
          <a:p>
            <a:pPr marL="0" indent="0" algn="ctr">
              <a:buNone/>
            </a:pPr>
            <a:r>
              <a:rPr lang="fr-FR" altLang="en-US" sz="850" b="1" dirty="0">
                <a:solidFill>
                  <a:srgbClr val="231F20"/>
                </a:solidFill>
                <a:latin typeface="Calibri" pitchFamily="34" charset="0"/>
                <a:ea typeface="Calibri" pitchFamily="34" charset="-122"/>
                <a:cs typeface="Calibri" pitchFamily="34" charset="-120"/>
              </a:rPr>
              <a:t>15 min</a:t>
            </a:r>
            <a:endParaRPr lang="fr-FR" sz="850" dirty="0"/>
          </a:p>
        </p:txBody>
      </p:sp>
      <p:sp>
        <p:nvSpPr>
          <p:cNvPr id="53" name="Shape 49"/>
          <p:cNvSpPr/>
          <p:nvPr/>
        </p:nvSpPr>
        <p:spPr>
          <a:xfrm>
            <a:off x="457200" y="3675888"/>
            <a:ext cx="8229600" cy="896112"/>
          </a:xfrm>
          <a:prstGeom prst="roundRect">
            <a:avLst>
              <a:gd name="adj" fmla="val 8163"/>
            </a:avLst>
          </a:prstGeom>
          <a:solidFill>
            <a:srgbClr val="E8F5EF"/>
          </a:solidFill>
          <a:ln w="15875">
            <a:solidFill>
              <a:srgbClr val="C4621D"/>
            </a:solidFill>
            <a:prstDash val="solid"/>
          </a:ln>
        </p:spPr>
      </p:sp>
      <p:sp>
        <p:nvSpPr>
          <p:cNvPr id="54" name="Shape 50"/>
          <p:cNvSpPr/>
          <p:nvPr/>
        </p:nvSpPr>
        <p:spPr>
          <a:xfrm>
            <a:off x="621792" y="3877056"/>
            <a:ext cx="493776" cy="493776"/>
          </a:xfrm>
          <a:prstGeom prst="ellipse">
            <a:avLst/>
          </a:prstGeom>
          <a:solidFill>
            <a:srgbClr val="C4621D">
              <a:alpha val="22000"/>
            </a:srgbClr>
          </a:solidFill>
          <a:ln/>
        </p:spPr>
      </p:sp>
      <p:pic>
        <p:nvPicPr>
          <p:cNvPr id="55" name="Image 1" descr="preencoded.png"/>
          <p:cNvPicPr>
            <a:picLocks noChangeAspect="1"/>
          </p:cNvPicPr>
          <p:nvPr/>
        </p:nvPicPr>
        <p:blipFill>
          <a:blip r:embed="rId4"/>
          <a:stretch>
            <a:fillRect/>
          </a:stretch>
        </p:blipFill>
        <p:spPr>
          <a:xfrm>
            <a:off x="750174" y="4005438"/>
            <a:ext cx="237012" cy="237012"/>
          </a:xfrm>
          <a:prstGeom prst="rect">
            <a:avLst/>
          </a:prstGeom>
        </p:spPr>
      </p:pic>
      <p:sp>
        <p:nvSpPr>
          <p:cNvPr id="56" name="Text 51"/>
          <p:cNvSpPr txBox="1"/>
          <p:nvPr/>
        </p:nvSpPr>
        <p:spPr>
          <a:xfrm>
            <a:off x="1280160" y="3712464"/>
            <a:ext cx="7269480" cy="822960"/>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Livrable : </a:t>
            </a:r>
            <a:r>
              <a:rPr lang="fr-FR" altLang="en-US" sz="1100" i="1" dirty="0">
                <a:solidFill>
                  <a:srgbClr val="231F20"/>
                </a:solidFill>
                <a:latin typeface="Calibri" pitchFamily="34" charset="0"/>
                <a:ea typeface="Calibri" pitchFamily="34" charset="-122"/>
                <a:cs typeface="Calibri" pitchFamily="34" charset="-120"/>
              </a:rPr>
              <a:t>un tableau de bord qui répond à « Où la connectivité mobile est-elle la plus faible, et s’améliore-t-elle ? » </a:t>
            </a:r>
            <a:r>
              <a:rPr lang="fr-FR" altLang="en-US" sz="1100" dirty="0">
                <a:solidFill>
                  <a:srgbClr val="231F20"/>
                </a:solidFill>
                <a:latin typeface="Calibri" pitchFamily="34" charset="0"/>
                <a:ea typeface="Calibri" pitchFamily="34" charset="-122"/>
                <a:cs typeface="Calibri" pitchFamily="34" charset="-120"/>
              </a:rPr>
              <a:t>— avec une capture d’écran et l’export des objets sauvegardés (NDJSON) versionnés dans le dépôt de l’équipe.</a:t>
            </a:r>
            <a:endParaRPr lang="fr-FR" sz="11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pandas ou Elasticsearch ? Décidez sur vos propres mesures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28</a:t>
            </a:r>
            <a:endParaRPr lang="fr-FR" sz="850" dirty="0"/>
          </a:p>
        </p:txBody>
      </p:sp>
      <p:sp>
        <p:nvSpPr>
          <p:cNvPr id="16" name="Shape 12"/>
          <p:cNvSpPr/>
          <p:nvPr/>
        </p:nvSpPr>
        <p:spPr>
          <a:xfrm>
            <a:off x="457200" y="1261872"/>
            <a:ext cx="4023360" cy="1783080"/>
          </a:xfrm>
          <a:prstGeom prst="roundRect">
            <a:avLst>
              <a:gd name="adj" fmla="val 4103"/>
            </a:avLst>
          </a:prstGeom>
          <a:solidFill>
            <a:srgbClr val="F4F7F5"/>
          </a:solidFill>
          <a:ln w="9525">
            <a:solidFill>
              <a:srgbClr val="D5DED9"/>
            </a:solidFill>
            <a:prstDash val="solid"/>
          </a:ln>
        </p:spPr>
      </p:sp>
      <p:sp>
        <p:nvSpPr>
          <p:cNvPr id="17" name="Shape 13"/>
          <p:cNvSpPr/>
          <p:nvPr/>
        </p:nvSpPr>
        <p:spPr>
          <a:xfrm>
            <a:off x="603504" y="1353312"/>
            <a:ext cx="402336" cy="402336"/>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708111" y="1457919"/>
            <a:ext cx="193121" cy="193121"/>
          </a:xfrm>
          <a:prstGeom prst="rect">
            <a:avLst/>
          </a:prstGeom>
        </p:spPr>
      </p:pic>
      <p:sp>
        <p:nvSpPr>
          <p:cNvPr id="19" name="Text 14"/>
          <p:cNvSpPr txBox="1"/>
          <p:nvPr/>
        </p:nvSpPr>
        <p:spPr>
          <a:xfrm>
            <a:off x="1115568" y="1353312"/>
            <a:ext cx="3246120" cy="402336"/>
          </a:xfrm>
          <a:prstGeom prst="rect">
            <a:avLst/>
          </a:prstGeom>
          <a:noFill/>
          <a:ln/>
        </p:spPr>
        <p:txBody>
          <a:bodyPr wrap="square" lIns="0" tIns="0" rIns="0" bIns="0" rtlCol="0" anchor="ctr"/>
          <a:lstStyle/>
          <a:p>
            <a:pPr marL="0" indent="0">
              <a:buNone/>
            </a:pPr>
            <a:r>
              <a:rPr lang="fr-FR" altLang="en-US" sz="1300" b="1" dirty="0">
                <a:solidFill>
                  <a:srgbClr val="231F20"/>
                </a:solidFill>
                <a:latin typeface="Calibri" pitchFamily="34" charset="0"/>
                <a:ea typeface="Calibri" pitchFamily="34" charset="-122"/>
                <a:cs typeface="Calibri" pitchFamily="34" charset="-120"/>
              </a:rPr>
              <a:t>Restez sur pandas / DuckDB si…</a:t>
            </a:r>
            <a:endParaRPr lang="fr-FR" sz="1300" dirty="0"/>
          </a:p>
        </p:txBody>
      </p:sp>
      <p:sp>
        <p:nvSpPr>
          <p:cNvPr id="20" name="Text 15"/>
          <p:cNvSpPr txBox="1"/>
          <p:nvPr/>
        </p:nvSpPr>
        <p:spPr>
          <a:xfrm>
            <a:off x="64008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Les données tiennent aisément en mémoire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Un analyste, une analyse ponctuelle ou périodique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 script reproductible est le produit</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Aucune compétence serveur pour maintenir un cluster</a:t>
            </a:r>
            <a:endParaRPr lang="fr-FR" sz="1050" dirty="0"/>
          </a:p>
        </p:txBody>
      </p:sp>
      <p:sp>
        <p:nvSpPr>
          <p:cNvPr id="21" name="Shape 16"/>
          <p:cNvSpPr/>
          <p:nvPr/>
        </p:nvSpPr>
        <p:spPr>
          <a:xfrm>
            <a:off x="4663440" y="1261872"/>
            <a:ext cx="4023360" cy="1783080"/>
          </a:xfrm>
          <a:prstGeom prst="roundRect">
            <a:avLst>
              <a:gd name="adj" fmla="val 4103"/>
            </a:avLst>
          </a:prstGeom>
          <a:solidFill>
            <a:srgbClr val="E8F5EF"/>
          </a:solidFill>
          <a:ln w="15875">
            <a:solidFill>
              <a:srgbClr val="C4621D"/>
            </a:solidFill>
            <a:prstDash val="solid"/>
          </a:ln>
        </p:spPr>
      </p:sp>
      <p:sp>
        <p:nvSpPr>
          <p:cNvPr id="22" name="Shape 17"/>
          <p:cNvSpPr/>
          <p:nvPr/>
        </p:nvSpPr>
        <p:spPr>
          <a:xfrm>
            <a:off x="4809744" y="1353312"/>
            <a:ext cx="402336" cy="402336"/>
          </a:xfrm>
          <a:prstGeom prst="ellipse">
            <a:avLst/>
          </a:prstGeom>
          <a:solidFill>
            <a:srgbClr val="C4621D">
              <a:alpha val="22000"/>
            </a:srgbClr>
          </a:solidFill>
          <a:ln/>
        </p:spPr>
      </p:sp>
      <p:pic>
        <p:nvPicPr>
          <p:cNvPr id="23" name="Image 2" descr="preencoded.png"/>
          <p:cNvPicPr>
            <a:picLocks noChangeAspect="1"/>
          </p:cNvPicPr>
          <p:nvPr/>
        </p:nvPicPr>
        <p:blipFill>
          <a:blip r:embed="rId5"/>
          <a:stretch>
            <a:fillRect/>
          </a:stretch>
        </p:blipFill>
        <p:spPr>
          <a:xfrm>
            <a:off x="4914351" y="1457919"/>
            <a:ext cx="193121" cy="193121"/>
          </a:xfrm>
          <a:prstGeom prst="rect">
            <a:avLst/>
          </a:prstGeom>
        </p:spPr>
      </p:pic>
      <p:sp>
        <p:nvSpPr>
          <p:cNvPr id="24" name="Text 18"/>
          <p:cNvSpPr txBox="1"/>
          <p:nvPr/>
        </p:nvSpPr>
        <p:spPr>
          <a:xfrm>
            <a:off x="5321808" y="1353312"/>
            <a:ext cx="3246120" cy="402336"/>
          </a:xfrm>
          <a:prstGeom prst="rect">
            <a:avLst/>
          </a:prstGeom>
          <a:noFill/>
          <a:ln/>
        </p:spPr>
        <p:txBody>
          <a:bodyPr wrap="square" lIns="0" tIns="0" rIns="0" bIns="0" rtlCol="0" anchor="ctr"/>
          <a:lstStyle/>
          <a:p>
            <a:pPr marL="0" indent="0">
              <a:buNone/>
            </a:pPr>
            <a:r>
              <a:rPr lang="fr-FR" altLang="en-US" sz="1300" b="1" dirty="0">
                <a:solidFill>
                  <a:srgbClr val="231F20"/>
                </a:solidFill>
                <a:latin typeface="Calibri" pitchFamily="34" charset="0"/>
                <a:ea typeface="Calibri" pitchFamily="34" charset="-122"/>
                <a:cs typeface="Calibri" pitchFamily="34" charset="-120"/>
              </a:rPr>
              <a:t>Passez à Elasticsearch si…</a:t>
            </a:r>
            <a:endParaRPr lang="fr-FR" sz="1300" dirty="0"/>
          </a:p>
        </p:txBody>
      </p:sp>
      <p:sp>
        <p:nvSpPr>
          <p:cNvPr id="25" name="Text 19"/>
          <p:cNvSpPr txBox="1"/>
          <p:nvPr/>
        </p:nvSpPr>
        <p:spPr>
          <a:xfrm>
            <a:off x="484632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Les données dépassent une seule machine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Beaucoup de collègues veulent des réponses interactives</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Requêtes filtrées et spatiales répétées</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De nouvelles données arrivent en continu</a:t>
            </a:r>
            <a:endParaRPr lang="fr-FR" sz="1050" dirty="0"/>
          </a:p>
        </p:txBody>
      </p:sp>
      <p:sp>
        <p:nvSpPr>
          <p:cNvPr id="26" name="Text 20"/>
          <p:cNvSpPr txBox="1"/>
          <p:nvPr/>
        </p:nvSpPr>
        <p:spPr>
          <a:xfrm>
            <a:off x="457200" y="3154680"/>
            <a:ext cx="548640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VOTRE COMPARATIF — À REMPLIR PENDANT LE LABO 2</a:t>
            </a:r>
            <a:endParaRPr lang="fr-FR" sz="900" dirty="0"/>
          </a:p>
        </p:txBody>
      </p:sp>
      <p:sp>
        <p:nvSpPr>
          <p:cNvPr id="27" name="Shape 21"/>
          <p:cNvSpPr/>
          <p:nvPr/>
        </p:nvSpPr>
        <p:spPr>
          <a:xfrm>
            <a:off x="457200" y="3383280"/>
            <a:ext cx="8229600" cy="274320"/>
          </a:xfrm>
          <a:prstGeom prst="roundRect">
            <a:avLst>
              <a:gd name="adj" fmla="val 16667"/>
            </a:avLst>
          </a:prstGeom>
          <a:solidFill>
            <a:srgbClr val="C4621D"/>
          </a:solidFill>
          <a:ln/>
        </p:spPr>
      </p:sp>
      <p:sp>
        <p:nvSpPr>
          <p:cNvPr id="28" name="Text 22"/>
          <p:cNvSpPr txBox="1"/>
          <p:nvPr/>
        </p:nvSpPr>
        <p:spPr>
          <a:xfrm>
            <a:off x="566928" y="3383280"/>
            <a:ext cx="3108960" cy="274320"/>
          </a:xfrm>
          <a:prstGeom prst="rect">
            <a:avLst/>
          </a:prstGeom>
          <a:noFill/>
          <a:ln/>
        </p:spPr>
        <p:txBody>
          <a:bodyPr wrap="square" lIns="0" tIns="0" rIns="0" bIns="0" rtlCol="0" anchor="ctr"/>
          <a:lstStyle/>
          <a:p>
            <a:pPr marL="0" indent="0" algn="l">
              <a:buNone/>
            </a:pPr>
            <a:r>
              <a:rPr lang="fr-FR" altLang="en-US" sz="950" b="1" dirty="0">
                <a:solidFill>
                  <a:srgbClr val="FFFFFF"/>
                </a:solidFill>
                <a:latin typeface="Calibri" pitchFamily="34" charset="0"/>
                <a:ea typeface="Calibri" pitchFamily="34" charset="-122"/>
                <a:cs typeface="Calibri" pitchFamily="34" charset="-120"/>
              </a:rPr>
              <a:t>Tâche (mêmes données, même question)</a:t>
            </a:r>
            <a:endParaRPr lang="fr-FR" sz="950" dirty="0"/>
          </a:p>
        </p:txBody>
      </p:sp>
      <p:sp>
        <p:nvSpPr>
          <p:cNvPr id="29" name="Text 23"/>
          <p:cNvSpPr txBox="1"/>
          <p:nvPr/>
        </p:nvSpPr>
        <p:spPr>
          <a:xfrm>
            <a:off x="3858768" y="3383280"/>
            <a:ext cx="1051560" cy="274320"/>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Temps pandas</a:t>
            </a:r>
            <a:endParaRPr lang="fr-FR" sz="950" dirty="0"/>
          </a:p>
        </p:txBody>
      </p:sp>
      <p:sp>
        <p:nvSpPr>
          <p:cNvPr id="30" name="Text 24"/>
          <p:cNvSpPr txBox="1"/>
          <p:nvPr/>
        </p:nvSpPr>
        <p:spPr>
          <a:xfrm>
            <a:off x="5093208" y="3383280"/>
            <a:ext cx="1051560" cy="274320"/>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Mémoire pandas</a:t>
            </a:r>
            <a:endParaRPr lang="fr-FR" sz="950" dirty="0"/>
          </a:p>
        </p:txBody>
      </p:sp>
      <p:sp>
        <p:nvSpPr>
          <p:cNvPr id="31" name="Text 25"/>
          <p:cNvSpPr txBox="1"/>
          <p:nvPr/>
        </p:nvSpPr>
        <p:spPr>
          <a:xfrm>
            <a:off x="6327648" y="3383280"/>
            <a:ext cx="1051560" cy="274320"/>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Temps ES</a:t>
            </a:r>
            <a:endParaRPr lang="fr-FR" sz="950" dirty="0"/>
          </a:p>
        </p:txBody>
      </p:sp>
      <p:sp>
        <p:nvSpPr>
          <p:cNvPr id="32" name="Text 26"/>
          <p:cNvSpPr txBox="1"/>
          <p:nvPr/>
        </p:nvSpPr>
        <p:spPr>
          <a:xfrm>
            <a:off x="7562088" y="3383280"/>
            <a:ext cx="1051560" cy="274320"/>
          </a:xfrm>
          <a:prstGeom prst="rect">
            <a:avLst/>
          </a:prstGeom>
          <a:noFill/>
          <a:ln/>
        </p:spPr>
        <p:txBody>
          <a:bodyPr wrap="square" lIns="0" tIns="0" rIns="0" bIns="0" rtlCol="0" anchor="ctr"/>
          <a:lstStyle/>
          <a:p>
            <a:pPr marL="0" indent="0" algn="ctr">
              <a:buNone/>
            </a:pPr>
            <a:r>
              <a:rPr lang="fr-FR" altLang="en-US" sz="950" b="1" dirty="0">
                <a:solidFill>
                  <a:srgbClr val="FFFFFF"/>
                </a:solidFill>
                <a:latin typeface="Calibri" pitchFamily="34" charset="0"/>
                <a:ea typeface="Calibri" pitchFamily="34" charset="-122"/>
                <a:cs typeface="Calibri" pitchFamily="34" charset="-120"/>
              </a:rPr>
              <a:t>Disque/heap ES</a:t>
            </a:r>
            <a:endParaRPr lang="fr-FR" sz="950" dirty="0"/>
          </a:p>
        </p:txBody>
      </p:sp>
      <p:sp>
        <p:nvSpPr>
          <p:cNvPr id="33" name="Shape 27"/>
          <p:cNvSpPr/>
          <p:nvPr/>
        </p:nvSpPr>
        <p:spPr>
          <a:xfrm>
            <a:off x="457200" y="3703320"/>
            <a:ext cx="8229600" cy="256032"/>
          </a:xfrm>
          <a:prstGeom prst="roundRect">
            <a:avLst>
              <a:gd name="adj" fmla="val 28571"/>
            </a:avLst>
          </a:prstGeom>
          <a:solidFill>
            <a:srgbClr val="F4F7F5"/>
          </a:solidFill>
          <a:ln w="9525">
            <a:solidFill>
              <a:srgbClr val="D5DED9"/>
            </a:solidFill>
            <a:prstDash val="solid"/>
          </a:ln>
        </p:spPr>
      </p:sp>
      <p:sp>
        <p:nvSpPr>
          <p:cNvPr id="34" name="Text 28"/>
          <p:cNvSpPr txBox="1"/>
          <p:nvPr/>
        </p:nvSpPr>
        <p:spPr>
          <a:xfrm>
            <a:off x="566928" y="3703320"/>
            <a:ext cx="3108960" cy="256032"/>
          </a:xfrm>
          <a:prstGeom prst="rect">
            <a:avLst/>
          </a:prstGeom>
          <a:noFill/>
          <a:ln/>
        </p:spPr>
        <p:txBody>
          <a:bodyPr wrap="square" lIns="0" tIns="0" rIns="0" bIns="0" rtlCol="0" anchor="ctr"/>
          <a:lstStyle/>
          <a:p>
            <a:pPr marL="0" indent="0">
              <a:buNone/>
            </a:pPr>
            <a:r>
              <a:rPr lang="fr-FR" altLang="en-US" sz="1000" dirty="0">
                <a:solidFill>
                  <a:srgbClr val="231F20"/>
                </a:solidFill>
                <a:latin typeface="Calibri" pitchFamily="34" charset="0"/>
                <a:ea typeface="Calibri" pitchFamily="34" charset="-122"/>
                <a:cs typeface="Calibri" pitchFamily="34" charset="-120"/>
              </a:rPr>
              <a:t>1 · Charger / indexer un trimestre</a:t>
            </a:r>
            <a:endParaRPr lang="fr-FR" sz="1000" dirty="0"/>
          </a:p>
        </p:txBody>
      </p:sp>
      <p:sp>
        <p:nvSpPr>
          <p:cNvPr id="35" name="Text 29"/>
          <p:cNvSpPr txBox="1"/>
          <p:nvPr/>
        </p:nvSpPr>
        <p:spPr>
          <a:xfrm>
            <a:off x="3749040" y="3703320"/>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6" name="Text 30"/>
          <p:cNvSpPr txBox="1"/>
          <p:nvPr/>
        </p:nvSpPr>
        <p:spPr>
          <a:xfrm>
            <a:off x="4983480" y="3703320"/>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7" name="Text 31"/>
          <p:cNvSpPr txBox="1"/>
          <p:nvPr/>
        </p:nvSpPr>
        <p:spPr>
          <a:xfrm>
            <a:off x="6217920" y="3703320"/>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8" name="Text 32"/>
          <p:cNvSpPr txBox="1"/>
          <p:nvPr/>
        </p:nvSpPr>
        <p:spPr>
          <a:xfrm>
            <a:off x="7452360" y="3703320"/>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9" name="Shape 33"/>
          <p:cNvSpPr/>
          <p:nvPr/>
        </p:nvSpPr>
        <p:spPr>
          <a:xfrm>
            <a:off x="457200" y="3995928"/>
            <a:ext cx="8229600" cy="256032"/>
          </a:xfrm>
          <a:prstGeom prst="roundRect">
            <a:avLst>
              <a:gd name="adj" fmla="val 28571"/>
            </a:avLst>
          </a:prstGeom>
          <a:solidFill>
            <a:srgbClr val="FFFFFF"/>
          </a:solidFill>
          <a:ln w="9525">
            <a:solidFill>
              <a:srgbClr val="D5DED9"/>
            </a:solidFill>
            <a:prstDash val="solid"/>
          </a:ln>
        </p:spPr>
      </p:sp>
      <p:sp>
        <p:nvSpPr>
          <p:cNvPr id="40" name="Text 34"/>
          <p:cNvSpPr txBox="1"/>
          <p:nvPr/>
        </p:nvSpPr>
        <p:spPr>
          <a:xfrm>
            <a:off x="566928" y="3995928"/>
            <a:ext cx="3108960" cy="256032"/>
          </a:xfrm>
          <a:prstGeom prst="rect">
            <a:avLst/>
          </a:prstGeom>
          <a:noFill/>
          <a:ln/>
        </p:spPr>
        <p:txBody>
          <a:bodyPr wrap="square" lIns="0" tIns="0" rIns="0" bIns="0" rtlCol="0" anchor="ctr"/>
          <a:lstStyle/>
          <a:p>
            <a:pPr marL="0" indent="0">
              <a:buNone/>
            </a:pPr>
            <a:r>
              <a:rPr lang="fr-FR" altLang="en-US" sz="1000" dirty="0">
                <a:solidFill>
                  <a:srgbClr val="231F20"/>
                </a:solidFill>
                <a:latin typeface="Calibri" pitchFamily="34" charset="0"/>
                <a:ea typeface="Calibri" pitchFamily="34" charset="-122"/>
                <a:cs typeface="Calibri" pitchFamily="34" charset="-120"/>
              </a:rPr>
              <a:t>2 · Débit moyen pondéré par région</a:t>
            </a:r>
            <a:endParaRPr lang="fr-FR" sz="1000" dirty="0"/>
          </a:p>
        </p:txBody>
      </p:sp>
      <p:sp>
        <p:nvSpPr>
          <p:cNvPr id="41" name="Text 35"/>
          <p:cNvSpPr txBox="1"/>
          <p:nvPr/>
        </p:nvSpPr>
        <p:spPr>
          <a:xfrm>
            <a:off x="3749040" y="3995928"/>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2" name="Text 36"/>
          <p:cNvSpPr txBox="1"/>
          <p:nvPr/>
        </p:nvSpPr>
        <p:spPr>
          <a:xfrm>
            <a:off x="4983480" y="3995928"/>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3" name="Text 37"/>
          <p:cNvSpPr txBox="1"/>
          <p:nvPr/>
        </p:nvSpPr>
        <p:spPr>
          <a:xfrm>
            <a:off x="6217920" y="3995928"/>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4" name="Text 38"/>
          <p:cNvSpPr txBox="1"/>
          <p:nvPr/>
        </p:nvSpPr>
        <p:spPr>
          <a:xfrm>
            <a:off x="7452360" y="3995928"/>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5" name="Shape 39"/>
          <p:cNvSpPr/>
          <p:nvPr/>
        </p:nvSpPr>
        <p:spPr>
          <a:xfrm>
            <a:off x="457200" y="4288536"/>
            <a:ext cx="8229600" cy="256032"/>
          </a:xfrm>
          <a:prstGeom prst="roundRect">
            <a:avLst>
              <a:gd name="adj" fmla="val 28571"/>
            </a:avLst>
          </a:prstGeom>
          <a:solidFill>
            <a:srgbClr val="F4F7F5"/>
          </a:solidFill>
          <a:ln w="9525">
            <a:solidFill>
              <a:srgbClr val="D5DED9"/>
            </a:solidFill>
            <a:prstDash val="solid"/>
          </a:ln>
        </p:spPr>
      </p:sp>
      <p:sp>
        <p:nvSpPr>
          <p:cNvPr id="46" name="Text 40"/>
          <p:cNvSpPr txBox="1"/>
          <p:nvPr/>
        </p:nvSpPr>
        <p:spPr>
          <a:xfrm>
            <a:off x="566928" y="4288536"/>
            <a:ext cx="3108960" cy="256032"/>
          </a:xfrm>
          <a:prstGeom prst="rect">
            <a:avLst/>
          </a:prstGeom>
          <a:noFill/>
          <a:ln/>
        </p:spPr>
        <p:txBody>
          <a:bodyPr wrap="square" lIns="0" tIns="0" rIns="0" bIns="0" rtlCol="0" anchor="ctr"/>
          <a:lstStyle/>
          <a:p>
            <a:pPr marL="0" indent="0">
              <a:buNone/>
            </a:pPr>
            <a:r>
              <a:rPr lang="fr-FR" altLang="en-US" sz="1000" dirty="0">
                <a:solidFill>
                  <a:srgbClr val="231F20"/>
                </a:solidFill>
                <a:latin typeface="Calibri" pitchFamily="34" charset="0"/>
                <a:ea typeface="Calibri" pitchFamily="34" charset="-122"/>
                <a:cs typeface="Calibri" pitchFamily="34" charset="-120"/>
              </a:rPr>
              <a:t>3 · Tuiles touchant un district</a:t>
            </a:r>
            <a:endParaRPr lang="fr-FR" sz="1000" dirty="0"/>
          </a:p>
        </p:txBody>
      </p:sp>
      <p:sp>
        <p:nvSpPr>
          <p:cNvPr id="47" name="Text 41"/>
          <p:cNvSpPr txBox="1"/>
          <p:nvPr/>
        </p:nvSpPr>
        <p:spPr>
          <a:xfrm>
            <a:off x="3749040" y="4288536"/>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8" name="Text 42"/>
          <p:cNvSpPr txBox="1"/>
          <p:nvPr/>
        </p:nvSpPr>
        <p:spPr>
          <a:xfrm>
            <a:off x="4983480" y="4288536"/>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9" name="Text 43"/>
          <p:cNvSpPr txBox="1"/>
          <p:nvPr/>
        </p:nvSpPr>
        <p:spPr>
          <a:xfrm>
            <a:off x="6217920" y="4288536"/>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50" name="Text 44"/>
          <p:cNvSpPr txBox="1"/>
          <p:nvPr/>
        </p:nvSpPr>
        <p:spPr>
          <a:xfrm>
            <a:off x="7452360" y="4288536"/>
            <a:ext cx="1234440" cy="256032"/>
          </a:xfrm>
          <a:prstGeom prst="rect">
            <a:avLst/>
          </a:prstGeom>
          <a:noFill/>
          <a:ln/>
        </p:spPr>
        <p:txBody>
          <a:bodyPr wrap="square" lIns="0" tIns="0" rIns="0" bIns="0" rtlCol="0" anchor="ctr"/>
          <a:lstStyle/>
          <a:p>
            <a:pPr marL="0" indent="0" algn="ctr">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SECTION 06</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fr-FR" altLang="en-US" sz="11000" b="1" dirty="0">
                <a:solidFill>
                  <a:srgbClr val="F5C242"/>
                </a:solidFill>
                <a:latin typeface="Calibri" pitchFamily="34" charset="0"/>
                <a:ea typeface="Calibri" pitchFamily="34" charset="-122"/>
                <a:cs typeface="Calibri" pitchFamily="34" charset="-120"/>
              </a:rPr>
              <a:t>06</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marL="0" indent="0">
              <a:buNone/>
            </a:pPr>
            <a:r>
              <a:rPr lang="fr-FR" altLang="en-US" sz="3400" b="1" dirty="0">
                <a:solidFill>
                  <a:srgbClr val="FFFFFF"/>
                </a:solidFill>
                <a:latin typeface="Calibri" pitchFamily="34" charset="0"/>
                <a:ea typeface="Calibri" pitchFamily="34" charset="-122"/>
                <a:cs typeface="Calibri" pitchFamily="34" charset="-120"/>
              </a:rPr>
              <a:t>Gouverner et pérenniser</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fr-FR" altLang="en-US" sz="1700" i="1" dirty="0">
                <a:solidFill>
                  <a:srgbClr val="E6F6EE"/>
                </a:solidFill>
                <a:latin typeface="Calibri" pitchFamily="34" charset="0"/>
                <a:ea typeface="Calibri" pitchFamily="34" charset="-122"/>
                <a:cs typeface="Calibri" pitchFamily="34" charset="-120"/>
              </a:rPr>
              <a:t>Que garantir avant de publier depuis un moteur de recherche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5C242"/>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fr-FR" altLang="en-US" sz="850" dirty="0">
                <a:solidFill>
                  <a:srgbClr val="E6F6EE"/>
                </a:solidFill>
                <a:latin typeface="Calibri" pitchFamily="34" charset="0"/>
                <a:ea typeface="Calibri" pitchFamily="34" charset="-122"/>
                <a:cs typeface="Calibri" pitchFamily="34" charset="-120"/>
              </a:rPr>
              <a:t>29</a:t>
            </a:r>
            <a:endParaRPr lang="fr-FR" sz="8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Qualité et éthique : ce que l’index ne corrige pas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30</a:t>
            </a:r>
            <a:endParaRPr lang="fr-FR" sz="850" dirty="0"/>
          </a:p>
        </p:txBody>
      </p:sp>
      <p:sp>
        <p:nvSpPr>
          <p:cNvPr id="16" name="Shape 12"/>
          <p:cNvSpPr/>
          <p:nvPr/>
        </p:nvSpPr>
        <p:spPr>
          <a:xfrm>
            <a:off x="457200" y="1261872"/>
            <a:ext cx="2560320" cy="1508760"/>
          </a:xfrm>
          <a:prstGeom prst="roundRect">
            <a:avLst>
              <a:gd name="adj" fmla="val 4848"/>
            </a:avLst>
          </a:prstGeom>
          <a:solidFill>
            <a:srgbClr val="F4F7F5"/>
          </a:solidFill>
          <a:ln w="9525">
            <a:solidFill>
              <a:srgbClr val="D5DED9"/>
            </a:solidFill>
            <a:prstDash val="solid"/>
          </a:ln>
        </p:spPr>
      </p:sp>
      <p:sp>
        <p:nvSpPr>
          <p:cNvPr id="17" name="Shape 13"/>
          <p:cNvSpPr/>
          <p:nvPr/>
        </p:nvSpPr>
        <p:spPr>
          <a:xfrm>
            <a:off x="603504" y="1408176"/>
            <a:ext cx="438912" cy="438912"/>
          </a:xfrm>
          <a:prstGeom prst="ellipse">
            <a:avLst/>
          </a:prstGeom>
          <a:solidFill>
            <a:srgbClr val="B83B2E">
              <a:alpha val="22000"/>
            </a:srgbClr>
          </a:solidFill>
          <a:ln/>
        </p:spPr>
      </p:sp>
      <p:pic>
        <p:nvPicPr>
          <p:cNvPr id="18" name="Image 1" descr="preencoded.png"/>
          <p:cNvPicPr>
            <a:picLocks noChangeAspect="1"/>
          </p:cNvPicPr>
          <p:nvPr/>
        </p:nvPicPr>
        <p:blipFill>
          <a:blip r:embed="rId4"/>
          <a:stretch>
            <a:fillRect/>
          </a:stretch>
        </p:blipFill>
        <p:spPr>
          <a:xfrm>
            <a:off x="717621" y="1522293"/>
            <a:ext cx="210678" cy="210678"/>
          </a:xfrm>
          <a:prstGeom prst="rect">
            <a:avLst/>
          </a:prstGeom>
        </p:spPr>
      </p:pic>
      <p:sp>
        <p:nvSpPr>
          <p:cNvPr id="19" name="Text 14"/>
          <p:cNvSpPr txBox="1"/>
          <p:nvPr/>
        </p:nvSpPr>
        <p:spPr>
          <a:xfrm>
            <a:off x="1152144" y="1408176"/>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Biais de couverture</a:t>
            </a:r>
            <a:endParaRPr lang="fr-FR" sz="1350" dirty="0"/>
          </a:p>
        </p:txBody>
      </p:sp>
      <p:sp>
        <p:nvSpPr>
          <p:cNvPr id="20" name="Text 15"/>
          <p:cNvSpPr txBox="1"/>
          <p:nvPr/>
        </p:nvSpPr>
        <p:spPr>
          <a:xfrm>
            <a:off x="603504" y="1956816"/>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Testeurs volontaires : pas un échantillon probabiliste. Biais urbain et smartphone probable.</a:t>
            </a:r>
            <a:endParaRPr lang="fr-FR" sz="1050" dirty="0"/>
          </a:p>
        </p:txBody>
      </p:sp>
      <p:sp>
        <p:nvSpPr>
          <p:cNvPr id="21" name="Shape 16"/>
          <p:cNvSpPr/>
          <p:nvPr/>
        </p:nvSpPr>
        <p:spPr>
          <a:xfrm>
            <a:off x="3291840" y="1261872"/>
            <a:ext cx="2560320" cy="1508760"/>
          </a:xfrm>
          <a:prstGeom prst="roundRect">
            <a:avLst>
              <a:gd name="adj" fmla="val 4848"/>
            </a:avLst>
          </a:prstGeom>
          <a:solidFill>
            <a:srgbClr val="F4F7F5"/>
          </a:solidFill>
          <a:ln w="9525">
            <a:solidFill>
              <a:srgbClr val="D5DED9"/>
            </a:solidFill>
            <a:prstDash val="solid"/>
          </a:ln>
        </p:spPr>
      </p:sp>
      <p:sp>
        <p:nvSpPr>
          <p:cNvPr id="22" name="Shape 17"/>
          <p:cNvSpPr/>
          <p:nvPr/>
        </p:nvSpPr>
        <p:spPr>
          <a:xfrm>
            <a:off x="3438144" y="1408176"/>
            <a:ext cx="438912" cy="438912"/>
          </a:xfrm>
          <a:prstGeom prst="ellipse">
            <a:avLst/>
          </a:prstGeom>
          <a:solidFill>
            <a:srgbClr val="B83B2E">
              <a:alpha val="22000"/>
            </a:srgbClr>
          </a:solidFill>
          <a:ln/>
        </p:spPr>
      </p:sp>
      <p:pic>
        <p:nvPicPr>
          <p:cNvPr id="23" name="Image 2" descr="preencoded.png"/>
          <p:cNvPicPr>
            <a:picLocks noChangeAspect="1"/>
          </p:cNvPicPr>
          <p:nvPr/>
        </p:nvPicPr>
        <p:blipFill>
          <a:blip r:embed="rId5"/>
          <a:stretch>
            <a:fillRect/>
          </a:stretch>
        </p:blipFill>
        <p:spPr>
          <a:xfrm>
            <a:off x="3552261" y="1522293"/>
            <a:ext cx="210678" cy="210678"/>
          </a:xfrm>
          <a:prstGeom prst="rect">
            <a:avLst/>
          </a:prstGeom>
        </p:spPr>
      </p:pic>
      <p:sp>
        <p:nvSpPr>
          <p:cNvPr id="24" name="Text 18"/>
          <p:cNvSpPr txBox="1"/>
          <p:nvPr/>
        </p:nvSpPr>
        <p:spPr>
          <a:xfrm>
            <a:off x="3986784" y="1408176"/>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Petits effectifs</a:t>
            </a:r>
            <a:endParaRPr lang="fr-FR" sz="1350" dirty="0"/>
          </a:p>
        </p:txBody>
      </p:sp>
      <p:sp>
        <p:nvSpPr>
          <p:cNvPr id="25" name="Text 19"/>
          <p:cNvSpPr txBox="1"/>
          <p:nvPr/>
        </p:nvSpPr>
        <p:spPr>
          <a:xfrm>
            <a:off x="3438144" y="1956816"/>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Fixez un seuil minimal de tests ; masquez ou signalez les régions en dessous et indiquez n.</a:t>
            </a:r>
            <a:endParaRPr lang="fr-FR" sz="1050" dirty="0"/>
          </a:p>
        </p:txBody>
      </p:sp>
      <p:sp>
        <p:nvSpPr>
          <p:cNvPr id="26" name="Shape 20"/>
          <p:cNvSpPr/>
          <p:nvPr/>
        </p:nvSpPr>
        <p:spPr>
          <a:xfrm>
            <a:off x="6126480" y="1261872"/>
            <a:ext cx="2560320" cy="1508760"/>
          </a:xfrm>
          <a:prstGeom prst="roundRect">
            <a:avLst>
              <a:gd name="adj" fmla="val 4848"/>
            </a:avLst>
          </a:prstGeom>
          <a:solidFill>
            <a:srgbClr val="F4F7F5"/>
          </a:solidFill>
          <a:ln w="9525">
            <a:solidFill>
              <a:srgbClr val="D5DED9"/>
            </a:solidFill>
            <a:prstDash val="solid"/>
          </a:ln>
        </p:spPr>
      </p:sp>
      <p:sp>
        <p:nvSpPr>
          <p:cNvPr id="27" name="Shape 21"/>
          <p:cNvSpPr/>
          <p:nvPr/>
        </p:nvSpPr>
        <p:spPr>
          <a:xfrm>
            <a:off x="6272784" y="1408176"/>
            <a:ext cx="438912" cy="438912"/>
          </a:xfrm>
          <a:prstGeom prst="ellipse">
            <a:avLst/>
          </a:prstGeom>
          <a:solidFill>
            <a:srgbClr val="B83B2E">
              <a:alpha val="22000"/>
            </a:srgbClr>
          </a:solidFill>
          <a:ln/>
        </p:spPr>
      </p:sp>
      <p:pic>
        <p:nvPicPr>
          <p:cNvPr id="28" name="Image 3" descr="preencoded.png"/>
          <p:cNvPicPr>
            <a:picLocks noChangeAspect="1"/>
          </p:cNvPicPr>
          <p:nvPr/>
        </p:nvPicPr>
        <p:blipFill>
          <a:blip r:embed="rId6"/>
          <a:stretch>
            <a:fillRect/>
          </a:stretch>
        </p:blipFill>
        <p:spPr>
          <a:xfrm>
            <a:off x="6386901" y="1522293"/>
            <a:ext cx="210678" cy="210678"/>
          </a:xfrm>
          <a:prstGeom prst="rect">
            <a:avLst/>
          </a:prstGeom>
        </p:spPr>
      </p:pic>
      <p:sp>
        <p:nvSpPr>
          <p:cNvPr id="29" name="Text 22"/>
          <p:cNvSpPr txBox="1"/>
          <p:nvPr/>
        </p:nvSpPr>
        <p:spPr>
          <a:xfrm>
            <a:off x="6821424" y="1408176"/>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Licence</a:t>
            </a:r>
            <a:endParaRPr lang="fr-FR" sz="1350" dirty="0"/>
          </a:p>
        </p:txBody>
      </p:sp>
      <p:sp>
        <p:nvSpPr>
          <p:cNvPr id="30" name="Text 23"/>
          <p:cNvSpPr txBox="1"/>
          <p:nvPr/>
        </p:nvSpPr>
        <p:spPr>
          <a:xfrm>
            <a:off x="6272784" y="1956816"/>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CC BY-NC-SA 4.0 : citer Ookla, usage non commercial, partage des dérivés à l’identique.</a:t>
            </a:r>
            <a:endParaRPr lang="fr-FR" sz="1050" dirty="0"/>
          </a:p>
        </p:txBody>
      </p:sp>
      <p:sp>
        <p:nvSpPr>
          <p:cNvPr id="31" name="Shape 24"/>
          <p:cNvSpPr/>
          <p:nvPr/>
        </p:nvSpPr>
        <p:spPr>
          <a:xfrm>
            <a:off x="457200" y="2935224"/>
            <a:ext cx="2560320" cy="1508760"/>
          </a:xfrm>
          <a:prstGeom prst="roundRect">
            <a:avLst>
              <a:gd name="adj" fmla="val 4848"/>
            </a:avLst>
          </a:prstGeom>
          <a:solidFill>
            <a:srgbClr val="F4F7F5"/>
          </a:solidFill>
          <a:ln w="9525">
            <a:solidFill>
              <a:srgbClr val="D5DED9"/>
            </a:solidFill>
            <a:prstDash val="solid"/>
          </a:ln>
        </p:spPr>
      </p:sp>
      <p:sp>
        <p:nvSpPr>
          <p:cNvPr id="32" name="Shape 25"/>
          <p:cNvSpPr/>
          <p:nvPr/>
        </p:nvSpPr>
        <p:spPr>
          <a:xfrm>
            <a:off x="603504" y="3081528"/>
            <a:ext cx="438912" cy="438912"/>
          </a:xfrm>
          <a:prstGeom prst="ellipse">
            <a:avLst/>
          </a:prstGeom>
          <a:solidFill>
            <a:srgbClr val="B83B2E">
              <a:alpha val="22000"/>
            </a:srgbClr>
          </a:solidFill>
          <a:ln/>
        </p:spPr>
      </p:sp>
      <p:pic>
        <p:nvPicPr>
          <p:cNvPr id="33" name="Image 4" descr="preencoded.png"/>
          <p:cNvPicPr>
            <a:picLocks noChangeAspect="1"/>
          </p:cNvPicPr>
          <p:nvPr/>
        </p:nvPicPr>
        <p:blipFill>
          <a:blip r:embed="rId7"/>
          <a:stretch>
            <a:fillRect/>
          </a:stretch>
        </p:blipFill>
        <p:spPr>
          <a:xfrm>
            <a:off x="717621" y="3195645"/>
            <a:ext cx="210678" cy="210678"/>
          </a:xfrm>
          <a:prstGeom prst="rect">
            <a:avLst/>
          </a:prstGeom>
        </p:spPr>
      </p:pic>
      <p:sp>
        <p:nvSpPr>
          <p:cNvPr id="34" name="Text 26"/>
          <p:cNvSpPr txBox="1"/>
          <p:nvPr/>
        </p:nvSpPr>
        <p:spPr>
          <a:xfrm>
            <a:off x="1152144" y="3081528"/>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Confidentialité</a:t>
            </a:r>
            <a:endParaRPr lang="fr-FR" sz="1350" dirty="0"/>
          </a:p>
        </p:txBody>
      </p:sp>
      <p:sp>
        <p:nvSpPr>
          <p:cNvPr id="35" name="Text 27"/>
          <p:cNvSpPr txBox="1"/>
          <p:nvPr/>
        </p:nvSpPr>
        <p:spPr>
          <a:xfrm>
            <a:off x="603504" y="3630168"/>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Pas de microdonnées sur un cluster ouvert. Authentification, accès par rôles, transport chiffré.</a:t>
            </a:r>
            <a:endParaRPr lang="fr-FR" sz="1050" dirty="0"/>
          </a:p>
        </p:txBody>
      </p:sp>
      <p:sp>
        <p:nvSpPr>
          <p:cNvPr id="36" name="Shape 28"/>
          <p:cNvSpPr/>
          <p:nvPr/>
        </p:nvSpPr>
        <p:spPr>
          <a:xfrm>
            <a:off x="3291840" y="2935224"/>
            <a:ext cx="2560320" cy="1508760"/>
          </a:xfrm>
          <a:prstGeom prst="roundRect">
            <a:avLst>
              <a:gd name="adj" fmla="val 4848"/>
            </a:avLst>
          </a:prstGeom>
          <a:solidFill>
            <a:srgbClr val="F4F7F5"/>
          </a:solidFill>
          <a:ln w="9525">
            <a:solidFill>
              <a:srgbClr val="D5DED9"/>
            </a:solidFill>
            <a:prstDash val="solid"/>
          </a:ln>
        </p:spPr>
      </p:sp>
      <p:sp>
        <p:nvSpPr>
          <p:cNvPr id="37" name="Shape 29"/>
          <p:cNvSpPr/>
          <p:nvPr/>
        </p:nvSpPr>
        <p:spPr>
          <a:xfrm>
            <a:off x="3438144" y="3081528"/>
            <a:ext cx="438912" cy="438912"/>
          </a:xfrm>
          <a:prstGeom prst="ellipse">
            <a:avLst/>
          </a:prstGeom>
          <a:solidFill>
            <a:srgbClr val="B83B2E">
              <a:alpha val="22000"/>
            </a:srgbClr>
          </a:solidFill>
          <a:ln/>
        </p:spPr>
      </p:sp>
      <p:pic>
        <p:nvPicPr>
          <p:cNvPr id="38" name="Image 5" descr="preencoded.png"/>
          <p:cNvPicPr>
            <a:picLocks noChangeAspect="1"/>
          </p:cNvPicPr>
          <p:nvPr/>
        </p:nvPicPr>
        <p:blipFill>
          <a:blip r:embed="rId8"/>
          <a:stretch>
            <a:fillRect/>
          </a:stretch>
        </p:blipFill>
        <p:spPr>
          <a:xfrm>
            <a:off x="3552261" y="3195645"/>
            <a:ext cx="210678" cy="210678"/>
          </a:xfrm>
          <a:prstGeom prst="rect">
            <a:avLst/>
          </a:prstGeom>
        </p:spPr>
      </p:pic>
      <p:sp>
        <p:nvSpPr>
          <p:cNvPr id="39" name="Text 30"/>
          <p:cNvSpPr txBox="1"/>
          <p:nvPr/>
        </p:nvSpPr>
        <p:spPr>
          <a:xfrm>
            <a:off x="3986784" y="3081528"/>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Reproductibilité</a:t>
            </a:r>
            <a:endParaRPr lang="fr-FR" sz="1350" dirty="0"/>
          </a:p>
        </p:txBody>
      </p:sp>
      <p:sp>
        <p:nvSpPr>
          <p:cNvPr id="40" name="Text 31"/>
          <p:cNvSpPr txBox="1"/>
          <p:nvPr/>
        </p:nvSpPr>
        <p:spPr>
          <a:xfrm>
            <a:off x="3438144" y="3630168"/>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Mapping, code d’ingestion et requêtes versionnés dans Git avec le millésime des données.</a:t>
            </a:r>
            <a:endParaRPr lang="fr-FR" sz="1050" dirty="0"/>
          </a:p>
        </p:txBody>
      </p:sp>
      <p:sp>
        <p:nvSpPr>
          <p:cNvPr id="41" name="Shape 32"/>
          <p:cNvSpPr/>
          <p:nvPr/>
        </p:nvSpPr>
        <p:spPr>
          <a:xfrm>
            <a:off x="6126480" y="2935224"/>
            <a:ext cx="2560320" cy="1508760"/>
          </a:xfrm>
          <a:prstGeom prst="roundRect">
            <a:avLst>
              <a:gd name="adj" fmla="val 4848"/>
            </a:avLst>
          </a:prstGeom>
          <a:solidFill>
            <a:srgbClr val="F4F7F5"/>
          </a:solidFill>
          <a:ln w="9525">
            <a:solidFill>
              <a:srgbClr val="D5DED9"/>
            </a:solidFill>
            <a:prstDash val="solid"/>
          </a:ln>
        </p:spPr>
      </p:sp>
      <p:sp>
        <p:nvSpPr>
          <p:cNvPr id="42" name="Shape 33"/>
          <p:cNvSpPr/>
          <p:nvPr/>
        </p:nvSpPr>
        <p:spPr>
          <a:xfrm>
            <a:off x="6272784" y="3081528"/>
            <a:ext cx="438912" cy="438912"/>
          </a:xfrm>
          <a:prstGeom prst="ellipse">
            <a:avLst/>
          </a:prstGeom>
          <a:solidFill>
            <a:srgbClr val="B83B2E">
              <a:alpha val="22000"/>
            </a:srgbClr>
          </a:solidFill>
          <a:ln/>
        </p:spPr>
      </p:sp>
      <p:pic>
        <p:nvPicPr>
          <p:cNvPr id="43" name="Image 6" descr="preencoded.png"/>
          <p:cNvPicPr>
            <a:picLocks noChangeAspect="1"/>
          </p:cNvPicPr>
          <p:nvPr/>
        </p:nvPicPr>
        <p:blipFill>
          <a:blip r:embed="rId9"/>
          <a:stretch>
            <a:fillRect/>
          </a:stretch>
        </p:blipFill>
        <p:spPr>
          <a:xfrm>
            <a:off x="6386901" y="3195645"/>
            <a:ext cx="210678" cy="210678"/>
          </a:xfrm>
          <a:prstGeom prst="rect">
            <a:avLst/>
          </a:prstGeom>
        </p:spPr>
      </p:pic>
      <p:sp>
        <p:nvSpPr>
          <p:cNvPr id="44" name="Text 34"/>
          <p:cNvSpPr txBox="1"/>
          <p:nvPr/>
        </p:nvSpPr>
        <p:spPr>
          <a:xfrm>
            <a:off x="6821424" y="3081528"/>
            <a:ext cx="1783080" cy="438912"/>
          </a:xfrm>
          <a:prstGeom prst="rect">
            <a:avLst/>
          </a:prstGeom>
          <a:noFill/>
          <a:ln/>
        </p:spPr>
        <p:txBody>
          <a:bodyPr wrap="square" lIns="0" tIns="0" rIns="0" bIns="0" rtlCol="0" anchor="ctr"/>
          <a:lstStyle/>
          <a:p>
            <a:pPr marL="0" indent="0">
              <a:buNone/>
            </a:pPr>
            <a:r>
              <a:rPr lang="fr-FR" altLang="en-US" sz="1350" b="1" dirty="0">
                <a:solidFill>
                  <a:srgbClr val="231F20"/>
                </a:solidFill>
                <a:latin typeface="Calibri" pitchFamily="34" charset="0"/>
                <a:ea typeface="Calibri" pitchFamily="34" charset="-122"/>
                <a:cs typeface="Calibri" pitchFamily="34" charset="-120"/>
              </a:rPr>
              <a:t>Limites assumées</a:t>
            </a:r>
            <a:endParaRPr lang="fr-FR" sz="1350" dirty="0"/>
          </a:p>
        </p:txBody>
      </p:sp>
      <p:sp>
        <p:nvSpPr>
          <p:cNvPr id="45" name="Text 35"/>
          <p:cNvSpPr txBox="1"/>
          <p:nvPr/>
        </p:nvSpPr>
        <p:spPr>
          <a:xfrm>
            <a:off x="6272784" y="3630168"/>
            <a:ext cx="2286000" cy="77724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Un proxy n’est pas une statistique officielle. Écrivez ce qu’il ne permet pas d’affirmer.</a:t>
            </a:r>
            <a:endParaRPr lang="fr-FR" sz="1050" dirty="0"/>
          </a:p>
        </p:txBody>
      </p:sp>
      <p:sp>
        <p:nvSpPr>
          <p:cNvPr id="46"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Licence : Registry of Open Data on AWS, Speedtest by Ookla Global Fixed and Mobile Network Performance Maps.</a:t>
            </a:r>
            <a:endParaRPr lang="fr-FR"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Options de déploiement pour un institut statistique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31</a:t>
            </a:r>
            <a:endParaRPr lang="fr-FR" sz="850" dirty="0"/>
          </a:p>
        </p:txBody>
      </p:sp>
      <p:sp>
        <p:nvSpPr>
          <p:cNvPr id="16" name="Shape 12"/>
          <p:cNvSpPr/>
          <p:nvPr/>
        </p:nvSpPr>
        <p:spPr>
          <a:xfrm>
            <a:off x="457200" y="1261872"/>
            <a:ext cx="2560320" cy="2267712"/>
          </a:xfrm>
          <a:prstGeom prst="roundRect">
            <a:avLst>
              <a:gd name="adj" fmla="val 3226"/>
            </a:avLst>
          </a:prstGeom>
          <a:solidFill>
            <a:srgbClr val="F4F7F5"/>
          </a:solidFill>
          <a:ln w="9525">
            <a:solidFill>
              <a:srgbClr val="D5DED9"/>
            </a:solidFill>
            <a:prstDash val="solid"/>
          </a:ln>
        </p:spPr>
      </p:sp>
      <p:sp>
        <p:nvSpPr>
          <p:cNvPr id="17" name="Shape 13"/>
          <p:cNvSpPr/>
          <p:nvPr/>
        </p:nvSpPr>
        <p:spPr>
          <a:xfrm>
            <a:off x="603504" y="1371600"/>
            <a:ext cx="438912" cy="438912"/>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7621" y="1485717"/>
            <a:ext cx="210678" cy="210678"/>
          </a:xfrm>
          <a:prstGeom prst="rect">
            <a:avLst/>
          </a:prstGeom>
        </p:spPr>
      </p:pic>
      <p:sp>
        <p:nvSpPr>
          <p:cNvPr id="19" name="Text 14"/>
          <p:cNvSpPr txBox="1"/>
          <p:nvPr/>
        </p:nvSpPr>
        <p:spPr>
          <a:xfrm>
            <a:off x="1152144" y="1371600"/>
            <a:ext cx="178308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Autogéré</a:t>
            </a:r>
            <a:endParaRPr lang="fr-FR" sz="1400" dirty="0"/>
          </a:p>
        </p:txBody>
      </p:sp>
      <p:sp>
        <p:nvSpPr>
          <p:cNvPr id="20" name="Text 15"/>
          <p:cNvSpPr txBox="1"/>
          <p:nvPr/>
        </p:nvSpPr>
        <p:spPr>
          <a:xfrm>
            <a:off x="1152144" y="1609344"/>
            <a:ext cx="1783080" cy="27432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sur site ou centre de données national</a:t>
            </a:r>
            <a:endParaRPr lang="fr-FR" sz="900" dirty="0"/>
          </a:p>
        </p:txBody>
      </p:sp>
      <p:sp>
        <p:nvSpPr>
          <p:cNvPr id="21" name="Shape 16"/>
          <p:cNvSpPr/>
          <p:nvPr/>
        </p:nvSpPr>
        <p:spPr>
          <a:xfrm>
            <a:off x="621792" y="2139696"/>
            <a:ext cx="237744" cy="237744"/>
          </a:xfrm>
          <a:prstGeom prst="ellipse">
            <a:avLst/>
          </a:prstGeom>
          <a:solidFill>
            <a:srgbClr val="00A86A">
              <a:alpha val="80000"/>
            </a:srgbClr>
          </a:solidFill>
          <a:ln/>
        </p:spPr>
      </p:sp>
      <p:sp>
        <p:nvSpPr>
          <p:cNvPr id="22" name="Text 17"/>
          <p:cNvSpPr txBox="1"/>
          <p:nvPr/>
        </p:nvSpPr>
        <p:spPr>
          <a:xfrm>
            <a:off x="621792" y="21396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3" name="Text 18"/>
          <p:cNvSpPr txBox="1"/>
          <p:nvPr/>
        </p:nvSpPr>
        <p:spPr>
          <a:xfrm>
            <a:off x="950976" y="21031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Maîtrise de la localisation des données</a:t>
            </a:r>
            <a:endParaRPr lang="fr-FR" sz="1050" dirty="0"/>
          </a:p>
        </p:txBody>
      </p:sp>
      <p:sp>
        <p:nvSpPr>
          <p:cNvPr id="24" name="Shape 19"/>
          <p:cNvSpPr/>
          <p:nvPr/>
        </p:nvSpPr>
        <p:spPr>
          <a:xfrm>
            <a:off x="621792" y="2596896"/>
            <a:ext cx="237744" cy="237744"/>
          </a:xfrm>
          <a:prstGeom prst="ellipse">
            <a:avLst/>
          </a:prstGeom>
          <a:solidFill>
            <a:srgbClr val="00A86A">
              <a:alpha val="80000"/>
            </a:srgbClr>
          </a:solidFill>
          <a:ln/>
        </p:spPr>
      </p:sp>
      <p:sp>
        <p:nvSpPr>
          <p:cNvPr id="25" name="Text 20"/>
          <p:cNvSpPr txBox="1"/>
          <p:nvPr/>
        </p:nvSpPr>
        <p:spPr>
          <a:xfrm>
            <a:off x="621792" y="25968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6" name="Text 21"/>
          <p:cNvSpPr txBox="1"/>
          <p:nvPr/>
        </p:nvSpPr>
        <p:spPr>
          <a:xfrm>
            <a:off x="950976" y="25603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Pas de facture cloud à l’usage</a:t>
            </a:r>
            <a:endParaRPr lang="fr-FR" sz="1050" dirty="0"/>
          </a:p>
        </p:txBody>
      </p:sp>
      <p:sp>
        <p:nvSpPr>
          <p:cNvPr id="27" name="Shape 22"/>
          <p:cNvSpPr/>
          <p:nvPr/>
        </p:nvSpPr>
        <p:spPr>
          <a:xfrm>
            <a:off x="621792" y="3054096"/>
            <a:ext cx="237744" cy="237744"/>
          </a:xfrm>
          <a:prstGeom prst="ellipse">
            <a:avLst/>
          </a:prstGeom>
          <a:solidFill>
            <a:srgbClr val="B83B2E">
              <a:alpha val="80000"/>
            </a:srgbClr>
          </a:solidFill>
          <a:ln/>
        </p:spPr>
      </p:sp>
      <p:sp>
        <p:nvSpPr>
          <p:cNvPr id="28" name="Text 23"/>
          <p:cNvSpPr txBox="1"/>
          <p:nvPr/>
        </p:nvSpPr>
        <p:spPr>
          <a:xfrm>
            <a:off x="621792" y="30540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9" name="Text 24"/>
          <p:cNvSpPr txBox="1"/>
          <p:nvPr/>
        </p:nvSpPr>
        <p:spPr>
          <a:xfrm>
            <a:off x="950976" y="30175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Compétences requises : mises à jour, sécurité</a:t>
            </a:r>
            <a:endParaRPr lang="fr-FR" sz="1050" dirty="0"/>
          </a:p>
        </p:txBody>
      </p:sp>
      <p:sp>
        <p:nvSpPr>
          <p:cNvPr id="30" name="Shape 25"/>
          <p:cNvSpPr/>
          <p:nvPr/>
        </p:nvSpPr>
        <p:spPr>
          <a:xfrm>
            <a:off x="3291840" y="1261872"/>
            <a:ext cx="2560320" cy="2267712"/>
          </a:xfrm>
          <a:prstGeom prst="roundRect">
            <a:avLst>
              <a:gd name="adj" fmla="val 3226"/>
            </a:avLst>
          </a:prstGeom>
          <a:solidFill>
            <a:srgbClr val="F4F7F5"/>
          </a:solidFill>
          <a:ln w="9525">
            <a:solidFill>
              <a:srgbClr val="D5DED9"/>
            </a:solidFill>
            <a:prstDash val="solid"/>
          </a:ln>
        </p:spPr>
      </p:sp>
      <p:sp>
        <p:nvSpPr>
          <p:cNvPr id="31" name="Shape 26"/>
          <p:cNvSpPr/>
          <p:nvPr/>
        </p:nvSpPr>
        <p:spPr>
          <a:xfrm>
            <a:off x="3438144" y="1371600"/>
            <a:ext cx="438912" cy="438912"/>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3552261" y="1485717"/>
            <a:ext cx="210678" cy="210678"/>
          </a:xfrm>
          <a:prstGeom prst="rect">
            <a:avLst/>
          </a:prstGeom>
        </p:spPr>
      </p:pic>
      <p:sp>
        <p:nvSpPr>
          <p:cNvPr id="33" name="Text 27"/>
          <p:cNvSpPr txBox="1"/>
          <p:nvPr/>
        </p:nvSpPr>
        <p:spPr>
          <a:xfrm>
            <a:off x="3986784" y="1371600"/>
            <a:ext cx="178308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Cloud managé</a:t>
            </a:r>
            <a:endParaRPr lang="fr-FR" sz="1400" dirty="0"/>
          </a:p>
        </p:txBody>
      </p:sp>
      <p:sp>
        <p:nvSpPr>
          <p:cNvPr id="34" name="Text 28"/>
          <p:cNvSpPr txBox="1"/>
          <p:nvPr/>
        </p:nvSpPr>
        <p:spPr>
          <a:xfrm>
            <a:off x="3986784" y="1609344"/>
            <a:ext cx="1783080" cy="27432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Elastic Cloud ou autre fournisseur</a:t>
            </a:r>
            <a:endParaRPr lang="fr-FR" sz="900" dirty="0"/>
          </a:p>
        </p:txBody>
      </p:sp>
      <p:sp>
        <p:nvSpPr>
          <p:cNvPr id="35" name="Shape 29"/>
          <p:cNvSpPr/>
          <p:nvPr/>
        </p:nvSpPr>
        <p:spPr>
          <a:xfrm>
            <a:off x="3456432" y="2139696"/>
            <a:ext cx="237744" cy="237744"/>
          </a:xfrm>
          <a:prstGeom prst="ellipse">
            <a:avLst/>
          </a:prstGeom>
          <a:solidFill>
            <a:srgbClr val="00A86A">
              <a:alpha val="80000"/>
            </a:srgbClr>
          </a:solidFill>
          <a:ln/>
        </p:spPr>
      </p:sp>
      <p:sp>
        <p:nvSpPr>
          <p:cNvPr id="36" name="Text 30"/>
          <p:cNvSpPr txBox="1"/>
          <p:nvPr/>
        </p:nvSpPr>
        <p:spPr>
          <a:xfrm>
            <a:off x="3456432" y="21396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37" name="Text 31"/>
          <p:cNvSpPr txBox="1"/>
          <p:nvPr/>
        </p:nvSpPr>
        <p:spPr>
          <a:xfrm>
            <a:off x="3785616" y="21031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Opérationnel en minutes, évolutif</a:t>
            </a:r>
            <a:endParaRPr lang="fr-FR" sz="1050" dirty="0"/>
          </a:p>
        </p:txBody>
      </p:sp>
      <p:sp>
        <p:nvSpPr>
          <p:cNvPr id="38" name="Shape 32"/>
          <p:cNvSpPr/>
          <p:nvPr/>
        </p:nvSpPr>
        <p:spPr>
          <a:xfrm>
            <a:off x="3456432" y="2596896"/>
            <a:ext cx="237744" cy="237744"/>
          </a:xfrm>
          <a:prstGeom prst="ellipse">
            <a:avLst/>
          </a:prstGeom>
          <a:solidFill>
            <a:srgbClr val="00A86A">
              <a:alpha val="80000"/>
            </a:srgbClr>
          </a:solidFill>
          <a:ln/>
        </p:spPr>
      </p:sp>
      <p:sp>
        <p:nvSpPr>
          <p:cNvPr id="39" name="Text 33"/>
          <p:cNvSpPr txBox="1"/>
          <p:nvPr/>
        </p:nvSpPr>
        <p:spPr>
          <a:xfrm>
            <a:off x="3456432" y="25968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40" name="Text 34"/>
          <p:cNvSpPr txBox="1"/>
          <p:nvPr/>
        </p:nvSpPr>
        <p:spPr>
          <a:xfrm>
            <a:off x="3785616" y="25603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Exploitation assurée par le fournisseur</a:t>
            </a:r>
            <a:endParaRPr lang="fr-FR" sz="1050" dirty="0"/>
          </a:p>
        </p:txBody>
      </p:sp>
      <p:sp>
        <p:nvSpPr>
          <p:cNvPr id="41" name="Shape 35"/>
          <p:cNvSpPr/>
          <p:nvPr/>
        </p:nvSpPr>
        <p:spPr>
          <a:xfrm>
            <a:off x="3456432" y="3054096"/>
            <a:ext cx="237744" cy="237744"/>
          </a:xfrm>
          <a:prstGeom prst="ellipse">
            <a:avLst/>
          </a:prstGeom>
          <a:solidFill>
            <a:srgbClr val="B83B2E">
              <a:alpha val="80000"/>
            </a:srgbClr>
          </a:solidFill>
          <a:ln/>
        </p:spPr>
      </p:sp>
      <p:sp>
        <p:nvSpPr>
          <p:cNvPr id="42" name="Text 36"/>
          <p:cNvSpPr txBox="1"/>
          <p:nvPr/>
        </p:nvSpPr>
        <p:spPr>
          <a:xfrm>
            <a:off x="3456432" y="30540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43" name="Text 37"/>
          <p:cNvSpPr txBox="1"/>
          <p:nvPr/>
        </p:nvSpPr>
        <p:spPr>
          <a:xfrm>
            <a:off x="3785616" y="30175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Résidence des données, coût récurrent</a:t>
            </a:r>
            <a:endParaRPr lang="fr-FR" sz="1050" dirty="0"/>
          </a:p>
        </p:txBody>
      </p:sp>
      <p:sp>
        <p:nvSpPr>
          <p:cNvPr id="44" name="Shape 38"/>
          <p:cNvSpPr/>
          <p:nvPr/>
        </p:nvSpPr>
        <p:spPr>
          <a:xfrm>
            <a:off x="6126480" y="1261872"/>
            <a:ext cx="2560320" cy="2267712"/>
          </a:xfrm>
          <a:prstGeom prst="roundRect">
            <a:avLst>
              <a:gd name="adj" fmla="val 3226"/>
            </a:avLst>
          </a:prstGeom>
          <a:solidFill>
            <a:srgbClr val="F4F7F5"/>
          </a:solidFill>
          <a:ln w="9525">
            <a:solidFill>
              <a:srgbClr val="D5DED9"/>
            </a:solidFill>
            <a:prstDash val="solid"/>
          </a:ln>
        </p:spPr>
      </p:sp>
      <p:sp>
        <p:nvSpPr>
          <p:cNvPr id="45" name="Shape 39"/>
          <p:cNvSpPr/>
          <p:nvPr/>
        </p:nvSpPr>
        <p:spPr>
          <a:xfrm>
            <a:off x="6272784" y="1371600"/>
            <a:ext cx="438912" cy="438912"/>
          </a:xfrm>
          <a:prstGeom prst="ellipse">
            <a:avLst/>
          </a:prstGeom>
          <a:solidFill>
            <a:srgbClr val="00704A">
              <a:alpha val="22000"/>
            </a:srgbClr>
          </a:solidFill>
          <a:ln/>
        </p:spPr>
      </p:sp>
      <p:pic>
        <p:nvPicPr>
          <p:cNvPr id="46" name="Image 3" descr="preencoded.png"/>
          <p:cNvPicPr>
            <a:picLocks noChangeAspect="1"/>
          </p:cNvPicPr>
          <p:nvPr/>
        </p:nvPicPr>
        <p:blipFill>
          <a:blip r:embed="rId6"/>
          <a:stretch>
            <a:fillRect/>
          </a:stretch>
        </p:blipFill>
        <p:spPr>
          <a:xfrm>
            <a:off x="6386901" y="1485717"/>
            <a:ext cx="210678" cy="210678"/>
          </a:xfrm>
          <a:prstGeom prst="rect">
            <a:avLst/>
          </a:prstGeom>
        </p:spPr>
      </p:pic>
      <p:sp>
        <p:nvSpPr>
          <p:cNvPr id="47" name="Text 40"/>
          <p:cNvSpPr txBox="1"/>
          <p:nvPr/>
        </p:nvSpPr>
        <p:spPr>
          <a:xfrm>
            <a:off x="6821424" y="1371600"/>
            <a:ext cx="1783080" cy="237744"/>
          </a:xfrm>
          <a:prstGeom prst="rect">
            <a:avLst/>
          </a:prstGeom>
          <a:noFill/>
          <a:ln/>
        </p:spPr>
        <p:txBody>
          <a:bodyPr wrap="square" lIns="0" tIns="0" rIns="0" bIns="0" rtlCol="0" anchor="t"/>
          <a:lstStyle/>
          <a:p>
            <a:pPr marL="0" indent="0">
              <a:buNone/>
            </a:pPr>
            <a:r>
              <a:rPr lang="fr-FR" altLang="en-US" sz="1400" b="1" dirty="0">
                <a:solidFill>
                  <a:srgbClr val="231F20"/>
                </a:solidFill>
                <a:latin typeface="Calibri" pitchFamily="34" charset="0"/>
                <a:ea typeface="Calibri" pitchFamily="34" charset="-122"/>
                <a:cs typeface="Calibri" pitchFamily="34" charset="-120"/>
              </a:rPr>
              <a:t>OpenSearch</a:t>
            </a:r>
            <a:endParaRPr lang="fr-FR" sz="1400" dirty="0"/>
          </a:p>
        </p:txBody>
      </p:sp>
      <p:sp>
        <p:nvSpPr>
          <p:cNvPr id="48" name="Text 41"/>
          <p:cNvSpPr txBox="1"/>
          <p:nvPr/>
        </p:nvSpPr>
        <p:spPr>
          <a:xfrm>
            <a:off x="6821424" y="1609344"/>
            <a:ext cx="1783080" cy="27432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Fork Apache 2.0, Linux Foundation</a:t>
            </a:r>
            <a:endParaRPr lang="fr-FR" sz="900" dirty="0"/>
          </a:p>
        </p:txBody>
      </p:sp>
      <p:sp>
        <p:nvSpPr>
          <p:cNvPr id="49" name="Shape 42"/>
          <p:cNvSpPr/>
          <p:nvPr/>
        </p:nvSpPr>
        <p:spPr>
          <a:xfrm>
            <a:off x="6291072" y="2139696"/>
            <a:ext cx="237744" cy="237744"/>
          </a:xfrm>
          <a:prstGeom prst="ellipse">
            <a:avLst/>
          </a:prstGeom>
          <a:solidFill>
            <a:srgbClr val="00A86A">
              <a:alpha val="80000"/>
            </a:srgbClr>
          </a:solidFill>
          <a:ln/>
        </p:spPr>
      </p:sp>
      <p:sp>
        <p:nvSpPr>
          <p:cNvPr id="50" name="Text 43"/>
          <p:cNvSpPr txBox="1"/>
          <p:nvPr/>
        </p:nvSpPr>
        <p:spPr>
          <a:xfrm>
            <a:off x="6291072" y="21396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1" name="Text 44"/>
          <p:cNvSpPr txBox="1"/>
          <p:nvPr/>
        </p:nvSpPr>
        <p:spPr>
          <a:xfrm>
            <a:off x="6620256" y="21031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Licence entièrement open source</a:t>
            </a:r>
            <a:endParaRPr lang="fr-FR" sz="1050" dirty="0"/>
          </a:p>
        </p:txBody>
      </p:sp>
      <p:sp>
        <p:nvSpPr>
          <p:cNvPr id="52" name="Shape 45"/>
          <p:cNvSpPr/>
          <p:nvPr/>
        </p:nvSpPr>
        <p:spPr>
          <a:xfrm>
            <a:off x="6291072" y="2596896"/>
            <a:ext cx="237744" cy="237744"/>
          </a:xfrm>
          <a:prstGeom prst="ellipse">
            <a:avLst/>
          </a:prstGeom>
          <a:solidFill>
            <a:srgbClr val="00A86A">
              <a:alpha val="80000"/>
            </a:srgbClr>
          </a:solidFill>
          <a:ln/>
        </p:spPr>
      </p:sp>
      <p:sp>
        <p:nvSpPr>
          <p:cNvPr id="53" name="Text 46"/>
          <p:cNvSpPr txBox="1"/>
          <p:nvPr/>
        </p:nvSpPr>
        <p:spPr>
          <a:xfrm>
            <a:off x="6291072" y="25968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4" name="Text 47"/>
          <p:cNvSpPr txBox="1"/>
          <p:nvPr/>
        </p:nvSpPr>
        <p:spPr>
          <a:xfrm>
            <a:off x="6620256" y="25603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Les concepts de la séance s’appliquent</a:t>
            </a:r>
            <a:endParaRPr lang="fr-FR" sz="1050" dirty="0"/>
          </a:p>
        </p:txBody>
      </p:sp>
      <p:sp>
        <p:nvSpPr>
          <p:cNvPr id="55" name="Shape 48"/>
          <p:cNvSpPr/>
          <p:nvPr/>
        </p:nvSpPr>
        <p:spPr>
          <a:xfrm>
            <a:off x="6291072" y="3054096"/>
            <a:ext cx="237744" cy="237744"/>
          </a:xfrm>
          <a:prstGeom prst="ellipse">
            <a:avLst/>
          </a:prstGeom>
          <a:solidFill>
            <a:srgbClr val="B83B2E">
              <a:alpha val="80000"/>
            </a:srgbClr>
          </a:solidFill>
          <a:ln/>
        </p:spPr>
      </p:sp>
      <p:sp>
        <p:nvSpPr>
          <p:cNvPr id="56" name="Text 49"/>
          <p:cNvSpPr txBox="1"/>
          <p:nvPr/>
        </p:nvSpPr>
        <p:spPr>
          <a:xfrm>
            <a:off x="6291072" y="3054096"/>
            <a:ext cx="237744" cy="237744"/>
          </a:xfrm>
          <a:prstGeom prst="rect">
            <a:avLst/>
          </a:prstGeom>
          <a:noFill/>
          <a:ln/>
        </p:spPr>
        <p:txBody>
          <a:bodyPr wrap="square" lIns="0" tIns="0" rIns="0" bIns="0" rtlCol="0" anchor="ctr"/>
          <a:lstStyle/>
          <a:p>
            <a:pPr marL="0" indent="0" algn="ctr">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7" name="Text 50"/>
          <p:cNvSpPr txBox="1"/>
          <p:nvPr/>
        </p:nvSpPr>
        <p:spPr>
          <a:xfrm>
            <a:off x="6620256" y="3017520"/>
            <a:ext cx="1920240" cy="384048"/>
          </a:xfrm>
          <a:prstGeom prst="rect">
            <a:avLst/>
          </a:prstGeom>
          <a:noFill/>
          <a:ln/>
        </p:spPr>
        <p:txBody>
          <a:bodyPr wrap="square" lIns="0" tIns="0" rIns="0" bIns="0" rtlCol="0" anchor="ctr"/>
          <a:lstStyle/>
          <a:p>
            <a:pPr marL="0" indent="0">
              <a:buNone/>
            </a:pPr>
            <a:r>
              <a:rPr lang="fr-FR" altLang="en-US" sz="1050" dirty="0">
                <a:solidFill>
                  <a:srgbClr val="231F20"/>
                </a:solidFill>
                <a:latin typeface="Calibri" pitchFamily="34" charset="0"/>
                <a:ea typeface="Calibri" pitchFamily="34" charset="-122"/>
                <a:cs typeface="Calibri" pitchFamily="34" charset="-120"/>
              </a:rPr>
              <a:t>Les API divergent par endroits</a:t>
            </a:r>
            <a:endParaRPr lang="fr-FR" sz="1050" dirty="0"/>
          </a:p>
        </p:txBody>
      </p:sp>
      <p:sp>
        <p:nvSpPr>
          <p:cNvPr id="58" name="Shape 51"/>
          <p:cNvSpPr/>
          <p:nvPr/>
        </p:nvSpPr>
        <p:spPr>
          <a:xfrm>
            <a:off x="457200" y="3675888"/>
            <a:ext cx="8229600" cy="822960"/>
          </a:xfrm>
          <a:prstGeom prst="roundRect">
            <a:avLst>
              <a:gd name="adj" fmla="val 8889"/>
            </a:avLst>
          </a:prstGeom>
          <a:solidFill>
            <a:srgbClr val="E8F5EF"/>
          </a:solidFill>
          <a:ln w="15875">
            <a:solidFill>
              <a:srgbClr val="B83B2E"/>
            </a:solidFill>
            <a:prstDash val="solid"/>
          </a:ln>
        </p:spPr>
      </p:sp>
      <p:sp>
        <p:nvSpPr>
          <p:cNvPr id="59" name="Shape 52"/>
          <p:cNvSpPr/>
          <p:nvPr/>
        </p:nvSpPr>
        <p:spPr>
          <a:xfrm>
            <a:off x="603504" y="3877056"/>
            <a:ext cx="475488" cy="475488"/>
          </a:xfrm>
          <a:prstGeom prst="ellipse">
            <a:avLst/>
          </a:prstGeom>
          <a:solidFill>
            <a:srgbClr val="B83B2E">
              <a:alpha val="22000"/>
            </a:srgbClr>
          </a:solidFill>
          <a:ln/>
        </p:spPr>
      </p:sp>
      <p:pic>
        <p:nvPicPr>
          <p:cNvPr id="60" name="Image 4" descr="preencoded.png"/>
          <p:cNvPicPr>
            <a:picLocks noChangeAspect="1"/>
          </p:cNvPicPr>
          <p:nvPr/>
        </p:nvPicPr>
        <p:blipFill>
          <a:blip r:embed="rId7"/>
          <a:stretch>
            <a:fillRect/>
          </a:stretch>
        </p:blipFill>
        <p:spPr>
          <a:xfrm>
            <a:off x="727131" y="4000683"/>
            <a:ext cx="228234" cy="228234"/>
          </a:xfrm>
          <a:prstGeom prst="rect">
            <a:avLst/>
          </a:prstGeom>
        </p:spPr>
      </p:pic>
      <p:sp>
        <p:nvSpPr>
          <p:cNvPr id="61" name="Text 53"/>
          <p:cNvSpPr txBox="1"/>
          <p:nvPr/>
        </p:nvSpPr>
        <p:spPr>
          <a:xfrm>
            <a:off x="1234440" y="3694176"/>
            <a:ext cx="7360920" cy="786384"/>
          </a:xfrm>
          <a:prstGeom prst="rect">
            <a:avLst/>
          </a:prstGeom>
          <a:noFill/>
          <a:ln/>
        </p:spPr>
        <p:txBody>
          <a:bodyPr wrap="square" lIns="0" tIns="0" rIns="0" bIns="0" rtlCol="0" anchor="ctr"/>
          <a:lstStyle/>
          <a:p>
            <a:pPr marL="0" indent="0">
              <a:buNone/>
            </a:pPr>
            <a:r>
              <a:rPr lang="fr-FR" altLang="en-US" sz="1000" b="1" dirty="0">
                <a:solidFill>
                  <a:srgbClr val="231F20"/>
                </a:solidFill>
                <a:latin typeface="Calibri" pitchFamily="34" charset="0"/>
                <a:ea typeface="Calibri" pitchFamily="34" charset="-122"/>
                <a:cs typeface="Calibri" pitchFamily="34" charset="-120"/>
              </a:rPr>
              <a:t>Licences en bref. </a:t>
            </a:r>
            <a:r>
              <a:rPr lang="fr-FR" altLang="en-US" sz="1000" dirty="0">
                <a:solidFill>
                  <a:srgbClr val="231F20"/>
                </a:solidFill>
                <a:latin typeface="Calibri" pitchFamily="34" charset="0"/>
                <a:ea typeface="Calibri" pitchFamily="34" charset="-122"/>
                <a:cs typeface="Calibri" pitchFamily="34" charset="-120"/>
              </a:rPr>
              <a:t>Depuis septembre 2024, le code d’Elasticsearch et de Kibana est aussi disponible sous AGPLv3 (licence approuvée par l’OSI), à côté de SSPL et de l’Elastic License ; les téléchargements par défaut restent sous Elastic License. Faites valider par votre service juridique.</a:t>
            </a:r>
            <a:endParaRPr lang="fr-FR" sz="1000" dirty="0"/>
          </a:p>
        </p:txBody>
      </p:sp>
      <p:sp>
        <p:nvSpPr>
          <p:cNvPr id="62" name="Text 54"/>
          <p:cNvSpPr txBox="1"/>
          <p:nvPr/>
        </p:nvSpPr>
        <p:spPr>
          <a:xfrm>
            <a:off x="457200" y="4626864"/>
            <a:ext cx="7589520" cy="182880"/>
          </a:xfrm>
          <a:prstGeom prst="rect">
            <a:avLst/>
          </a:prstGeom>
          <a:noFill/>
          <a:ln/>
        </p:spPr>
        <p:txBody>
          <a:bodyPr wrap="square" lIns="0" tIns="0" rIns="0" bIns="0" rtlCol="0" anchor="t"/>
          <a:lstStyle/>
          <a:p>
            <a:pPr marL="0" indent="0">
              <a:buNone/>
            </a:pPr>
            <a:r>
              <a:rPr lang="fr-FR" altLang="en-US" sz="900" i="1" dirty="0">
                <a:solidFill>
                  <a:srgbClr val="5E6964"/>
                </a:solidFill>
                <a:latin typeface="Calibri" pitchFamily="34" charset="0"/>
                <a:ea typeface="Calibri" pitchFamily="34" charset="-122"/>
                <a:cs typeface="Calibri" pitchFamily="34" charset="-120"/>
              </a:rPr>
              <a:t>Sources : Elastic, « FAQ on Software Licensing » et « Elasticsearch is Open Source. Again! » ; Revenera (2025) sur OpenSearch.</a:t>
            </a:r>
            <a:endParaRPr lang="fr-FR"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400" b="1" dirty="0">
                <a:solidFill>
                  <a:srgbClr val="231F20"/>
                </a:solidFill>
                <a:latin typeface="Calibri" pitchFamily="34" charset="0"/>
                <a:ea typeface="Calibri" pitchFamily="34" charset="-122"/>
                <a:cs typeface="Calibri" pitchFamily="34" charset="-120"/>
              </a:rPr>
              <a:t>Publier sur GitHub : le dépôt que votre équipe emporte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32</a:t>
            </a:r>
            <a:endParaRPr lang="fr-FR" sz="850" dirty="0"/>
          </a:p>
        </p:txBody>
      </p:sp>
      <p:sp>
        <p:nvSpPr>
          <p:cNvPr id="16" name="Text 12"/>
          <p:cNvSpPr txBox="1"/>
          <p:nvPr/>
        </p:nvSpPr>
        <p:spPr>
          <a:xfrm>
            <a:off x="457200" y="1261872"/>
            <a:ext cx="347472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STRUCTURE SUGGÉRÉE</a:t>
            </a:r>
            <a:endParaRPr lang="fr-FR" sz="900" dirty="0"/>
          </a:p>
        </p:txBody>
      </p:sp>
      <p:sp>
        <p:nvSpPr>
          <p:cNvPr id="17" name="Shape 13"/>
          <p:cNvSpPr/>
          <p:nvPr/>
        </p:nvSpPr>
        <p:spPr>
          <a:xfrm>
            <a:off x="457200" y="1508760"/>
            <a:ext cx="3474720" cy="3063240"/>
          </a:xfrm>
          <a:prstGeom prst="roundRect">
            <a:avLst>
              <a:gd name="adj" fmla="val 1791"/>
            </a:avLst>
          </a:prstGeom>
          <a:solidFill>
            <a:srgbClr val="FBFCFB"/>
          </a:solidFill>
          <a:ln w="9525">
            <a:solidFill>
              <a:srgbClr val="D5DED9"/>
            </a:solidFill>
            <a:prstDash val="solid"/>
          </a:ln>
        </p:spPr>
      </p:sp>
      <p:sp>
        <p:nvSpPr>
          <p:cNvPr id="18" name="Text 14"/>
          <p:cNvSpPr txBox="1"/>
          <p:nvPr/>
        </p:nvSpPr>
        <p:spPr>
          <a:xfrm>
            <a:off x="585216" y="1600200"/>
            <a:ext cx="3218688" cy="2880360"/>
          </a:xfrm>
          <a:prstGeom prst="rect">
            <a:avLst/>
          </a:prstGeom>
          <a:noFill/>
          <a:ln/>
        </p:spPr>
        <p:txBody>
          <a:bodyPr wrap="square" lIns="0" tIns="0" rIns="0" bIns="0" rtlCol="0" anchor="t"/>
          <a:lstStyle/>
          <a:p>
            <a:pPr marL="0" indent="0">
              <a:buNone/>
            </a:pPr>
            <a:r>
              <a:rPr lang="fr-FR" altLang="en-US" sz="900" dirty="0">
                <a:solidFill>
                  <a:srgbClr val="231F20"/>
                </a:solidFill>
                <a:latin typeface="Courier New" pitchFamily="34" charset="0"/>
                <a:ea typeface="Courier New" pitchFamily="34" charset="-122"/>
                <a:cs typeface="Courier New" pitchFamily="34" charset="-120"/>
              </a:rPr>
              <a:t>di4a-&lt;pays&gt;-connectivity/</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README.md</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LICENSE</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mappings/</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ookla-tiles.json</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notebooks/</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01_index_tiles.ipynb</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02_benchmark.ipynb</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queries/</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by_region.json</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by_region.esql</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kibana/</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dashboard.ndjson</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outputs/</a:t>
            </a:r>
            <a:endParaRPr lang="fr-FR" sz="900" dirty="0"/>
          </a:p>
          <a:p>
            <a:pPr marL="0" indent="0">
              <a:buNone/>
            </a:pPr>
            <a:r>
              <a:rPr lang="fr-FR" altLang="en-US" sz="900" dirty="0">
                <a:solidFill>
                  <a:srgbClr val="231F20"/>
                </a:solidFill>
                <a:latin typeface="Courier New" pitchFamily="34" charset="0"/>
                <a:ea typeface="Courier New" pitchFamily="34" charset="-122"/>
                <a:cs typeface="Courier New" pitchFamily="34" charset="-120"/>
              </a:rPr>
              <a:t>    └── connectivity_by_region.csv</a:t>
            </a:r>
            <a:endParaRPr lang="fr-FR" sz="900" dirty="0"/>
          </a:p>
        </p:txBody>
      </p:sp>
      <p:sp>
        <p:nvSpPr>
          <p:cNvPr id="19" name="Text 15"/>
          <p:cNvSpPr txBox="1"/>
          <p:nvPr/>
        </p:nvSpPr>
        <p:spPr>
          <a:xfrm>
            <a:off x="4297680" y="1261872"/>
            <a:ext cx="4389120" cy="182880"/>
          </a:xfrm>
          <a:prstGeom prst="rect">
            <a:avLst/>
          </a:prstGeom>
          <a:noFill/>
          <a:ln/>
        </p:spPr>
        <p:txBody>
          <a:bodyPr wrap="square" lIns="0" tIns="0" rIns="0" bIns="0" rtlCol="0" anchor="t"/>
          <a:lstStyle/>
          <a:p>
            <a:pPr marL="0" indent="0">
              <a:buNone/>
            </a:pPr>
            <a:r>
              <a:rPr lang="fr-FR" altLang="en-US" sz="900" b="1" kern="0" spc="200" dirty="0">
                <a:solidFill>
                  <a:srgbClr val="5E6964"/>
                </a:solidFill>
                <a:latin typeface="Calibri" pitchFamily="34" charset="0"/>
                <a:ea typeface="Calibri" pitchFamily="34" charset="-122"/>
                <a:cs typeface="Calibri" pitchFamily="34" charset="-120"/>
              </a:rPr>
              <a:t>LE README DOIT PRÉCISER</a:t>
            </a:r>
            <a:endParaRPr lang="fr-FR" sz="900" dirty="0"/>
          </a:p>
        </p:txBody>
      </p:sp>
      <p:pic>
        <p:nvPicPr>
          <p:cNvPr id="20" name="Image 1" descr="preencoded.png"/>
          <p:cNvPicPr>
            <a:picLocks noChangeAspect="1"/>
          </p:cNvPicPr>
          <p:nvPr/>
        </p:nvPicPr>
        <p:blipFill>
          <a:blip r:embed="rId4"/>
          <a:stretch>
            <a:fillRect/>
          </a:stretch>
        </p:blipFill>
        <p:spPr>
          <a:xfrm>
            <a:off x="4297680" y="1572768"/>
            <a:ext cx="274320" cy="274320"/>
          </a:xfrm>
          <a:prstGeom prst="rect">
            <a:avLst/>
          </a:prstGeom>
        </p:spPr>
      </p:pic>
      <p:sp>
        <p:nvSpPr>
          <p:cNvPr id="21" name="Text 16"/>
          <p:cNvSpPr txBox="1"/>
          <p:nvPr/>
        </p:nvSpPr>
        <p:spPr>
          <a:xfrm>
            <a:off x="4681728" y="1508760"/>
            <a:ext cx="3931920" cy="219456"/>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Méthode</a:t>
            </a:r>
            <a:endParaRPr lang="fr-FR" sz="1200" dirty="0"/>
          </a:p>
        </p:txBody>
      </p:sp>
      <p:sp>
        <p:nvSpPr>
          <p:cNvPr id="22" name="Text 17"/>
          <p:cNvSpPr txBox="1"/>
          <p:nvPr/>
        </p:nvSpPr>
        <p:spPr>
          <a:xfrm>
            <a:off x="4681728" y="1728216"/>
            <a:ext cx="3977640" cy="237744"/>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Enrichissement, choix de pondération, seuil minimal de tests.</a:t>
            </a:r>
            <a:endParaRPr lang="fr-FR" sz="1000" dirty="0"/>
          </a:p>
        </p:txBody>
      </p:sp>
      <p:pic>
        <p:nvPicPr>
          <p:cNvPr id="23" name="Image 2" descr="preencoded.png"/>
          <p:cNvPicPr>
            <a:picLocks noChangeAspect="1"/>
          </p:cNvPicPr>
          <p:nvPr/>
        </p:nvPicPr>
        <p:blipFill>
          <a:blip r:embed="rId4"/>
          <a:stretch>
            <a:fillRect/>
          </a:stretch>
        </p:blipFill>
        <p:spPr>
          <a:xfrm>
            <a:off x="4297680" y="2084832"/>
            <a:ext cx="274320" cy="274320"/>
          </a:xfrm>
          <a:prstGeom prst="rect">
            <a:avLst/>
          </a:prstGeom>
        </p:spPr>
      </p:pic>
      <p:sp>
        <p:nvSpPr>
          <p:cNvPr id="24" name="Text 18"/>
          <p:cNvSpPr txBox="1"/>
          <p:nvPr/>
        </p:nvSpPr>
        <p:spPr>
          <a:xfrm>
            <a:off x="4681728" y="2020824"/>
            <a:ext cx="3931920" cy="219456"/>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Sources</a:t>
            </a:r>
            <a:endParaRPr lang="fr-FR" sz="1200" dirty="0"/>
          </a:p>
        </p:txBody>
      </p:sp>
      <p:sp>
        <p:nvSpPr>
          <p:cNvPr id="25" name="Text 19"/>
          <p:cNvSpPr txBox="1"/>
          <p:nvPr/>
        </p:nvSpPr>
        <p:spPr>
          <a:xfrm>
            <a:off x="4681728" y="2240280"/>
            <a:ext cx="3977640" cy="237744"/>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Ookla, WorldPop et limites, avec millésime et date d’accès.</a:t>
            </a:r>
            <a:endParaRPr lang="fr-FR" sz="1000" dirty="0"/>
          </a:p>
        </p:txBody>
      </p:sp>
      <p:pic>
        <p:nvPicPr>
          <p:cNvPr id="26" name="Image 3" descr="preencoded.png"/>
          <p:cNvPicPr>
            <a:picLocks noChangeAspect="1"/>
          </p:cNvPicPr>
          <p:nvPr/>
        </p:nvPicPr>
        <p:blipFill>
          <a:blip r:embed="rId4"/>
          <a:stretch>
            <a:fillRect/>
          </a:stretch>
        </p:blipFill>
        <p:spPr>
          <a:xfrm>
            <a:off x="4297680" y="2596896"/>
            <a:ext cx="274320" cy="274320"/>
          </a:xfrm>
          <a:prstGeom prst="rect">
            <a:avLst/>
          </a:prstGeom>
        </p:spPr>
      </p:pic>
      <p:sp>
        <p:nvSpPr>
          <p:cNvPr id="27" name="Text 20"/>
          <p:cNvSpPr txBox="1"/>
          <p:nvPr/>
        </p:nvSpPr>
        <p:spPr>
          <a:xfrm>
            <a:off x="4681728" y="2532888"/>
            <a:ext cx="3931920" cy="219456"/>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Licences</a:t>
            </a:r>
            <a:endParaRPr lang="fr-FR" sz="1200" dirty="0"/>
          </a:p>
        </p:txBody>
      </p:sp>
      <p:sp>
        <p:nvSpPr>
          <p:cNvPr id="28" name="Text 21"/>
          <p:cNvSpPr txBox="1"/>
          <p:nvPr/>
        </p:nvSpPr>
        <p:spPr>
          <a:xfrm>
            <a:off x="4681728" y="2752344"/>
            <a:ext cx="3977640" cy="237744"/>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CC BY-NC-SA 4.0 pour les données ; licence distincte pour le code.</a:t>
            </a:r>
            <a:endParaRPr lang="fr-FR" sz="1000" dirty="0"/>
          </a:p>
        </p:txBody>
      </p:sp>
      <p:pic>
        <p:nvPicPr>
          <p:cNvPr id="29" name="Image 4" descr="preencoded.png"/>
          <p:cNvPicPr>
            <a:picLocks noChangeAspect="1"/>
          </p:cNvPicPr>
          <p:nvPr/>
        </p:nvPicPr>
        <p:blipFill>
          <a:blip r:embed="rId4"/>
          <a:stretch>
            <a:fillRect/>
          </a:stretch>
        </p:blipFill>
        <p:spPr>
          <a:xfrm>
            <a:off x="4297680" y="3108960"/>
            <a:ext cx="274320" cy="274320"/>
          </a:xfrm>
          <a:prstGeom prst="rect">
            <a:avLst/>
          </a:prstGeom>
        </p:spPr>
      </p:pic>
      <p:sp>
        <p:nvSpPr>
          <p:cNvPr id="30" name="Text 22"/>
          <p:cNvSpPr txBox="1"/>
          <p:nvPr/>
        </p:nvSpPr>
        <p:spPr>
          <a:xfrm>
            <a:off x="4681728" y="3044952"/>
            <a:ext cx="3931920" cy="219456"/>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Limites</a:t>
            </a:r>
            <a:endParaRPr lang="fr-FR" sz="1200" dirty="0"/>
          </a:p>
        </p:txBody>
      </p:sp>
      <p:sp>
        <p:nvSpPr>
          <p:cNvPr id="31" name="Text 23"/>
          <p:cNvSpPr txBox="1"/>
          <p:nvPr/>
        </p:nvSpPr>
        <p:spPr>
          <a:xfrm>
            <a:off x="4681728" y="3264408"/>
            <a:ext cx="3977640" cy="237744"/>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Biais de couverture, population non couverte, limites du proxy.</a:t>
            </a:r>
            <a:endParaRPr lang="fr-FR" sz="1000" dirty="0"/>
          </a:p>
        </p:txBody>
      </p:sp>
      <p:pic>
        <p:nvPicPr>
          <p:cNvPr id="32" name="Image 5" descr="preencoded.png"/>
          <p:cNvPicPr>
            <a:picLocks noChangeAspect="1"/>
          </p:cNvPicPr>
          <p:nvPr/>
        </p:nvPicPr>
        <p:blipFill>
          <a:blip r:embed="rId4"/>
          <a:stretch>
            <a:fillRect/>
          </a:stretch>
        </p:blipFill>
        <p:spPr>
          <a:xfrm>
            <a:off x="4297680" y="3621024"/>
            <a:ext cx="274320" cy="274320"/>
          </a:xfrm>
          <a:prstGeom prst="rect">
            <a:avLst/>
          </a:prstGeom>
        </p:spPr>
      </p:pic>
      <p:sp>
        <p:nvSpPr>
          <p:cNvPr id="33" name="Text 24"/>
          <p:cNvSpPr txBox="1"/>
          <p:nvPr/>
        </p:nvSpPr>
        <p:spPr>
          <a:xfrm>
            <a:off x="4681728" y="3557016"/>
            <a:ext cx="3931920" cy="219456"/>
          </a:xfrm>
          <a:prstGeom prst="rect">
            <a:avLst/>
          </a:prstGeom>
          <a:noFill/>
          <a:ln/>
        </p:spPr>
        <p:txBody>
          <a:bodyPr wrap="square" lIns="0" tIns="0" rIns="0" bIns="0" rtlCol="0" anchor="t"/>
          <a:lstStyle/>
          <a:p>
            <a:pPr marL="0" indent="0">
              <a:buNone/>
            </a:pPr>
            <a:r>
              <a:rPr lang="fr-FR" altLang="en-US" sz="1200" b="1" dirty="0">
                <a:solidFill>
                  <a:srgbClr val="231F20"/>
                </a:solidFill>
                <a:latin typeface="Calibri" pitchFamily="34" charset="0"/>
                <a:ea typeface="Calibri" pitchFamily="34" charset="-122"/>
                <a:cs typeface="Calibri" pitchFamily="34" charset="-120"/>
              </a:rPr>
              <a:t>Reproduire</a:t>
            </a:r>
            <a:endParaRPr lang="fr-FR" sz="1200" dirty="0"/>
          </a:p>
        </p:txBody>
      </p:sp>
      <p:sp>
        <p:nvSpPr>
          <p:cNvPr id="34" name="Text 25"/>
          <p:cNvSpPr txBox="1"/>
          <p:nvPr/>
        </p:nvSpPr>
        <p:spPr>
          <a:xfrm>
            <a:off x="4681728" y="3776472"/>
            <a:ext cx="3977640" cy="237744"/>
          </a:xfrm>
          <a:prstGeom prst="rect">
            <a:avLst/>
          </a:prstGeom>
          <a:noFill/>
          <a:ln/>
        </p:spPr>
        <p:txBody>
          <a:bodyPr wrap="square" lIns="0" tIns="0" rIns="0" bIns="0" rtlCol="0" anchor="t"/>
          <a:lstStyle/>
          <a:p>
            <a:pPr marL="0" indent="0">
              <a:buNone/>
            </a:pPr>
            <a:r>
              <a:rPr lang="fr-FR" altLang="en-US" sz="1000" dirty="0">
                <a:solidFill>
                  <a:srgbClr val="5E6964"/>
                </a:solidFill>
                <a:latin typeface="Calibri" pitchFamily="34" charset="0"/>
                <a:ea typeface="Calibri" pitchFamily="34" charset="-122"/>
                <a:cs typeface="Calibri" pitchFamily="34" charset="-120"/>
              </a:rPr>
              <a:t>Versions logicielles, commandes, résultats attendus.</a:t>
            </a:r>
            <a:endParaRPr lang="fr-FR" sz="1000" dirty="0"/>
          </a:p>
        </p:txBody>
      </p:sp>
      <p:sp>
        <p:nvSpPr>
          <p:cNvPr id="35" name="Shape 26"/>
          <p:cNvSpPr/>
          <p:nvPr/>
        </p:nvSpPr>
        <p:spPr>
          <a:xfrm>
            <a:off x="4297680" y="4133088"/>
            <a:ext cx="4389120" cy="402336"/>
          </a:xfrm>
          <a:prstGeom prst="roundRect">
            <a:avLst>
              <a:gd name="adj" fmla="val 50000"/>
            </a:avLst>
          </a:prstGeom>
          <a:solidFill>
            <a:srgbClr val="B83B2E">
              <a:alpha val="12000"/>
            </a:srgbClr>
          </a:solidFill>
          <a:ln w="9525">
            <a:solidFill>
              <a:srgbClr val="B83B2E"/>
            </a:solidFill>
            <a:prstDash val="solid"/>
          </a:ln>
        </p:spPr>
      </p:sp>
      <p:sp>
        <p:nvSpPr>
          <p:cNvPr id="36" name="Text 27"/>
          <p:cNvSpPr txBox="1"/>
          <p:nvPr/>
        </p:nvSpPr>
        <p:spPr>
          <a:xfrm>
            <a:off x="4480560" y="4133088"/>
            <a:ext cx="4114800" cy="402336"/>
          </a:xfrm>
          <a:prstGeom prst="rect">
            <a:avLst/>
          </a:prstGeom>
          <a:noFill/>
          <a:ln/>
        </p:spPr>
        <p:txBody>
          <a:bodyPr wrap="square" lIns="0" tIns="0" rIns="0" bIns="0" rtlCol="0" anchor="ctr"/>
          <a:lstStyle/>
          <a:p>
            <a:pPr marL="0" indent="0">
              <a:buNone/>
            </a:pPr>
            <a:r>
              <a:rPr lang="fr-FR" altLang="en-US" sz="1050" b="1" dirty="0">
                <a:solidFill>
                  <a:srgbClr val="B83B2E"/>
                </a:solidFill>
                <a:latin typeface="Calibri" pitchFamily="34" charset="0"/>
                <a:ea typeface="Calibri" pitchFamily="34" charset="-122"/>
                <a:cs typeface="Calibri" pitchFamily="34" charset="-120"/>
              </a:rPr>
              <a:t>Alimente →  </a:t>
            </a:r>
            <a:r>
              <a:rPr lang="fr-FR" altLang="en-US" sz="1050" dirty="0">
                <a:solidFill>
                  <a:srgbClr val="231F20"/>
                </a:solidFill>
                <a:latin typeface="Calibri" pitchFamily="34" charset="0"/>
                <a:ea typeface="Calibri" pitchFamily="34" charset="-122"/>
                <a:cs typeface="Calibri" pitchFamily="34" charset="-120"/>
              </a:rPr>
              <a:t>Statistiques nationales de connectivité  ·  présentations pays</a:t>
            </a:r>
            <a:endParaRPr lang="fr-FR"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MESSAGES CLÉS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Six idées à rapporter dans votre institut</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33</a:t>
            </a:r>
            <a:endParaRPr lang="fr-FR" sz="850" dirty="0"/>
          </a:p>
        </p:txBody>
      </p:sp>
      <p:sp>
        <p:nvSpPr>
          <p:cNvPr id="10" name="Shape 6"/>
          <p:cNvSpPr/>
          <p:nvPr/>
        </p:nvSpPr>
        <p:spPr>
          <a:xfrm>
            <a:off x="457200" y="1261872"/>
            <a:ext cx="4023360" cy="960120"/>
          </a:xfrm>
          <a:prstGeom prst="roundRect">
            <a:avLst>
              <a:gd name="adj" fmla="val 7619"/>
            </a:avLst>
          </a:prstGeom>
          <a:solidFill>
            <a:srgbClr val="F4F7F5"/>
          </a:solidFill>
          <a:ln w="9525">
            <a:solidFill>
              <a:srgbClr val="D5DED9"/>
            </a:solidFill>
            <a:prstDash val="solid"/>
          </a:ln>
        </p:spPr>
      </p:sp>
      <p:sp>
        <p:nvSpPr>
          <p:cNvPr id="11" name="Text 7"/>
          <p:cNvSpPr txBox="1"/>
          <p:nvPr/>
        </p:nvSpPr>
        <p:spPr>
          <a:xfrm>
            <a:off x="621792" y="1261872"/>
            <a:ext cx="640080" cy="960120"/>
          </a:xfrm>
          <a:prstGeom prst="rect">
            <a:avLst/>
          </a:prstGeom>
          <a:noFill/>
          <a:ln/>
        </p:spPr>
        <p:txBody>
          <a:bodyPr wrap="square" lIns="0" tIns="0" rIns="0" bIns="0" rtlCol="0" anchor="ctr"/>
          <a:lstStyle/>
          <a:p>
            <a:pPr marL="0" indent="0">
              <a:buNone/>
            </a:pPr>
            <a:r>
              <a:rPr lang="fr-FR" altLang="en-US" sz="3200" b="1" dirty="0">
                <a:solidFill>
                  <a:srgbClr val="00A86A"/>
                </a:solidFill>
                <a:latin typeface="Calibri" pitchFamily="34" charset="0"/>
                <a:ea typeface="Calibri" pitchFamily="34" charset="-122"/>
                <a:cs typeface="Calibri" pitchFamily="34" charset="-120"/>
              </a:rPr>
              <a:t>01</a:t>
            </a:r>
            <a:endParaRPr lang="fr-FR" sz="3200" dirty="0"/>
          </a:p>
        </p:txBody>
      </p:sp>
      <p:sp>
        <p:nvSpPr>
          <p:cNvPr id="12" name="Text 8"/>
          <p:cNvSpPr txBox="1"/>
          <p:nvPr/>
        </p:nvSpPr>
        <p:spPr>
          <a:xfrm>
            <a:off x="1325880" y="141732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Une brique parmi d’autres</a:t>
            </a:r>
            <a:endParaRPr lang="fr-FR" sz="1350" dirty="0"/>
          </a:p>
        </p:txBody>
      </p:sp>
      <p:sp>
        <p:nvSpPr>
          <p:cNvPr id="13" name="Text 9"/>
          <p:cNvSpPr txBox="1"/>
          <p:nvPr/>
        </p:nvSpPr>
        <p:spPr>
          <a:xfrm>
            <a:off x="1325880" y="171907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Gardez le brut dans le lac ; indexez un sous-ensemble enrichi.</a:t>
            </a:r>
            <a:endParaRPr lang="fr-FR" sz="1050" dirty="0"/>
          </a:p>
        </p:txBody>
      </p:sp>
      <p:sp>
        <p:nvSpPr>
          <p:cNvPr id="14" name="Shape 10"/>
          <p:cNvSpPr/>
          <p:nvPr/>
        </p:nvSpPr>
        <p:spPr>
          <a:xfrm>
            <a:off x="4663440" y="1261872"/>
            <a:ext cx="4023360" cy="960120"/>
          </a:xfrm>
          <a:prstGeom prst="roundRect">
            <a:avLst>
              <a:gd name="adj" fmla="val 7619"/>
            </a:avLst>
          </a:prstGeom>
          <a:solidFill>
            <a:srgbClr val="F4F7F5"/>
          </a:solidFill>
          <a:ln w="9525">
            <a:solidFill>
              <a:srgbClr val="D5DED9"/>
            </a:solidFill>
            <a:prstDash val="solid"/>
          </a:ln>
        </p:spPr>
      </p:sp>
      <p:sp>
        <p:nvSpPr>
          <p:cNvPr id="15" name="Text 11"/>
          <p:cNvSpPr txBox="1"/>
          <p:nvPr/>
        </p:nvSpPr>
        <p:spPr>
          <a:xfrm>
            <a:off x="4828032" y="1261872"/>
            <a:ext cx="640080" cy="960120"/>
          </a:xfrm>
          <a:prstGeom prst="rect">
            <a:avLst/>
          </a:prstGeom>
          <a:noFill/>
          <a:ln/>
        </p:spPr>
        <p:txBody>
          <a:bodyPr wrap="square" lIns="0" tIns="0" rIns="0" bIns="0" rtlCol="0" anchor="ctr"/>
          <a:lstStyle/>
          <a:p>
            <a:pPr marL="0" indent="0">
              <a:buNone/>
            </a:pPr>
            <a:r>
              <a:rPr lang="fr-FR" altLang="en-US" sz="3200" b="1" dirty="0">
                <a:solidFill>
                  <a:srgbClr val="00704A"/>
                </a:solidFill>
                <a:latin typeface="Calibri" pitchFamily="34" charset="0"/>
                <a:ea typeface="Calibri" pitchFamily="34" charset="-122"/>
                <a:cs typeface="Calibri" pitchFamily="34" charset="-120"/>
              </a:rPr>
              <a:t>02</a:t>
            </a:r>
            <a:endParaRPr lang="fr-FR" sz="3200" dirty="0"/>
          </a:p>
        </p:txBody>
      </p:sp>
      <p:sp>
        <p:nvSpPr>
          <p:cNvPr id="16" name="Text 12"/>
          <p:cNvSpPr txBox="1"/>
          <p:nvPr/>
        </p:nvSpPr>
        <p:spPr>
          <a:xfrm>
            <a:off x="5532120" y="141732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L’index inversé est la clé</a:t>
            </a:r>
            <a:endParaRPr lang="fr-FR" sz="1350" dirty="0"/>
          </a:p>
        </p:txBody>
      </p:sp>
      <p:sp>
        <p:nvSpPr>
          <p:cNvPr id="17" name="Text 13"/>
          <p:cNvSpPr txBox="1"/>
          <p:nvPr/>
        </p:nvSpPr>
        <p:spPr>
          <a:xfrm>
            <a:off x="5532120" y="171907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Le travail fait à l’indexation se paie en vitesse à la requête.</a:t>
            </a:r>
            <a:endParaRPr lang="fr-FR" sz="1050" dirty="0"/>
          </a:p>
        </p:txBody>
      </p:sp>
      <p:sp>
        <p:nvSpPr>
          <p:cNvPr id="18" name="Shape 14"/>
          <p:cNvSpPr/>
          <p:nvPr/>
        </p:nvSpPr>
        <p:spPr>
          <a:xfrm>
            <a:off x="457200" y="2359152"/>
            <a:ext cx="4023360" cy="960120"/>
          </a:xfrm>
          <a:prstGeom prst="roundRect">
            <a:avLst>
              <a:gd name="adj" fmla="val 7619"/>
            </a:avLst>
          </a:prstGeom>
          <a:solidFill>
            <a:srgbClr val="F4F7F5"/>
          </a:solidFill>
          <a:ln w="9525">
            <a:solidFill>
              <a:srgbClr val="D5DED9"/>
            </a:solidFill>
            <a:prstDash val="solid"/>
          </a:ln>
        </p:spPr>
      </p:sp>
      <p:sp>
        <p:nvSpPr>
          <p:cNvPr id="19" name="Text 15"/>
          <p:cNvSpPr txBox="1"/>
          <p:nvPr/>
        </p:nvSpPr>
        <p:spPr>
          <a:xfrm>
            <a:off x="621792" y="2359152"/>
            <a:ext cx="640080" cy="960120"/>
          </a:xfrm>
          <a:prstGeom prst="rect">
            <a:avLst/>
          </a:prstGeom>
          <a:noFill/>
          <a:ln/>
        </p:spPr>
        <p:txBody>
          <a:bodyPr wrap="square" lIns="0" tIns="0" rIns="0" bIns="0" rtlCol="0" anchor="ctr"/>
          <a:lstStyle/>
          <a:p>
            <a:pPr marL="0" indent="0">
              <a:buNone/>
            </a:pPr>
            <a:r>
              <a:rPr lang="fr-FR" altLang="en-US" sz="3200" b="1" dirty="0">
                <a:solidFill>
                  <a:srgbClr val="0E7C86"/>
                </a:solidFill>
                <a:latin typeface="Calibri" pitchFamily="34" charset="0"/>
                <a:ea typeface="Calibri" pitchFamily="34" charset="-122"/>
                <a:cs typeface="Calibri" pitchFamily="34" charset="-120"/>
              </a:rPr>
              <a:t>03</a:t>
            </a:r>
            <a:endParaRPr lang="fr-FR" sz="3200" dirty="0"/>
          </a:p>
        </p:txBody>
      </p:sp>
      <p:sp>
        <p:nvSpPr>
          <p:cNvPr id="20" name="Text 16"/>
          <p:cNvSpPr txBox="1"/>
          <p:nvPr/>
        </p:nvSpPr>
        <p:spPr>
          <a:xfrm>
            <a:off x="1325880" y="251460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Modéliser avant de charger</a:t>
            </a:r>
            <a:endParaRPr lang="fr-FR" sz="1350" dirty="0"/>
          </a:p>
        </p:txBody>
      </p:sp>
      <p:sp>
        <p:nvSpPr>
          <p:cNvPr id="21" name="Text 17"/>
          <p:cNvSpPr txBox="1"/>
          <p:nvPr/>
        </p:nvSpPr>
        <p:spPr>
          <a:xfrm>
            <a:off x="1325880" y="281635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Mappings stricts, codes en keyword, point et polygone.</a:t>
            </a:r>
            <a:endParaRPr lang="fr-FR" sz="1050" dirty="0"/>
          </a:p>
        </p:txBody>
      </p:sp>
      <p:sp>
        <p:nvSpPr>
          <p:cNvPr id="22" name="Shape 18"/>
          <p:cNvSpPr/>
          <p:nvPr/>
        </p:nvSpPr>
        <p:spPr>
          <a:xfrm>
            <a:off x="4663440" y="2359152"/>
            <a:ext cx="4023360" cy="960120"/>
          </a:xfrm>
          <a:prstGeom prst="roundRect">
            <a:avLst>
              <a:gd name="adj" fmla="val 7619"/>
            </a:avLst>
          </a:prstGeom>
          <a:solidFill>
            <a:srgbClr val="F4F7F5"/>
          </a:solidFill>
          <a:ln w="9525">
            <a:solidFill>
              <a:srgbClr val="D5DED9"/>
            </a:solidFill>
            <a:prstDash val="solid"/>
          </a:ln>
        </p:spPr>
      </p:sp>
      <p:sp>
        <p:nvSpPr>
          <p:cNvPr id="23" name="Text 19"/>
          <p:cNvSpPr txBox="1"/>
          <p:nvPr/>
        </p:nvSpPr>
        <p:spPr>
          <a:xfrm>
            <a:off x="4828032" y="2359152"/>
            <a:ext cx="640080" cy="960120"/>
          </a:xfrm>
          <a:prstGeom prst="rect">
            <a:avLst/>
          </a:prstGeom>
          <a:noFill/>
          <a:ln/>
        </p:spPr>
        <p:txBody>
          <a:bodyPr wrap="square" lIns="0" tIns="0" rIns="0" bIns="0" rtlCol="0" anchor="ctr"/>
          <a:lstStyle/>
          <a:p>
            <a:pPr marL="0" indent="0">
              <a:buNone/>
            </a:pPr>
            <a:r>
              <a:rPr lang="fr-FR" altLang="en-US" sz="3200" b="1" dirty="0">
                <a:solidFill>
                  <a:srgbClr val="D49A00"/>
                </a:solidFill>
                <a:latin typeface="Calibri" pitchFamily="34" charset="0"/>
                <a:ea typeface="Calibri" pitchFamily="34" charset="-122"/>
                <a:cs typeface="Calibri" pitchFamily="34" charset="-120"/>
              </a:rPr>
              <a:t>04</a:t>
            </a:r>
            <a:endParaRPr lang="fr-FR" sz="3200" dirty="0"/>
          </a:p>
        </p:txBody>
      </p:sp>
      <p:sp>
        <p:nvSpPr>
          <p:cNvPr id="24" name="Text 20"/>
          <p:cNvSpPr txBox="1"/>
          <p:nvPr/>
        </p:nvSpPr>
        <p:spPr>
          <a:xfrm>
            <a:off x="5532120" y="251460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Pondérer est un choix de méthode</a:t>
            </a:r>
            <a:endParaRPr lang="fr-FR" sz="1350" dirty="0"/>
          </a:p>
        </p:txBody>
      </p:sp>
      <p:sp>
        <p:nvSpPr>
          <p:cNvPr id="25" name="Text 21"/>
          <p:cNvSpPr txBox="1"/>
          <p:nvPr/>
        </p:nvSpPr>
        <p:spPr>
          <a:xfrm>
            <a:off x="5532120" y="281635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Documentez-le et publiez la couverture de population.</a:t>
            </a:r>
            <a:endParaRPr lang="fr-FR" sz="1050" dirty="0"/>
          </a:p>
        </p:txBody>
      </p:sp>
      <p:sp>
        <p:nvSpPr>
          <p:cNvPr id="26" name="Shape 22"/>
          <p:cNvSpPr/>
          <p:nvPr/>
        </p:nvSpPr>
        <p:spPr>
          <a:xfrm>
            <a:off x="457200" y="3456432"/>
            <a:ext cx="4023360" cy="960120"/>
          </a:xfrm>
          <a:prstGeom prst="roundRect">
            <a:avLst>
              <a:gd name="adj" fmla="val 7619"/>
            </a:avLst>
          </a:prstGeom>
          <a:solidFill>
            <a:srgbClr val="F4F7F5"/>
          </a:solidFill>
          <a:ln w="9525">
            <a:solidFill>
              <a:srgbClr val="D5DED9"/>
            </a:solidFill>
            <a:prstDash val="solid"/>
          </a:ln>
        </p:spPr>
      </p:sp>
      <p:sp>
        <p:nvSpPr>
          <p:cNvPr id="27" name="Text 23"/>
          <p:cNvSpPr txBox="1"/>
          <p:nvPr/>
        </p:nvSpPr>
        <p:spPr>
          <a:xfrm>
            <a:off x="621792" y="3456432"/>
            <a:ext cx="640080" cy="960120"/>
          </a:xfrm>
          <a:prstGeom prst="rect">
            <a:avLst/>
          </a:prstGeom>
          <a:noFill/>
          <a:ln/>
        </p:spPr>
        <p:txBody>
          <a:bodyPr wrap="square" lIns="0" tIns="0" rIns="0" bIns="0" rtlCol="0" anchor="ctr"/>
          <a:lstStyle/>
          <a:p>
            <a:pPr marL="0" indent="0">
              <a:buNone/>
            </a:pPr>
            <a:r>
              <a:rPr lang="fr-FR" altLang="en-US" sz="3200" b="1" dirty="0">
                <a:solidFill>
                  <a:srgbClr val="C4621D"/>
                </a:solidFill>
                <a:latin typeface="Calibri" pitchFamily="34" charset="0"/>
                <a:ea typeface="Calibri" pitchFamily="34" charset="-122"/>
                <a:cs typeface="Calibri" pitchFamily="34" charset="-120"/>
              </a:rPr>
              <a:t>05</a:t>
            </a:r>
            <a:endParaRPr lang="fr-FR" sz="3200" dirty="0"/>
          </a:p>
        </p:txBody>
      </p:sp>
      <p:sp>
        <p:nvSpPr>
          <p:cNvPr id="28" name="Text 24"/>
          <p:cNvSpPr txBox="1"/>
          <p:nvPr/>
        </p:nvSpPr>
        <p:spPr>
          <a:xfrm>
            <a:off x="1325880" y="361188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Kibana ouvre les données à tous</a:t>
            </a:r>
            <a:endParaRPr lang="fr-FR" sz="1350" dirty="0"/>
          </a:p>
        </p:txBody>
      </p:sp>
      <p:sp>
        <p:nvSpPr>
          <p:cNvPr id="29" name="Text 25"/>
          <p:cNvSpPr txBox="1"/>
          <p:nvPr/>
        </p:nvSpPr>
        <p:spPr>
          <a:xfrm>
            <a:off x="1325880" y="391363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Mais choisissez l’outil sur votre propre comparatif.</a:t>
            </a:r>
            <a:endParaRPr lang="fr-FR" sz="1050" dirty="0"/>
          </a:p>
        </p:txBody>
      </p:sp>
      <p:sp>
        <p:nvSpPr>
          <p:cNvPr id="30" name="Shape 26"/>
          <p:cNvSpPr/>
          <p:nvPr/>
        </p:nvSpPr>
        <p:spPr>
          <a:xfrm>
            <a:off x="4663440" y="3456432"/>
            <a:ext cx="4023360" cy="960120"/>
          </a:xfrm>
          <a:prstGeom prst="roundRect">
            <a:avLst>
              <a:gd name="adj" fmla="val 7619"/>
            </a:avLst>
          </a:prstGeom>
          <a:solidFill>
            <a:srgbClr val="F4F7F5"/>
          </a:solidFill>
          <a:ln w="9525">
            <a:solidFill>
              <a:srgbClr val="D5DED9"/>
            </a:solidFill>
            <a:prstDash val="solid"/>
          </a:ln>
        </p:spPr>
      </p:sp>
      <p:sp>
        <p:nvSpPr>
          <p:cNvPr id="31" name="Text 27"/>
          <p:cNvSpPr txBox="1"/>
          <p:nvPr/>
        </p:nvSpPr>
        <p:spPr>
          <a:xfrm>
            <a:off x="4828032" y="3456432"/>
            <a:ext cx="640080" cy="960120"/>
          </a:xfrm>
          <a:prstGeom prst="rect">
            <a:avLst/>
          </a:prstGeom>
          <a:noFill/>
          <a:ln/>
        </p:spPr>
        <p:txBody>
          <a:bodyPr wrap="square" lIns="0" tIns="0" rIns="0" bIns="0" rtlCol="0" anchor="ctr"/>
          <a:lstStyle/>
          <a:p>
            <a:pPr marL="0" indent="0">
              <a:buNone/>
            </a:pPr>
            <a:r>
              <a:rPr lang="fr-FR" altLang="en-US" sz="3200" b="1" dirty="0">
                <a:solidFill>
                  <a:srgbClr val="B83B2E"/>
                </a:solidFill>
                <a:latin typeface="Calibri" pitchFamily="34" charset="0"/>
                <a:ea typeface="Calibri" pitchFamily="34" charset="-122"/>
                <a:cs typeface="Calibri" pitchFamily="34" charset="-120"/>
              </a:rPr>
              <a:t>06</a:t>
            </a:r>
            <a:endParaRPr lang="fr-FR" sz="3200" dirty="0"/>
          </a:p>
        </p:txBody>
      </p:sp>
      <p:sp>
        <p:nvSpPr>
          <p:cNvPr id="32" name="Text 28"/>
          <p:cNvSpPr txBox="1"/>
          <p:nvPr/>
        </p:nvSpPr>
        <p:spPr>
          <a:xfrm>
            <a:off x="5532120" y="3611880"/>
            <a:ext cx="3017520" cy="274320"/>
          </a:xfrm>
          <a:prstGeom prst="rect">
            <a:avLst/>
          </a:prstGeom>
          <a:noFill/>
          <a:ln/>
        </p:spPr>
        <p:txBody>
          <a:bodyPr wrap="square" lIns="0" tIns="0" rIns="0" bIns="0" rtlCol="0" anchor="t"/>
          <a:lstStyle/>
          <a:p>
            <a:pPr marL="0" indent="0">
              <a:buNone/>
            </a:pPr>
            <a:r>
              <a:rPr lang="fr-FR" altLang="en-US" sz="1350" b="1" dirty="0">
                <a:solidFill>
                  <a:srgbClr val="231F20"/>
                </a:solidFill>
                <a:latin typeface="Calibri" pitchFamily="34" charset="0"/>
                <a:ea typeface="Calibri" pitchFamily="34" charset="-122"/>
                <a:cs typeface="Calibri" pitchFamily="34" charset="-120"/>
              </a:rPr>
              <a:t>Vitesse ne vaut pas qualité</a:t>
            </a:r>
            <a:endParaRPr lang="fr-FR" sz="1350" dirty="0"/>
          </a:p>
        </p:txBody>
      </p:sp>
      <p:sp>
        <p:nvSpPr>
          <p:cNvPr id="33" name="Text 29"/>
          <p:cNvSpPr txBox="1"/>
          <p:nvPr/>
        </p:nvSpPr>
        <p:spPr>
          <a:xfrm>
            <a:off x="5532120" y="3913632"/>
            <a:ext cx="3017520" cy="411480"/>
          </a:xfrm>
          <a:prstGeom prst="rect">
            <a:avLst/>
          </a:prstGeom>
          <a:noFill/>
          <a:ln/>
        </p:spPr>
        <p:txBody>
          <a:bodyPr wrap="square" lIns="0" tIns="0" rIns="0" bIns="0" rtlCol="0" anchor="t"/>
          <a:lstStyle/>
          <a:p>
            <a:pPr marL="0" indent="0">
              <a:buNone/>
            </a:pPr>
            <a:r>
              <a:rPr lang="fr-FR" altLang="en-US" sz="1050" dirty="0">
                <a:solidFill>
                  <a:srgbClr val="5E6964"/>
                </a:solidFill>
                <a:latin typeface="Calibri" pitchFamily="34" charset="0"/>
                <a:ea typeface="Calibri" pitchFamily="34" charset="-122"/>
                <a:cs typeface="Calibri" pitchFamily="34" charset="-120"/>
              </a:rPr>
              <a:t>Licence, confidentialité et limites assumées d’abord.</a:t>
            </a:r>
            <a:endParaRPr lang="fr-FR" sz="10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fr-FR" altLang="en-US" sz="1050" b="1" kern="0" spc="300" dirty="0">
                <a:solidFill>
                  <a:srgbClr val="00704A"/>
                </a:solidFill>
                <a:latin typeface="Calibri" pitchFamily="34" charset="0"/>
                <a:ea typeface="Calibri" pitchFamily="34" charset="-122"/>
                <a:cs typeface="Calibri" pitchFamily="34" charset="-120"/>
              </a:rPr>
              <a:t>RÉFÉRENCES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fr-FR" altLang="en-US" sz="2800" b="1" dirty="0">
                <a:solidFill>
                  <a:srgbClr val="231F20"/>
                </a:solidFill>
                <a:latin typeface="Calibri" pitchFamily="34" charset="0"/>
                <a:ea typeface="Calibri" pitchFamily="34" charset="-122"/>
                <a:cs typeface="Calibri" pitchFamily="34" charset="-120"/>
              </a:rPr>
              <a:t>Sources</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fr-FR" altLang="en-US" sz="850" dirty="0">
                <a:solidFill>
                  <a:srgbClr val="8A9590"/>
                </a:solidFill>
                <a:latin typeface="Calibri" pitchFamily="34" charset="0"/>
                <a:ea typeface="Calibri" pitchFamily="34" charset="-122"/>
                <a:cs typeface="Calibri" pitchFamily="34" charset="-120"/>
              </a:rPr>
              <a:t>BAD – Data Innovation for Africa (DI4A)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fr-FR" altLang="en-US" sz="850" dirty="0">
                <a:solidFill>
                  <a:srgbClr val="8A9590"/>
                </a:solidFill>
                <a:latin typeface="Calibri" pitchFamily="34" charset="0"/>
                <a:ea typeface="Calibri" pitchFamily="34" charset="-122"/>
                <a:cs typeface="Calibri" pitchFamily="34" charset="-120"/>
              </a:rPr>
              <a:t>34</a:t>
            </a:r>
            <a:endParaRPr lang="fr-FR" sz="850" dirty="0"/>
          </a:p>
        </p:txBody>
      </p:sp>
      <p:sp>
        <p:nvSpPr>
          <p:cNvPr id="10" name="Shape 6"/>
          <p:cNvSpPr/>
          <p:nvPr/>
        </p:nvSpPr>
        <p:spPr>
          <a:xfrm>
            <a:off x="457200" y="1316736"/>
            <a:ext cx="329184" cy="329184"/>
          </a:xfrm>
          <a:prstGeom prst="ellipse">
            <a:avLst/>
          </a:prstGeom>
          <a:solidFill>
            <a:srgbClr val="00A86A">
              <a:alpha val="22000"/>
            </a:srgbClr>
          </a:solidFill>
          <a:ln/>
        </p:spPr>
      </p:sp>
      <p:pic>
        <p:nvPicPr>
          <p:cNvPr id="11" name="Image 1" descr="preencoded.png"/>
          <p:cNvPicPr>
            <a:picLocks noChangeAspect="1"/>
          </p:cNvPicPr>
          <p:nvPr/>
        </p:nvPicPr>
        <p:blipFill>
          <a:blip r:embed="rId4"/>
          <a:stretch>
            <a:fillRect/>
          </a:stretch>
        </p:blipFill>
        <p:spPr>
          <a:xfrm>
            <a:off x="542788" y="1402324"/>
            <a:ext cx="158008" cy="158008"/>
          </a:xfrm>
          <a:prstGeom prst="rect">
            <a:avLst/>
          </a:prstGeom>
        </p:spPr>
      </p:pic>
      <p:sp>
        <p:nvSpPr>
          <p:cNvPr id="12" name="Text 7"/>
          <p:cNvSpPr txBox="1"/>
          <p:nvPr/>
        </p:nvSpPr>
        <p:spPr>
          <a:xfrm>
            <a:off x="914400" y="1280160"/>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Série</a:t>
            </a:r>
            <a:endParaRPr lang="fr-FR" sz="1100" dirty="0"/>
          </a:p>
        </p:txBody>
      </p:sp>
      <p:sp>
        <p:nvSpPr>
          <p:cNvPr id="13" name="Text 8"/>
          <p:cNvSpPr txBox="1"/>
          <p:nvPr/>
        </p:nvSpPr>
        <p:spPr>
          <a:xfrm>
            <a:off x="2423160" y="1280160"/>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Banque africaine de développement – Data Innovation for Africa (DI4A) : série pratique sur les outils big data pour la statistique officielle.</a:t>
            </a:r>
            <a:endParaRPr lang="fr-FR" sz="1000" dirty="0"/>
          </a:p>
        </p:txBody>
      </p:sp>
      <p:sp>
        <p:nvSpPr>
          <p:cNvPr id="14" name="Shape 9"/>
          <p:cNvSpPr/>
          <p:nvPr/>
        </p:nvSpPr>
        <p:spPr>
          <a:xfrm>
            <a:off x="457200" y="1792224"/>
            <a:ext cx="329184" cy="329184"/>
          </a:xfrm>
          <a:prstGeom prst="ellipse">
            <a:avLst/>
          </a:prstGeom>
          <a:solidFill>
            <a:srgbClr val="00704A">
              <a:alpha val="22000"/>
            </a:srgbClr>
          </a:solidFill>
          <a:ln/>
        </p:spPr>
      </p:sp>
      <p:pic>
        <p:nvPicPr>
          <p:cNvPr id="15" name="Image 2" descr="preencoded.png"/>
          <p:cNvPicPr>
            <a:picLocks noChangeAspect="1"/>
          </p:cNvPicPr>
          <p:nvPr/>
        </p:nvPicPr>
        <p:blipFill>
          <a:blip r:embed="rId5"/>
          <a:stretch>
            <a:fillRect/>
          </a:stretch>
        </p:blipFill>
        <p:spPr>
          <a:xfrm>
            <a:off x="542788" y="1877812"/>
            <a:ext cx="158008" cy="158008"/>
          </a:xfrm>
          <a:prstGeom prst="rect">
            <a:avLst/>
          </a:prstGeom>
        </p:spPr>
      </p:pic>
      <p:sp>
        <p:nvSpPr>
          <p:cNvPr id="16" name="Text 10"/>
          <p:cNvSpPr txBox="1"/>
          <p:nvPr/>
        </p:nvSpPr>
        <p:spPr>
          <a:xfrm>
            <a:off x="914400" y="1755648"/>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Données Ookla</a:t>
            </a:r>
            <a:endParaRPr lang="fr-FR" sz="1100" dirty="0"/>
          </a:p>
        </p:txBody>
      </p:sp>
      <p:sp>
        <p:nvSpPr>
          <p:cNvPr id="17" name="Text 11"/>
          <p:cNvSpPr txBox="1"/>
          <p:nvPr/>
        </p:nvSpPr>
        <p:spPr>
          <a:xfrm>
            <a:off x="2423160" y="1755648"/>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Ookla — README ookla-open-data, github.com/teamookla/ookla-open-data (taille des tuiles, champs, publications trimestrielles depuis T1 2019).</a:t>
            </a:r>
            <a:endParaRPr lang="fr-FR" sz="1000" dirty="0"/>
          </a:p>
        </p:txBody>
      </p:sp>
      <p:sp>
        <p:nvSpPr>
          <p:cNvPr id="18" name="Shape 12"/>
          <p:cNvSpPr/>
          <p:nvPr/>
        </p:nvSpPr>
        <p:spPr>
          <a:xfrm>
            <a:off x="457200" y="2267712"/>
            <a:ext cx="329184" cy="329184"/>
          </a:xfrm>
          <a:prstGeom prst="ellipse">
            <a:avLst/>
          </a:prstGeom>
          <a:solidFill>
            <a:srgbClr val="0E7C86">
              <a:alpha val="22000"/>
            </a:srgbClr>
          </a:solidFill>
          <a:ln/>
        </p:spPr>
      </p:sp>
      <p:pic>
        <p:nvPicPr>
          <p:cNvPr id="19" name="Image 3" descr="preencoded.png"/>
          <p:cNvPicPr>
            <a:picLocks noChangeAspect="1"/>
          </p:cNvPicPr>
          <p:nvPr/>
        </p:nvPicPr>
        <p:blipFill>
          <a:blip r:embed="rId6"/>
          <a:stretch>
            <a:fillRect/>
          </a:stretch>
        </p:blipFill>
        <p:spPr>
          <a:xfrm>
            <a:off x="542788" y="2353300"/>
            <a:ext cx="158008" cy="158008"/>
          </a:xfrm>
          <a:prstGeom prst="rect">
            <a:avLst/>
          </a:prstGeom>
        </p:spPr>
      </p:pic>
      <p:sp>
        <p:nvSpPr>
          <p:cNvPr id="20" name="Text 13"/>
          <p:cNvSpPr txBox="1"/>
          <p:nvPr/>
        </p:nvSpPr>
        <p:spPr>
          <a:xfrm>
            <a:off x="914400" y="2231136"/>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Licence Ookla</a:t>
            </a:r>
            <a:endParaRPr lang="fr-FR" sz="1100" dirty="0"/>
          </a:p>
        </p:txBody>
      </p:sp>
      <p:sp>
        <p:nvSpPr>
          <p:cNvPr id="21" name="Text 14"/>
          <p:cNvSpPr txBox="1"/>
          <p:nvPr/>
        </p:nvSpPr>
        <p:spPr>
          <a:xfrm>
            <a:off x="2423160" y="2231136"/>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Registry of Open Data on AWS — Speedtest by Ookla Global Fixed and Mobile Network Performance Maps (CC BY-NC-SA 4.0).</a:t>
            </a:r>
            <a:endParaRPr lang="fr-FR" sz="1000" dirty="0"/>
          </a:p>
        </p:txBody>
      </p:sp>
      <p:sp>
        <p:nvSpPr>
          <p:cNvPr id="22" name="Shape 15"/>
          <p:cNvSpPr/>
          <p:nvPr/>
        </p:nvSpPr>
        <p:spPr>
          <a:xfrm>
            <a:off x="457200" y="2743200"/>
            <a:ext cx="329184" cy="329184"/>
          </a:xfrm>
          <a:prstGeom prst="ellipse">
            <a:avLst/>
          </a:prstGeom>
          <a:solidFill>
            <a:srgbClr val="D49A00">
              <a:alpha val="22000"/>
            </a:srgbClr>
          </a:solidFill>
          <a:ln/>
        </p:spPr>
      </p:sp>
      <p:pic>
        <p:nvPicPr>
          <p:cNvPr id="23" name="Image 4" descr="preencoded.png"/>
          <p:cNvPicPr>
            <a:picLocks noChangeAspect="1"/>
          </p:cNvPicPr>
          <p:nvPr/>
        </p:nvPicPr>
        <p:blipFill>
          <a:blip r:embed="rId7"/>
          <a:stretch>
            <a:fillRect/>
          </a:stretch>
        </p:blipFill>
        <p:spPr>
          <a:xfrm>
            <a:off x="542788" y="2828788"/>
            <a:ext cx="158008" cy="158008"/>
          </a:xfrm>
          <a:prstGeom prst="rect">
            <a:avLst/>
          </a:prstGeom>
        </p:spPr>
      </p:pic>
      <p:sp>
        <p:nvSpPr>
          <p:cNvPr id="24" name="Text 16"/>
          <p:cNvSpPr txBox="1"/>
          <p:nvPr/>
        </p:nvSpPr>
        <p:spPr>
          <a:xfrm>
            <a:off x="914400" y="2706624"/>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Taille des shards</a:t>
            </a:r>
            <a:endParaRPr lang="fr-FR" sz="1100" dirty="0"/>
          </a:p>
        </p:txBody>
      </p:sp>
      <p:sp>
        <p:nvSpPr>
          <p:cNvPr id="25" name="Text 17"/>
          <p:cNvSpPr txBox="1"/>
          <p:nvPr/>
        </p:nvSpPr>
        <p:spPr>
          <a:xfrm>
            <a:off x="2423160" y="2706624"/>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Documentation Elastic — « Size your shards », elastic.co/docs (10–50 Go par shard, moins de 200 millions de documents).</a:t>
            </a:r>
            <a:endParaRPr lang="fr-FR" sz="1000" dirty="0"/>
          </a:p>
        </p:txBody>
      </p:sp>
      <p:sp>
        <p:nvSpPr>
          <p:cNvPr id="26" name="Shape 18"/>
          <p:cNvSpPr/>
          <p:nvPr/>
        </p:nvSpPr>
        <p:spPr>
          <a:xfrm>
            <a:off x="457200" y="3218688"/>
            <a:ext cx="329184" cy="329184"/>
          </a:xfrm>
          <a:prstGeom prst="ellipse">
            <a:avLst/>
          </a:prstGeom>
          <a:solidFill>
            <a:srgbClr val="C4621D">
              <a:alpha val="22000"/>
            </a:srgbClr>
          </a:solidFill>
          <a:ln/>
        </p:spPr>
      </p:sp>
      <p:pic>
        <p:nvPicPr>
          <p:cNvPr id="27" name="Image 5" descr="preencoded.png"/>
          <p:cNvPicPr>
            <a:picLocks noChangeAspect="1"/>
          </p:cNvPicPr>
          <p:nvPr/>
        </p:nvPicPr>
        <p:blipFill>
          <a:blip r:embed="rId8"/>
          <a:stretch>
            <a:fillRect/>
          </a:stretch>
        </p:blipFill>
        <p:spPr>
          <a:xfrm>
            <a:off x="542788" y="3304276"/>
            <a:ext cx="158008" cy="158008"/>
          </a:xfrm>
          <a:prstGeom prst="rect">
            <a:avLst/>
          </a:prstGeom>
        </p:spPr>
      </p:pic>
      <p:sp>
        <p:nvSpPr>
          <p:cNvPr id="28" name="Text 19"/>
          <p:cNvSpPr txBox="1"/>
          <p:nvPr/>
        </p:nvSpPr>
        <p:spPr>
          <a:xfrm>
            <a:off x="914400" y="3182112"/>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ES|QL</a:t>
            </a:r>
            <a:endParaRPr lang="fr-FR" sz="1100" dirty="0"/>
          </a:p>
        </p:txBody>
      </p:sp>
      <p:sp>
        <p:nvSpPr>
          <p:cNvPr id="29" name="Text 20"/>
          <p:cNvSpPr txBox="1"/>
          <p:nvPr/>
        </p:nvSpPr>
        <p:spPr>
          <a:xfrm>
            <a:off x="2423160" y="3182112"/>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Blog Elastic — « Elastic 8.14: Announcing the GA of Elasticsearch Query Language (ES|QL) », juin 2024.</a:t>
            </a:r>
            <a:endParaRPr lang="fr-FR" sz="1000" dirty="0"/>
          </a:p>
        </p:txBody>
      </p:sp>
      <p:sp>
        <p:nvSpPr>
          <p:cNvPr id="30" name="Shape 21"/>
          <p:cNvSpPr/>
          <p:nvPr/>
        </p:nvSpPr>
        <p:spPr>
          <a:xfrm>
            <a:off x="457200" y="3694176"/>
            <a:ext cx="329184" cy="329184"/>
          </a:xfrm>
          <a:prstGeom prst="ellipse">
            <a:avLst/>
          </a:prstGeom>
          <a:solidFill>
            <a:srgbClr val="B83B2E">
              <a:alpha val="22000"/>
            </a:srgbClr>
          </a:solidFill>
          <a:ln/>
        </p:spPr>
      </p:sp>
      <p:pic>
        <p:nvPicPr>
          <p:cNvPr id="31" name="Image 6" descr="preencoded.png"/>
          <p:cNvPicPr>
            <a:picLocks noChangeAspect="1"/>
          </p:cNvPicPr>
          <p:nvPr/>
        </p:nvPicPr>
        <p:blipFill>
          <a:blip r:embed="rId9"/>
          <a:stretch>
            <a:fillRect/>
          </a:stretch>
        </p:blipFill>
        <p:spPr>
          <a:xfrm>
            <a:off x="542788" y="3779764"/>
            <a:ext cx="158008" cy="158008"/>
          </a:xfrm>
          <a:prstGeom prst="rect">
            <a:avLst/>
          </a:prstGeom>
        </p:spPr>
      </p:pic>
      <p:sp>
        <p:nvSpPr>
          <p:cNvPr id="32" name="Text 22"/>
          <p:cNvSpPr txBox="1"/>
          <p:nvPr/>
        </p:nvSpPr>
        <p:spPr>
          <a:xfrm>
            <a:off x="914400" y="3657600"/>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Licences</a:t>
            </a:r>
            <a:endParaRPr lang="fr-FR" sz="1100" dirty="0"/>
          </a:p>
        </p:txBody>
      </p:sp>
      <p:sp>
        <p:nvSpPr>
          <p:cNvPr id="33" name="Text 23"/>
          <p:cNvSpPr txBox="1"/>
          <p:nvPr/>
        </p:nvSpPr>
        <p:spPr>
          <a:xfrm>
            <a:off x="2423160" y="3657600"/>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Elastic — « FAQ on Software Licensing » et S. Banon, « Elasticsearch is Open Source. Again! » (option AGPLv3, 2024).</a:t>
            </a:r>
            <a:endParaRPr lang="fr-FR" sz="1000" dirty="0"/>
          </a:p>
        </p:txBody>
      </p:sp>
      <p:sp>
        <p:nvSpPr>
          <p:cNvPr id="34" name="Shape 24"/>
          <p:cNvSpPr/>
          <p:nvPr/>
        </p:nvSpPr>
        <p:spPr>
          <a:xfrm>
            <a:off x="457200" y="4169664"/>
            <a:ext cx="329184" cy="329184"/>
          </a:xfrm>
          <a:prstGeom prst="ellipse">
            <a:avLst/>
          </a:prstGeom>
          <a:solidFill>
            <a:srgbClr val="00A86A">
              <a:alpha val="22000"/>
            </a:srgbClr>
          </a:solidFill>
          <a:ln/>
        </p:spPr>
      </p:sp>
      <p:pic>
        <p:nvPicPr>
          <p:cNvPr id="35" name="Image 7" descr="preencoded.png"/>
          <p:cNvPicPr>
            <a:picLocks noChangeAspect="1"/>
          </p:cNvPicPr>
          <p:nvPr/>
        </p:nvPicPr>
        <p:blipFill>
          <a:blip r:embed="rId4"/>
          <a:stretch>
            <a:fillRect/>
          </a:stretch>
        </p:blipFill>
        <p:spPr>
          <a:xfrm>
            <a:off x="542788" y="4255252"/>
            <a:ext cx="158008" cy="158008"/>
          </a:xfrm>
          <a:prstGeom prst="rect">
            <a:avLst/>
          </a:prstGeom>
        </p:spPr>
      </p:pic>
      <p:sp>
        <p:nvSpPr>
          <p:cNvPr id="36" name="Text 25"/>
          <p:cNvSpPr txBox="1"/>
          <p:nvPr/>
        </p:nvSpPr>
        <p:spPr>
          <a:xfrm>
            <a:off x="914400" y="4133088"/>
            <a:ext cx="1463040" cy="402336"/>
          </a:xfrm>
          <a:prstGeom prst="rect">
            <a:avLst/>
          </a:prstGeom>
          <a:noFill/>
          <a:ln/>
        </p:spPr>
        <p:txBody>
          <a:bodyPr wrap="square" lIns="0" tIns="0" rIns="0" bIns="0" rtlCol="0" anchor="ctr"/>
          <a:lstStyle/>
          <a:p>
            <a:pPr marL="0" indent="0">
              <a:buNone/>
            </a:pPr>
            <a:r>
              <a:rPr lang="fr-FR" altLang="en-US" sz="1100" b="1" dirty="0">
                <a:solidFill>
                  <a:srgbClr val="231F20"/>
                </a:solidFill>
                <a:latin typeface="Calibri" pitchFamily="34" charset="0"/>
                <a:ea typeface="Calibri" pitchFamily="34" charset="-122"/>
                <a:cs typeface="Calibri" pitchFamily="34" charset="-120"/>
              </a:rPr>
              <a:t>OpenSearch</a:t>
            </a:r>
            <a:endParaRPr lang="fr-FR" sz="1100" dirty="0"/>
          </a:p>
        </p:txBody>
      </p:sp>
      <p:sp>
        <p:nvSpPr>
          <p:cNvPr id="37" name="Text 26"/>
          <p:cNvSpPr txBox="1"/>
          <p:nvPr/>
        </p:nvSpPr>
        <p:spPr>
          <a:xfrm>
            <a:off x="2423160" y="4133088"/>
            <a:ext cx="6263640" cy="402336"/>
          </a:xfrm>
          <a:prstGeom prst="rect">
            <a:avLst/>
          </a:prstGeom>
          <a:noFill/>
          <a:ln/>
        </p:spPr>
        <p:txBody>
          <a:bodyPr wrap="square" lIns="0" tIns="0" rIns="0" bIns="0" rtlCol="0" anchor="ctr"/>
          <a:lstStyle/>
          <a:p>
            <a:pPr marL="0" indent="0">
              <a:buNone/>
            </a:pPr>
            <a:r>
              <a:rPr lang="fr-FR" altLang="en-US" sz="1000" dirty="0">
                <a:solidFill>
                  <a:srgbClr val="5E6964"/>
                </a:solidFill>
                <a:latin typeface="Calibri" pitchFamily="34" charset="0"/>
                <a:ea typeface="Calibri" pitchFamily="34" charset="-122"/>
                <a:cs typeface="Calibri" pitchFamily="34" charset="-120"/>
              </a:rPr>
              <a:t>Blog Revenera — « Elastic’s Return to Open Source » (janvier 2025) : fork OpenSearch et transfert à la Linux Foundation.</a:t>
            </a:r>
            <a:endParaRPr lang="fr-FR" sz="1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228600"/>
          </a:xfrm>
          <a:prstGeom prst="rect">
            <a:avLst/>
          </a:prstGeom>
          <a:noFill/>
          <a:ln/>
        </p:spPr>
        <p:txBody>
          <a:bodyPr wrap="square" lIns="0" tIns="0" rIns="0" bIns="0" rtlCol="0" anchor="t"/>
          <a:lstStyle/>
          <a:p>
            <a:pPr marL="0" indent="0">
              <a:buNone/>
            </a:pPr>
            <a:r>
              <a:rPr lang="fr-FR" altLang="en-US" sz="1100" b="1" kern="0" spc="300" dirty="0">
                <a:solidFill>
                  <a:srgbClr val="F5C242"/>
                </a:solidFill>
                <a:latin typeface="Calibri" pitchFamily="34" charset="0"/>
                <a:ea typeface="Calibri" pitchFamily="34" charset="-122"/>
                <a:cs typeface="Calibri" pitchFamily="34" charset="-120"/>
              </a:rPr>
              <a:t>QUESTIONS  ·  PUIS PLACE AU LABO</a:t>
            </a:r>
            <a:endParaRPr lang="fr-FR" sz="1100" dirty="0"/>
          </a:p>
        </p:txBody>
      </p:sp>
      <p:sp>
        <p:nvSpPr>
          <p:cNvPr id="3" name="Text 1"/>
          <p:cNvSpPr txBox="1"/>
          <p:nvPr/>
        </p:nvSpPr>
        <p:spPr>
          <a:xfrm>
            <a:off x="548640" y="1097280"/>
            <a:ext cx="6858000" cy="822960"/>
          </a:xfrm>
          <a:prstGeom prst="rect">
            <a:avLst/>
          </a:prstGeom>
          <a:noFill/>
          <a:ln/>
        </p:spPr>
        <p:txBody>
          <a:bodyPr wrap="square" lIns="0" tIns="0" rIns="0" bIns="0" rtlCol="0" anchor="ctr"/>
          <a:lstStyle/>
          <a:p>
            <a:pPr marL="0" indent="0">
              <a:buNone/>
            </a:pPr>
            <a:r>
              <a:rPr lang="fr-FR" altLang="en-US" sz="4000" b="1" dirty="0">
                <a:solidFill>
                  <a:srgbClr val="FFFFFF"/>
                </a:solidFill>
                <a:latin typeface="Calibri" pitchFamily="34" charset="0"/>
                <a:ea typeface="Calibri" pitchFamily="34" charset="-122"/>
                <a:cs typeface="Calibri" pitchFamily="34" charset="-120"/>
              </a:rPr>
              <a:t>Des tuiles à l’analyse</a:t>
            </a:r>
            <a:endParaRPr lang="fr-FR" sz="4000" dirty="0"/>
          </a:p>
        </p:txBody>
      </p:sp>
      <p:sp>
        <p:nvSpPr>
          <p:cNvPr id="4" name="Text 2"/>
          <p:cNvSpPr txBox="1"/>
          <p:nvPr/>
        </p:nvSpPr>
        <p:spPr>
          <a:xfrm>
            <a:off x="548640" y="1920240"/>
            <a:ext cx="7863840" cy="457200"/>
          </a:xfrm>
          <a:prstGeom prst="rect">
            <a:avLst/>
          </a:prstGeom>
          <a:noFill/>
          <a:ln/>
        </p:spPr>
        <p:txBody>
          <a:bodyPr wrap="square" lIns="0" tIns="0" rIns="0" bIns="0" rtlCol="0" anchor="t"/>
          <a:lstStyle/>
          <a:p>
            <a:pPr marL="0" indent="0">
              <a:buNone/>
            </a:pPr>
            <a:r>
              <a:rPr lang="fr-FR" altLang="en-US" sz="1800" i="1" dirty="0">
                <a:solidFill>
                  <a:srgbClr val="E6F6EE"/>
                </a:solidFill>
                <a:latin typeface="Calibri" pitchFamily="34" charset="0"/>
                <a:ea typeface="Calibri" pitchFamily="34" charset="-122"/>
                <a:cs typeface="Calibri" pitchFamily="34" charset="-120"/>
              </a:rPr>
              <a:t>Votre cluster tourne. Vos notebooks vous attendent. Rejoignez votre équipe.</a:t>
            </a:r>
            <a:endParaRPr lang="fr-FR" sz="18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7379</Words>
  <Application>Microsoft Office PowerPoint</Application>
  <PresentationFormat>On-screen Show (16:9)</PresentationFormat>
  <Paragraphs>752</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Passer à l’échelle : la suite Elastic (ELK) pour la statistique officielle</dc:title>
  <dc:subject>Banque africaine de développement – Data Innovation for Africa (DI4A)</dc:subject>
  <dc:creator>Banque africaine de développement – Data Innovation for Africa (DI4A)</dc:creator>
  <cp:lastModifiedBy>HADJ TAIEB, MOHAMED ALI</cp:lastModifiedBy>
  <cp:revision>4</cp:revision>
  <dcterms:created xsi:type="dcterms:W3CDTF">2026-09-16T15:10:43Z</dcterms:created>
  <dcterms:modified xsi:type="dcterms:W3CDTF">2026-09-30T05:19:30Z</dcterms:modified>
</cp:coreProperties>
</file>